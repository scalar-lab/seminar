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bookmarkIdSeed="2">
  <p:sldMasterIdLst>
    <p:sldMasterId id="2147483648" r:id="rId1"/>
  </p:sldMasterIdLst>
  <p:notesMasterIdLst>
    <p:notesMasterId r:id="rId9"/>
  </p:notesMasterIdLst>
  <p:sldIdLst>
    <p:sldId id="256" r:id="rId2"/>
    <p:sldId id="270" r:id="rId3"/>
    <p:sldId id="274" r:id="rId4"/>
    <p:sldId id="279" r:id="rId5"/>
    <p:sldId id="278" r:id="rId6"/>
    <p:sldId id="276" r:id="rId7"/>
    <p:sldId id="275" r:id="rId8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2C62"/>
    <a:srgbClr val="0066CC"/>
    <a:srgbClr val="CC99FF"/>
    <a:srgbClr val="2156A4"/>
    <a:srgbClr val="336699"/>
    <a:srgbClr val="003399"/>
    <a:srgbClr val="0000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D7AC3CCA-C797-4891-BE02-D94E43425B78}" styleName="보통 스타일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  <a:tblStyle styleId="{5940675A-B579-460E-94D1-54222C63F5DA}" styleName="스타일 없음, 표 눈금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073A0DAA-6AF3-43AB-8588-CEC1D06C72B9}" styleName="보통 스타일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1FECB4D8-DB02-4DC6-A0A2-4F2EBAE1DC90}" styleName="보통 스타일 1 - 강조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3">
              <a:tint val="20000"/>
            </a:schemeClr>
          </a:solidFill>
        </a:fill>
      </a:tcStyle>
    </a:band1H>
    <a:band1V>
      <a:tcStyle>
        <a:tcBdr/>
        <a:fill>
          <a:solidFill>
            <a:schemeClr val="accent3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1816" autoAdjust="0"/>
    <p:restoredTop sz="83718" autoAdjust="0"/>
  </p:normalViewPr>
  <p:slideViewPr>
    <p:cSldViewPr snapToGrid="0">
      <p:cViewPr varScale="1">
        <p:scale>
          <a:sx n="92" d="100"/>
          <a:sy n="92" d="100"/>
        </p:scale>
        <p:origin x="918" y="120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103" d="100"/>
          <a:sy n="103" d="100"/>
        </p:scale>
        <p:origin x="3648" y="55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0F939A6-D8A1-4A3E-B1AF-CF6B86DE165A}" type="datetimeFigureOut">
              <a:rPr lang="ko-KR" altLang="en-US" smtClean="0"/>
              <a:t>2025-11-03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3032124-6EC6-43C3-BD2F-F4850F49A65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1075384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3032124-6EC6-43C3-BD2F-F4850F49A65E}" type="slidenum">
              <a:rPr lang="ko-KR" altLang="en-US" smtClean="0"/>
              <a:t>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977289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3032124-6EC6-43C3-BD2F-F4850F49A65E}" type="slidenum">
              <a:rPr lang="ko-KR" altLang="en-US" smtClean="0"/>
              <a:t>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4237118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3032124-6EC6-43C3-BD2F-F4850F49A65E}" type="slidenum">
              <a:rPr lang="ko-KR" altLang="en-US" smtClean="0"/>
              <a:t>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783954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D96069A-B2F6-4FA1-AD4D-2A323F30C2C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219AA13B-A8E5-4FE8-A0C3-D3B2AFC2039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70B6C15F-F3F5-4FD9-905B-15117DA31A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BED11E-A0F7-4FA6-ACB7-78AA5BA9D62F}" type="datetime1">
              <a:rPr lang="ko-KR" altLang="en-US" smtClean="0"/>
              <a:t>2025-11-03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C61A8263-FD44-4E94-B425-7997E926A6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6182FA20-B669-4095-A48B-C38AD003D9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736E57-F90E-408A-B1D8-FC5493EAAE1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0597547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D0DBC53-D141-4CA5-B5A2-F3FFB856AA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0552" y="176443"/>
            <a:ext cx="12021437" cy="687161"/>
          </a:xfrm>
        </p:spPr>
        <p:txBody>
          <a:bodyPr/>
          <a:lstStyle>
            <a:lvl1pPr>
              <a:defRPr b="1">
                <a:solidFill>
                  <a:srgbClr val="002C62"/>
                </a:solidFill>
              </a:defRPr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CA4B7B04-A8B7-4F63-8E44-AF4B7DF11CB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dirty="0"/>
              <a:t>마스터 텍스트 스타일 편집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  <a:p>
            <a:pPr lvl="3"/>
            <a:r>
              <a:rPr lang="ko-KR" altLang="en-US" dirty="0"/>
              <a:t>넷째 수준</a:t>
            </a:r>
          </a:p>
          <a:p>
            <a:pPr lvl="4"/>
            <a:r>
              <a:rPr lang="ko-KR" altLang="en-US" dirty="0"/>
              <a:t>다섯째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8768ECB3-E602-48E8-B4DD-6395774C13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524C7B-84A8-4EA4-A24F-E6D033A0AF5B}" type="datetime1">
              <a:rPr lang="ko-KR" altLang="en-US" smtClean="0"/>
              <a:t>2025-11-03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FD266D8C-21AF-4084-9D7F-D22D3B951A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3DE35378-C752-4505-80FB-FEE7F1043F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314540" y="6356350"/>
            <a:ext cx="2743200" cy="365125"/>
          </a:xfrm>
        </p:spPr>
        <p:txBody>
          <a:bodyPr/>
          <a:lstStyle/>
          <a:p>
            <a:fld id="{78736E57-F90E-408A-B1D8-FC5493EAAE16}" type="slidenum">
              <a:rPr lang="ko-KR" altLang="en-US" smtClean="0"/>
              <a:t>‹#›</a:t>
            </a:fld>
            <a:endParaRPr lang="ko-KR" altLang="en-US"/>
          </a:p>
        </p:txBody>
      </p:sp>
      <p:cxnSp>
        <p:nvCxnSpPr>
          <p:cNvPr id="8" name="직선 연결선 7">
            <a:extLst>
              <a:ext uri="{FF2B5EF4-FFF2-40B4-BE49-F238E27FC236}">
                <a16:creationId xmlns:a16="http://schemas.microsoft.com/office/drawing/2014/main" id="{415E7BE2-ECE1-4BDD-B754-E19AA34FEEB8}"/>
              </a:ext>
            </a:extLst>
          </p:cNvPr>
          <p:cNvCxnSpPr>
            <a:cxnSpLocks/>
          </p:cNvCxnSpPr>
          <p:nvPr userDrawn="1"/>
        </p:nvCxnSpPr>
        <p:spPr>
          <a:xfrm>
            <a:off x="35168" y="176443"/>
            <a:ext cx="0" cy="687161"/>
          </a:xfrm>
          <a:prstGeom prst="line">
            <a:avLst/>
          </a:prstGeom>
          <a:ln w="76200">
            <a:solidFill>
              <a:srgbClr val="002C6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2091181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4DA98FC-457C-4539-A9F9-5E33F436F7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0B16A6F8-E102-4969-BC2D-A82CAFD1C22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B4111405-D260-4CEE-AB0F-2164CC9F75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E06B30-2073-4305-9D3A-0916E29AB440}" type="datetime1">
              <a:rPr lang="ko-KR" altLang="en-US" smtClean="0"/>
              <a:t>2025-11-03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378A5793-DA58-417A-BB19-EB5FB470DF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BE10BC3D-30E2-4719-AB75-90B6AC0556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736E57-F90E-408A-B1D8-FC5493EAAE1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5369603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3210D63-A220-4A80-8040-023B45C330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72800E88-D9CC-40E2-A228-1DF3046AF3C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32C85741-AD4A-423C-BBF8-BEE9F218D5D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F705DFA8-92FE-436A-AABA-BB7F4D5E3A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3BFF7C-6511-4AE1-B612-A30E568F1FCB}" type="datetime1">
              <a:rPr lang="ko-KR" altLang="en-US" smtClean="0"/>
              <a:t>2025-11-03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4C18C9D4-14AE-42F2-B4D2-8D67F2DF8E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242C7BB9-6B70-4AA3-A457-200DB84427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736E57-F90E-408A-B1D8-FC5493EAAE1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477086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34DC8E2-E156-4C1B-A2F5-A8BA9612CA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994FBECB-0E3D-4BC8-9FE2-C3AAA031DA9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F9A68962-5696-4C86-8B90-D8C66C87F02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29EF4313-1D05-4480-A6D5-56E1DB4DA4E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2FD04F94-7B0E-43B5-902F-88072858C66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F0CCBDA9-B265-4A3B-8511-7B749734A5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BDD75-5095-4C61-91A4-CF88A65BDFB9}" type="datetime1">
              <a:rPr lang="ko-KR" altLang="en-US" smtClean="0"/>
              <a:t>2025-11-03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8CCC3DF3-CFF5-4FB2-9D5C-7C408E7C81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B4E32E33-68B4-43E5-8FD5-35CF407154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736E57-F90E-408A-B1D8-FC5493EAAE1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5740518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FD93D4F-BBC4-484E-B69C-ED5B1B6D24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01A50EB4-34A2-44F9-A98D-4C7F1499E9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F3530C-2AA3-4CF7-9FD5-BD5A25DD584B}" type="datetime1">
              <a:rPr lang="ko-KR" altLang="en-US" smtClean="0"/>
              <a:t>2025-11-03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22887AA7-BB40-49EF-A7BD-9B42012F7D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745BCA18-5903-472D-A59F-371D567EAB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736E57-F90E-408A-B1D8-FC5493EAAE1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3462420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B93052FA-83BA-4B4E-AF86-D946E318B3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D39933-39D2-48D7-81EE-0FA4E39D937B}" type="datetime1">
              <a:rPr lang="ko-KR" altLang="en-US" smtClean="0"/>
              <a:t>2025-11-03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B9648522-4FEF-4AEC-BD94-28251C3B7F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05FE2665-8B25-4024-BBEC-CFAC9CD2CA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736E57-F90E-408A-B1D8-FC5493EAAE1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8917855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028BDAE-5BD4-4FF7-B0F3-2914ED8D33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16223818-7332-4BC2-B08E-202545FA386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D466E1A0-55B8-4C56-8061-3E942BB1568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E7819FB9-7A93-44A4-9048-D8E152BE1B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935F7E-94F8-43AF-BA3C-2C0EFE7FEF59}" type="datetime1">
              <a:rPr lang="ko-KR" altLang="en-US" smtClean="0"/>
              <a:t>2025-11-03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263777AD-299E-42C8-BD4A-C33CBFD24E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F4738496-BED7-46A0-9B6C-3A0ED70BD9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736E57-F90E-408A-B1D8-FC5493EAAE1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1874397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07251FE-50B6-429C-A5B6-41CCC4B086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C4F9112C-74FA-48DA-9F57-A0FE41483FE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03CC4692-8176-450C-BFAF-3623A36B2C9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CA8D725E-2EA1-46CB-8A4F-9EDF17CC8B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4E7615-84C3-4169-9A08-54E8DCDD2913}" type="datetime1">
              <a:rPr lang="ko-KR" altLang="en-US" smtClean="0"/>
              <a:t>2025-11-03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B95FC6DA-7A65-4895-8AF7-FC7B67E9A6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809FC8C7-18E7-449C-AD48-0ABB0EF9C0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736E57-F90E-408A-B1D8-FC5493EAAE1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7748531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0C3C79F-5B5B-415E-8024-08261215DC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424E4B49-C25B-456D-A666-A3AB7DB27FC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BB144563-52D8-4510-89D4-6B03708ED8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770212-C18E-4A1F-93E7-F7CEC1EDC046}" type="datetime1">
              <a:rPr lang="ko-KR" altLang="en-US" smtClean="0"/>
              <a:t>2025-11-03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71FBE8A6-E611-47E5-A029-CFA1EBF265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2703308A-F8BF-490F-A63A-ECA122FA5C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736E57-F90E-408A-B1D8-FC5493EAAE1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060650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FCBC554A-B6FF-46DB-ACAB-826BF9D91CB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E7BDF5C3-6FAC-47AB-BB19-0321DBAF5CC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04A40FDA-BF4D-4F35-BECE-9F365FE6CF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3A6BDA-DA22-4CDD-A71E-4F480C069A60}" type="datetime1">
              <a:rPr lang="ko-KR" altLang="en-US" smtClean="0"/>
              <a:t>2025-11-03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FA2C4534-204F-4701-868E-3EDA14DF97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13C512BC-7F13-464E-ADBC-25743F3344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736E57-F90E-408A-B1D8-FC5493EAAE1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3000676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43C559B7-6256-431E-A890-529AA36F9F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E6519C8B-4FA7-4FB2-8717-1669983D3CC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DF61D0ED-6A06-41E6-9D97-FF94C817076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1768DCC-8D9B-4B47-BE29-50C716B9994F}" type="datetime1">
              <a:rPr lang="ko-KR" altLang="en-US" smtClean="0"/>
              <a:t>2025-11-03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32D21631-28ED-4C23-820E-5CA39025573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7A6A2E70-8EAA-4B18-8A7B-601C41DD11F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8736E57-F90E-408A-B1D8-FC5493EAAE1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9088608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부제목 2">
            <a:extLst>
              <a:ext uri="{FF2B5EF4-FFF2-40B4-BE49-F238E27FC236}">
                <a16:creationId xmlns:a16="http://schemas.microsoft.com/office/drawing/2014/main" id="{BF76F126-0A4F-46B8-9B2B-8C3F765120E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892800" y="5004758"/>
            <a:ext cx="5821861" cy="959759"/>
          </a:xfrm>
        </p:spPr>
        <p:txBody>
          <a:bodyPr>
            <a:normAutofit/>
          </a:bodyPr>
          <a:lstStyle/>
          <a:p>
            <a:pPr algn="r"/>
            <a:r>
              <a:rPr lang="en-US" altLang="ko-KR" b="1" dirty="0" err="1">
                <a:solidFill>
                  <a:srgbClr val="002C62"/>
                </a:solidFill>
              </a:rPr>
              <a:t>Suhyeon</a:t>
            </a:r>
            <a:r>
              <a:rPr lang="en-US" altLang="ko-KR" b="1" dirty="0">
                <a:solidFill>
                  <a:srgbClr val="002C62"/>
                </a:solidFill>
              </a:rPr>
              <a:t> Lee</a:t>
            </a:r>
          </a:p>
          <a:p>
            <a:pPr algn="r"/>
            <a:r>
              <a:rPr lang="en-US" altLang="ko-KR" b="1" dirty="0">
                <a:solidFill>
                  <a:srgbClr val="002C62"/>
                </a:solidFill>
              </a:rPr>
              <a:t>Department of Computer Engineering</a:t>
            </a:r>
          </a:p>
          <a:p>
            <a:pPr algn="r"/>
            <a:endParaRPr lang="ko-KR" altLang="en-US" b="1" dirty="0">
              <a:solidFill>
                <a:srgbClr val="002C62"/>
              </a:solidFill>
            </a:endParaRP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F5500BC8-BD81-46C1-9DB9-8BCC851C5446}"/>
              </a:ext>
            </a:extLst>
          </p:cNvPr>
          <p:cNvSpPr/>
          <p:nvPr/>
        </p:nvSpPr>
        <p:spPr>
          <a:xfrm>
            <a:off x="-1" y="2135416"/>
            <a:ext cx="12192000" cy="2079997"/>
          </a:xfrm>
          <a:prstGeom prst="rect">
            <a:avLst/>
          </a:prstGeom>
          <a:solidFill>
            <a:srgbClr val="002C6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pic>
        <p:nvPicPr>
          <p:cNvPr id="5" name="Picture 381" descr="악세사리">
            <a:extLst>
              <a:ext uri="{FF2B5EF4-FFF2-40B4-BE49-F238E27FC236}">
                <a16:creationId xmlns:a16="http://schemas.microsoft.com/office/drawing/2014/main" id="{6D421F4B-5169-46B4-9249-AB53789FC1C6}"/>
              </a:ext>
            </a:extLst>
          </p:cNvPr>
          <p:cNvPicPr preferRelativeResize="0">
            <a:picLocks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gray">
          <a:xfrm rot="16200000" flipV="1">
            <a:off x="6022181" y="-1806768"/>
            <a:ext cx="147638" cy="1219200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" name="제목 1">
            <a:extLst>
              <a:ext uri="{FF2B5EF4-FFF2-40B4-BE49-F238E27FC236}">
                <a16:creationId xmlns:a16="http://schemas.microsoft.com/office/drawing/2014/main" id="{AEB04FD9-6A59-4C4E-B0B6-829FC2BFF5E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441450" y="2242315"/>
            <a:ext cx="10453006" cy="1604508"/>
          </a:xfrm>
        </p:spPr>
        <p:txBody>
          <a:bodyPr>
            <a:normAutofit/>
          </a:bodyPr>
          <a:lstStyle/>
          <a:p>
            <a:pPr algn="r"/>
            <a:r>
              <a:rPr lang="en-US" altLang="ko-KR" sz="3200" b="1" dirty="0" err="1">
                <a:solidFill>
                  <a:schemeClr val="bg1"/>
                </a:solidFill>
                <a:effectLst>
                  <a:outerShdw blurRad="50800" dist="50800" dir="5400000" sx="1000" sy="1000" algn="ctr" rotWithShape="0">
                    <a:srgbClr val="000000">
                      <a:alpha val="43137"/>
                    </a:srgbClr>
                  </a:outerShdw>
                </a:effectLst>
              </a:rPr>
              <a:t>EoMT</a:t>
            </a:r>
            <a:r>
              <a:rPr lang="en-US" altLang="ko-KR" sz="3200" b="1" dirty="0">
                <a:solidFill>
                  <a:schemeClr val="bg1"/>
                </a:solidFill>
                <a:effectLst>
                  <a:outerShdw blurRad="50800" dist="50800" dir="5400000" sx="1000" sy="1000" algn="ctr" rotWithShape="0">
                    <a:srgbClr val="000000">
                      <a:alpha val="43137"/>
                    </a:srgbClr>
                  </a:outerShdw>
                </a:effectLst>
              </a:rPr>
              <a:t> evaluation(5)</a:t>
            </a:r>
            <a:endParaRPr lang="ko-KR" altLang="en-US" sz="3200" b="1" dirty="0">
              <a:solidFill>
                <a:schemeClr val="bg1"/>
              </a:solidFill>
              <a:effectLst>
                <a:outerShdw blurRad="50800" dist="50800" dir="5400000" sx="1000" sy="1000" algn="ctr" rotWithShape="0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DA5E8C29-A238-4DD7-B7C5-335AFB9E0EF2}"/>
              </a:ext>
            </a:extLst>
          </p:cNvPr>
          <p:cNvSpPr/>
          <p:nvPr/>
        </p:nvSpPr>
        <p:spPr>
          <a:xfrm flipH="1">
            <a:off x="11786144" y="5004758"/>
            <a:ext cx="45719" cy="959758"/>
          </a:xfrm>
          <a:prstGeom prst="rect">
            <a:avLst/>
          </a:prstGeom>
          <a:solidFill>
            <a:srgbClr val="002C62"/>
          </a:solidFill>
          <a:ln>
            <a:solidFill>
              <a:srgbClr val="002C6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pic>
        <p:nvPicPr>
          <p:cNvPr id="1028" name="Picture 4" descr="HONGIK UNIVERSITY">
            <a:extLst>
              <a:ext uri="{FF2B5EF4-FFF2-40B4-BE49-F238E27FC236}">
                <a16:creationId xmlns:a16="http://schemas.microsoft.com/office/drawing/2014/main" id="{6B30C8C5-C24D-49AC-8DCD-2AC2166ECC5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8680" y="1773596"/>
            <a:ext cx="3089820" cy="2141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부제목 2">
            <a:extLst>
              <a:ext uri="{FF2B5EF4-FFF2-40B4-BE49-F238E27FC236}">
                <a16:creationId xmlns:a16="http://schemas.microsoft.com/office/drawing/2014/main" id="{6DD967C6-5A84-204B-192A-9720D2E48DAD}"/>
              </a:ext>
            </a:extLst>
          </p:cNvPr>
          <p:cNvSpPr txBox="1">
            <a:spLocks/>
          </p:cNvSpPr>
          <p:nvPr/>
        </p:nvSpPr>
        <p:spPr>
          <a:xfrm>
            <a:off x="9871364" y="1666695"/>
            <a:ext cx="2023092" cy="42798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altLang="ko-KR" b="1" dirty="0">
                <a:solidFill>
                  <a:srgbClr val="002C62"/>
                </a:solidFill>
              </a:rPr>
              <a:t>2025</a:t>
            </a:r>
            <a:r>
              <a:rPr lang="ko-KR" altLang="en-US" b="1" dirty="0">
                <a:solidFill>
                  <a:srgbClr val="002C62"/>
                </a:solidFill>
              </a:rPr>
              <a:t>년 </a:t>
            </a:r>
            <a:r>
              <a:rPr lang="en-US" altLang="ko-KR" b="1" dirty="0">
                <a:solidFill>
                  <a:srgbClr val="002C62"/>
                </a:solidFill>
              </a:rPr>
              <a:t>11</a:t>
            </a:r>
            <a:r>
              <a:rPr lang="ko-KR" altLang="en-US" b="1" dirty="0">
                <a:solidFill>
                  <a:srgbClr val="002C62"/>
                </a:solidFill>
              </a:rPr>
              <a:t>월 </a:t>
            </a:r>
            <a:r>
              <a:rPr lang="en-US" altLang="ko-KR" b="1" dirty="0">
                <a:solidFill>
                  <a:srgbClr val="002C62"/>
                </a:solidFill>
              </a:rPr>
              <a:t>4</a:t>
            </a:r>
            <a:r>
              <a:rPr lang="ko-KR" altLang="en-US" b="1" dirty="0">
                <a:solidFill>
                  <a:srgbClr val="002C62"/>
                </a:solidFill>
              </a:rPr>
              <a:t>일</a:t>
            </a:r>
            <a:endParaRPr lang="en-US" altLang="ko-KR" b="1" dirty="0">
              <a:solidFill>
                <a:srgbClr val="002C6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6068675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9F01D89-421D-20CC-6D5F-47FC8C6A5C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7340BEB-8E46-868C-99E7-95D8BC5B34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ko-KR" altLang="en-US" dirty="0"/>
              <a:t>목표 및 진행사항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E22E4903-A5AB-F7E3-2412-5136BFF43F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736E57-F90E-408A-B1D8-FC5493EAAE16}" type="slidenum">
              <a:rPr lang="ko-KR" altLang="en-US" smtClean="0"/>
              <a:t>2</a:t>
            </a:fld>
            <a:endParaRPr lang="ko-KR" alt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E0DA4B2-EC6E-F008-6710-245906C12FE5}"/>
              </a:ext>
            </a:extLst>
          </p:cNvPr>
          <p:cNvSpPr txBox="1"/>
          <p:nvPr/>
        </p:nvSpPr>
        <p:spPr>
          <a:xfrm>
            <a:off x="620486" y="1143000"/>
            <a:ext cx="9666514" cy="42011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altLang="ko-KR" sz="1600" dirty="0"/>
          </a:p>
          <a:p>
            <a:r>
              <a:rPr lang="ko-KR" altLang="en-US" sz="2000" b="1" dirty="0"/>
              <a:t>목표</a:t>
            </a:r>
            <a:endParaRPr lang="en-US" altLang="ko-KR" dirty="0"/>
          </a:p>
          <a:p>
            <a:pPr>
              <a:lnSpc>
                <a:spcPct val="150000"/>
              </a:lnSpc>
            </a:pPr>
            <a:r>
              <a:rPr lang="en-US" altLang="ko-KR" dirty="0"/>
              <a:t>iOS </a:t>
            </a:r>
            <a:r>
              <a:rPr lang="ko-KR" altLang="en-US" dirty="0"/>
              <a:t>환경에서 </a:t>
            </a:r>
            <a:r>
              <a:rPr lang="en-US" altLang="ko-KR" dirty="0"/>
              <a:t>panoptic segmentation</a:t>
            </a:r>
            <a:r>
              <a:rPr lang="ko-KR" altLang="en-US" dirty="0"/>
              <a:t>이 가능한 </a:t>
            </a:r>
            <a:r>
              <a:rPr lang="en-US" altLang="ko-KR" dirty="0" err="1"/>
              <a:t>EoMT</a:t>
            </a:r>
            <a:r>
              <a:rPr lang="en-US" altLang="ko-KR" dirty="0"/>
              <a:t> </a:t>
            </a:r>
            <a:r>
              <a:rPr lang="ko-KR" altLang="en-US" dirty="0"/>
              <a:t>모델 최적화</a:t>
            </a:r>
            <a:endParaRPr lang="en-US" altLang="ko-KR" dirty="0"/>
          </a:p>
          <a:p>
            <a:pPr>
              <a:lnSpc>
                <a:spcPct val="150000"/>
              </a:lnSpc>
            </a:pPr>
            <a:r>
              <a:rPr lang="en-US" altLang="ko-KR" sz="1400" dirty="0"/>
              <a:t>Panoptic segmentation:</a:t>
            </a:r>
            <a:r>
              <a:rPr lang="ko-KR" altLang="en-US" sz="1400" dirty="0"/>
              <a:t> 어떤 사물인지</a:t>
            </a:r>
            <a:r>
              <a:rPr lang="en-US" altLang="ko-KR" sz="1400" dirty="0"/>
              <a:t>, </a:t>
            </a:r>
            <a:r>
              <a:rPr lang="ko-KR" altLang="en-US" sz="1400" dirty="0"/>
              <a:t>개별 객체인지를 동시에 구분</a:t>
            </a:r>
            <a:endParaRPr lang="en-US" altLang="ko-KR" dirty="0"/>
          </a:p>
          <a:p>
            <a:pPr>
              <a:lnSpc>
                <a:spcPct val="150000"/>
              </a:lnSpc>
            </a:pPr>
            <a:endParaRPr lang="en-US" altLang="ko-KR" sz="2400" b="1" dirty="0"/>
          </a:p>
          <a:p>
            <a:pPr>
              <a:lnSpc>
                <a:spcPct val="150000"/>
              </a:lnSpc>
            </a:pPr>
            <a:r>
              <a:rPr lang="ko-KR" altLang="en-US" sz="2000" b="1" dirty="0"/>
              <a:t>진행사항</a:t>
            </a:r>
            <a:endParaRPr lang="en-US" altLang="ko-KR" sz="2000" b="1" dirty="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dirty="0"/>
              <a:t>iPhone</a:t>
            </a:r>
            <a:r>
              <a:rPr lang="ko-KR" altLang="en-US" dirty="0"/>
              <a:t>에서의 추론 결과 </a:t>
            </a:r>
            <a:r>
              <a:rPr lang="en-US" altLang="ko-KR" dirty="0"/>
              <a:t>evaluation </a:t>
            </a:r>
            <a:r>
              <a:rPr lang="ko-KR" altLang="en-US" dirty="0"/>
              <a:t>코드 작성</a:t>
            </a:r>
            <a:endParaRPr lang="en-US" altLang="ko-KR" dirty="0"/>
          </a:p>
          <a:p>
            <a:pPr>
              <a:lnSpc>
                <a:spcPct val="150000"/>
              </a:lnSpc>
            </a:pPr>
            <a:endParaRPr lang="en-US" altLang="ko-KR" dirty="0"/>
          </a:p>
          <a:p>
            <a:pPr>
              <a:lnSpc>
                <a:spcPct val="150000"/>
              </a:lnSpc>
            </a:pPr>
            <a:r>
              <a:rPr lang="en-US" altLang="ko-KR" b="1" dirty="0"/>
              <a:t>To Do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 dirty="0"/>
              <a:t>iPhone</a:t>
            </a:r>
            <a:r>
              <a:rPr lang="ko-KR" altLang="en-US" dirty="0"/>
              <a:t>에서 추론할 때 사용하는 코드 수정</a:t>
            </a:r>
            <a:endParaRPr lang="en-US" altLang="ko-KR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altLang="ko-KR" dirty="0" err="1"/>
              <a:t>Pytorch</a:t>
            </a:r>
            <a:r>
              <a:rPr lang="ko-KR" altLang="en-US" dirty="0"/>
              <a:t>의 </a:t>
            </a:r>
            <a:r>
              <a:rPr lang="en-US" altLang="ko-KR" dirty="0" err="1"/>
              <a:t>data_loader</a:t>
            </a:r>
            <a:r>
              <a:rPr lang="ko-KR" altLang="en-US" dirty="0"/>
              <a:t> 기능</a:t>
            </a:r>
            <a:r>
              <a:rPr lang="en-US" altLang="ko-KR" dirty="0"/>
              <a:t>, pad </a:t>
            </a:r>
            <a:r>
              <a:rPr lang="ko-KR" altLang="en-US" dirty="0"/>
              <a:t>등을 </a:t>
            </a:r>
            <a:r>
              <a:rPr lang="en-US" altLang="ko-KR" dirty="0"/>
              <a:t>swift</a:t>
            </a:r>
            <a:r>
              <a:rPr lang="ko-KR" altLang="en-US" dirty="0"/>
              <a:t>에서 구현하면서 생기는 문제</a:t>
            </a:r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97367215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E8D45D2-3BDC-E380-4360-1D509FFB47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1E34511-BD5C-CFF4-1479-AF5EAD6FA9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ko-KR" altLang="en-US" dirty="0"/>
              <a:t>추론 결과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32B83C7E-619D-049A-608C-10BDF5FEAE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736E57-F90E-408A-B1D8-FC5493EAAE16}" type="slidenum">
              <a:rPr lang="ko-KR" altLang="en-US" smtClean="0"/>
              <a:t>3</a:t>
            </a:fld>
            <a:endParaRPr lang="ko-KR" altLang="en-US"/>
          </a:p>
        </p:txBody>
      </p:sp>
      <p:pic>
        <p:nvPicPr>
          <p:cNvPr id="1028" name="Picture 4">
            <a:extLst>
              <a:ext uri="{FF2B5EF4-FFF2-40B4-BE49-F238E27FC236}">
                <a16:creationId xmlns:a16="http://schemas.microsoft.com/office/drawing/2014/main" id="{1DADA2D7-8A2D-51C0-0753-1D9DDE4FDBA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863604"/>
            <a:ext cx="12192000" cy="36893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3" name="그림 12">
            <a:extLst>
              <a:ext uri="{FF2B5EF4-FFF2-40B4-BE49-F238E27FC236}">
                <a16:creationId xmlns:a16="http://schemas.microsoft.com/office/drawing/2014/main" id="{F4940E87-8F0A-8325-D1FC-D0C2AE5B2E7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86433" y="4876219"/>
            <a:ext cx="5192022" cy="1480131"/>
          </a:xfrm>
          <a:prstGeom prst="rect">
            <a:avLst/>
          </a:prstGeom>
        </p:spPr>
      </p:pic>
      <p:cxnSp>
        <p:nvCxnSpPr>
          <p:cNvPr id="17" name="직선 화살표 연결선 16">
            <a:extLst>
              <a:ext uri="{FF2B5EF4-FFF2-40B4-BE49-F238E27FC236}">
                <a16:creationId xmlns:a16="http://schemas.microsoft.com/office/drawing/2014/main" id="{8F9D8546-973E-913B-E7D3-C71756F69521}"/>
              </a:ext>
            </a:extLst>
          </p:cNvPr>
          <p:cNvCxnSpPr>
            <a:cxnSpLocks/>
          </p:cNvCxnSpPr>
          <p:nvPr/>
        </p:nvCxnSpPr>
        <p:spPr>
          <a:xfrm>
            <a:off x="0" y="4374574"/>
            <a:ext cx="1423555" cy="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직선 연결선 18">
            <a:extLst>
              <a:ext uri="{FF2B5EF4-FFF2-40B4-BE49-F238E27FC236}">
                <a16:creationId xmlns:a16="http://schemas.microsoft.com/office/drawing/2014/main" id="{8FA063ED-9A36-1503-E15B-AEB1E2AFBD02}"/>
              </a:ext>
            </a:extLst>
          </p:cNvPr>
          <p:cNvCxnSpPr/>
          <p:nvPr/>
        </p:nvCxnSpPr>
        <p:spPr>
          <a:xfrm>
            <a:off x="1454728" y="4228233"/>
            <a:ext cx="0" cy="292681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직선 화살표 연결선 20">
            <a:extLst>
              <a:ext uri="{FF2B5EF4-FFF2-40B4-BE49-F238E27FC236}">
                <a16:creationId xmlns:a16="http://schemas.microsoft.com/office/drawing/2014/main" id="{A3A75275-D3E0-0172-BB87-708205A87868}"/>
              </a:ext>
            </a:extLst>
          </p:cNvPr>
          <p:cNvCxnSpPr>
            <a:cxnSpLocks/>
          </p:cNvCxnSpPr>
          <p:nvPr/>
        </p:nvCxnSpPr>
        <p:spPr>
          <a:xfrm>
            <a:off x="8153400" y="4371978"/>
            <a:ext cx="1423555" cy="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직선 연결선 21">
            <a:extLst>
              <a:ext uri="{FF2B5EF4-FFF2-40B4-BE49-F238E27FC236}">
                <a16:creationId xmlns:a16="http://schemas.microsoft.com/office/drawing/2014/main" id="{8AC637CC-721B-4888-F542-11A0027FCC9B}"/>
              </a:ext>
            </a:extLst>
          </p:cNvPr>
          <p:cNvCxnSpPr/>
          <p:nvPr/>
        </p:nvCxnSpPr>
        <p:spPr>
          <a:xfrm>
            <a:off x="9608128" y="4225637"/>
            <a:ext cx="0" cy="292681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직선 화살표 연결선 22">
            <a:extLst>
              <a:ext uri="{FF2B5EF4-FFF2-40B4-BE49-F238E27FC236}">
                <a16:creationId xmlns:a16="http://schemas.microsoft.com/office/drawing/2014/main" id="{329B99C4-4FDD-A427-1EEF-FA3C17009EEE}"/>
              </a:ext>
            </a:extLst>
          </p:cNvPr>
          <p:cNvCxnSpPr>
            <a:cxnSpLocks/>
          </p:cNvCxnSpPr>
          <p:nvPr/>
        </p:nvCxnSpPr>
        <p:spPr>
          <a:xfrm>
            <a:off x="4069773" y="4371112"/>
            <a:ext cx="1423555" cy="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직선 연결선 23">
            <a:extLst>
              <a:ext uri="{FF2B5EF4-FFF2-40B4-BE49-F238E27FC236}">
                <a16:creationId xmlns:a16="http://schemas.microsoft.com/office/drawing/2014/main" id="{4D5FDADC-685B-4754-3FE3-0C4AA717AD3A}"/>
              </a:ext>
            </a:extLst>
          </p:cNvPr>
          <p:cNvCxnSpPr/>
          <p:nvPr/>
        </p:nvCxnSpPr>
        <p:spPr>
          <a:xfrm>
            <a:off x="5524501" y="4224771"/>
            <a:ext cx="0" cy="292681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TextBox 24">
            <a:extLst>
              <a:ext uri="{FF2B5EF4-FFF2-40B4-BE49-F238E27FC236}">
                <a16:creationId xmlns:a16="http://schemas.microsoft.com/office/drawing/2014/main" id="{604865AE-F833-C113-A744-97235DD5E146}"/>
              </a:ext>
            </a:extLst>
          </p:cNvPr>
          <p:cNvSpPr txBox="1"/>
          <p:nvPr/>
        </p:nvSpPr>
        <p:spPr>
          <a:xfrm>
            <a:off x="8524831" y="5042853"/>
            <a:ext cx="3216896" cy="25186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000" b="1" dirty="0"/>
              <a:t>문제</a:t>
            </a:r>
            <a:endParaRPr lang="en-US" altLang="ko-KR" sz="2000" b="1" dirty="0"/>
          </a:p>
          <a:p>
            <a:pPr marL="342900" indent="-342900">
              <a:buFontTx/>
              <a:buChar char="-"/>
            </a:pPr>
            <a:r>
              <a:rPr lang="ko-KR" altLang="en-US" sz="2000" dirty="0"/>
              <a:t>라벨 불일치</a:t>
            </a:r>
            <a:endParaRPr lang="en-US" altLang="ko-KR" sz="2000" dirty="0"/>
          </a:p>
          <a:p>
            <a:pPr marL="342900" indent="-342900">
              <a:buFontTx/>
              <a:buChar char="-"/>
            </a:pPr>
            <a:r>
              <a:rPr lang="en-US" altLang="ko-KR" sz="2000" dirty="0"/>
              <a:t>crop &amp; pad </a:t>
            </a:r>
            <a:r>
              <a:rPr lang="ko-KR" altLang="en-US" sz="2000" dirty="0"/>
              <a:t>등의 </a:t>
            </a:r>
            <a:r>
              <a:rPr lang="ko-KR" altLang="en-US" sz="2000" dirty="0" err="1"/>
              <a:t>파이썬코드를</a:t>
            </a:r>
            <a:r>
              <a:rPr lang="ko-KR" altLang="en-US" sz="2000" dirty="0"/>
              <a:t> </a:t>
            </a:r>
            <a:r>
              <a:rPr lang="en-US" altLang="ko-KR" sz="2000" dirty="0"/>
              <a:t>swift</a:t>
            </a:r>
            <a:r>
              <a:rPr lang="ko-KR" altLang="en-US" sz="2000" dirty="0"/>
              <a:t>에서 재현</a:t>
            </a:r>
            <a:endParaRPr lang="en-US" altLang="ko-KR" sz="2000" dirty="0"/>
          </a:p>
          <a:p>
            <a:pPr marL="342900" indent="-342900">
              <a:buFontTx/>
              <a:buChar char="-"/>
            </a:pPr>
            <a:endParaRPr lang="en-US" altLang="ko-KR" dirty="0"/>
          </a:p>
          <a:p>
            <a:pPr>
              <a:lnSpc>
                <a:spcPct val="150000"/>
              </a:lnSpc>
            </a:pPr>
            <a:endParaRPr lang="en-US" altLang="ko-KR" sz="2400" b="1" dirty="0"/>
          </a:p>
          <a:p>
            <a:pPr>
              <a:lnSpc>
                <a:spcPct val="150000"/>
              </a:lnSpc>
            </a:pPr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86280887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602A175-65B9-5A87-EE07-CF9A06C92E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DD5F258-5E3D-CE25-51C2-B05B052949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ko-KR" altLang="en-US" dirty="0"/>
              <a:t>추론 결과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438581C5-C31C-0FFD-18AA-14889E2A19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736E57-F90E-408A-B1D8-FC5493EAAE16}" type="slidenum">
              <a:rPr lang="ko-KR" altLang="en-US" smtClean="0"/>
              <a:t>4</a:t>
            </a:fld>
            <a:endParaRPr lang="ko-KR" altLang="en-US"/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5EE78C39-4AFE-4CE7-F772-0D7C29C938F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60403" y="1431998"/>
            <a:ext cx="9471193" cy="3994004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DF6514C4-EFD4-17AE-07A3-9CC8A7DC8FA0}"/>
              </a:ext>
            </a:extLst>
          </p:cNvPr>
          <p:cNvSpPr txBox="1"/>
          <p:nvPr/>
        </p:nvSpPr>
        <p:spPr>
          <a:xfrm>
            <a:off x="7978399" y="4526253"/>
            <a:ext cx="4079341" cy="16260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000" b="1" dirty="0"/>
              <a:t>Colab</a:t>
            </a:r>
            <a:r>
              <a:rPr lang="ko-KR" altLang="en-US" sz="2000" b="1" dirty="0"/>
              <a:t>에서의 정상적인 추론</a:t>
            </a:r>
            <a:endParaRPr lang="en-US" altLang="ko-KR" sz="2000" b="1" dirty="0"/>
          </a:p>
          <a:p>
            <a:pPr marL="342900" indent="-342900">
              <a:buFontTx/>
              <a:buChar char="-"/>
            </a:pPr>
            <a:r>
              <a:rPr lang="ko-KR" altLang="en-US" sz="2000" dirty="0"/>
              <a:t>라벨 일치</a:t>
            </a:r>
            <a:endParaRPr lang="en-US" altLang="ko-KR" dirty="0"/>
          </a:p>
          <a:p>
            <a:pPr>
              <a:lnSpc>
                <a:spcPct val="150000"/>
              </a:lnSpc>
            </a:pPr>
            <a:endParaRPr lang="en-US" altLang="ko-KR" sz="2400" b="1" dirty="0"/>
          </a:p>
          <a:p>
            <a:pPr>
              <a:lnSpc>
                <a:spcPct val="150000"/>
              </a:lnSpc>
            </a:pPr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313760936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B3A73D-5632-F3B8-DF1F-21B9F3503F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BA0FFA0-32F5-C0D7-1D6A-3BF3759212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ko-KR" altLang="en-US" dirty="0"/>
              <a:t>추론 결과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D26FBD50-678C-E011-23C9-0472334258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736E57-F90E-408A-B1D8-FC5493EAAE16}" type="slidenum">
              <a:rPr lang="ko-KR" altLang="en-US" smtClean="0"/>
              <a:t>5</a:t>
            </a:fld>
            <a:endParaRPr lang="ko-KR" altLang="en-US"/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FBF5D8F9-874F-DB85-1A36-A3B7E0B0F59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5992" y="1188291"/>
            <a:ext cx="11260015" cy="4041405"/>
          </a:xfrm>
          <a:prstGeom prst="rect">
            <a:avLst/>
          </a:prstGeom>
        </p:spPr>
      </p:pic>
      <p:pic>
        <p:nvPicPr>
          <p:cNvPr id="8" name="그림 7">
            <a:extLst>
              <a:ext uri="{FF2B5EF4-FFF2-40B4-BE49-F238E27FC236}">
                <a16:creationId xmlns:a16="http://schemas.microsoft.com/office/drawing/2014/main" id="{276F9F13-B482-4A5D-5CFC-0911292C5F3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57636" y="5416060"/>
            <a:ext cx="4276725" cy="1190625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B7BA70B7-4FB5-D817-34E8-D81EBC446E61}"/>
              </a:ext>
            </a:extLst>
          </p:cNvPr>
          <p:cNvSpPr txBox="1"/>
          <p:nvPr/>
        </p:nvSpPr>
        <p:spPr>
          <a:xfrm>
            <a:off x="8840844" y="5460020"/>
            <a:ext cx="3216896" cy="19030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000" b="1" dirty="0"/>
              <a:t>문제</a:t>
            </a:r>
            <a:endParaRPr lang="en-US" altLang="ko-KR" sz="2000" b="1" dirty="0"/>
          </a:p>
          <a:p>
            <a:pPr marL="342900" indent="-342900">
              <a:buFontTx/>
              <a:buChar char="-"/>
            </a:pPr>
            <a:r>
              <a:rPr lang="ko-KR" altLang="en-US" sz="2000" dirty="0"/>
              <a:t>라벨 불일치</a:t>
            </a:r>
            <a:endParaRPr lang="en-US" altLang="ko-KR" sz="2000" dirty="0"/>
          </a:p>
          <a:p>
            <a:pPr marL="342900" indent="-342900">
              <a:buFontTx/>
              <a:buChar char="-"/>
            </a:pPr>
            <a:r>
              <a:rPr lang="ko-KR" altLang="en-US" dirty="0"/>
              <a:t>정규화 </a:t>
            </a:r>
            <a:r>
              <a:rPr lang="en-US" altLang="ko-KR" dirty="0"/>
              <a:t>- </a:t>
            </a:r>
            <a:r>
              <a:rPr lang="ko-KR" altLang="en-US" dirty="0"/>
              <a:t>픽셀 값 </a:t>
            </a:r>
            <a:endParaRPr lang="en-US" altLang="ko-KR" dirty="0"/>
          </a:p>
          <a:p>
            <a:pPr>
              <a:lnSpc>
                <a:spcPct val="150000"/>
              </a:lnSpc>
            </a:pPr>
            <a:endParaRPr lang="en-US" altLang="ko-KR" sz="2400" b="1" dirty="0"/>
          </a:p>
          <a:p>
            <a:pPr>
              <a:lnSpc>
                <a:spcPct val="150000"/>
              </a:lnSpc>
            </a:pPr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118705828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1277C2B-A82D-DA1F-F6E6-F68B732E08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7C4F21F-8DC2-D46D-4775-7FE72B9326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ko-KR" altLang="en-US" dirty="0"/>
              <a:t>추론 결과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F375B1FD-769A-7C09-D38E-AF3A7B8F40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736E57-F90E-408A-B1D8-FC5493EAAE16}" type="slidenum">
              <a:rPr lang="ko-KR" altLang="en-US" smtClean="0"/>
              <a:t>6</a:t>
            </a:fld>
            <a:endParaRPr lang="ko-KR" altLang="en-US"/>
          </a:p>
        </p:txBody>
      </p:sp>
      <p:pic>
        <p:nvPicPr>
          <p:cNvPr id="11" name="그림 10">
            <a:extLst>
              <a:ext uri="{FF2B5EF4-FFF2-40B4-BE49-F238E27FC236}">
                <a16:creationId xmlns:a16="http://schemas.microsoft.com/office/drawing/2014/main" id="{F7B4681A-1F76-3EEF-9A9E-AABE39B9B9F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20240" y="898774"/>
            <a:ext cx="12192000" cy="3294905"/>
          </a:xfrm>
          <a:prstGeom prst="rect">
            <a:avLst/>
          </a:prstGeom>
        </p:spPr>
      </p:pic>
      <p:pic>
        <p:nvPicPr>
          <p:cNvPr id="5" name="그림 4">
            <a:extLst>
              <a:ext uri="{FF2B5EF4-FFF2-40B4-BE49-F238E27FC236}">
                <a16:creationId xmlns:a16="http://schemas.microsoft.com/office/drawing/2014/main" id="{67A187FF-7EF1-A764-9103-9B22D6AF197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9320" b="28457"/>
          <a:stretch>
            <a:fillRect/>
          </a:stretch>
        </p:blipFill>
        <p:spPr>
          <a:xfrm>
            <a:off x="6387489" y="4034269"/>
            <a:ext cx="5448300" cy="1826204"/>
          </a:xfrm>
          <a:prstGeom prst="rect">
            <a:avLst/>
          </a:prstGeom>
        </p:spPr>
      </p:pic>
      <p:pic>
        <p:nvPicPr>
          <p:cNvPr id="6" name="그림 5">
            <a:extLst>
              <a:ext uri="{FF2B5EF4-FFF2-40B4-BE49-F238E27FC236}">
                <a16:creationId xmlns:a16="http://schemas.microsoft.com/office/drawing/2014/main" id="{C21C2D66-48FC-DBDF-9F4E-C5BEE86D31A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69976"/>
          <a:stretch>
            <a:fillRect/>
          </a:stretch>
        </p:blipFill>
        <p:spPr>
          <a:xfrm>
            <a:off x="20240" y="4034269"/>
            <a:ext cx="5448300" cy="17015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2801494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4B2380D-46C3-FD77-6218-FFF0E2B7EA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C572999-4F38-8FA5-F918-0B9B8E67AF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ko-KR" altLang="en-US" dirty="0"/>
              <a:t>추론 결과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30F090A8-148F-1B98-397C-35B07F7168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736E57-F90E-408A-B1D8-FC5493EAAE16}" type="slidenum">
              <a:rPr lang="ko-KR" altLang="en-US" smtClean="0"/>
              <a:t>7</a:t>
            </a:fld>
            <a:endParaRPr lang="ko-KR" altLang="en-US"/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F040456A-120F-D1A4-9439-51B4F92FBE69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-35899" b="79838"/>
          <a:stretch>
            <a:fillRect/>
          </a:stretch>
        </p:blipFill>
        <p:spPr>
          <a:xfrm>
            <a:off x="3214771" y="-2252544"/>
            <a:ext cx="7929855" cy="5188165"/>
          </a:xfrm>
          <a:prstGeom prst="rect">
            <a:avLst/>
          </a:prstGeom>
        </p:spPr>
      </p:pic>
      <p:pic>
        <p:nvPicPr>
          <p:cNvPr id="5" name="그림 4">
            <a:extLst>
              <a:ext uri="{FF2B5EF4-FFF2-40B4-BE49-F238E27FC236}">
                <a16:creationId xmlns:a16="http://schemas.microsoft.com/office/drawing/2014/main" id="{282BC139-36A1-5280-B73C-D68990854C5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97898" y="3475571"/>
            <a:ext cx="8038584" cy="2172439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0C715299-1AF1-12DC-6185-4811D3A60193}"/>
              </a:ext>
            </a:extLst>
          </p:cNvPr>
          <p:cNvSpPr txBox="1"/>
          <p:nvPr/>
        </p:nvSpPr>
        <p:spPr>
          <a:xfrm>
            <a:off x="641268" y="1420284"/>
            <a:ext cx="2216232" cy="18723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altLang="ko-KR" sz="1600" dirty="0"/>
          </a:p>
          <a:p>
            <a:r>
              <a:rPr lang="en-US" altLang="ko-KR" sz="2000" b="1" dirty="0"/>
              <a:t>iPhone</a:t>
            </a:r>
            <a:r>
              <a:rPr lang="ko-KR" altLang="en-US" sz="2000" b="1" dirty="0"/>
              <a:t>에서 추론</a:t>
            </a:r>
            <a:endParaRPr lang="en-US" altLang="ko-KR" sz="2000" b="1" dirty="0"/>
          </a:p>
          <a:p>
            <a:pPr marL="342900" indent="-342900">
              <a:buFontTx/>
              <a:buChar char="-"/>
            </a:pPr>
            <a:r>
              <a:rPr lang="ko-KR" altLang="en-US" sz="2000" dirty="0"/>
              <a:t>라벨과 색 유사</a:t>
            </a:r>
            <a:endParaRPr lang="en-US" altLang="ko-KR" dirty="0"/>
          </a:p>
          <a:p>
            <a:pPr>
              <a:lnSpc>
                <a:spcPct val="150000"/>
              </a:lnSpc>
            </a:pPr>
            <a:endParaRPr lang="en-US" altLang="ko-KR" sz="2400" b="1" dirty="0"/>
          </a:p>
          <a:p>
            <a:pPr>
              <a:lnSpc>
                <a:spcPct val="150000"/>
              </a:lnSpc>
            </a:pPr>
            <a:endParaRPr lang="en-US" altLang="ko-KR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B7A5A38-2AAC-8934-E435-C370202E901C}"/>
              </a:ext>
            </a:extLst>
          </p:cNvPr>
          <p:cNvSpPr txBox="1"/>
          <p:nvPr/>
        </p:nvSpPr>
        <p:spPr>
          <a:xfrm>
            <a:off x="641268" y="3849271"/>
            <a:ext cx="2444832" cy="18723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altLang="ko-KR" sz="1600" dirty="0"/>
          </a:p>
          <a:p>
            <a:r>
              <a:rPr lang="en-US" altLang="ko-KR" sz="2000" b="1" dirty="0"/>
              <a:t>Colab</a:t>
            </a:r>
            <a:r>
              <a:rPr lang="ko-KR" altLang="en-US" sz="2000" b="1" dirty="0"/>
              <a:t>에서 추론</a:t>
            </a:r>
            <a:endParaRPr lang="en-US" altLang="ko-KR" sz="2000" b="1" dirty="0"/>
          </a:p>
          <a:p>
            <a:pPr marL="342900" indent="-342900">
              <a:buFontTx/>
              <a:buChar char="-"/>
            </a:pPr>
            <a:r>
              <a:rPr lang="ko-KR" altLang="en-US" sz="2000" dirty="0"/>
              <a:t>라벨과 색 불일치</a:t>
            </a:r>
            <a:endParaRPr lang="en-US" altLang="ko-KR" dirty="0"/>
          </a:p>
          <a:p>
            <a:pPr>
              <a:lnSpc>
                <a:spcPct val="150000"/>
              </a:lnSpc>
            </a:pPr>
            <a:endParaRPr lang="en-US" altLang="ko-KR" sz="2400" b="1" dirty="0"/>
          </a:p>
          <a:p>
            <a:pPr>
              <a:lnSpc>
                <a:spcPct val="150000"/>
              </a:lnSpc>
            </a:pPr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202778851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arial">
      <a:majorFont>
        <a:latin typeface="Arial"/>
        <a:ea typeface="arial"/>
        <a:cs typeface=""/>
      </a:majorFont>
      <a:minorFont>
        <a:latin typeface="Arial"/>
        <a:ea typeface="arial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4361</TotalTime>
  <Words>126</Words>
  <Application>Microsoft Office PowerPoint</Application>
  <PresentationFormat>와이드스크린</PresentationFormat>
  <Paragraphs>45</Paragraphs>
  <Slides>7</Slides>
  <Notes>3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7</vt:i4>
      </vt:variant>
    </vt:vector>
  </HeadingPairs>
  <TitlesOfParts>
    <vt:vector size="10" baseType="lpstr">
      <vt:lpstr>맑은 고딕</vt:lpstr>
      <vt:lpstr>Arial</vt:lpstr>
      <vt:lpstr>Office 테마</vt:lpstr>
      <vt:lpstr>EoMT evaluation(5)</vt:lpstr>
      <vt:lpstr>목표 및 진행사항</vt:lpstr>
      <vt:lpstr>추론 결과</vt:lpstr>
      <vt:lpstr>추론 결과</vt:lpstr>
      <vt:lpstr>추론 결과</vt:lpstr>
      <vt:lpstr>추론 결과</vt:lpstr>
      <vt:lpstr>추론 결과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konwoo</dc:creator>
  <cp:lastModifiedBy>Suhyeon</cp:lastModifiedBy>
  <cp:revision>1397</cp:revision>
  <dcterms:created xsi:type="dcterms:W3CDTF">2023-03-06T16:32:37Z</dcterms:created>
  <dcterms:modified xsi:type="dcterms:W3CDTF">2025-11-03T14:42:50Z</dcterms:modified>
</cp:coreProperties>
</file>