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290" r:id="rId3"/>
    <p:sldId id="291" r:id="rId4"/>
    <p:sldId id="293" r:id="rId5"/>
    <p:sldId id="294" r:id="rId6"/>
    <p:sldId id="292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840F-1023-EE61-866B-AADB0251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D49644-ED33-BBFB-64AE-BD5404ABA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8214B-FF51-5F49-4487-E1DCB4F5E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812B6-C756-773A-0315-B28529123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198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F978-C6F0-F2CC-C1F5-7E3F1B9B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915F16-2062-3762-2259-C80FA6F2B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035B3B-8520-9460-7978-1C4C404FB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E3940B-3B50-201B-C530-5EFCE977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359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5C75-252F-D55A-1384-DF3B99DB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3DBA68-5531-3C94-7190-9B4EEB330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1B6815-9B9B-85C3-4634-AD733B6FC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49AF6A-AFF4-8A04-832E-F900620A2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005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650C-B586-CEDF-667F-0AD5B8F1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DBBC9B-A631-CE5F-C096-41240FAC0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F1A787-5AB2-B3B3-A199-046BBCA5B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24B1B-3E72-3931-7E97-45B91A2E2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359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245-0D70-4560-A028-78BC7FE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6B7C-C01A-247A-D470-79EAAC2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A6E7F-E7B3-8574-A91C-3BA503DC4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75122-17D7-5345-4438-64D1247F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18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161-B7A1-6698-6470-73F057F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6CD3F6-7C1C-FE1C-AC6A-8F07F665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EC3FF-D4FB-DA7C-5679-760737FF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 err="1"/>
              <a:t>zkp</a:t>
            </a:r>
            <a:r>
              <a:rPr lang="en-US" altLang="ko-KR" dirty="0"/>
              <a:t> </a:t>
            </a:r>
            <a:r>
              <a:rPr lang="ko-KR" altLang="en-US" dirty="0"/>
              <a:t>회로에 특화된 이유 </a:t>
            </a:r>
            <a:r>
              <a:rPr lang="en-US" altLang="ko-KR" dirty="0"/>
              <a:t>= SHA2</a:t>
            </a:r>
            <a:r>
              <a:rPr lang="ko-KR" altLang="en-US" dirty="0"/>
              <a:t>는 비트 연산이 많아서 산술 회로로 변경하면 곱셈 비용이 많이 발생하지만 </a:t>
            </a:r>
            <a:r>
              <a:rPr lang="en-US" altLang="ko-KR" dirty="0"/>
              <a:t>Poseidon</a:t>
            </a:r>
            <a:r>
              <a:rPr lang="ko-KR" altLang="en-US" dirty="0"/>
              <a:t>은 곱셈 횟수를 최소화 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FD56B-9997-21C5-0E7E-938F4DBD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38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245-0D70-4560-A028-78BC7FE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6B7C-C01A-247A-D470-79EAAC2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A6E7F-E7B3-8574-A91C-3BA503DC4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75122-17D7-5345-4438-64D1247F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18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A8B6-2C3A-5D27-288F-2F6691C3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9DD1E-3F8B-D3A6-69FA-4730F2559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10D6AB-ED24-3CB3-E31D-23B03611C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14C25B-3CA4-EB4A-602A-9DE68A273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438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00BB-6D37-1763-46A5-025825CC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10F4A7-CD75-BB06-6812-ED9B3E09F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A77991-C7EF-5228-9CE2-CAF33268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55F11-00F2-33AE-D5DB-0D846C993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404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A675-837B-72E1-E7FB-38EE4370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056FB6-9121-CC43-3D6C-13BB0D7BA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A459D3-F12A-C4E6-3912-370FCBABB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12314-9C1E-EC36-D42E-595D3DB5F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5874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5251-AFF0-783F-56D6-42644287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BF800D-375B-73ED-FB44-50BEB9F65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1F6756-5444-9990-AE5B-F3192424F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증명</a:t>
            </a:r>
            <a:r>
              <a:rPr lang="en-US" altLang="ko-KR" dirty="0"/>
              <a:t> </a:t>
            </a:r>
            <a:r>
              <a:rPr lang="ko-KR" altLang="en-US" dirty="0"/>
              <a:t>생성 시간 </a:t>
            </a:r>
            <a:r>
              <a:rPr lang="en-US" altLang="ko-KR" dirty="0"/>
              <a:t>= </a:t>
            </a:r>
            <a:r>
              <a:rPr lang="ko-KR" altLang="en-US" dirty="0"/>
              <a:t>암호화된 키</a:t>
            </a:r>
            <a:r>
              <a:rPr lang="en-US" altLang="ko-KR" dirty="0"/>
              <a:t>(</a:t>
            </a:r>
            <a:r>
              <a:rPr lang="en-US" altLang="ko-KR" dirty="0" err="1"/>
              <a:t>zkey</a:t>
            </a:r>
            <a:r>
              <a:rPr lang="en-US" altLang="ko-KR" dirty="0"/>
              <a:t>)</a:t>
            </a:r>
            <a:r>
              <a:rPr lang="ko-KR" altLang="en-US" dirty="0"/>
              <a:t>와 계산된 값</a:t>
            </a:r>
            <a:r>
              <a:rPr lang="en-US" altLang="ko-KR" dirty="0"/>
              <a:t>(witness)</a:t>
            </a:r>
            <a:r>
              <a:rPr lang="ko-KR" altLang="en-US" dirty="0"/>
              <a:t>를 가지고 수학  연산을 수행하여 암호문 만드는 과정에 걸리는 시간 </a:t>
            </a:r>
            <a:r>
              <a:rPr lang="en-US" altLang="ko-KR" dirty="0"/>
              <a:t>= CPU </a:t>
            </a:r>
            <a:r>
              <a:rPr lang="ko-KR" altLang="en-US" dirty="0"/>
              <a:t>가장 많은 시간 소요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E7158-6C93-9E4A-299B-20CEE8A21F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673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복잡도 정밀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04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– </a:t>
            </a:r>
            <a:r>
              <a:rPr lang="ko-KR" altLang="en-US" dirty="0"/>
              <a:t>회로 복잡도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B3ACE7-C688-31CD-E5D7-CE235EB00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083230"/>
              </p:ext>
            </p:extLst>
          </p:nvPr>
        </p:nvGraphicFramePr>
        <p:xfrm>
          <a:off x="1226762" y="1156017"/>
          <a:ext cx="10570987" cy="4160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928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</a:tblGrid>
              <a:tr h="3207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Merkle-Damgård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Keccak-f[1600]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Sponge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857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32-bit CPU Word </a:t>
                      </a:r>
                      <a:r>
                        <a:rPr lang="ko-KR" altLang="en-US" sz="1100" dirty="0"/>
                        <a:t>기반 연산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(ADD, XOR, SHIFT)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64-bit word CPU </a:t>
                      </a:r>
                      <a:r>
                        <a:rPr lang="ko-KR" altLang="en-US" sz="1100" dirty="0"/>
                        <a:t>기반 연산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(XOR, ROT, AND, NOT)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Prime field </a:t>
                      </a:r>
                      <a:r>
                        <a:rPr lang="ko-KR" altLang="en-US" sz="1100" dirty="0"/>
                        <a:t>기반 연산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(Field Add, Field Mul)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555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라운드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64 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 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Full Round : 8 Round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Partial Round : 57Round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51661"/>
                  </a:ext>
                </a:extLst>
              </a:tr>
              <a:tr h="7279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라운드 당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연산 수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ADD : 9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Bitwise Logic(AND/XOR/NOT) : 12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Rotation/Shift :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회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메시지 스케쥴 연산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XOR : 325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AND : 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NOT : 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Rotate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Shift : 24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S-box </a:t>
                      </a:r>
                      <a:r>
                        <a:rPr lang="ko-KR" altLang="en-US" sz="1100" dirty="0"/>
                        <a:t>연산</a:t>
                      </a:r>
                      <a:r>
                        <a:rPr lang="en-US" altLang="ko-KR" sz="1100" dirty="0"/>
                        <a:t> = Squaring 2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+ Multiplication 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= 3 Field Mul</a:t>
                      </a:r>
                    </a:p>
                    <a:p>
                      <a:endParaRPr lang="en-US" altLang="ko-KR" sz="1100" dirty="0"/>
                    </a:p>
                    <a:p>
                      <a:r>
                        <a:rPr lang="en-US" altLang="ko-KR" sz="1100" dirty="0"/>
                        <a:t>MDS Matrix = 3x3 </a:t>
                      </a:r>
                      <a:r>
                        <a:rPr lang="ko-KR" altLang="en-US" sz="1100" dirty="0" err="1"/>
                        <a:t>행렬곱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= 9 Field Mul + 6 </a:t>
                      </a:r>
                      <a:r>
                        <a:rPr lang="en-US" altLang="ko-KR" sz="1100" dirty="0" err="1"/>
                        <a:t>Feild</a:t>
                      </a:r>
                      <a:r>
                        <a:rPr lang="en-US" altLang="ko-KR" sz="1100" dirty="0"/>
                        <a:t> Adds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675070"/>
                  </a:ext>
                </a:extLst>
              </a:tr>
              <a:tr h="7279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연산 수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ADD : 768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Bitwise Logic(AND/XOR/NOT) : 912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Rotation/Shift :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672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2352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32-bit </a:t>
                      </a:r>
                      <a:r>
                        <a:rPr lang="ko-KR" altLang="en-US" sz="1100" dirty="0"/>
                        <a:t>연산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XOR : 7800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AND : 600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NOT : 600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Rotate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Shift : 576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9576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64-bit </a:t>
                      </a:r>
                      <a:r>
                        <a:rPr lang="ko-KR" altLang="en-US" sz="1100" dirty="0"/>
                        <a:t>연산 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Full Round : 144 Field Mul + 72 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Partial Round : 684 Field Mul + 513 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828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Field Mul, 585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최소 약 </a:t>
                      </a:r>
                      <a:r>
                        <a:rPr lang="en-US" altLang="ko-KR" sz="1100" dirty="0"/>
                        <a:t>72,000</a:t>
                      </a:r>
                      <a:r>
                        <a:rPr lang="ko-KR" altLang="en-US" sz="1100" dirty="0"/>
                        <a:t>회 이상의 </a:t>
                      </a:r>
                      <a:r>
                        <a:rPr lang="en-US" altLang="ko-KR" sz="1100" dirty="0"/>
                        <a:t>CPU </a:t>
                      </a:r>
                      <a:r>
                        <a:rPr lang="ko-KR" altLang="en-US" sz="1100" dirty="0"/>
                        <a:t>연산 필요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542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CFD5C5-CF00-1D18-F24B-70DF4EBEE026}"/>
              </a:ext>
            </a:extLst>
          </p:cNvPr>
          <p:cNvSpPr txBox="1"/>
          <p:nvPr/>
        </p:nvSpPr>
        <p:spPr>
          <a:xfrm>
            <a:off x="1137310" y="5475658"/>
            <a:ext cx="8364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1 Permutation </a:t>
            </a:r>
            <a:r>
              <a:rPr lang="ko-KR" altLang="en-US" sz="1600" dirty="0"/>
              <a:t>연산 기준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1</a:t>
            </a:r>
            <a:r>
              <a:rPr lang="ko-KR" altLang="en-US" sz="1600" dirty="0"/>
              <a:t> </a:t>
            </a:r>
            <a:r>
              <a:rPr lang="en-US" altLang="ko-KR" sz="1600" dirty="0"/>
              <a:t>Field</a:t>
            </a:r>
            <a:r>
              <a:rPr lang="ko-KR" altLang="en-US" sz="1600" dirty="0"/>
              <a:t> </a:t>
            </a:r>
            <a:r>
              <a:rPr lang="en-US" altLang="ko-KR" sz="1600" dirty="0"/>
              <a:t>Add</a:t>
            </a:r>
            <a:r>
              <a:rPr lang="ko-KR" altLang="en-US" sz="1600" dirty="0"/>
              <a:t> 연산은 </a:t>
            </a:r>
            <a:r>
              <a:rPr lang="en-US" altLang="ko-KR" sz="1600" dirty="0"/>
              <a:t>4~8</a:t>
            </a:r>
            <a:r>
              <a:rPr lang="ko-KR" altLang="en-US" sz="1600" dirty="0"/>
              <a:t>번의 </a:t>
            </a:r>
            <a:r>
              <a:rPr lang="en-US" altLang="ko-KR" sz="1600" dirty="0"/>
              <a:t>CPU Addition </a:t>
            </a:r>
            <a:r>
              <a:rPr lang="ko-KR" altLang="en-US" sz="1600" dirty="0"/>
              <a:t>연산과 </a:t>
            </a:r>
            <a:r>
              <a:rPr lang="en-US" altLang="ko-KR" sz="1600" dirty="0"/>
              <a:t>Carry Handling</a:t>
            </a:r>
            <a:r>
              <a:rPr lang="ko-KR" altLang="en-US" sz="1600" dirty="0"/>
              <a:t>으로 구성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1 Field Mul </a:t>
            </a:r>
            <a:r>
              <a:rPr lang="ko-KR" altLang="en-US" sz="1600" dirty="0"/>
              <a:t>연산은 </a:t>
            </a:r>
            <a:r>
              <a:rPr lang="en-US" altLang="ko-KR" sz="1600" dirty="0"/>
              <a:t>20~100 CPU Instruction</a:t>
            </a:r>
            <a:r>
              <a:rPr lang="ko-KR" altLang="en-US" sz="1600" dirty="0"/>
              <a:t>으로 구성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1244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259A-7A06-EF90-65A8-076BD803F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78C4C-7382-063B-A46D-81B976A6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Field </a:t>
            </a:r>
            <a:r>
              <a:rPr lang="ko-KR" altLang="en-US" dirty="0"/>
              <a:t>연산</a:t>
            </a:r>
            <a:r>
              <a:rPr lang="en-US" altLang="ko-KR" dirty="0"/>
              <a:t>(Add, Mul)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46757-4E9C-D9EA-1C3C-2C5DBDBE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F7D7A-671A-45F0-3EFE-9BC0D70B5648}"/>
                  </a:ext>
                </a:extLst>
              </p:cNvPr>
              <p:cNvSpPr txBox="1"/>
              <p:nvPr/>
            </p:nvSpPr>
            <p:spPr>
              <a:xfrm>
                <a:off x="1006789" y="1796957"/>
                <a:ext cx="10348961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소수 </a:t>
                </a:r>
                <a:r>
                  <a:rPr lang="en-US" altLang="ko-KR" sz="1600" dirty="0"/>
                  <a:t>p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Field </a:t>
                </a:r>
                <a:r>
                  <a:rPr lang="ko-KR" altLang="en-US" sz="1600" dirty="0"/>
                  <a:t>위에서 동작한다고 가정</a:t>
                </a:r>
                <a:r>
                  <a:rPr lang="en-US" altLang="ko-KR" sz="1600" dirty="0"/>
                  <a:t>(Poseidon</a:t>
                </a:r>
                <a:r>
                  <a:rPr lang="ko-KR" altLang="en-US" sz="1600" dirty="0"/>
                  <a:t>의 경우 </a:t>
                </a:r>
                <a:r>
                  <a:rPr lang="en-US" altLang="ko-KR" sz="1600" dirty="0"/>
                  <a:t>BN254 </a:t>
                </a:r>
                <a:r>
                  <a:rPr lang="ko-KR" altLang="en-US" sz="1600" dirty="0"/>
                  <a:t>혹은 </a:t>
                </a:r>
                <a:r>
                  <a:rPr lang="en-US" altLang="ko-KR" sz="1600" dirty="0"/>
                  <a:t>BLS12-381 </a:t>
                </a:r>
                <a:r>
                  <a:rPr lang="ko-KR" altLang="en-US" sz="1600" dirty="0"/>
                  <a:t>등 약 </a:t>
                </a:r>
                <a:r>
                  <a:rPr lang="en-US" altLang="ko-KR" sz="1600" dirty="0"/>
                  <a:t>254~255-bit </a:t>
                </a:r>
                <a:r>
                  <a:rPr lang="ko-KR" altLang="en-US" sz="1600" dirty="0"/>
                  <a:t>수준의 필드</a:t>
                </a:r>
                <a:r>
                  <a:rPr lang="en-US" altLang="ko-KR" sz="1600" dirty="0"/>
                  <a:t>)</a:t>
                </a:r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Field Add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sz="1600" b="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 = 13, b = 9, p = 17</a:t>
                </a:r>
                <a:r>
                  <a:rPr lang="ko-KR" altLang="en-US" sz="1600" dirty="0"/>
                  <a:t>로 가정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13+9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17=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13+9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17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ko-KR" sz="1600" b="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예시에서는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번의 덧셈 연산과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번의 곱셈 연산으로 변환 가능</a:t>
                </a:r>
                <a:endParaRPr lang="en-US" altLang="ko-KR" sz="1600" dirty="0"/>
              </a:p>
              <a:p>
                <a:endParaRPr lang="en-US" altLang="ko-KR" sz="1600" b="1" dirty="0"/>
              </a:p>
              <a:p>
                <a:r>
                  <a:rPr lang="en-US" altLang="ko-KR" b="1" dirty="0"/>
                  <a:t>Field Mul</a:t>
                </a:r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 = 7, b = 6, p = 17</a:t>
                </a:r>
                <a:r>
                  <a:rPr lang="ko-KR" altLang="en-US" sz="1600" dirty="0"/>
                  <a:t>로 가정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7 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17=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7 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−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 17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예시에서는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번의 덧셈 연산과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번의 곱셈 연산으로 변환 가능</a:t>
                </a:r>
                <a:endParaRPr lang="en-US" altLang="ko-KR" sz="16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F7D7A-671A-45F0-3EFE-9BC0D70B5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796957"/>
                <a:ext cx="10348961" cy="3816429"/>
              </a:xfrm>
              <a:prstGeom prst="rect">
                <a:avLst/>
              </a:prstGeom>
              <a:blipFill>
                <a:blip r:embed="rId3"/>
                <a:stretch>
                  <a:fillRect l="-471" t="-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6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30C6-78DF-9A62-36A4-3EA997B5F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D45E7-0935-8AA3-ABE9-92E20504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254-bit</a:t>
            </a:r>
            <a:r>
              <a:rPr lang="ko-KR" altLang="en-US" dirty="0"/>
              <a:t> 수준의 </a:t>
            </a:r>
            <a:r>
              <a:rPr lang="en-US" altLang="ko-KR" dirty="0"/>
              <a:t>Field </a:t>
            </a:r>
            <a:r>
              <a:rPr lang="ko-KR" altLang="en-US" dirty="0"/>
              <a:t>연산 → </a:t>
            </a:r>
            <a:r>
              <a:rPr lang="en-US" altLang="ko-KR" dirty="0"/>
              <a:t>64-bit CPU </a:t>
            </a:r>
            <a:r>
              <a:rPr lang="ko-KR" altLang="en-US" dirty="0"/>
              <a:t>연산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15DB1-7496-E43D-9855-E4F6B75D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27A14-2736-1E04-625D-CFDD77F26623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3570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Field Add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Field Mul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/>
                  <a:t>64-bit CPU </a:t>
                </a:r>
                <a:r>
                  <a:rPr lang="ko-KR" altLang="en-US" sz="1600" dirty="0"/>
                  <a:t>연산으로 변환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Input : a, b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 (</a:t>
                </a:r>
                <a:r>
                  <a:rPr lang="en-US" altLang="ko-KR" sz="1600" dirty="0" err="1"/>
                  <a:t>a,b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모두 </a:t>
                </a:r>
                <a:r>
                  <a:rPr lang="en-US" altLang="ko-KR" sz="1600" dirty="0"/>
                  <a:t>Field </a:t>
                </a:r>
                <a:r>
                  <a:rPr lang="ko-KR" altLang="en-US" sz="1600" dirty="0"/>
                  <a:t>위에서 동작하는 약 </a:t>
                </a:r>
                <a:r>
                  <a:rPr lang="en-US" altLang="ko-KR" sz="1600" dirty="0"/>
                  <a:t>254-bit </a:t>
                </a:r>
                <a:r>
                  <a:rPr lang="ko-KR" altLang="en-US" sz="1600" dirty="0"/>
                  <a:t>길이의 값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>
                    <a:latin typeface="+mj-lt"/>
                  </a:rPr>
                  <a:t>Output : c </a:t>
                </a:r>
                <a:r>
                  <a:rPr lang="ko-KR" altLang="en-US" sz="1600" dirty="0">
                    <a:latin typeface="+mj-lt"/>
                  </a:rPr>
                  <a:t>사용 </a:t>
                </a:r>
                <a:r>
                  <a:rPr lang="en-US" altLang="ko-KR" sz="1600" dirty="0">
                    <a:latin typeface="+mj-lt"/>
                  </a:rPr>
                  <a:t>(Add</a:t>
                </a:r>
                <a:r>
                  <a:rPr lang="ko-KR" altLang="en-US" sz="1600" dirty="0">
                    <a:latin typeface="+mj-lt"/>
                  </a:rPr>
                  <a:t>연산과 </a:t>
                </a:r>
                <a:r>
                  <a:rPr lang="en-US" altLang="ko-KR" sz="1600" dirty="0">
                    <a:latin typeface="+mj-lt"/>
                  </a:rPr>
                  <a:t>Mul </a:t>
                </a:r>
                <a:r>
                  <a:rPr lang="ko-KR" altLang="en-US" sz="1600" dirty="0">
                    <a:latin typeface="+mj-lt"/>
                  </a:rPr>
                  <a:t>연산에 의하여 결정되기 때문에 크기가 바뀔 수 있음</a:t>
                </a:r>
                <a:r>
                  <a:rPr lang="en-US" altLang="ko-KR" sz="1600" dirty="0">
                    <a:latin typeface="+mj-lt"/>
                  </a:rPr>
                  <a:t>)</a:t>
                </a:r>
              </a:p>
              <a:p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b="1" dirty="0"/>
                  <a:t>Field Add </a:t>
                </a:r>
                <a:r>
                  <a:rPr lang="ko-KR" altLang="en-US" b="1" dirty="0"/>
                  <a:t>연산</a:t>
                </a: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64-bit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ADD </a:t>
                </a:r>
                <a:r>
                  <a:rPr lang="ko-KR" altLang="en-US" sz="1600" dirty="0"/>
                  <a:t>연산과 </a:t>
                </a:r>
                <a:r>
                  <a:rPr lang="en-US" altLang="ko-KR" sz="1600" dirty="0"/>
                  <a:t>Carry </a:t>
                </a:r>
                <a:r>
                  <a:rPr lang="ko-KR" altLang="en-US" sz="1600" dirty="0"/>
                  <a:t>연산을 사용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Field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번 </a:t>
                </a:r>
                <a:r>
                  <a:rPr lang="en-US" altLang="ko-KR" sz="1600" dirty="0"/>
                  <a:t>= 64-bit 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4</a:t>
                </a:r>
                <a:r>
                  <a:rPr lang="ko-KR" altLang="en-US" sz="1600" dirty="0"/>
                  <a:t>번 </a:t>
                </a:r>
                <a:r>
                  <a:rPr lang="en-US" altLang="ko-KR" sz="1600" dirty="0"/>
                  <a:t>+ Carry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4</a:t>
                </a:r>
                <a:r>
                  <a:rPr lang="ko-KR" altLang="en-US" sz="1600" dirty="0"/>
                  <a:t>번 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Carry </a:t>
                </a:r>
                <a:r>
                  <a:rPr lang="ko-KR" altLang="en-US" sz="1600" dirty="0"/>
                  <a:t>연산은 </a:t>
                </a:r>
                <a:r>
                  <a:rPr lang="en-US" altLang="ko-KR" sz="1600" dirty="0"/>
                  <a:t>Shift </a:t>
                </a:r>
                <a:r>
                  <a:rPr lang="ko-KR" altLang="en-US" sz="1600" dirty="0"/>
                  <a:t>연산으로 구현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후에 </a:t>
                </a:r>
                <a:r>
                  <a:rPr lang="en-US" altLang="ko-KR" sz="1600" dirty="0"/>
                  <a:t>mod p </a:t>
                </a:r>
                <a:r>
                  <a:rPr lang="ko-KR" altLang="en-US" sz="1600" dirty="0"/>
                  <a:t>연산 적용 시</a:t>
                </a:r>
                <a:r>
                  <a:rPr lang="en-US" altLang="ko-KR" sz="1600" dirty="0"/>
                  <a:t>, 64-bit 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4</a:t>
                </a:r>
                <a:r>
                  <a:rPr lang="ko-KR" altLang="en-US" sz="1600" dirty="0"/>
                  <a:t>개 사용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연산 수 </a:t>
                </a:r>
                <a:r>
                  <a:rPr lang="en-US" altLang="ko-KR" sz="1600" dirty="0"/>
                  <a:t>: 64-bit Add 8</a:t>
                </a:r>
                <a:r>
                  <a:rPr lang="ko-KR" altLang="en-US" sz="1600" dirty="0"/>
                  <a:t>회 </a:t>
                </a:r>
                <a:r>
                  <a:rPr lang="en-US" altLang="ko-KR" sz="1600" dirty="0"/>
                  <a:t>+ Carry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4</a:t>
                </a:r>
                <a:r>
                  <a:rPr lang="ko-KR" altLang="en-US" sz="1600" dirty="0"/>
                  <a:t>회 사용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527A14-2736-1E04-625D-CFDD77F26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3570208"/>
              </a:xfrm>
              <a:prstGeom prst="rect">
                <a:avLst/>
              </a:prstGeom>
              <a:blipFill>
                <a:blip r:embed="rId3"/>
                <a:stretch>
                  <a:fillRect l="-471" t="-683" b="-1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E11D29EA-DAC1-9B7C-2079-CF96C0450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845" y="2781891"/>
            <a:ext cx="2406508" cy="327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7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FA5A-0827-E7B2-9CF6-A431C73C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4529D-0930-DCE8-7E9B-BC297B13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254-bit</a:t>
            </a:r>
            <a:r>
              <a:rPr lang="ko-KR" altLang="en-US" dirty="0"/>
              <a:t> 수준의 </a:t>
            </a:r>
            <a:r>
              <a:rPr lang="en-US" altLang="ko-KR" dirty="0"/>
              <a:t>Field </a:t>
            </a:r>
            <a:r>
              <a:rPr lang="ko-KR" altLang="en-US" dirty="0"/>
              <a:t>연산 → </a:t>
            </a:r>
            <a:r>
              <a:rPr lang="en-US" altLang="ko-KR" dirty="0"/>
              <a:t>64-bit CPU </a:t>
            </a:r>
            <a:r>
              <a:rPr lang="ko-KR" altLang="en-US" dirty="0"/>
              <a:t>연산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771DC5-32FA-37F7-79BA-0946CC5C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CBC47D-6047-8251-4025-9A0C989F4AB5}"/>
                  </a:ext>
                </a:extLst>
              </p:cNvPr>
              <p:cNvSpPr txBox="1"/>
              <p:nvPr/>
            </p:nvSpPr>
            <p:spPr>
              <a:xfrm>
                <a:off x="809841" y="1294964"/>
                <a:ext cx="11050951" cy="5061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Field Mul </a:t>
                </a:r>
                <a:r>
                  <a:rPr lang="ko-KR" altLang="en-US" sz="1600" b="1" dirty="0"/>
                  <a:t>연산</a:t>
                </a: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  <m:r>
                      <a:rPr lang="en-US" altLang="ko-KR" sz="16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두 수를 곱하면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ko-KR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64(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풀어서 전개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Field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Mul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번 </a:t>
                </a:r>
                <a:r>
                  <a:rPr lang="en-US" altLang="ko-KR" sz="1600" dirty="0"/>
                  <a:t>= 64-bit Mul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16</a:t>
                </a:r>
                <a:r>
                  <a:rPr lang="ko-KR" altLang="en-US" sz="1600" dirty="0"/>
                  <a:t>번</a:t>
                </a:r>
                <a:r>
                  <a:rPr lang="en-US" altLang="ko-KR" sz="1600" dirty="0"/>
                  <a:t> + 128-bit 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9</a:t>
                </a:r>
                <a:r>
                  <a:rPr lang="ko-KR" altLang="en-US" sz="1600" dirty="0"/>
                  <a:t>번</a:t>
                </a:r>
                <a:r>
                  <a:rPr lang="en-US" altLang="ko-KR" sz="1600" dirty="0"/>
                  <a:t>(64-bit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18</a:t>
                </a:r>
                <a:r>
                  <a:rPr lang="ko-KR" altLang="en-US" sz="1600" dirty="0"/>
                  <a:t>번</a:t>
                </a:r>
                <a:r>
                  <a:rPr lang="en-US" altLang="ko-KR" sz="1600" dirty="0"/>
                  <a:t>, Carry 15</a:t>
                </a:r>
                <a:r>
                  <a:rPr lang="ko-KR" altLang="en-US" sz="1600" dirty="0"/>
                  <a:t>번</a:t>
                </a:r>
                <a:r>
                  <a:rPr lang="en-US" altLang="ko-KR" sz="1600" dirty="0"/>
                  <a:t> )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+ Carry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6</a:t>
                </a:r>
                <a:r>
                  <a:rPr lang="ko-KR" altLang="en-US" sz="1600" dirty="0"/>
                  <a:t>번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구한 값 </a:t>
                </a:r>
                <a:r>
                  <a:rPr lang="en-US" altLang="ko-KR" sz="1600" dirty="0"/>
                  <a:t>c</a:t>
                </a:r>
                <a:r>
                  <a:rPr lang="ko-KR" altLang="en-US" sz="1600" dirty="0"/>
                  <a:t>에 </a:t>
                </a:r>
                <a:r>
                  <a:rPr lang="en-US" altLang="ko-KR" sz="1600" dirty="0"/>
                  <a:t>mod p </a:t>
                </a:r>
                <a:r>
                  <a:rPr lang="ko-KR" altLang="en-US" sz="1600" dirty="0"/>
                  <a:t>연산까지 적용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Mod p </a:t>
                </a:r>
                <a:r>
                  <a:rPr lang="ko-KR" altLang="en-US" sz="1600" dirty="0"/>
                  <a:t>연산은 </a:t>
                </a:r>
                <a:r>
                  <a:rPr lang="en-US" altLang="ko-KR" sz="1600" dirty="0"/>
                  <a:t>Barrett reduction </a:t>
                </a:r>
                <a:r>
                  <a:rPr lang="ko-KR" altLang="en-US" sz="1600" dirty="0"/>
                  <a:t>혹은 </a:t>
                </a:r>
                <a:r>
                  <a:rPr lang="en-US" altLang="ko-KR" sz="1600" dirty="0"/>
                  <a:t>Montgomery reduction </a:t>
                </a:r>
                <a:r>
                  <a:rPr lang="ko-KR" altLang="en-US" sz="1600" dirty="0"/>
                  <a:t>등의 알고리즘으로 구현됨</a:t>
                </a:r>
                <a:r>
                  <a:rPr lang="en-US" altLang="ko-KR" sz="1600" dirty="0"/>
                  <a:t>(Mul,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Shift,</a:t>
                </a:r>
                <a:r>
                  <a:rPr lang="ko-KR" altLang="en-US" sz="1600" dirty="0"/>
                  <a:t> </a:t>
                </a:r>
                <a:r>
                  <a:rPr lang="en-US" altLang="ko-KR" sz="1600" dirty="0"/>
                  <a:t>Add</a:t>
                </a:r>
                <a:r>
                  <a:rPr lang="ko-KR" altLang="en-US" sz="1600" dirty="0"/>
                  <a:t> 연산으로 나머지 구하는 방법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Montgomery Reduction</a:t>
                </a:r>
                <a:r>
                  <a:rPr lang="ko-KR" altLang="en-US" sz="1600" dirty="0"/>
                  <a:t>을 적용할 경우 총 약 </a:t>
                </a:r>
                <a:r>
                  <a:rPr lang="en-US" altLang="ko-KR" sz="1600" dirty="0"/>
                  <a:t>64-bit Mul 20</a:t>
                </a:r>
                <a:r>
                  <a:rPr lang="ko-KR" altLang="en-US" sz="1600" dirty="0"/>
                  <a:t>번</a:t>
                </a:r>
                <a:r>
                  <a:rPr lang="en-US" altLang="ko-KR" sz="1600" dirty="0"/>
                  <a:t>, 64-bit 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45</a:t>
                </a:r>
                <a:r>
                  <a:rPr lang="ko-KR" altLang="en-US" sz="1600" dirty="0"/>
                  <a:t>번 사용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CBC47D-6047-8251-4025-9A0C989F4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41" y="1294964"/>
                <a:ext cx="11050951" cy="5061386"/>
              </a:xfrm>
              <a:prstGeom prst="rect">
                <a:avLst/>
              </a:prstGeom>
              <a:blipFill>
                <a:blip r:embed="rId3"/>
                <a:stretch>
                  <a:fillRect l="-331" t="-481" b="-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120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4E556-21E6-A934-A5B7-89F42930A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A387E-D0F2-F4DF-73E5-B0F52D7E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 내의 연산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D8226-A4F8-1CAD-E023-8B8EFDE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F94A6C-AC93-91C0-789B-B1185B427E88}"/>
                  </a:ext>
                </a:extLst>
              </p:cNvPr>
              <p:cNvSpPr txBox="1"/>
              <p:nvPr/>
            </p:nvSpPr>
            <p:spPr>
              <a:xfrm>
                <a:off x="921519" y="1002132"/>
                <a:ext cx="10348961" cy="5271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Poseidon </a:t>
                </a:r>
                <a:r>
                  <a:rPr lang="ko-KR" altLang="en-US" sz="1600" dirty="0"/>
                  <a:t>내부 </a:t>
                </a:r>
                <a:r>
                  <a:rPr lang="en-US" altLang="ko-KR" sz="1600" dirty="0" err="1"/>
                  <a:t>Permuation</a:t>
                </a:r>
                <a:r>
                  <a:rPr lang="ko-KR" altLang="en-US" sz="1600" dirty="0"/>
                  <a:t>에서는 아래의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가지 연산이 기본적으로 동작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b="1" dirty="0" err="1"/>
                  <a:t>AddRoundConstants</a:t>
                </a: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 </a:t>
                </a:r>
                <a:r>
                  <a:rPr lang="en-US" altLang="ko-KR" sz="1600" dirty="0"/>
                  <a:t>Field Add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번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en-US" altLang="ko-KR" b="1" dirty="0"/>
                  <a:t>S-box</a:t>
                </a:r>
                <a:endParaRPr lang="en-US" altLang="ko-KR" sz="16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ko-KR" sz="1600" b="0" dirty="0"/>
                  <a:t> S-box</a:t>
                </a:r>
                <a:r>
                  <a:rPr lang="ko-KR" altLang="en-US" sz="1600" b="0" dirty="0"/>
                  <a:t>를 사용</a:t>
                </a:r>
                <a:endParaRPr lang="en-US" altLang="ko-KR" sz="1600" b="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∙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로 표현 가능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변환하기 위해서는 총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번의 </a:t>
                </a:r>
                <a:r>
                  <a:rPr lang="en-US" altLang="ko-KR" sz="1600" dirty="0"/>
                  <a:t>Field Mul </a:t>
                </a:r>
                <a:r>
                  <a:rPr lang="ko-KR" altLang="en-US" sz="1600" dirty="0"/>
                  <a:t>연산 사용</a:t>
                </a:r>
                <a:endParaRPr lang="en-US" altLang="ko-KR" sz="1600" dirty="0"/>
              </a:p>
              <a:p>
                <a:endParaRPr lang="en-US" altLang="ko-KR" sz="1600" b="1" dirty="0"/>
              </a:p>
              <a:p>
                <a:r>
                  <a:rPr lang="en-US" altLang="ko-KR" b="1" dirty="0"/>
                  <a:t>MDS </a:t>
                </a:r>
                <a:r>
                  <a:rPr lang="ko-KR" altLang="en-US" b="1" dirty="0"/>
                  <a:t>행렬 곱</a:t>
                </a: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t</a:t>
                </a:r>
                <a:r>
                  <a:rPr lang="ko-KR" altLang="en-US" sz="1400" dirty="0"/>
                  <a:t>값에 의하여 결정</a:t>
                </a:r>
                <a:r>
                  <a:rPr lang="en-US" altLang="ko-KR" sz="1400" dirty="0"/>
                  <a:t>(t</a:t>
                </a:r>
                <a:r>
                  <a:rPr lang="ko-KR" altLang="en-US" sz="1400" dirty="0"/>
                  <a:t>는 내부 </a:t>
                </a:r>
                <a:r>
                  <a:rPr lang="en-US" altLang="ko-KR" sz="1400" dirty="0"/>
                  <a:t>State</a:t>
                </a:r>
                <a:r>
                  <a:rPr lang="ko-KR" altLang="en-US" sz="1400" dirty="0"/>
                  <a:t>에 적용될 </a:t>
                </a:r>
                <a:r>
                  <a:rPr lang="en-US" altLang="ko-KR" sz="1400" dirty="0"/>
                  <a:t>Field </a:t>
                </a:r>
                <a:r>
                  <a:rPr lang="ko-KR" altLang="en-US" sz="1400" dirty="0"/>
                  <a:t>수</a:t>
                </a:r>
                <a:r>
                  <a:rPr lang="en-US" altLang="ko-KR" sz="14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레퍼런스 상 </a:t>
                </a:r>
                <a:r>
                  <a:rPr lang="en-US" altLang="ko-KR" sz="1400" dirty="0"/>
                  <a:t>t = 3</a:t>
                </a:r>
                <a:r>
                  <a:rPr lang="ko-KR" altLang="en-US" sz="1400" dirty="0"/>
                  <a:t>을 사용 → </a:t>
                </a:r>
                <a:r>
                  <a:rPr lang="en-US" altLang="ko-KR" sz="1400" dirty="0"/>
                  <a:t>3x3</a:t>
                </a:r>
                <a:r>
                  <a:rPr lang="ko-KR" altLang="en-US" sz="1400" dirty="0"/>
                  <a:t> 행렬 곱셈 진행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3x3</a:t>
                </a:r>
                <a:r>
                  <a:rPr lang="ko-KR" altLang="en-US" sz="1400" dirty="0"/>
                  <a:t> 행렬 곱 표현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각 </a:t>
                </a:r>
                <a:r>
                  <a:rPr lang="en-US" altLang="ko-KR" sz="1400" dirty="0"/>
                  <a:t>m</a:t>
                </a:r>
                <a:r>
                  <a:rPr lang="ko-KR" altLang="en-US" sz="1400" dirty="0"/>
                  <a:t>과 </a:t>
                </a:r>
                <a:r>
                  <a:rPr lang="en-US" altLang="ko-KR" sz="1400" dirty="0"/>
                  <a:t>s</a:t>
                </a:r>
                <a:r>
                  <a:rPr lang="ko-KR" altLang="en-US" sz="1400" dirty="0"/>
                  <a:t>는 모두 다 </a:t>
                </a:r>
                <a:r>
                  <a:rPr lang="en-US" altLang="ko-KR" sz="1400" dirty="0"/>
                  <a:t>Field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400" dirty="0"/>
                  <a:t>MDS </a:t>
                </a:r>
                <a:r>
                  <a:rPr lang="ko-KR" altLang="en-US" sz="1400" dirty="0" err="1"/>
                  <a:t>행렬곱에서는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Field Mul 9</a:t>
                </a:r>
                <a:r>
                  <a:rPr lang="ko-KR" altLang="en-US" sz="1400" dirty="0"/>
                  <a:t>번</a:t>
                </a:r>
                <a:r>
                  <a:rPr lang="en-US" altLang="ko-KR" sz="1400" dirty="0"/>
                  <a:t>, Field Add 6</a:t>
                </a:r>
                <a:r>
                  <a:rPr lang="ko-KR" altLang="en-US" sz="1400" dirty="0"/>
                  <a:t>번 사용</a:t>
                </a:r>
                <a:endParaRPr lang="en-US" altLang="ko-KR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F94A6C-AC93-91C0-789B-B1185B427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19" y="1002132"/>
                <a:ext cx="10348961" cy="5271443"/>
              </a:xfrm>
              <a:prstGeom prst="rect">
                <a:avLst/>
              </a:prstGeom>
              <a:blipFill>
                <a:blip r:embed="rId3"/>
                <a:stretch>
                  <a:fillRect l="-471" t="-462" b="-3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67AB591-FF9D-25BD-4A8C-54B49FB73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688" y="4708437"/>
            <a:ext cx="2829320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5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CEBA-84FA-02A6-5372-651D11C4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EBCDD-0BA8-D415-1BE2-20838ABB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 내의 연산 → </a:t>
            </a:r>
            <a:r>
              <a:rPr lang="en-US" altLang="ko-KR" dirty="0"/>
              <a:t>CPU </a:t>
            </a:r>
            <a:r>
              <a:rPr lang="ko-KR" altLang="en-US" dirty="0"/>
              <a:t>연산으로 환산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BB8A-DF79-5524-1922-9086A0CB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BE1CDB-8D07-6E57-A634-8D4C54D1D05B}"/>
              </a:ext>
            </a:extLst>
          </p:cNvPr>
          <p:cNvSpPr txBox="1"/>
          <p:nvPr/>
        </p:nvSpPr>
        <p:spPr>
          <a:xfrm>
            <a:off x="1006789" y="1487467"/>
            <a:ext cx="1034896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Background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</a:t>
            </a:r>
            <a:r>
              <a:rPr lang="ko-KR" altLang="en-US" sz="1600" dirty="0"/>
              <a:t>은 레퍼런스 상 </a:t>
            </a:r>
            <a:r>
              <a:rPr lang="en-US" altLang="ko-KR" sz="1600" dirty="0"/>
              <a:t>8</a:t>
            </a:r>
            <a:r>
              <a:rPr lang="ko-KR" altLang="en-US" sz="1600" dirty="0"/>
              <a:t>개의 </a:t>
            </a:r>
            <a:r>
              <a:rPr lang="en-US" altLang="ko-KR" sz="1600" dirty="0"/>
              <a:t>Full Round, 57</a:t>
            </a:r>
            <a:r>
              <a:rPr lang="ko-KR" altLang="en-US" sz="1600" dirty="0"/>
              <a:t>개의 </a:t>
            </a:r>
            <a:r>
              <a:rPr lang="en-US" altLang="ko-KR" sz="1600" dirty="0"/>
              <a:t>Partial Round</a:t>
            </a:r>
            <a:r>
              <a:rPr lang="ko-KR" altLang="en-US" sz="1600" dirty="0"/>
              <a:t>로 구성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T=3</a:t>
            </a:r>
            <a:r>
              <a:rPr lang="ko-KR" altLang="en-US" sz="1600" dirty="0"/>
              <a:t>인 경우</a:t>
            </a:r>
            <a:r>
              <a:rPr lang="en-US" altLang="ko-KR" sz="1600" dirty="0"/>
              <a:t>(</a:t>
            </a:r>
            <a:r>
              <a:rPr lang="ko-KR" altLang="en-US" sz="1600" dirty="0"/>
              <a:t>필드 원소 개수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</a:t>
            </a:r>
            <a:r>
              <a:rPr lang="ko-KR" altLang="en-US" sz="1600" dirty="0"/>
              <a:t>에서는 </a:t>
            </a:r>
            <a:r>
              <a:rPr lang="en-US" altLang="ko-KR" sz="1600" dirty="0"/>
              <a:t>3</a:t>
            </a:r>
            <a:r>
              <a:rPr lang="ko-KR" altLang="en-US" sz="1600" dirty="0"/>
              <a:t>번의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</a:t>
            </a:r>
            <a:r>
              <a:rPr lang="ko-KR" altLang="en-US" sz="1600" dirty="0"/>
              <a:t>에서는 </a:t>
            </a:r>
            <a:r>
              <a:rPr lang="en-US" altLang="ko-KR" sz="1600" dirty="0"/>
              <a:t>1</a:t>
            </a:r>
            <a:r>
              <a:rPr lang="ko-KR" altLang="en-US" sz="1600" dirty="0"/>
              <a:t>번의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 err="1"/>
              <a:t>AddRoundConstants</a:t>
            </a:r>
            <a:r>
              <a:rPr lang="en-US" altLang="ko-KR" sz="1600" dirty="0"/>
              <a:t>, MDS</a:t>
            </a:r>
            <a:r>
              <a:rPr lang="ko-KR" altLang="en-US" sz="1600" dirty="0"/>
              <a:t>곱은 </a:t>
            </a:r>
            <a:r>
              <a:rPr lang="en-US" altLang="ko-KR" sz="1600" dirty="0"/>
              <a:t>Full Round, Partial Round </a:t>
            </a:r>
            <a:r>
              <a:rPr lang="ko-KR" altLang="en-US" sz="1600" dirty="0"/>
              <a:t>모두 동일하게 적용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Mod p </a:t>
            </a:r>
            <a:r>
              <a:rPr lang="ko-KR" altLang="en-US" sz="1600" dirty="0"/>
              <a:t>연산은 구현한 알고리즘에 따라서 연산 수 차이를 보일 수 있기에 일단 제외하고 분석</a:t>
            </a:r>
            <a:r>
              <a:rPr lang="en-US" altLang="ko-KR" sz="1600" dirty="0"/>
              <a:t>(</a:t>
            </a:r>
            <a:r>
              <a:rPr lang="ko-KR" altLang="en-US" sz="1600" dirty="0"/>
              <a:t>추후에 추가 분석</a:t>
            </a:r>
            <a:r>
              <a:rPr lang="en-US" altLang="ko-KR" sz="1600" dirty="0"/>
              <a:t>)</a:t>
            </a:r>
          </a:p>
          <a:p>
            <a:endParaRPr lang="en-US" altLang="ko-KR" sz="1600" b="1" dirty="0"/>
          </a:p>
          <a:p>
            <a:r>
              <a:rPr lang="en-US" altLang="ko-KR" b="1" dirty="0"/>
              <a:t>Full Round</a:t>
            </a:r>
            <a:r>
              <a:rPr lang="ko-KR" altLang="en-US" b="1" dirty="0"/>
              <a:t>의 </a:t>
            </a:r>
            <a:r>
              <a:rPr lang="en-US" altLang="ko-KR" b="1" dirty="0"/>
              <a:t>CPU </a:t>
            </a:r>
            <a:r>
              <a:rPr lang="ko-KR" altLang="en-US" b="1" dirty="0"/>
              <a:t>연산 수</a:t>
            </a:r>
            <a:endParaRPr lang="en-US" altLang="ko-KR" sz="1600" i="1" dirty="0">
              <a:latin typeface="Cambria Math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</a:t>
            </a:r>
            <a:r>
              <a:rPr lang="en-US" altLang="ko-KR" sz="1600" dirty="0"/>
              <a:t>18</a:t>
            </a:r>
            <a:r>
              <a:rPr lang="ko-KR" altLang="en-US" sz="1600" dirty="0"/>
              <a:t>번의 </a:t>
            </a:r>
            <a:r>
              <a:rPr lang="en-US" altLang="ko-KR" sz="1600" dirty="0"/>
              <a:t>Field Mul</a:t>
            </a:r>
            <a:r>
              <a:rPr lang="ko-KR" altLang="en-US" sz="1600" dirty="0"/>
              <a:t>연산과 </a:t>
            </a:r>
            <a:r>
              <a:rPr lang="en-US" altLang="ko-KR" sz="1600" dirty="0"/>
              <a:t>9</a:t>
            </a:r>
            <a:r>
              <a:rPr lang="ko-KR" altLang="en-US" sz="1600" dirty="0"/>
              <a:t>번의 </a:t>
            </a:r>
            <a:r>
              <a:rPr lang="en-US" altLang="ko-KR" sz="1600" dirty="0"/>
              <a:t>Field Add </a:t>
            </a:r>
            <a:r>
              <a:rPr lang="ko-KR" altLang="en-US" sz="1600" dirty="0"/>
              <a:t>연산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약 </a:t>
            </a:r>
            <a:r>
              <a:rPr lang="en-US" altLang="ko-KR" sz="1600" dirty="0"/>
              <a:t>64-bit Mul 648</a:t>
            </a:r>
            <a:r>
              <a:rPr lang="ko-KR" altLang="en-US" sz="1600" dirty="0"/>
              <a:t>번</a:t>
            </a:r>
            <a:r>
              <a:rPr lang="en-US" altLang="ko-KR" sz="1600" dirty="0"/>
              <a:t>, 64-bit Add 1026</a:t>
            </a:r>
            <a:r>
              <a:rPr lang="ko-KR" altLang="en-US" sz="1600" dirty="0"/>
              <a:t>번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Carry </a:t>
            </a:r>
            <a:r>
              <a:rPr lang="ko-KR" altLang="en-US" sz="1600" dirty="0"/>
              <a:t>연산 </a:t>
            </a:r>
            <a:r>
              <a:rPr lang="en-US" altLang="ko-KR" sz="1600" dirty="0"/>
              <a:t>414</a:t>
            </a:r>
            <a:r>
              <a:rPr lang="ko-KR" altLang="en-US" sz="1600" dirty="0"/>
              <a:t>번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b="1" dirty="0"/>
              <a:t>Partial Round</a:t>
            </a:r>
            <a:r>
              <a:rPr lang="ko-KR" altLang="en-US" b="1" dirty="0"/>
              <a:t>의 </a:t>
            </a:r>
            <a:r>
              <a:rPr lang="en-US" altLang="ko-KR" b="1" dirty="0"/>
              <a:t>CPU </a:t>
            </a:r>
            <a:r>
              <a:rPr lang="ko-KR" altLang="en-US" b="1" dirty="0"/>
              <a:t>연산 수</a:t>
            </a:r>
            <a:endParaRPr lang="en-US" altLang="ko-KR" i="1" dirty="0">
              <a:latin typeface="Cambria Math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</a:t>
            </a:r>
            <a:r>
              <a:rPr lang="en-US" altLang="ko-KR" sz="1600" dirty="0"/>
              <a:t>12</a:t>
            </a:r>
            <a:r>
              <a:rPr lang="ko-KR" altLang="en-US" sz="1600" dirty="0"/>
              <a:t>번의 </a:t>
            </a:r>
            <a:r>
              <a:rPr lang="en-US" altLang="ko-KR" sz="1600" dirty="0"/>
              <a:t>Field Mul</a:t>
            </a:r>
            <a:r>
              <a:rPr lang="ko-KR" altLang="en-US" sz="1600" dirty="0"/>
              <a:t>연산과 </a:t>
            </a:r>
            <a:r>
              <a:rPr lang="en-US" altLang="ko-KR" sz="1600" dirty="0"/>
              <a:t>9</a:t>
            </a:r>
            <a:r>
              <a:rPr lang="ko-KR" altLang="en-US" sz="1600" dirty="0"/>
              <a:t>번의 </a:t>
            </a:r>
            <a:r>
              <a:rPr lang="en-US" altLang="ko-KR" sz="1600" dirty="0"/>
              <a:t>Field Add </a:t>
            </a:r>
            <a:r>
              <a:rPr lang="ko-KR" altLang="en-US" sz="1600" dirty="0"/>
              <a:t>연산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약 </a:t>
            </a:r>
            <a:r>
              <a:rPr lang="en-US" altLang="ko-KR" sz="1600" dirty="0"/>
              <a:t>64-bit Mul 432</a:t>
            </a:r>
            <a:r>
              <a:rPr lang="ko-KR" altLang="en-US" sz="1600" dirty="0"/>
              <a:t>번</a:t>
            </a:r>
            <a:r>
              <a:rPr lang="en-US" altLang="ko-KR" sz="1600" dirty="0"/>
              <a:t>, 64-bit Add 708</a:t>
            </a:r>
            <a:r>
              <a:rPr lang="ko-KR" altLang="en-US" sz="1600" dirty="0"/>
              <a:t>번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Carry </a:t>
            </a:r>
            <a:r>
              <a:rPr lang="ko-KR" altLang="en-US" sz="1600" dirty="0"/>
              <a:t>연산 </a:t>
            </a:r>
            <a:r>
              <a:rPr lang="en-US" altLang="ko-KR" sz="1600" dirty="0"/>
              <a:t>288</a:t>
            </a:r>
            <a:r>
              <a:rPr lang="ko-KR" altLang="en-US" sz="1600" dirty="0"/>
              <a:t>번</a:t>
            </a:r>
            <a:endParaRPr lang="en-US" altLang="ko-KR" sz="1600" dirty="0"/>
          </a:p>
          <a:p>
            <a:endParaRPr lang="en-US" altLang="ko-KR" sz="1400" dirty="0"/>
          </a:p>
          <a:p>
            <a:r>
              <a:rPr lang="ko-KR" altLang="en-US" sz="1600" dirty="0"/>
              <a:t>따라서 총 연산자 수는 약 </a:t>
            </a:r>
            <a:r>
              <a:rPr lang="en-US" altLang="ko-KR" sz="1600" dirty="0"/>
              <a:t>64-bit Mul 1080</a:t>
            </a:r>
            <a:r>
              <a:rPr lang="ko-KR" altLang="en-US" sz="1600" dirty="0"/>
              <a:t>번</a:t>
            </a:r>
            <a:r>
              <a:rPr lang="en-US" altLang="ko-KR" sz="1600" dirty="0"/>
              <a:t>, 64-bit Add 1734</a:t>
            </a:r>
            <a:r>
              <a:rPr lang="ko-KR" altLang="en-US" sz="1600" dirty="0"/>
              <a:t>번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Carry </a:t>
            </a:r>
            <a:r>
              <a:rPr lang="ko-KR" altLang="en-US" sz="1600" dirty="0"/>
              <a:t>연산 </a:t>
            </a:r>
            <a:r>
              <a:rPr lang="en-US" altLang="ko-KR" sz="1600" dirty="0"/>
              <a:t>702</a:t>
            </a:r>
            <a:r>
              <a:rPr lang="ko-KR" altLang="en-US" sz="1600" dirty="0"/>
              <a:t>번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일반 </a:t>
            </a:r>
            <a:r>
              <a:rPr lang="en-US" altLang="ko-KR" sz="1600" dirty="0"/>
              <a:t>CPU</a:t>
            </a:r>
            <a:r>
              <a:rPr lang="ko-KR" altLang="en-US" sz="1600" dirty="0"/>
              <a:t>에서는 </a:t>
            </a:r>
            <a:r>
              <a:rPr lang="en-US" altLang="ko-KR" sz="1600" dirty="0"/>
              <a:t>SHA-256</a:t>
            </a:r>
            <a:r>
              <a:rPr lang="ko-KR" altLang="en-US" sz="1600" dirty="0"/>
              <a:t>보다 느림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92707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zk</a:t>
            </a:r>
            <a:r>
              <a:rPr lang="en-US" altLang="ko-KR" dirty="0"/>
              <a:t>-SNARK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/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 err="1"/>
                  <a:t>zk</a:t>
                </a:r>
                <a:r>
                  <a:rPr lang="en-US" altLang="ko-KR" b="1" dirty="0"/>
                  <a:t>-SNARK(zero-knowledge succinct non-interactive argument of knowledge)</a:t>
                </a:r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ZKProof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체계 중 하나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생성된 증명의 크기와 확인하는데 필요한 시간을 수백 바이트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밀리초</a:t>
                </a:r>
                <a:r>
                  <a:rPr lang="ko-KR" altLang="en-US" sz="1600" dirty="0"/>
                  <a:t> 범위내로 한정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ZKP </a:t>
                </a:r>
                <a:r>
                  <a:rPr lang="ko-KR" altLang="en-US" sz="1600" dirty="0"/>
                  <a:t>확인을 위해 사용하기 쉬움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검증 시간이 증명해야 할 </a:t>
                </a:r>
                <a:r>
                  <a:rPr lang="ko-KR" altLang="en-US" sz="1600" dirty="0" err="1"/>
                  <a:t>연산량과</a:t>
                </a:r>
                <a:r>
                  <a:rPr lang="ko-KR" altLang="en-US" sz="1600" dirty="0"/>
                  <a:t> 무관하게 거의 일정</a:t>
                </a:r>
                <a:r>
                  <a:rPr lang="en-US" altLang="ko-KR" sz="1600" dirty="0"/>
                  <a:t>(Constant time)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카</a:t>
                </a:r>
                <a:r>
                  <a:rPr lang="en-US" altLang="ko-KR" sz="1600" dirty="0"/>
                  <a:t>-SNARK</a:t>
                </a:r>
                <a:r>
                  <a:rPr lang="ko-KR" altLang="en-US" sz="1600" dirty="0"/>
                  <a:t>도 여러 체계로 나뉨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ko-KR" altLang="en-US" sz="1600" b="1" dirty="0"/>
                  <a:t>기본 </a:t>
                </a:r>
                <a:r>
                  <a:rPr lang="en-US" altLang="ko-KR" sz="1600" b="1" dirty="0" err="1"/>
                  <a:t>zk</a:t>
                </a:r>
                <a:r>
                  <a:rPr lang="en-US" altLang="ko-KR" sz="1600" b="1" dirty="0"/>
                  <a:t>-SNARK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근이 있는 다항식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알고 있음을 증명하는 것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방법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비밀 다항식에 근을 대입했을 때 값이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이 됨을 증명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blipFill>
                <a:blip r:embed="rId3"/>
                <a:stretch>
                  <a:fillRect l="-504" t="-8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26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06F2-69DA-3EF4-EA51-E35423F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43067-AC14-1FBD-4DFE-6F2F5D1D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산술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BE4E7-CE3C-3864-00AF-EBE490C6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/>
              <p:nvPr/>
            </p:nvSpPr>
            <p:spPr>
              <a:xfrm>
                <a:off x="909093" y="1016202"/>
                <a:ext cx="9671539" cy="529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산술회로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</a:t>
                </a:r>
                <a:r>
                  <a:rPr lang="ko-KR" altLang="en-US" sz="1600" dirty="0"/>
                  <a:t> 등을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사용할 때에는 프로그램을 산술 회로로 변환하는 과정이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방정식에서 얻은 입력과 출력을 채우면 등식이 정확하게 </a:t>
                </a:r>
                <a:r>
                  <a:rPr lang="ko-KR" altLang="en-US" sz="1600" dirty="0" err="1"/>
                  <a:t>성립해야함</a:t>
                </a:r>
                <a:r>
                  <a:rPr lang="en-US" altLang="ko-KR" sz="1600" dirty="0"/>
                  <a:t>(Satisfiability)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산술 회로는 </a:t>
                </a:r>
                <a:r>
                  <a:rPr lang="en-US" altLang="ko-KR" sz="1600" dirty="0"/>
                  <a:t>R1CS(rank-1 constraint system)</a:t>
                </a:r>
                <a:r>
                  <a:rPr lang="ko-KR" altLang="en-US" sz="1600" dirty="0"/>
                  <a:t>로 표현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덧셈과 상수 곱셈은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가깝지만 변수 간의 곱셈은 비용이 비쌈</a:t>
                </a:r>
                <a:r>
                  <a:rPr lang="en-US" altLang="ko-KR" sz="1600" dirty="0"/>
                  <a:t>(1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b="1" dirty="0"/>
                  <a:t>R1CS(rank-1 constraint system)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dirty="0"/>
                  <a:t>형식의 일련의 방정식 </a:t>
                </a:r>
                <a:r>
                  <a:rPr lang="en-US" altLang="ko-KR" sz="1600" dirty="0"/>
                  <a:t>(L, R, O</a:t>
                </a:r>
                <a:r>
                  <a:rPr lang="ko-KR" altLang="en-US" sz="1600" dirty="0"/>
                  <a:t>는 특정 변수 덧셈의 결과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L, R </a:t>
                </a:r>
                <a:r>
                  <a:rPr lang="ko-KR" altLang="en-US" sz="1600" dirty="0"/>
                  <a:t>사이에만 존재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+3)=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dirty="0"/>
                  <a:t>, w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600" dirty="0"/>
                  <a:t> (w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또는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이라는 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프로그램 실행의 입력 및 출력과 일치한고 주장하는 일련의 값을 검증자에게 제공 → 검증자는 해당 값으로 등식이 성립하는지 확인할 수 </a:t>
                </a:r>
                <a:r>
                  <a:rPr lang="ko-KR" altLang="en-US" sz="1600" dirty="0" err="1"/>
                  <a:t>있어야함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93" y="1016202"/>
                <a:ext cx="9671539" cy="5293757"/>
              </a:xfrm>
              <a:prstGeom prst="rect">
                <a:avLst/>
              </a:prstGeom>
              <a:blipFill>
                <a:blip r:embed="rId3"/>
                <a:stretch>
                  <a:fillRect l="-504" t="-691" b="-4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6CCA-961E-F34B-91D4-9EBB6D380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00" y="3042016"/>
            <a:ext cx="1976512" cy="13262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967EB6-17B8-09FD-6296-1A3F53D1A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069" y="3347017"/>
            <a:ext cx="4826038" cy="419655"/>
          </a:xfrm>
          <a:prstGeom prst="rect">
            <a:avLst/>
          </a:prstGeom>
        </p:spPr>
      </p:pic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10892C17-E955-7E24-BB84-E3EA2847C279}"/>
              </a:ext>
            </a:extLst>
          </p:cNvPr>
          <p:cNvSpPr/>
          <p:nvPr/>
        </p:nvSpPr>
        <p:spPr>
          <a:xfrm>
            <a:off x="4065514" y="3419963"/>
            <a:ext cx="1136124" cy="318249"/>
          </a:xfrm>
          <a:prstGeom prst="leftRightArrow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56F57-5E9F-6C1F-A658-D413B56FD599}"/>
              </a:ext>
            </a:extLst>
          </p:cNvPr>
          <p:cNvSpPr txBox="1"/>
          <p:nvPr/>
        </p:nvSpPr>
        <p:spPr>
          <a:xfrm>
            <a:off x="3937475" y="4306355"/>
            <a:ext cx="1717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제약 조건 변환 예시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93715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CEBA-84FA-02A6-5372-651D11C4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EBCDD-0BA8-D415-1BE2-20838ABB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BB8A-DF79-5524-1922-9086A0CB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-SNARK(R1CS) </a:t>
                </a:r>
                <a:r>
                  <a:rPr lang="ko-KR" altLang="en-US" sz="1600" dirty="0"/>
                  <a:t>환경에서의 비용 </a:t>
                </a:r>
                <a:r>
                  <a:rPr lang="en-US" altLang="ko-KR" sz="1600" dirty="0"/>
                  <a:t>= </a:t>
                </a:r>
                <a:r>
                  <a:rPr lang="ko-KR" altLang="en-US" sz="1600" dirty="0"/>
                  <a:t>제약 조건의 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비용은 주로 </a:t>
                </a: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 연산에서 발생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MDS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cost</a:t>
                </a:r>
                <a:r>
                  <a:rPr lang="ko-KR" altLang="en-US" sz="1600" dirty="0"/>
                  <a:t> 거의 </a:t>
                </a:r>
                <a:r>
                  <a:rPr lang="en-US" altLang="ko-KR" sz="1600" dirty="0"/>
                  <a:t>X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총 개수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당 비용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 계산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는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600" dirty="0"/>
                  <a:t>연산을 사용</a:t>
                </a:r>
                <a:r>
                  <a:rPr lang="en-US" altLang="ko-KR" sz="1600" dirty="0"/>
                  <a:t>, Full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8, Partial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57, </a:t>
                </a: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개수는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개라고 가정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제약 조건 수 </a:t>
                </a:r>
                <a:r>
                  <a:rPr lang="en-US" altLang="ko-KR" sz="1600" dirty="0"/>
                  <a:t>= 3 (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수 </a:t>
                </a:r>
                <a:r>
                  <a:rPr lang="en-US" altLang="ko-KR" sz="1600" dirty="0"/>
                  <a:t>= 81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:r>
                  <a:rPr lang="en-US" altLang="ko-KR" sz="1600" dirty="0"/>
                  <a:t>= 243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blipFill>
                <a:blip r:embed="rId3"/>
                <a:stretch>
                  <a:fillRect l="-471" t="-846" b="-13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00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D108-ADEA-EB49-0D44-252A18B2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7091F-CE4C-E4A7-C085-62F795A2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97E1B-8DED-4B1C-5AFC-D485C379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SHA-256</a:t>
                </a:r>
                <a:r>
                  <a:rPr lang="ko-KR" altLang="en-US" sz="1600" dirty="0"/>
                  <a:t>은 비트 단위의 조작을 기반으로 설계됨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R1CS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 err="1"/>
                  <a:t>Fp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위에서 동작하기 때문에 번역 비용 발생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ko-KR" altLang="en-US" sz="1600" b="1" dirty="0"/>
                  <a:t>연산별 제약 조건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XOR</a:t>
                </a:r>
                <a:r>
                  <a:rPr lang="ko-KR" altLang="en-US" sz="1600" dirty="0"/>
                  <a:t> 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변환 하여 진행 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AND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 연산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회로 상에서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동작하기 위해 </a:t>
                </a:r>
                <a:r>
                  <a:rPr lang="en-US" altLang="ko-KR" sz="1600" dirty="0"/>
                  <a:t>mod </a:t>
                </a:r>
                <a:r>
                  <a:rPr lang="ko-KR" altLang="en-US" sz="1600" dirty="0"/>
                  <a:t>연산 진행 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→ 비트 분해 및 </a:t>
                </a:r>
                <a:r>
                  <a:rPr lang="en-US" altLang="ko-KR" sz="1600" dirty="0"/>
                  <a:t>carry </a:t>
                </a:r>
                <a:r>
                  <a:rPr lang="ko-KR" altLang="en-US" sz="1600" dirty="0"/>
                  <a:t>연산 필요 ⇒ </a:t>
                </a:r>
                <a:r>
                  <a:rPr lang="en-US" altLang="ko-KR" sz="1600" dirty="0"/>
                  <a:t>1~2</a:t>
                </a:r>
                <a:r>
                  <a:rPr lang="ko-KR" altLang="en-US" sz="1600" dirty="0"/>
                  <a:t>개 제약 조건</a:t>
                </a:r>
                <a:r>
                  <a:rPr lang="en-US" altLang="ko-KR" sz="1600" dirty="0"/>
                  <a:t>(1.5</a:t>
                </a:r>
                <a:r>
                  <a:rPr lang="ko-KR" altLang="en-US" sz="1600" dirty="0"/>
                  <a:t>로 계산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 계산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메시지 확장 </a:t>
                </a:r>
                <a:r>
                  <a:rPr lang="en-US" altLang="ko-KR" sz="1600" dirty="0"/>
                  <a:t>: 48</a:t>
                </a:r>
                <a:r>
                  <a:rPr lang="ko-KR" altLang="en-US" sz="1600" dirty="0"/>
                  <a:t>회의 라운드</a:t>
                </a:r>
                <a:r>
                  <a:rPr lang="en-US" altLang="ko-KR" sz="1600" dirty="0"/>
                  <a:t>, 150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7,200</a:t>
                </a:r>
                <a:r>
                  <a:rPr lang="ko-KR" altLang="en-US" sz="1600" dirty="0"/>
                  <a:t>개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Compression Function : 64</a:t>
                </a:r>
                <a:r>
                  <a:rPr lang="ko-KR" altLang="en-US" sz="1600" dirty="0"/>
                  <a:t>회 라운드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약 </a:t>
                </a:r>
                <a:r>
                  <a:rPr lang="en-US" altLang="ko-KR" sz="1600" dirty="0"/>
                  <a:t>360 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23,040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비용은 약 </a:t>
                </a:r>
                <a:r>
                  <a:rPr lang="en-US" altLang="ko-KR" sz="1600" dirty="0"/>
                  <a:t>30,240 </a:t>
                </a:r>
                <a:r>
                  <a:rPr lang="ko-KR" altLang="en-US" sz="1600" dirty="0"/>
                  <a:t>제약 조건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blipFill>
                <a:blip r:embed="rId3"/>
                <a:stretch>
                  <a:fillRect l="-441" t="-744" r="-662" b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14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B687-29D2-B2B1-2B6B-8A696246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E03B9-6E55-706D-BE9B-5E731776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SHA3-256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13D7C-A40E-1C15-4FCD-D0A3AA41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DDAD4-3259-A698-54D3-2BA3CB3C0C61}"/>
              </a:ext>
            </a:extLst>
          </p:cNvPr>
          <p:cNvSpPr txBox="1"/>
          <p:nvPr/>
        </p:nvSpPr>
        <p:spPr>
          <a:xfrm>
            <a:off x="1006789" y="1487467"/>
            <a:ext cx="110509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SHA3-256</a:t>
            </a:r>
            <a:r>
              <a:rPr lang="ko-KR" altLang="en-US" b="1" dirty="0"/>
              <a:t>의 회로 비용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</a:t>
            </a:r>
            <a:r>
              <a:rPr lang="en-US" altLang="ko-KR" sz="1600" dirty="0"/>
              <a:t>24</a:t>
            </a:r>
            <a:r>
              <a:rPr lang="ko-KR" altLang="en-US" sz="1600" dirty="0"/>
              <a:t>라운드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라운드마다 </a:t>
            </a:r>
            <a:r>
              <a:rPr lang="en-US" altLang="ko-KR" sz="1600" dirty="0"/>
              <a:t>5</a:t>
            </a:r>
            <a:r>
              <a:rPr lang="ko-KR" altLang="en-US" sz="1600" dirty="0"/>
              <a:t>단계로 나뉨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ko-KR" altLang="en-US" sz="1600" b="1" dirty="0"/>
              <a:t>단계별 제약 조건</a:t>
            </a:r>
            <a:endParaRPr lang="en-US" altLang="ko-KR" sz="1600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확산 단계 </a:t>
            </a:r>
            <a:r>
              <a:rPr lang="en-US" altLang="ko-KR" sz="1600" dirty="0"/>
              <a:t>: </a:t>
            </a:r>
            <a:r>
              <a:rPr lang="ko-KR" altLang="en-US" sz="1600" dirty="0"/>
              <a:t>비트당 약 </a:t>
            </a:r>
            <a:r>
              <a:rPr lang="en-US" altLang="ko-KR" sz="1600" dirty="0"/>
              <a:t>3</a:t>
            </a:r>
            <a:r>
              <a:rPr lang="ko-KR" altLang="en-US" sz="1600" dirty="0"/>
              <a:t>회의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</a:t>
            </a:r>
            <a:r>
              <a:rPr lang="en-US" altLang="ko-KR" sz="1600" dirty="0"/>
              <a:t>, 1600-bit</a:t>
            </a:r>
            <a:r>
              <a:rPr lang="ko-KR" altLang="en-US" sz="1600" dirty="0"/>
              <a:t>에 대해 수행 ⇒ </a:t>
            </a:r>
            <a:r>
              <a:rPr lang="en-US" altLang="ko-KR" sz="1600" dirty="0"/>
              <a:t>4800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위치 변경 단계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구성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Rotate </a:t>
            </a:r>
            <a:r>
              <a:rPr lang="ko-KR" altLang="en-US" sz="1600" dirty="0"/>
              <a:t>연산만 진행하기 때문에 비용이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비선형 단계 </a:t>
            </a:r>
            <a:r>
              <a:rPr lang="en-US" altLang="ko-KR" sz="1600" dirty="0"/>
              <a:t>: S-box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3200</a:t>
            </a:r>
            <a:r>
              <a:rPr lang="ko-KR" altLang="en-US" sz="1600" dirty="0"/>
              <a:t>개의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상수 덧셈 </a:t>
            </a:r>
            <a:r>
              <a:rPr lang="en-US" altLang="ko-KR" sz="1600" dirty="0"/>
              <a:t>: </a:t>
            </a:r>
            <a:r>
              <a:rPr lang="ko-KR" altLang="en-US" sz="1600" dirty="0"/>
              <a:t>일부 비트에 라운드 상수를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64 Constraints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b="1" dirty="0"/>
              <a:t>SHA3-256</a:t>
            </a:r>
            <a:r>
              <a:rPr lang="ko-KR" altLang="en-US" b="1" dirty="0"/>
              <a:t>의 회로 비용 계산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라운드 당 약 </a:t>
            </a:r>
            <a:r>
              <a:rPr lang="en-US" altLang="ko-KR" sz="1600" dirty="0"/>
              <a:t>8,064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비용은 약 </a:t>
            </a:r>
            <a:r>
              <a:rPr lang="en-US" altLang="ko-KR" sz="1600" dirty="0"/>
              <a:t>193,536 </a:t>
            </a:r>
            <a:r>
              <a:rPr lang="ko-KR" altLang="en-US" sz="1600" dirty="0"/>
              <a:t>제약 조건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87773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해시함수의 회로 비용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7576DE-14CF-9824-F81C-BD091EC390EC}"/>
              </a:ext>
            </a:extLst>
          </p:cNvPr>
          <p:cNvGraphicFramePr>
            <a:graphicFrameLocks noGrp="1"/>
          </p:cNvGraphicFramePr>
          <p:nvPr/>
        </p:nvGraphicFramePr>
        <p:xfrm>
          <a:off x="1128759" y="2268005"/>
          <a:ext cx="6909925" cy="81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456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4049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193,536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5FFADB-7075-6D01-2CF4-3B6B65F1D4CB}"/>
              </a:ext>
            </a:extLst>
          </p:cNvPr>
          <p:cNvSpPr txBox="1"/>
          <p:nvPr/>
        </p:nvSpPr>
        <p:spPr>
          <a:xfrm>
            <a:off x="1006789" y="1487467"/>
            <a:ext cx="1105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SHA2-256 vs</a:t>
            </a:r>
            <a:r>
              <a:rPr lang="ko-KR" altLang="en-US" b="1" dirty="0"/>
              <a:t> </a:t>
            </a:r>
            <a:r>
              <a:rPr lang="en-US" altLang="ko-KR" b="1" dirty="0"/>
              <a:t>SHA3-256</a:t>
            </a:r>
            <a:r>
              <a:rPr lang="ko-KR" altLang="en-US" b="1" dirty="0"/>
              <a:t> </a:t>
            </a:r>
            <a:r>
              <a:rPr lang="en-US" altLang="ko-KR" b="1" dirty="0"/>
              <a:t>vs</a:t>
            </a:r>
            <a:r>
              <a:rPr lang="ko-KR" altLang="en-US" b="1" dirty="0"/>
              <a:t> </a:t>
            </a:r>
            <a:r>
              <a:rPr lang="en-US" altLang="ko-KR" b="1" dirty="0"/>
              <a:t>Poseidon</a:t>
            </a:r>
            <a:r>
              <a:rPr lang="ko-KR" altLang="en-US" b="1" dirty="0"/>
              <a:t> 의 회로 비용 비교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211C-3FD1-12BF-EE0D-46F79DD2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2E303-E51F-2A4E-4410-46C1D446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회로 비용 비교 분석 실험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D01950-C9AB-6598-1644-1F53A300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8CB32-FD58-0BE5-83FF-D2A7CC947964}"/>
              </a:ext>
            </a:extLst>
          </p:cNvPr>
          <p:cNvSpPr txBox="1"/>
          <p:nvPr/>
        </p:nvSpPr>
        <p:spPr>
          <a:xfrm>
            <a:off x="848905" y="2045116"/>
            <a:ext cx="1105095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Circom</a:t>
            </a:r>
            <a:r>
              <a:rPr lang="en-US" altLang="ko-KR" sz="1600" dirty="0"/>
              <a:t> </a:t>
            </a:r>
            <a:r>
              <a:rPr lang="ko-KR" altLang="en-US" sz="1600" dirty="0"/>
              <a:t>상에서의 해시함수 회로 비용 비교 분석 진행</a:t>
            </a:r>
            <a:endParaRPr lang="en-US" altLang="ko-KR" sz="1600" dirty="0"/>
          </a:p>
          <a:p>
            <a:endParaRPr lang="en-US" altLang="ko-KR" b="1" dirty="0"/>
          </a:p>
          <a:p>
            <a:r>
              <a:rPr lang="en-US" altLang="ko-KR" b="1" dirty="0" err="1"/>
              <a:t>Circom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 err="1"/>
              <a:t>영지식</a:t>
            </a:r>
            <a:r>
              <a:rPr lang="ko-KR" altLang="en-US" sz="1600" dirty="0"/>
              <a:t> 증명</a:t>
            </a:r>
            <a:r>
              <a:rPr lang="en-US" altLang="ko-KR" sz="1600" dirty="0"/>
              <a:t>(</a:t>
            </a:r>
            <a:r>
              <a:rPr lang="en-US" altLang="ko-KR" sz="1600" dirty="0" err="1"/>
              <a:t>zk</a:t>
            </a:r>
            <a:r>
              <a:rPr lang="en-US" altLang="ko-KR" sz="1600" dirty="0"/>
              <a:t>-SNARK) </a:t>
            </a:r>
            <a:r>
              <a:rPr lang="ko-KR" altLang="en-US" sz="1600" dirty="0"/>
              <a:t>시스템에 필요한 산술 회로</a:t>
            </a:r>
            <a:r>
              <a:rPr lang="en-US" altLang="ko-KR" sz="1600" dirty="0"/>
              <a:t>(R1CS)</a:t>
            </a:r>
            <a:r>
              <a:rPr lang="ko-KR" altLang="en-US" sz="1600" dirty="0"/>
              <a:t>를 직관적으로 설계하고 컴파일할 수 있도록 개발된 도메인 특화 언어</a:t>
            </a:r>
            <a:r>
              <a:rPr lang="en-US" altLang="ko-KR" sz="1600" dirty="0"/>
              <a:t>(DSL)</a:t>
            </a:r>
            <a:r>
              <a:rPr lang="ko-KR" altLang="en-US" sz="1600" dirty="0"/>
              <a:t>이자 컴파일러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R1CS </a:t>
            </a:r>
            <a:r>
              <a:rPr lang="ko-KR" altLang="en-US" sz="1600" dirty="0"/>
              <a:t>방식을 사용하고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제약 조건의 수를 측정하기 위한 라이브러리를 다양하게 제공하여 사용이 용이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비트 연산의 비효율성을 보이기에 용이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공식 라이브러리에서 </a:t>
            </a:r>
            <a:r>
              <a:rPr lang="en-US" altLang="ko-KR" dirty="0"/>
              <a:t>SHA-256, Poseidon </a:t>
            </a:r>
            <a:r>
              <a:rPr lang="ko-KR" altLang="en-US" dirty="0"/>
              <a:t>제공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R1CS </a:t>
            </a:r>
            <a:r>
              <a:rPr lang="ko-KR" altLang="en-US" dirty="0"/>
              <a:t>방식으로 제약 조건의 수를 측정</a:t>
            </a:r>
            <a:r>
              <a:rPr lang="en-US" altLang="ko-KR" dirty="0"/>
              <a:t>(Non-Linear, Linear)</a:t>
            </a:r>
          </a:p>
        </p:txBody>
      </p:sp>
    </p:spTree>
    <p:extLst>
      <p:ext uri="{BB962C8B-B14F-4D97-AF65-F5344CB8AC3E}">
        <p14:creationId xmlns:p14="http://schemas.microsoft.com/office/powerpoint/2010/main" val="383670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9B3C-855B-A27A-5069-59F29F87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6E3B3-DD85-1544-58F1-4BA0F011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회로 비용 비교 분석 실험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C4D5A6-1AB1-C201-7D01-A6F65BCF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2D3173-6545-8A2C-E2E4-8008986ED0D0}"/>
                  </a:ext>
                </a:extLst>
              </p:cNvPr>
              <p:cNvSpPr txBox="1"/>
              <p:nvPr/>
            </p:nvSpPr>
            <p:spPr>
              <a:xfrm>
                <a:off x="946854" y="1531240"/>
                <a:ext cx="11050951" cy="3174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실험 결과</a:t>
                </a:r>
                <a:endParaRPr lang="en-US" altLang="ko-KR" b="1" dirty="0"/>
              </a:p>
              <a:p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SHA2</a:t>
                </a:r>
                <a:r>
                  <a:rPr lang="ko-KR" altLang="en-US" sz="1600" dirty="0"/>
                  <a:t>에 비해 </a:t>
                </a: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이 </a:t>
                </a:r>
                <a:r>
                  <a:rPr lang="en-US" altLang="ko-KR" sz="1600" dirty="0"/>
                  <a:t>136</a:t>
                </a:r>
                <a:r>
                  <a:rPr lang="ko-KR" altLang="en-US" sz="1600" dirty="0"/>
                  <a:t>배 정도 빠름</a:t>
                </a:r>
                <a:r>
                  <a:rPr lang="en-US" altLang="ko-KR" sz="1600" dirty="0"/>
                  <a:t>(Non-Linear </a:t>
                </a:r>
                <a:r>
                  <a:rPr lang="ko-KR" altLang="en-US" sz="1600" dirty="0"/>
                  <a:t>기준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/>
              </a:p>
              <a:p>
                <a:r>
                  <a:rPr lang="en-US" altLang="ko-KR" b="1" dirty="0"/>
                  <a:t>Non-Linear </a:t>
                </a:r>
                <a:r>
                  <a:rPr lang="ko-KR" altLang="en-US" b="1" dirty="0"/>
                  <a:t>제약 조건과 </a:t>
                </a:r>
                <a:r>
                  <a:rPr lang="en-US" altLang="ko-KR" b="1" dirty="0"/>
                  <a:t>Linear </a:t>
                </a:r>
                <a:r>
                  <a:rPr lang="ko-KR" altLang="en-US" b="1" dirty="0"/>
                  <a:t>제약 조건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R1CS</a:t>
                </a:r>
                <a:r>
                  <a:rPr lang="ko-KR" altLang="en-US" sz="1600" dirty="0"/>
                  <a:t>를 기준으로 제약조건 수를 측정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형식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Non-Linear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덧셈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/>
                  <a:t>), </a:t>
                </a:r>
                <a:r>
                  <a:rPr lang="ko-KR" altLang="en-US" sz="1600" dirty="0"/>
                  <a:t>상수 곱셈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 연산 ⇒ 계수 형태로 녹여낼 수 있어서 추가적인 제약 조건 생성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가까움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Linear </a:t>
                </a:r>
                <a:r>
                  <a:rPr lang="ko-KR" altLang="en-US" sz="1600" dirty="0"/>
                  <a:t>제약 조건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곱</a:t>
                </a:r>
                <a14:m>
                  <m:oMath xmlns:m="http://schemas.openxmlformats.org/officeDocument/2006/math">
                    <m:r>
                      <a:rPr lang="ko-KR" altLang="en-US" sz="1600" i="1" dirty="0" smtClean="0">
                        <a:latin typeface="Cambria Math" panose="02040503050406030204" pitchFamily="18" charset="0"/>
                      </a:rPr>
                      <m:t>셈</m:t>
                    </m:r>
                    <m:r>
                      <a:rPr lang="en-US" altLang="ko-KR" sz="16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sz="1600" dirty="0"/>
                  <a:t>) </a:t>
                </a:r>
                <a:r>
                  <a:rPr lang="ko-KR" altLang="en-US" sz="1600" dirty="0"/>
                  <a:t>⇒ 방정식 성립을 위해 반드시 새로운 제약 조건 한 줄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비용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Non-Linear </a:t>
                </a:r>
                <a:r>
                  <a:rPr lang="ko-KR" altLang="en-US" sz="1600" dirty="0"/>
                  <a:t>제약 조건 수</a:t>
                </a:r>
                <a:endParaRPr lang="en-US" altLang="ko-KR" sz="1600" dirty="0"/>
              </a:p>
              <a:p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2D3173-6545-8A2C-E2E4-8008986ED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54" y="1531240"/>
                <a:ext cx="11050951" cy="3174780"/>
              </a:xfrm>
              <a:prstGeom prst="rect">
                <a:avLst/>
              </a:prstGeom>
              <a:blipFill>
                <a:blip r:embed="rId3"/>
                <a:stretch>
                  <a:fillRect l="-441" t="-9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C4839E-5FD3-224F-8FFF-2CE22DB78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73074"/>
              </p:ext>
            </p:extLst>
          </p:nvPr>
        </p:nvGraphicFramePr>
        <p:xfrm>
          <a:off x="2403901" y="4616498"/>
          <a:ext cx="6910639" cy="162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521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830559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830559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7035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실험 측정 </a:t>
                      </a:r>
                      <a:r>
                        <a:rPr lang="en-US" altLang="ko-KR" sz="1200" dirty="0"/>
                        <a:t>- Non-linear </a:t>
                      </a:r>
                      <a:r>
                        <a:rPr lang="ko-KR" altLang="en-US" sz="1200" dirty="0"/>
                        <a:t>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29412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216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실험 측정 </a:t>
                      </a:r>
                      <a:r>
                        <a:rPr lang="en-US" altLang="ko-KR" sz="1200" dirty="0"/>
                        <a:t>- Linear </a:t>
                      </a:r>
                      <a:r>
                        <a:rPr lang="ko-KR" altLang="en-US" sz="1200" dirty="0"/>
                        <a:t>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1852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199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03612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이론 분석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696623"/>
                  </a:ext>
                </a:extLst>
              </a:tr>
              <a:tr h="3293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증명 생성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227.6267 </a:t>
                      </a:r>
                      <a:r>
                        <a:rPr lang="en-US" altLang="ko-KR" sz="1200" dirty="0" err="1"/>
                        <a:t>ms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1229.3843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 err="1"/>
                        <a:t>ms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9763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FC33A0-75D6-D06A-7D91-11A19A5D8498}"/>
              </a:ext>
            </a:extLst>
          </p:cNvPr>
          <p:cNvSpPr txBox="1"/>
          <p:nvPr/>
        </p:nvSpPr>
        <p:spPr>
          <a:xfrm>
            <a:off x="5408684" y="6327570"/>
            <a:ext cx="9010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실험 결과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64915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12518</TotalTime>
  <Words>1895</Words>
  <Application>Microsoft Office PowerPoint</Application>
  <PresentationFormat>와이드스크린</PresentationFormat>
  <Paragraphs>310</Paragraphs>
  <Slides>15</Slides>
  <Notes>15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Cambria Math</vt:lpstr>
      <vt:lpstr>Office 테마</vt:lpstr>
      <vt:lpstr>Poseidon 복잡도 정밀 분석</vt:lpstr>
      <vt:lpstr>비교분석 – 회로 복잡도</vt:lpstr>
      <vt:lpstr>Field 연산(Add, Mul)</vt:lpstr>
      <vt:lpstr>254-bit 수준의 Field 연산 → 64-bit CPU 연산 변환</vt:lpstr>
      <vt:lpstr>254-bit 수준의 Field 연산 → 64-bit CPU 연산 변환</vt:lpstr>
      <vt:lpstr>Poseidon 내의 연산</vt:lpstr>
      <vt:lpstr>Poseidon 내의 연산 → CPU 연산으로 환산 </vt:lpstr>
      <vt:lpstr>zk-SNARK</vt:lpstr>
      <vt:lpstr>산술 회로</vt:lpstr>
      <vt:lpstr>Poseidon의 회로 비용</vt:lpstr>
      <vt:lpstr>SHA2-256의 회로 비용</vt:lpstr>
      <vt:lpstr>SHA3-256의 회로 비용</vt:lpstr>
      <vt:lpstr>해시함수의 회로 비용 비교</vt:lpstr>
      <vt:lpstr>회로 비용 비교 분석 실험</vt:lpstr>
      <vt:lpstr>회로 비용 비교 분석 실험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1523</cp:revision>
  <dcterms:created xsi:type="dcterms:W3CDTF">2023-03-06T16:32:37Z</dcterms:created>
  <dcterms:modified xsi:type="dcterms:W3CDTF">2025-12-12T03:41:34Z</dcterms:modified>
</cp:coreProperties>
</file>