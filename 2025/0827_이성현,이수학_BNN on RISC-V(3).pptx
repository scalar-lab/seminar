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72" r:id="rId4"/>
    <p:sldId id="274" r:id="rId5"/>
    <p:sldId id="277" r:id="rId6"/>
    <p:sldId id="275" r:id="rId7"/>
    <p:sldId id="276" r:id="rId8"/>
    <p:sldId id="27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86" d="100"/>
          <a:sy n="86" d="100"/>
        </p:scale>
        <p:origin x="102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547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32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7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0187-4790-3D7A-01A4-B52A629E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6F8D15-2867-B2D2-E56D-F86BFD1EF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20B32A-8429-A2D5-1F1A-7CDD33FFE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8149-47D1-5056-B8AA-C18DAAD4A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04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7088-6693-F469-1765-10B54CE2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BA8C6E-FBF6-6666-EF78-C6148E0BC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73B17-E0D6-9F3B-F4C0-CF35ACD6E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529F8F-6475-09F4-8A65-D785487DA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209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8C30-F8CD-BFCD-CE52-9BDFCA7B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B4E42-38FE-D3C6-C2D2-42BE55115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6BFFF2-8937-7BA5-E467-9F632185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Brevitas</a:t>
            </a:r>
            <a:r>
              <a:rPr lang="ko-KR" altLang="en-US" dirty="0"/>
              <a:t>가 지원하는 </a:t>
            </a:r>
            <a:r>
              <a:rPr lang="ko-KR" altLang="en-US" dirty="0" err="1"/>
              <a:t>파이토치</a:t>
            </a:r>
            <a:r>
              <a:rPr lang="ko-KR" altLang="en-US" dirty="0"/>
              <a:t> 버전이 </a:t>
            </a:r>
            <a:r>
              <a:rPr lang="en-US" altLang="ko-KR" dirty="0"/>
              <a:t>2.4</a:t>
            </a:r>
            <a:r>
              <a:rPr lang="ko-KR" altLang="en-US" dirty="0"/>
              <a:t>까지만 지원함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22F2A1-F0E8-B78B-B78B-906B1CFB6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75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1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on RISC-V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946784" y="1666695"/>
            <a:ext cx="194767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8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27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D665-6B2F-B3A4-A337-425F0157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233C4-4710-B774-172D-9DE0EFBE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90E58C-343C-238A-7478-005328B2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F4E8-D12F-687F-5ECC-291BA9ED1B2B}"/>
              </a:ext>
            </a:extLst>
          </p:cNvPr>
          <p:cNvSpPr txBox="1"/>
          <p:nvPr/>
        </p:nvSpPr>
        <p:spPr>
          <a:xfrm>
            <a:off x="805218" y="1394954"/>
            <a:ext cx="952613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4B7C7D-B6DE-AF2E-007F-0DB4BBE2AA89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950987-B577-8A49-E176-15F1519C7AF5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0409A0-24E1-6AD3-7554-0892CA8F05E7}"/>
              </a:ext>
            </a:extLst>
          </p:cNvPr>
          <p:cNvSpPr/>
          <p:nvPr/>
        </p:nvSpPr>
        <p:spPr>
          <a:xfrm>
            <a:off x="8796370" y="3293986"/>
            <a:ext cx="2200978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W8A8, W1A8, W1A1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Quantization</a:t>
            </a:r>
            <a:r>
              <a:rPr lang="ko-KR" altLang="en-US" sz="16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600" dirty="0">
                <a:solidFill>
                  <a:schemeClr val="tx1"/>
                </a:solidFill>
              </a:rPr>
              <a:t>RISC-V</a:t>
            </a:r>
            <a:r>
              <a:rPr lang="ko-KR" altLang="en-US" sz="1600" dirty="0">
                <a:solidFill>
                  <a:schemeClr val="tx1"/>
                </a:solidFill>
              </a:rPr>
              <a:t>에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92879-2FE7-3322-A17D-46959E33A0F6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122AA-F13B-4B9E-42F4-021CFDE4DD55}"/>
              </a:ext>
            </a:extLst>
          </p:cNvPr>
          <p:cNvSpPr txBox="1"/>
          <p:nvPr/>
        </p:nvSpPr>
        <p:spPr>
          <a:xfrm>
            <a:off x="4043193" y="4986372"/>
            <a:ext cx="47531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38AE43F-69CD-A281-6A2F-CDF67FA95823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5536C79-B09A-DF1D-EC88-BA7ED46E0065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2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1BFD-6794-68F7-E2A4-3C30510D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E793566-23D8-318C-B842-9B6EBB8720C2}"/>
              </a:ext>
            </a:extLst>
          </p:cNvPr>
          <p:cNvSpPr/>
          <p:nvPr/>
        </p:nvSpPr>
        <p:spPr>
          <a:xfrm>
            <a:off x="3990329" y="5005052"/>
            <a:ext cx="3272916" cy="263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5B4360-A41D-D009-6A12-00E4C099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7840A-A58D-2C26-E961-A96C9478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1DFB-8A91-9FBA-1888-6F1313E74A09}"/>
              </a:ext>
            </a:extLst>
          </p:cNvPr>
          <p:cNvSpPr txBox="1"/>
          <p:nvPr/>
        </p:nvSpPr>
        <p:spPr>
          <a:xfrm>
            <a:off x="805218" y="1394954"/>
            <a:ext cx="952613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413C9E-1B66-17F4-224F-27DF9F75F34D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85DDA-C30E-0D10-16C0-BC2D7422377E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AF34C-80EC-6259-37CD-4963A3EEAC34}"/>
              </a:ext>
            </a:extLst>
          </p:cNvPr>
          <p:cNvSpPr/>
          <p:nvPr/>
        </p:nvSpPr>
        <p:spPr>
          <a:xfrm>
            <a:off x="8796370" y="3293986"/>
            <a:ext cx="2200978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</a:rPr>
              <a:t>W8A8, W1A8, W1A1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Quantization</a:t>
            </a:r>
            <a:r>
              <a:rPr lang="ko-KR" altLang="en-US" sz="16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600" dirty="0">
                <a:solidFill>
                  <a:schemeClr val="tx1"/>
                </a:solidFill>
              </a:rPr>
              <a:t>RISC-V</a:t>
            </a:r>
            <a:r>
              <a:rPr lang="ko-KR" altLang="en-US" sz="1600" dirty="0">
                <a:solidFill>
                  <a:schemeClr val="tx1"/>
                </a:solidFill>
              </a:rPr>
              <a:t>에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6D16E-8227-1483-9939-D25F7DA87D7F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EE5F4-52E4-E3AD-4062-E3749F93E3FD}"/>
              </a:ext>
            </a:extLst>
          </p:cNvPr>
          <p:cNvSpPr txBox="1"/>
          <p:nvPr/>
        </p:nvSpPr>
        <p:spPr>
          <a:xfrm>
            <a:off x="4043193" y="4986372"/>
            <a:ext cx="47531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573986B-C7CC-DBCB-85C3-FE9FF5A45E68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934A7D4-1260-12B5-77C3-B5875808C2A2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6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960D6-8FE6-84A7-C005-9981578D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8DCF76-54BC-816A-18CC-D1D3F325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XNOR-Net on RISC-V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D7937-9E7C-5096-8BD6-7118D372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153B2E-9397-2B20-4AA7-F36B49BAC5B4}"/>
              </a:ext>
            </a:extLst>
          </p:cNvPr>
          <p:cNvSpPr txBox="1"/>
          <p:nvPr/>
        </p:nvSpPr>
        <p:spPr>
          <a:xfrm>
            <a:off x="799856" y="1855651"/>
            <a:ext cx="27350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&lt;XNOR-Net&gt;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ResNet-18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Input, Weight </a:t>
            </a:r>
            <a:r>
              <a:rPr lang="ko-KR" altLang="en-US" dirty="0"/>
              <a:t>이진화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Conv </a:t>
            </a:r>
            <a:r>
              <a:rPr lang="ko-KR" altLang="en-US" dirty="0"/>
              <a:t>연산 </a:t>
            </a:r>
            <a:r>
              <a:rPr lang="en-US" altLang="ko-KR" dirty="0"/>
              <a:t>: XNOR + Bit Count + </a:t>
            </a:r>
            <a:r>
              <a:rPr lang="en-US" altLang="ko-KR" dirty="0" err="1"/>
              <a:t>scalaing</a:t>
            </a:r>
            <a:r>
              <a:rPr lang="en-US" altLang="ko-KR" dirty="0"/>
              <a:t> factor </a:t>
            </a:r>
            <a:r>
              <a:rPr lang="ko-KR" altLang="en-US" dirty="0"/>
              <a:t>연산</a:t>
            </a:r>
            <a:endParaRPr lang="en-US" altLang="ko-K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F8EE95-142F-7B0B-0E93-82D0DAD07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221" y="1843876"/>
            <a:ext cx="784860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01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9FEB-7CAE-CB85-9D90-1EE0BE79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13E99-0036-7A71-01F9-5F95BC7A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XNOR-Net on RISC-V </a:t>
            </a:r>
            <a:r>
              <a:rPr lang="ko-KR" altLang="en-US" dirty="0"/>
              <a:t>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A67E3-C2A7-B248-EC4E-308D32AF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A38BB-E3A5-7D40-FBB6-814A5D1794AC}"/>
              </a:ext>
            </a:extLst>
          </p:cNvPr>
          <p:cNvSpPr txBox="1"/>
          <p:nvPr/>
        </p:nvSpPr>
        <p:spPr>
          <a:xfrm>
            <a:off x="900217" y="2175136"/>
            <a:ext cx="44189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&lt;XNOR-Net&gt;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ResNet-18 </a:t>
            </a:r>
            <a:r>
              <a:rPr lang="ko-KR" altLang="en-US" dirty="0"/>
              <a:t>기반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Dataset : CIFAR-10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Input Size : 32x32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Batch Size : 128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Epochs :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Learning Rate :</a:t>
            </a:r>
            <a:r>
              <a:rPr lang="ko-KR" altLang="en-US" dirty="0"/>
              <a:t> </a:t>
            </a:r>
            <a:r>
              <a:rPr lang="en-US" altLang="ko-KR" dirty="0"/>
              <a:t>le-3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Optimizer : </a:t>
            </a:r>
            <a:r>
              <a:rPr lang="en-US" altLang="ko-KR" dirty="0" err="1"/>
              <a:t>adam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Loss : </a:t>
            </a:r>
            <a:r>
              <a:rPr lang="en-US" altLang="ko-KR" dirty="0" err="1"/>
              <a:t>CrossEntropyLoss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1DE17A-2784-EB7B-BD21-92237BEEC79A}"/>
              </a:ext>
            </a:extLst>
          </p:cNvPr>
          <p:cNvSpPr txBox="1"/>
          <p:nvPr/>
        </p:nvSpPr>
        <p:spPr>
          <a:xfrm>
            <a:off x="7383534" y="5701262"/>
            <a:ext cx="3723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XNOR-Net(ResNet-18 base) </a:t>
            </a:r>
            <a:r>
              <a:rPr lang="ko-KR" altLang="en-US" sz="1400" dirty="0"/>
              <a:t>구현 코드 일부</a:t>
            </a:r>
            <a:endParaRPr lang="en-US" altLang="ko-KR" sz="1400" dirty="0"/>
          </a:p>
          <a:p>
            <a:pPr algn="ctr"/>
            <a:r>
              <a:rPr lang="en-US" altLang="ko-KR" sz="1400" dirty="0"/>
              <a:t>(Conv </a:t>
            </a:r>
            <a:r>
              <a:rPr lang="ko-KR" altLang="en-US" sz="1400" dirty="0"/>
              <a:t>연산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E82F9F-A9AE-8429-CC62-5EE838841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755" y="2246561"/>
            <a:ext cx="4943847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0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F457-06BF-E491-0EF4-D7748C20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708EC-C05D-9857-CCED-8305887A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Brevitas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8D7D78-3A3E-8AD6-8E44-C5BD9AE2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CEB6F-BACA-579A-21F1-1F4402B1262A}"/>
              </a:ext>
            </a:extLst>
          </p:cNvPr>
          <p:cNvSpPr txBox="1"/>
          <p:nvPr/>
        </p:nvSpPr>
        <p:spPr>
          <a:xfrm>
            <a:off x="688345" y="1461460"/>
            <a:ext cx="102972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Brevitas</a:t>
            </a:r>
            <a:endParaRPr lang="en-US" altLang="ko-KR" sz="2400" b="1" dirty="0"/>
          </a:p>
          <a:p>
            <a:endParaRPr lang="en-US" altLang="ko-K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파이토치</a:t>
            </a:r>
            <a:r>
              <a:rPr lang="ko-KR" altLang="en-US" dirty="0"/>
              <a:t> 기반 양자화 라이브러리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QAT, PTQ </a:t>
            </a:r>
            <a:r>
              <a:rPr lang="ko-KR" altLang="en-US" dirty="0"/>
              <a:t>지원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ONNX / FINN </a:t>
            </a:r>
            <a:r>
              <a:rPr lang="ko-KR" altLang="en-US" dirty="0" err="1"/>
              <a:t>툴체인</a:t>
            </a:r>
            <a:r>
              <a:rPr lang="ko-KR" altLang="en-US" dirty="0"/>
              <a:t> 호환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INT8, INT4, Binary </a:t>
            </a:r>
            <a:r>
              <a:rPr lang="ko-KR" altLang="en-US" dirty="0"/>
              <a:t>등 비트 폭 지원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Weight, Activation, Bias </a:t>
            </a:r>
            <a:r>
              <a:rPr lang="ko-KR" altLang="en-US" dirty="0"/>
              <a:t>개별 제어 가능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Conv, Linear Activation, </a:t>
            </a:r>
            <a:r>
              <a:rPr lang="en-US" altLang="ko-KR" dirty="0" err="1"/>
              <a:t>BatchNorm</a:t>
            </a:r>
            <a:r>
              <a:rPr lang="en-US" altLang="ko-KR" dirty="0"/>
              <a:t>, Pooling </a:t>
            </a:r>
            <a:r>
              <a:rPr lang="ko-KR" altLang="en-US" dirty="0"/>
              <a:t>등 대부분 핵심 연산 지원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6815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8D88-C1C9-1F8D-56DE-69BCF2E8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B204C-99C4-19F2-A15E-C41F8A85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XNOR-Net </a:t>
            </a:r>
            <a:r>
              <a:rPr lang="ko-KR" altLang="en-US" dirty="0"/>
              <a:t>구현 중 문제점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615B7-B857-D3A8-EDC1-A0E4F901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F188A-CAD4-FD7C-3657-32C1264EF853}"/>
              </a:ext>
            </a:extLst>
          </p:cNvPr>
          <p:cNvSpPr txBox="1"/>
          <p:nvPr/>
        </p:nvSpPr>
        <p:spPr>
          <a:xfrm>
            <a:off x="688345" y="1461460"/>
            <a:ext cx="102972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문제점</a:t>
            </a:r>
            <a:endParaRPr lang="en-US" altLang="ko-KR" sz="2400" b="1" dirty="0"/>
          </a:p>
          <a:p>
            <a:endParaRPr lang="en-US" altLang="ko-KR" b="1" dirty="0"/>
          </a:p>
          <a:p>
            <a:r>
              <a:rPr lang="en-US" altLang="ko-KR" dirty="0"/>
              <a:t>1. </a:t>
            </a:r>
            <a:r>
              <a:rPr lang="ko-KR" altLang="en-US" dirty="0"/>
              <a:t>호환성 문제 </a:t>
            </a:r>
            <a:r>
              <a:rPr lang="en-US" altLang="ko-KR" dirty="0"/>
              <a:t>(</a:t>
            </a:r>
            <a:r>
              <a:rPr lang="en-US" altLang="ko-KR" dirty="0" err="1"/>
              <a:t>Brevitas</a:t>
            </a:r>
            <a:r>
              <a:rPr lang="en-US" altLang="ko-KR" dirty="0"/>
              <a:t>, Python, </a:t>
            </a:r>
            <a:r>
              <a:rPr lang="en-US" altLang="ko-KR" dirty="0" err="1"/>
              <a:t>PyTorch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en-US" altLang="ko-KR" dirty="0" err="1"/>
              <a:t>Brevitas</a:t>
            </a:r>
            <a:r>
              <a:rPr lang="en-US" altLang="ko-KR" dirty="0"/>
              <a:t> </a:t>
            </a:r>
            <a:r>
              <a:rPr lang="ko-KR" altLang="en-US" dirty="0"/>
              <a:t>요구사항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파이썬 버전 </a:t>
            </a:r>
            <a:r>
              <a:rPr lang="en-US" altLang="ko-KR" dirty="0"/>
              <a:t>: 3.9 </a:t>
            </a:r>
            <a:r>
              <a:rPr lang="ko-KR" altLang="en-US" dirty="0"/>
              <a:t>이상 권장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파이토치</a:t>
            </a:r>
            <a:r>
              <a:rPr lang="ko-KR" altLang="en-US" dirty="0"/>
              <a:t> 버전 </a:t>
            </a:r>
            <a:r>
              <a:rPr lang="en-US" altLang="ko-KR" dirty="0"/>
              <a:t>: 1.9.1 </a:t>
            </a:r>
            <a:r>
              <a:rPr lang="ko-KR" altLang="en-US" dirty="0"/>
              <a:t>이상</a:t>
            </a:r>
            <a:r>
              <a:rPr lang="en-US" altLang="ko-KR" dirty="0"/>
              <a:t>, 2.4 </a:t>
            </a:r>
            <a:r>
              <a:rPr lang="ko-KR" altLang="en-US" dirty="0"/>
              <a:t>이하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설정 환경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파이썬 버전 </a:t>
            </a:r>
            <a:r>
              <a:rPr lang="en-US" altLang="ko-KR" dirty="0"/>
              <a:t>: 3.8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파이토치</a:t>
            </a:r>
            <a:r>
              <a:rPr lang="ko-KR" altLang="en-US" dirty="0"/>
              <a:t> 버전 </a:t>
            </a:r>
            <a:r>
              <a:rPr lang="en-US" altLang="ko-KR" dirty="0"/>
              <a:t>: 2.8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해결 방향 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Mixed-Precision Neural Networks on RISC-V </a:t>
            </a:r>
            <a:r>
              <a:rPr lang="ko-KR" altLang="en-US" dirty="0"/>
              <a:t>코드 요구사항 확인 및 가상환경 재구축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 err="1"/>
              <a:t>파이토치</a:t>
            </a:r>
            <a:r>
              <a:rPr lang="ko-KR" altLang="en-US" dirty="0"/>
              <a:t> 버전 </a:t>
            </a:r>
            <a:r>
              <a:rPr lang="en-US" altLang="ko-KR" dirty="0"/>
              <a:t>: 2.0.1 ~ 2.4 </a:t>
            </a:r>
            <a:r>
              <a:rPr lang="ko-KR" altLang="en-US" dirty="0"/>
              <a:t>범위로 다운그레이드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401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124-3B6E-9247-CA5A-DB32042C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E9CF2-DDE9-8990-C1C4-E20AE37E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274406-6D39-CF76-3C31-5E6692F8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0E852-048F-B599-0DF3-A6BAE5A8ADE5}"/>
              </a:ext>
            </a:extLst>
          </p:cNvPr>
          <p:cNvSpPr txBox="1"/>
          <p:nvPr/>
        </p:nvSpPr>
        <p:spPr>
          <a:xfrm>
            <a:off x="688345" y="1461460"/>
            <a:ext cx="10297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XNOR-Net</a:t>
            </a:r>
            <a:r>
              <a:rPr lang="ko-KR" altLang="en-US" dirty="0">
                <a:solidFill>
                  <a:srgbClr val="FF0000"/>
                </a:solidFill>
              </a:rPr>
              <a:t>을 </a:t>
            </a:r>
            <a:r>
              <a:rPr lang="en-US" altLang="ko-KR" dirty="0" err="1">
                <a:solidFill>
                  <a:srgbClr val="FF0000"/>
                </a:solidFill>
              </a:rPr>
              <a:t>Brevitas</a:t>
            </a:r>
            <a:r>
              <a:rPr lang="ko-KR" altLang="en-US" dirty="0">
                <a:solidFill>
                  <a:srgbClr val="FF0000"/>
                </a:solidFill>
              </a:rPr>
              <a:t>로 구현 및 학습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ReactNet</a:t>
            </a:r>
            <a:r>
              <a:rPr lang="ko-KR" altLang="en-US" dirty="0"/>
              <a:t>을 </a:t>
            </a:r>
            <a:r>
              <a:rPr lang="en-US" altLang="ko-KR" dirty="0" err="1"/>
              <a:t>Brevitas</a:t>
            </a:r>
            <a:r>
              <a:rPr lang="ko-KR" altLang="en-US" dirty="0"/>
              <a:t>로 구현 및 학습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최신페이퍼 중 </a:t>
            </a:r>
            <a:r>
              <a:rPr lang="en-US" altLang="ko-KR" dirty="0" err="1"/>
              <a:t>ovsw</a:t>
            </a:r>
            <a:r>
              <a:rPr lang="en-US" altLang="ko-KR" dirty="0"/>
              <a:t> </a:t>
            </a:r>
            <a:r>
              <a:rPr lang="ko-KR" altLang="en-US" dirty="0"/>
              <a:t>학습 가능한지 확인 후</a:t>
            </a:r>
            <a:r>
              <a:rPr lang="en-US" altLang="ko-KR" dirty="0"/>
              <a:t>,</a:t>
            </a:r>
            <a:r>
              <a:rPr lang="ko-KR" altLang="en-US" dirty="0"/>
              <a:t> 가능할 경우 </a:t>
            </a:r>
            <a:r>
              <a:rPr lang="en-US" altLang="ko-KR" dirty="0" err="1"/>
              <a:t>Brevitas</a:t>
            </a:r>
            <a:r>
              <a:rPr lang="ko-KR" altLang="en-US" dirty="0"/>
              <a:t>로 구현 및 학습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Conv </a:t>
            </a:r>
            <a:r>
              <a:rPr lang="ko-KR" altLang="en-US" dirty="0"/>
              <a:t>연산 하나에 대해서 어떤 연산 플로우가 필요한지 확인</a:t>
            </a:r>
            <a:r>
              <a:rPr lang="en-US" altLang="ko-KR" dirty="0"/>
              <a:t>(C</a:t>
            </a:r>
            <a:r>
              <a:rPr lang="ko-KR" altLang="en-US" dirty="0"/>
              <a:t>코드 참고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920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10448</TotalTime>
  <Words>468</Words>
  <Application>Microsoft Office PowerPoint</Application>
  <PresentationFormat>와이드스크린</PresentationFormat>
  <Paragraphs>96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BNN on RISC-V</vt:lpstr>
      <vt:lpstr>목표 및 진행사항</vt:lpstr>
      <vt:lpstr>목표 및 진행사항</vt:lpstr>
      <vt:lpstr>XNOR-Net on RISC-V 구현</vt:lpstr>
      <vt:lpstr>XNOR-Net on RISC-V 구현</vt:lpstr>
      <vt:lpstr>Brevitas</vt:lpstr>
      <vt:lpstr>XNOR-Net 구현 중 문제점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1311</cp:revision>
  <dcterms:created xsi:type="dcterms:W3CDTF">2023-03-06T16:32:37Z</dcterms:created>
  <dcterms:modified xsi:type="dcterms:W3CDTF">2025-08-26T13:47:00Z</dcterms:modified>
</cp:coreProperties>
</file>