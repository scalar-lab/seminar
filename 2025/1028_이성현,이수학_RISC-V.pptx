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73" r:id="rId4"/>
    <p:sldId id="272" r:id="rId5"/>
    <p:sldId id="275" r:id="rId6"/>
    <p:sldId id="27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>
        <p:scale>
          <a:sx n="125" d="100"/>
          <a:sy n="125" d="100"/>
        </p:scale>
        <p:origin x="2040" y="3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547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1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32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5500-4EA9-46E7-A01C-1619D8BA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34D1E5-440C-4B86-4E3D-2EC29DB37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FDE4C8-41FA-5DCD-1151-BB322CBF9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F73E0-B7FB-C037-6815-C7684A4D3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903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FD4E2-76EB-A674-C0F3-B1F09E3B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FD10FF-B425-65A9-1224-47F051D5A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1A280-6BBF-24E0-9CC0-CF7A56213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BB0CF-FC28-08DF-7B16-4A1DCD6E8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49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RISC-V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0280" y="1666695"/>
            <a:ext cx="2034176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10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D665-6B2F-B3A4-A337-425F0157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233C4-4710-B774-172D-9DE0EFBE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90E58C-343C-238A-7478-005328B2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FF4E8-D12F-687F-5ECC-291BA9ED1B2B}"/>
              </a:ext>
            </a:extLst>
          </p:cNvPr>
          <p:cNvSpPr txBox="1"/>
          <p:nvPr/>
        </p:nvSpPr>
        <p:spPr>
          <a:xfrm>
            <a:off x="805218" y="1394954"/>
            <a:ext cx="952613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4B7C7D-B6DE-AF2E-007F-0DB4BBE2AA89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950987-B577-8A49-E176-15F1519C7AF5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0409A0-24E1-6AD3-7554-0892CA8F05E7}"/>
              </a:ext>
            </a:extLst>
          </p:cNvPr>
          <p:cNvSpPr/>
          <p:nvPr/>
        </p:nvSpPr>
        <p:spPr>
          <a:xfrm>
            <a:off x="8796370" y="3293986"/>
            <a:ext cx="2200978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W8A8, W1A8, W1A1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Quantization</a:t>
            </a:r>
            <a:r>
              <a:rPr lang="ko-KR" altLang="en-US" sz="16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600" dirty="0">
                <a:solidFill>
                  <a:schemeClr val="tx1"/>
                </a:solidFill>
              </a:rPr>
              <a:t>RISC-V</a:t>
            </a:r>
            <a:r>
              <a:rPr lang="ko-KR" altLang="en-US" sz="1600" dirty="0">
                <a:solidFill>
                  <a:schemeClr val="tx1"/>
                </a:solidFill>
              </a:rPr>
              <a:t>에 구현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92879-2FE7-3322-A17D-46959E33A0F6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122AA-F13B-4B9E-42F4-021CFDE4DD55}"/>
              </a:ext>
            </a:extLst>
          </p:cNvPr>
          <p:cNvSpPr txBox="1"/>
          <p:nvPr/>
        </p:nvSpPr>
        <p:spPr>
          <a:xfrm>
            <a:off x="4043193" y="4986372"/>
            <a:ext cx="47531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38AE43F-69CD-A281-6A2F-CDF67FA95823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5536C79-B09A-DF1D-EC88-BA7ED46E0065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44ED2F-4AC8-99E6-FD9E-92E8F1F55045}"/>
              </a:ext>
            </a:extLst>
          </p:cNvPr>
          <p:cNvSpPr/>
          <p:nvPr/>
        </p:nvSpPr>
        <p:spPr>
          <a:xfrm>
            <a:off x="3990329" y="5005052"/>
            <a:ext cx="4569862" cy="4725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2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6124-3B6E-9247-CA5A-DB32042C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E9CF2-DDE9-8990-C1C4-E20AE37E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Training </a:t>
            </a:r>
            <a:r>
              <a:rPr lang="ko-KR" altLang="en-US" dirty="0"/>
              <a:t>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274406-6D39-CF76-3C31-5E6692F8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89789-8536-E503-4870-450DA6FBC2F8}"/>
              </a:ext>
            </a:extLst>
          </p:cNvPr>
          <p:cNvSpPr txBox="1"/>
          <p:nvPr/>
        </p:nvSpPr>
        <p:spPr>
          <a:xfrm>
            <a:off x="1323054" y="1873175"/>
            <a:ext cx="917144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XNOR-Net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Accuracy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Reference Accuracy : 86.28%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sz="2000" b="1" dirty="0" err="1"/>
              <a:t>ReActNet</a:t>
            </a:r>
            <a:endParaRPr lang="en-US" altLang="ko-K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Accuracy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78%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Reference Accuracy : 92.08%</a:t>
            </a:r>
          </a:p>
          <a:p>
            <a:endParaRPr lang="en-US" altLang="ko-KR" dirty="0"/>
          </a:p>
          <a:p>
            <a:r>
              <a:rPr lang="ko-KR" altLang="en-US" b="1" dirty="0"/>
              <a:t>기존 구현과의 차이점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Brevitas</a:t>
            </a:r>
            <a:r>
              <a:rPr lang="ko-KR" altLang="en-US" dirty="0"/>
              <a:t>로 구현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학습 방법의 차이</a:t>
            </a:r>
            <a:r>
              <a:rPr lang="en-US" altLang="ko-KR" dirty="0"/>
              <a:t>(step-by-step vs Full-Binary)</a:t>
            </a:r>
          </a:p>
        </p:txBody>
      </p:sp>
    </p:spTree>
    <p:extLst>
      <p:ext uri="{BB962C8B-B14F-4D97-AF65-F5344CB8AC3E}">
        <p14:creationId xmlns:p14="http://schemas.microsoft.com/office/powerpoint/2010/main" val="219920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1BFD-6794-68F7-E2A4-3C30510D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B4360-A41D-D009-6A12-00E4C099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r>
              <a:rPr lang="en-US" altLang="ko-KR" dirty="0"/>
              <a:t>(</a:t>
            </a:r>
            <a:r>
              <a:rPr lang="ko-KR" altLang="en-US" dirty="0"/>
              <a:t>수정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7840A-A58D-2C26-E961-A96C9478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1DFB-8A91-9FBA-1888-6F1313E74A09}"/>
              </a:ext>
            </a:extLst>
          </p:cNvPr>
          <p:cNvSpPr txBox="1"/>
          <p:nvPr/>
        </p:nvSpPr>
        <p:spPr>
          <a:xfrm>
            <a:off x="805219" y="1394954"/>
            <a:ext cx="11285964" cy="1702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에서 동작하도록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LUT(Lookup Table)</a:t>
            </a:r>
            <a:r>
              <a:rPr lang="ko-KR" altLang="en-US" dirty="0">
                <a:solidFill>
                  <a:srgbClr val="FF0000"/>
                </a:solidFill>
              </a:rPr>
              <a:t> 없이 동작하는 </a:t>
            </a:r>
            <a:r>
              <a:rPr lang="en-US" altLang="ko-KR" dirty="0">
                <a:solidFill>
                  <a:srgbClr val="FF0000"/>
                </a:solidFill>
              </a:rPr>
              <a:t>bit-wise </a:t>
            </a:r>
            <a:r>
              <a:rPr lang="ko-KR" altLang="en-US" dirty="0">
                <a:solidFill>
                  <a:srgbClr val="FF0000"/>
                </a:solidFill>
              </a:rPr>
              <a:t>기반 </a:t>
            </a:r>
            <a:r>
              <a:rPr lang="en-US" altLang="ko-KR" dirty="0">
                <a:solidFill>
                  <a:srgbClr val="FF0000"/>
                </a:solidFill>
              </a:rPr>
              <a:t>Logic-Gate Network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en-US" altLang="ko-KR" dirty="0">
                <a:solidFill>
                  <a:srgbClr val="FF0000"/>
                </a:solidFill>
              </a:rPr>
              <a:t>RISC-V</a:t>
            </a:r>
            <a:r>
              <a:rPr lang="ko-KR" altLang="en-US" dirty="0">
                <a:solidFill>
                  <a:srgbClr val="FF0000"/>
                </a:solidFill>
              </a:rPr>
              <a:t>에서 동작하도록 구현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추가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413C9E-1B66-17F4-224F-27DF9F75F34D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985DDA-C30E-0D10-16C0-BC2D7422377E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AF34C-80EC-6259-37CD-4963A3EEAC34}"/>
              </a:ext>
            </a:extLst>
          </p:cNvPr>
          <p:cNvSpPr/>
          <p:nvPr/>
        </p:nvSpPr>
        <p:spPr>
          <a:xfrm>
            <a:off x="8796370" y="3293985"/>
            <a:ext cx="3218412" cy="6871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W8A8, W1A8, W1A1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Quantization</a:t>
            </a:r>
            <a:r>
              <a:rPr lang="ko-KR" altLang="en-US" sz="14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400" dirty="0">
                <a:solidFill>
                  <a:schemeClr val="tx1"/>
                </a:solidFill>
              </a:rPr>
              <a:t>RISC-V</a:t>
            </a:r>
            <a:r>
              <a:rPr lang="ko-KR" altLang="en-US" sz="1400" dirty="0">
                <a:solidFill>
                  <a:schemeClr val="tx1"/>
                </a:solidFill>
              </a:rPr>
              <a:t>에 구현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6D16E-8227-1483-9939-D25F7DA87D7F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EE5F4-52E4-E3AD-4062-E3749F93E3FD}"/>
              </a:ext>
            </a:extLst>
          </p:cNvPr>
          <p:cNvSpPr txBox="1"/>
          <p:nvPr/>
        </p:nvSpPr>
        <p:spPr>
          <a:xfrm>
            <a:off x="4043194" y="4986372"/>
            <a:ext cx="46014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573986B-C7CC-DBCB-85C3-FE9FF5A45E68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934A7D4-1260-12B5-77C3-B5875808C2A2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7222D4-FB37-BF83-E834-AA75F973C731}"/>
              </a:ext>
            </a:extLst>
          </p:cNvPr>
          <p:cNvSpPr/>
          <p:nvPr/>
        </p:nvSpPr>
        <p:spPr>
          <a:xfrm>
            <a:off x="8796370" y="4221489"/>
            <a:ext cx="3218412" cy="6871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Bit-wise </a:t>
            </a:r>
            <a:r>
              <a:rPr lang="ko-KR" altLang="en-US" sz="1400" dirty="0">
                <a:solidFill>
                  <a:schemeClr val="tx1"/>
                </a:solidFill>
              </a:rPr>
              <a:t>연산 기반 </a:t>
            </a:r>
            <a:r>
              <a:rPr lang="en-US" altLang="ko-KR" sz="1400" dirty="0">
                <a:solidFill>
                  <a:schemeClr val="tx1"/>
                </a:solidFill>
              </a:rPr>
              <a:t>Logic Gate Network </a:t>
            </a:r>
            <a:r>
              <a:rPr lang="ko-KR" altLang="en-US" sz="1400" dirty="0">
                <a:solidFill>
                  <a:schemeClr val="tx1"/>
                </a:solidFill>
              </a:rPr>
              <a:t>구현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Pytorch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DDE58D-73A3-D47A-ABD8-27E309BCC4DD}"/>
              </a:ext>
            </a:extLst>
          </p:cNvPr>
          <p:cNvSpPr txBox="1"/>
          <p:nvPr/>
        </p:nvSpPr>
        <p:spPr>
          <a:xfrm>
            <a:off x="8812120" y="4985992"/>
            <a:ext cx="31032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8-bit / 1-bit</a:t>
            </a:r>
            <a:r>
              <a:rPr lang="ko-KR" altLang="en-US" sz="1400" dirty="0"/>
              <a:t> </a:t>
            </a:r>
            <a:r>
              <a:rPr lang="en-US" altLang="ko-KR" sz="1400" dirty="0"/>
              <a:t>C</a:t>
            </a:r>
            <a:r>
              <a:rPr lang="ko-KR" altLang="en-US" sz="1400" dirty="0"/>
              <a:t>코드 분석 및 세팅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DWN</a:t>
            </a:r>
            <a:r>
              <a:rPr lang="ko-KR" altLang="en-US" sz="1400" dirty="0"/>
              <a:t>을 </a:t>
            </a:r>
            <a:r>
              <a:rPr lang="en-US" altLang="ko-KR" sz="1400" dirty="0"/>
              <a:t>RISC-V</a:t>
            </a:r>
            <a:r>
              <a:rPr lang="ko-KR" altLang="en-US" sz="1400" dirty="0"/>
              <a:t>용 </a:t>
            </a:r>
            <a:r>
              <a:rPr lang="en-US" altLang="ko-KR" sz="1400" dirty="0"/>
              <a:t>C</a:t>
            </a:r>
            <a:r>
              <a:rPr lang="ko-KR" altLang="en-US" sz="1400" dirty="0"/>
              <a:t>코드 생성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Bit-Wise </a:t>
            </a:r>
            <a:r>
              <a:rPr lang="ko-KR" altLang="en-US" sz="1400" dirty="0"/>
              <a:t>연산 기반 </a:t>
            </a:r>
            <a:r>
              <a:rPr lang="en-US" altLang="ko-KR" sz="1400" dirty="0"/>
              <a:t>DWN </a:t>
            </a:r>
            <a:r>
              <a:rPr lang="ko-KR" altLang="en-US" sz="1400" dirty="0"/>
              <a:t>구현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3286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FB75-FF9A-FBBD-20E2-1CECD0F6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7FF54-D86B-89A6-94DE-93B7F95B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Logic-Gate Neural Networks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69696-80D6-901B-05E2-2095F353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1EA49-37F8-1C99-8126-6B59E41B41D9}"/>
              </a:ext>
            </a:extLst>
          </p:cNvPr>
          <p:cNvSpPr txBox="1"/>
          <p:nvPr/>
        </p:nvSpPr>
        <p:spPr>
          <a:xfrm>
            <a:off x="688345" y="1461460"/>
            <a:ext cx="616965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Logic-Gate Neural Networks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가중합</a:t>
            </a:r>
            <a:r>
              <a:rPr lang="en-US" altLang="ko-KR" dirty="0"/>
              <a:t>+</a:t>
            </a:r>
            <a:r>
              <a:rPr lang="ko-KR" altLang="en-US" dirty="0"/>
              <a:t>활성화 대신 </a:t>
            </a:r>
            <a:r>
              <a:rPr lang="en-US" altLang="ko-KR" b="1" dirty="0"/>
              <a:t>k-</a:t>
            </a:r>
            <a:r>
              <a:rPr lang="ko-KR" altLang="en-US" b="1" dirty="0"/>
              <a:t>비트 </a:t>
            </a:r>
            <a:r>
              <a:rPr lang="en-US" altLang="ko-KR" b="1" dirty="0"/>
              <a:t>LUT(lookup table)</a:t>
            </a:r>
            <a:r>
              <a:rPr lang="ko-KR" altLang="en-US" dirty="0"/>
              <a:t> 로 계산하는 신경망</a:t>
            </a:r>
            <a:r>
              <a:rPr lang="en-US" altLang="ko-KR" dirty="0"/>
              <a:t> (</a:t>
            </a:r>
            <a:r>
              <a:rPr lang="ko-KR" altLang="en-US" dirty="0"/>
              <a:t>노드 출력 </a:t>
            </a:r>
            <a:r>
              <a:rPr lang="en-US" altLang="ko-KR" dirty="0"/>
              <a:t>= table[</a:t>
            </a:r>
            <a:r>
              <a:rPr lang="en-US" altLang="ko-KR" dirty="0" err="1"/>
              <a:t>i</a:t>
            </a:r>
            <a:r>
              <a:rPr lang="en-US" altLang="ko-KR" dirty="0"/>
              <a:t>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추론 과정 </a:t>
            </a:r>
            <a:r>
              <a:rPr lang="en-US" altLang="ko-KR" dirty="0"/>
              <a:t>: </a:t>
            </a:r>
            <a:r>
              <a:rPr lang="ko-KR" altLang="en-US" dirty="0"/>
              <a:t>실수 입력 → </a:t>
            </a:r>
            <a:r>
              <a:rPr lang="ko-KR" altLang="en-US" dirty="0" err="1"/>
              <a:t>임계값</a:t>
            </a:r>
            <a:r>
              <a:rPr lang="ko-KR" altLang="en-US" dirty="0"/>
              <a:t> 비교</a:t>
            </a:r>
            <a:r>
              <a:rPr lang="en-US" altLang="ko-KR" dirty="0"/>
              <a:t>(thermometer)</a:t>
            </a:r>
            <a:r>
              <a:rPr lang="ko-KR" altLang="en-US" dirty="0"/>
              <a:t> → 이진 비트 → 주소 패킹</a:t>
            </a:r>
            <a:r>
              <a:rPr lang="en-US" altLang="ko-KR" dirty="0"/>
              <a:t>(k</a:t>
            </a:r>
            <a:r>
              <a:rPr lang="ko-KR" altLang="en-US" dirty="0"/>
              <a:t>비트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LUT </a:t>
            </a:r>
            <a:r>
              <a:rPr lang="ko-KR" altLang="en-US" dirty="0"/>
              <a:t>조회 → 다음 </a:t>
            </a:r>
            <a:r>
              <a:rPr lang="en-US" altLang="ko-KR" dirty="0"/>
              <a:t>Layer</a:t>
            </a:r>
            <a:r>
              <a:rPr lang="ko-KR" altLang="en-US" dirty="0"/>
              <a:t> 진행</a:t>
            </a:r>
            <a:r>
              <a:rPr lang="en-US" altLang="ko-KR" dirty="0"/>
              <a:t> → </a:t>
            </a:r>
            <a:r>
              <a:rPr lang="ko-KR" altLang="en-US" dirty="0"/>
              <a:t>마지막에 클래스별 합산</a:t>
            </a:r>
            <a:r>
              <a:rPr lang="en-US" altLang="ko-KR" dirty="0"/>
              <a:t>(</a:t>
            </a:r>
            <a:r>
              <a:rPr lang="en-US" altLang="ko-KR" dirty="0" err="1"/>
              <a:t>popcount</a:t>
            </a:r>
            <a:r>
              <a:rPr lang="en-US" altLang="ko-KR" dirty="0"/>
              <a:t>/</a:t>
            </a:r>
            <a:r>
              <a:rPr lang="ko-KR" altLang="en-US" dirty="0"/>
              <a:t>합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특징</a:t>
            </a:r>
            <a:r>
              <a:rPr lang="en-US" altLang="ko-K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MAC </a:t>
            </a:r>
            <a:r>
              <a:rPr lang="ko-KR" altLang="en-US" dirty="0"/>
              <a:t>없음</a:t>
            </a:r>
            <a:r>
              <a:rPr lang="en-US" altLang="ko-KR" dirty="0"/>
              <a:t>(</a:t>
            </a:r>
            <a:r>
              <a:rPr lang="ko-KR" altLang="en-US" dirty="0"/>
              <a:t>곱셈</a:t>
            </a:r>
            <a:r>
              <a:rPr lang="en-US" altLang="ko-KR" dirty="0"/>
              <a:t>·</a:t>
            </a:r>
            <a:r>
              <a:rPr lang="ko-KR" altLang="en-US" dirty="0" err="1"/>
              <a:t>누산</a:t>
            </a:r>
            <a:r>
              <a:rPr lang="ko-KR" altLang="en-US" dirty="0"/>
              <a:t> 제거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메모리 조회</a:t>
            </a:r>
            <a:r>
              <a:rPr lang="en-US" altLang="ko-KR" dirty="0"/>
              <a:t>+</a:t>
            </a:r>
            <a:r>
              <a:rPr lang="ko-KR" altLang="en-US" dirty="0"/>
              <a:t>비트연산만 → 지연↓ 전력↓ 면적↓</a:t>
            </a:r>
            <a:endParaRPr lang="en-US" altLang="ko-KR" dirty="0"/>
          </a:p>
        </p:txBody>
      </p:sp>
      <p:pic>
        <p:nvPicPr>
          <p:cNvPr id="6" name="그림 5" descr="텍스트, 도표, 지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9E282A-AE95-3213-5599-6C752FB18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685" y="1144613"/>
            <a:ext cx="4391618" cy="493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4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3161-891E-ACEA-DFA8-3AB35898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4541F-DB46-6F41-C3F2-4C214BD7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D53EEC-77F2-085C-DF65-AA7880E9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B81F2-B6D9-6B60-1A38-38046B22DC47}"/>
              </a:ext>
            </a:extLst>
          </p:cNvPr>
          <p:cNvSpPr txBox="1"/>
          <p:nvPr/>
        </p:nvSpPr>
        <p:spPr>
          <a:xfrm>
            <a:off x="688345" y="1461460"/>
            <a:ext cx="102972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Differentiable </a:t>
            </a:r>
            <a:r>
              <a:rPr lang="en-US" altLang="ko-KR" dirty="0" err="1"/>
              <a:t>Weigthless</a:t>
            </a:r>
            <a:r>
              <a:rPr lang="en-US" altLang="ko-KR" dirty="0"/>
              <a:t> Neural Networks(DWN) </a:t>
            </a:r>
            <a:r>
              <a:rPr lang="ko-KR" altLang="en-US" dirty="0"/>
              <a:t>논문 리뷰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 err="1"/>
              <a:t>Pytorch</a:t>
            </a:r>
            <a:r>
              <a:rPr lang="en-US" altLang="ko-KR" dirty="0"/>
              <a:t> </a:t>
            </a:r>
            <a:r>
              <a:rPr lang="ko-KR" altLang="en-US" dirty="0"/>
              <a:t>코드 분석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RISC-V</a:t>
            </a:r>
            <a:r>
              <a:rPr lang="ko-KR" altLang="en-US" dirty="0"/>
              <a:t>에서 동작 가능한 </a:t>
            </a:r>
            <a:r>
              <a:rPr lang="en-US" altLang="ko-KR" dirty="0"/>
              <a:t>DWN Inference C</a:t>
            </a:r>
            <a:r>
              <a:rPr lang="ko-KR" altLang="en-US" dirty="0"/>
              <a:t>코드 생성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</a:t>
            </a:r>
            <a:r>
              <a:rPr lang="ko-KR" altLang="en-US" dirty="0"/>
              <a:t>코드 생성을 위한 </a:t>
            </a:r>
            <a:r>
              <a:rPr lang="en-US" altLang="ko-KR" dirty="0"/>
              <a:t>BNN </a:t>
            </a:r>
            <a:r>
              <a:rPr lang="ko-KR" altLang="en-US" dirty="0"/>
              <a:t>파라미터 추출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RISC-V</a:t>
            </a:r>
            <a:r>
              <a:rPr lang="ko-KR" altLang="en-US" dirty="0"/>
              <a:t>에서 동작 가능한 </a:t>
            </a:r>
            <a:r>
              <a:rPr lang="en-US" altLang="ko-KR" dirty="0"/>
              <a:t>BNN Inference C</a:t>
            </a:r>
            <a:r>
              <a:rPr lang="ko-KR" altLang="en-US" dirty="0"/>
              <a:t>코드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116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10546</TotalTime>
  <Words>448</Words>
  <Application>Microsoft Office PowerPoint</Application>
  <PresentationFormat>와이드스크린</PresentationFormat>
  <Paragraphs>77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RISC-V</vt:lpstr>
      <vt:lpstr>목표 및 진행사항(기존)</vt:lpstr>
      <vt:lpstr>Training 결과</vt:lpstr>
      <vt:lpstr>목표 및 진행사항(수정)</vt:lpstr>
      <vt:lpstr>Logic-Gate Neural Networks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1333</cp:revision>
  <dcterms:created xsi:type="dcterms:W3CDTF">2023-03-06T16:32:37Z</dcterms:created>
  <dcterms:modified xsi:type="dcterms:W3CDTF">2025-10-27T13:49:17Z</dcterms:modified>
</cp:coreProperties>
</file>