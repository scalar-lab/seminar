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90" r:id="rId3"/>
    <p:sldId id="296" r:id="rId4"/>
    <p:sldId id="295" r:id="rId5"/>
    <p:sldId id="298" r:id="rId6"/>
    <p:sldId id="300" r:id="rId7"/>
    <p:sldId id="29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161-B7A1-6698-6470-73F057F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6CD3F6-7C1C-FE1C-AC6A-8F07F665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EC3FF-D4FB-DA7C-5679-760737FF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 err="1"/>
              <a:t>zkp</a:t>
            </a:r>
            <a:r>
              <a:rPr lang="en-US" altLang="ko-KR" dirty="0"/>
              <a:t> </a:t>
            </a:r>
            <a:r>
              <a:rPr lang="ko-KR" altLang="en-US" dirty="0"/>
              <a:t>회로에 특화된 이유 </a:t>
            </a:r>
            <a:r>
              <a:rPr lang="en-US" altLang="ko-KR" dirty="0"/>
              <a:t>= SHA2</a:t>
            </a:r>
            <a:r>
              <a:rPr lang="ko-KR" altLang="en-US" dirty="0"/>
              <a:t>는 비트 연산이 많아서 산술 회로로 변경하면 곱셈 비용이 많이 발생하지만 </a:t>
            </a:r>
            <a:r>
              <a:rPr lang="en-US" altLang="ko-KR" dirty="0"/>
              <a:t>Poseidon</a:t>
            </a:r>
            <a:r>
              <a:rPr lang="ko-KR" altLang="en-US" dirty="0"/>
              <a:t>은 곱셈 횟수를 최소화 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FD56B-9997-21C5-0E7E-938F4DBD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3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245-0D70-4560-A028-78BC7FE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6B7C-C01A-247A-D470-79EAAC2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A6E7F-E7B3-8574-A91C-3BA503DC4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75122-17D7-5345-4438-64D1247F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18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A8B6-2C3A-5D27-288F-2F6691C3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9DD1E-3F8B-D3A6-69FA-4730F2559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10D6AB-ED24-3CB3-E31D-23B03611C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14C25B-3CA4-EB4A-602A-9DE68A273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438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00BB-6D37-1763-46A5-025825CC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10F4A7-CD75-BB06-6812-ED9B3E09F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A77991-C7EF-5228-9CE2-CAF33268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55F11-00F2-33AE-D5DB-0D846C993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404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해시함수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ZK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회로 비용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10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zk</a:t>
            </a:r>
            <a:r>
              <a:rPr lang="en-US" altLang="ko-KR" dirty="0"/>
              <a:t>-SNARK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/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zk-SNAKR(zero-knowledge succinct non-interactive argument of knowledge)</a:t>
                </a:r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ZKProof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체계 중 하나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생성된 증명의 크기와 확인하는데 필요한 시간을 수백 바이트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밀리초</a:t>
                </a:r>
                <a:r>
                  <a:rPr lang="ko-KR" altLang="en-US" sz="1600" dirty="0"/>
                  <a:t> 범위내로 한정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ZKP </a:t>
                </a:r>
                <a:r>
                  <a:rPr lang="ko-KR" altLang="en-US" sz="1600" dirty="0"/>
                  <a:t>확인을 위해 사용하기 쉬움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검증 시간이 증명해야 할 </a:t>
                </a:r>
                <a:r>
                  <a:rPr lang="ko-KR" altLang="en-US" sz="1600" dirty="0" err="1"/>
                  <a:t>연산량과</a:t>
                </a:r>
                <a:r>
                  <a:rPr lang="ko-KR" altLang="en-US" sz="1600" dirty="0"/>
                  <a:t> 무관하게 거의 일정</a:t>
                </a:r>
                <a:r>
                  <a:rPr lang="en-US" altLang="ko-KR" sz="1600" dirty="0"/>
                  <a:t>(Constant time)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</a:t>
                </a:r>
                <a:r>
                  <a:rPr lang="ko-KR" altLang="en-US" sz="1600" dirty="0"/>
                  <a:t>도 여러 체계로 나뉨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ko-KR" altLang="en-US" sz="1600" b="1" dirty="0"/>
                  <a:t>기본 </a:t>
                </a:r>
                <a:r>
                  <a:rPr lang="en-US" altLang="ko-KR" sz="1600" b="1" dirty="0" err="1"/>
                  <a:t>zk</a:t>
                </a:r>
                <a:r>
                  <a:rPr lang="en-US" altLang="ko-KR" sz="1600" b="1" dirty="0"/>
                  <a:t>-SNAKR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근이 있는 다항식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알고 있음을 증명하는 것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방법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비밀 다항식에 근을 대입했을 때 값이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이 됨을 증명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blipFill>
                <a:blip r:embed="rId3"/>
                <a:stretch>
                  <a:fillRect l="-504" t="-8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44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06F2-69DA-3EF4-EA51-E35423F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43067-AC14-1FBD-4DFE-6F2F5D1D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산술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BE4E7-CE3C-3864-00AF-EBE490C6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/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산술회로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 등을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사용할 때에는 프로그램을 산술 회로로 변환하는 과정이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방정식에서 얻은 입력과 출력을 채우면 등식이 정확하게 </a:t>
                </a:r>
                <a:r>
                  <a:rPr lang="ko-KR" altLang="en-US" sz="1600" dirty="0" err="1"/>
                  <a:t>성립해야함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성립하지 않을 경우 유효한 실행이 아닌 것으로 간주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산술 회로는 </a:t>
                </a:r>
                <a:r>
                  <a:rPr lang="en-US" altLang="ko-KR" sz="1600" dirty="0"/>
                  <a:t>R1CS(rank-1 constraint system)</a:t>
                </a:r>
                <a:r>
                  <a:rPr lang="ko-KR" altLang="en-US" sz="1600" dirty="0"/>
                  <a:t>로 구성됨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덧셈과 상수 곱셈은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가깝지만 변수 간의 곱셈은 비용이 비쌈</a:t>
                </a:r>
                <a:r>
                  <a:rPr lang="en-US" altLang="ko-KR" sz="1600" dirty="0"/>
                  <a:t>(1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b="1" dirty="0"/>
                  <a:t>R1CS(rank-1 constraint system)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dirty="0"/>
                  <a:t>형식의 일련의 방정식 </a:t>
                </a:r>
                <a:r>
                  <a:rPr lang="en-US" altLang="ko-KR" sz="1600" dirty="0"/>
                  <a:t>(L, R, O</a:t>
                </a:r>
                <a:r>
                  <a:rPr lang="ko-KR" altLang="en-US" sz="1600" dirty="0"/>
                  <a:t>는 특정 변수 덧셈의 결과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L, R </a:t>
                </a:r>
                <a:r>
                  <a:rPr lang="ko-KR" altLang="en-US" sz="1600" dirty="0"/>
                  <a:t>사이에만 존재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+3)=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dirty="0"/>
                  <a:t>, w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600" dirty="0"/>
                  <a:t> (w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또는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이라는 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프로그램 실행의 입력 및 출력과 일치한고 주장하는 일련의 값을 검증자에게 제공 → 검증자는 해당 값으로 등식이 성립하는지 확인할 수 </a:t>
                </a:r>
                <a:r>
                  <a:rPr lang="ko-KR" altLang="en-US" sz="1600" dirty="0" err="1"/>
                  <a:t>있어야함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blipFill>
                <a:blip r:embed="rId3"/>
                <a:stretch>
                  <a:fillRect l="-504" t="-661" b="-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6CCA-961E-F34B-91D4-9EBB6D380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00" y="3042016"/>
            <a:ext cx="1976512" cy="13262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967EB6-17B8-09FD-6296-1A3F53D1A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069" y="3347017"/>
            <a:ext cx="4826038" cy="419655"/>
          </a:xfrm>
          <a:prstGeom prst="rect">
            <a:avLst/>
          </a:prstGeom>
        </p:spPr>
      </p:pic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10892C17-E955-7E24-BB84-E3EA2847C279}"/>
              </a:ext>
            </a:extLst>
          </p:cNvPr>
          <p:cNvSpPr/>
          <p:nvPr/>
        </p:nvSpPr>
        <p:spPr>
          <a:xfrm>
            <a:off x="4065514" y="3419963"/>
            <a:ext cx="1136124" cy="318249"/>
          </a:xfrm>
          <a:prstGeom prst="leftRightArrow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56F57-5E9F-6C1F-A658-D413B56FD599}"/>
              </a:ext>
            </a:extLst>
          </p:cNvPr>
          <p:cNvSpPr txBox="1"/>
          <p:nvPr/>
        </p:nvSpPr>
        <p:spPr>
          <a:xfrm>
            <a:off x="3937475" y="4306355"/>
            <a:ext cx="1717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제약 조건 변환 예시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9371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CEBA-84FA-02A6-5372-651D11C4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EBCDD-0BA8-D415-1BE2-20838ABB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BB8A-DF79-5524-1922-9086A0CB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-SNARK(R1CS) </a:t>
                </a:r>
                <a:r>
                  <a:rPr lang="ko-KR" altLang="en-US" sz="1600" dirty="0"/>
                  <a:t>환경에서의 비용 </a:t>
                </a:r>
                <a:r>
                  <a:rPr lang="en-US" altLang="ko-KR" sz="1600" dirty="0"/>
                  <a:t>= </a:t>
                </a:r>
                <a:r>
                  <a:rPr lang="ko-KR" altLang="en-US" sz="1600" dirty="0"/>
                  <a:t>제약 조건의 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비용은 주로 </a:t>
                </a: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 연산에서 발생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MDS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cost</a:t>
                </a:r>
                <a:r>
                  <a:rPr lang="ko-KR" altLang="en-US" sz="1600" dirty="0"/>
                  <a:t> 거의 </a:t>
                </a:r>
                <a:r>
                  <a:rPr lang="en-US" altLang="ko-KR" sz="1600" dirty="0"/>
                  <a:t>X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총 개수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당 비용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 계산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는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600" dirty="0"/>
                  <a:t>연산을 사용</a:t>
                </a:r>
                <a:r>
                  <a:rPr lang="en-US" altLang="ko-KR" sz="1600" dirty="0"/>
                  <a:t>, Full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8, Partial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57, </a:t>
                </a: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개수는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개라고 가정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제약 조건 수 </a:t>
                </a:r>
                <a:r>
                  <a:rPr lang="en-US" altLang="ko-KR" sz="1600" dirty="0"/>
                  <a:t>= 3 (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수 </a:t>
                </a:r>
                <a:r>
                  <a:rPr lang="en-US" altLang="ko-KR" sz="1600" dirty="0"/>
                  <a:t>= 81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:r>
                  <a:rPr lang="en-US" altLang="ko-KR" sz="1600" dirty="0"/>
                  <a:t>= 243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blipFill>
                <a:blip r:embed="rId3"/>
                <a:stretch>
                  <a:fillRect l="-471" t="-846" b="-13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07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D108-ADEA-EB49-0D44-252A18B2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7091F-CE4C-E4A7-C085-62F795A2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97E1B-8DED-4B1C-5AFC-D485C379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SHA-256</a:t>
                </a:r>
                <a:r>
                  <a:rPr lang="ko-KR" altLang="en-US" sz="1600" dirty="0"/>
                  <a:t>은 비트 단위의 조작을 기반으로 설계됨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R1CS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 err="1"/>
                  <a:t>Fp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위에서 동작하기 때문에 번역 비용 발생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ko-KR" altLang="en-US" sz="1600" b="1" dirty="0"/>
                  <a:t>연산별 제약 조건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XOR</a:t>
                </a:r>
                <a:r>
                  <a:rPr lang="ko-KR" altLang="en-US" sz="1600" dirty="0"/>
                  <a:t> 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변환 하여 진행 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AND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 연산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회로 상에서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동작하기 위해 </a:t>
                </a:r>
                <a:r>
                  <a:rPr lang="en-US" altLang="ko-KR" sz="1600" dirty="0"/>
                  <a:t>mod </a:t>
                </a:r>
                <a:r>
                  <a:rPr lang="ko-KR" altLang="en-US" sz="1600" dirty="0"/>
                  <a:t>연산 진행 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→ 비트 분해 및 </a:t>
                </a:r>
                <a:r>
                  <a:rPr lang="en-US" altLang="ko-KR" sz="1600" dirty="0"/>
                  <a:t>carry </a:t>
                </a:r>
                <a:r>
                  <a:rPr lang="ko-KR" altLang="en-US" sz="1600" dirty="0"/>
                  <a:t>연산 필요 ⇒ </a:t>
                </a:r>
                <a:r>
                  <a:rPr lang="en-US" altLang="ko-KR" sz="1600" dirty="0"/>
                  <a:t>1~2</a:t>
                </a:r>
                <a:r>
                  <a:rPr lang="ko-KR" altLang="en-US" sz="1600" dirty="0"/>
                  <a:t>개 제약 조건</a:t>
                </a:r>
                <a:r>
                  <a:rPr lang="en-US" altLang="ko-KR" sz="1600" dirty="0"/>
                  <a:t>(1.5</a:t>
                </a:r>
                <a:r>
                  <a:rPr lang="ko-KR" altLang="en-US" sz="1600" dirty="0"/>
                  <a:t>로 계산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 계산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메시지 확장 </a:t>
                </a:r>
                <a:r>
                  <a:rPr lang="en-US" altLang="ko-KR" sz="1600" dirty="0"/>
                  <a:t>: 48</a:t>
                </a:r>
                <a:r>
                  <a:rPr lang="ko-KR" altLang="en-US" sz="1600" dirty="0"/>
                  <a:t>회의 라운드</a:t>
                </a:r>
                <a:r>
                  <a:rPr lang="en-US" altLang="ko-KR" sz="1600" dirty="0"/>
                  <a:t>, 150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7,200</a:t>
                </a:r>
                <a:r>
                  <a:rPr lang="ko-KR" altLang="en-US" sz="1600" dirty="0"/>
                  <a:t>개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Compression Function : 64</a:t>
                </a:r>
                <a:r>
                  <a:rPr lang="ko-KR" altLang="en-US" sz="1600" dirty="0"/>
                  <a:t>회 라운드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약 </a:t>
                </a:r>
                <a:r>
                  <a:rPr lang="en-US" altLang="ko-KR" sz="1600" dirty="0"/>
                  <a:t>360 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23,040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비용은 약 </a:t>
                </a:r>
                <a:r>
                  <a:rPr lang="en-US" altLang="ko-KR" sz="1600" dirty="0"/>
                  <a:t>30,240 </a:t>
                </a:r>
                <a:r>
                  <a:rPr lang="ko-KR" altLang="en-US" sz="1600" dirty="0"/>
                  <a:t>제약 조건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blipFill>
                <a:blip r:embed="rId3"/>
                <a:stretch>
                  <a:fillRect l="-441" t="-744" r="-662" b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14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B687-29D2-B2B1-2B6B-8A696246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E03B9-6E55-706D-BE9B-5E731776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SHA3-256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13D7C-A40E-1C15-4FCD-D0A3AA41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DDAD4-3259-A698-54D3-2BA3CB3C0C61}"/>
              </a:ext>
            </a:extLst>
          </p:cNvPr>
          <p:cNvSpPr txBox="1"/>
          <p:nvPr/>
        </p:nvSpPr>
        <p:spPr>
          <a:xfrm>
            <a:off x="1006789" y="1487467"/>
            <a:ext cx="110509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SHA3-256</a:t>
            </a:r>
            <a:r>
              <a:rPr lang="ko-KR" altLang="en-US" b="1" dirty="0"/>
              <a:t>의 회로 비용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</a:t>
            </a:r>
            <a:r>
              <a:rPr lang="en-US" altLang="ko-KR" sz="1600" dirty="0"/>
              <a:t>24</a:t>
            </a:r>
            <a:r>
              <a:rPr lang="ko-KR" altLang="en-US" sz="1600" dirty="0"/>
              <a:t>라운드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라운드마다 </a:t>
            </a:r>
            <a:r>
              <a:rPr lang="en-US" altLang="ko-KR" sz="1600" dirty="0"/>
              <a:t>5</a:t>
            </a:r>
            <a:r>
              <a:rPr lang="ko-KR" altLang="en-US" sz="1600" dirty="0"/>
              <a:t>단계로 나뉨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ko-KR" altLang="en-US" sz="1600" b="1" dirty="0"/>
              <a:t>단계별 제약 조건</a:t>
            </a:r>
            <a:endParaRPr lang="en-US" altLang="ko-KR" sz="1600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확산 단계 </a:t>
            </a:r>
            <a:r>
              <a:rPr lang="en-US" altLang="ko-KR" sz="1600" dirty="0"/>
              <a:t>: </a:t>
            </a:r>
            <a:r>
              <a:rPr lang="ko-KR" altLang="en-US" sz="1600" dirty="0"/>
              <a:t>비트당 약 </a:t>
            </a:r>
            <a:r>
              <a:rPr lang="en-US" altLang="ko-KR" sz="1600" dirty="0"/>
              <a:t>3</a:t>
            </a:r>
            <a:r>
              <a:rPr lang="ko-KR" altLang="en-US" sz="1600" dirty="0"/>
              <a:t>회의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</a:t>
            </a:r>
            <a:r>
              <a:rPr lang="en-US" altLang="ko-KR" sz="1600" dirty="0"/>
              <a:t>, 1600-bit</a:t>
            </a:r>
            <a:r>
              <a:rPr lang="ko-KR" altLang="en-US" sz="1600" dirty="0"/>
              <a:t>에 대해 수행 ⇒ </a:t>
            </a:r>
            <a:r>
              <a:rPr lang="en-US" altLang="ko-KR" sz="1600" dirty="0"/>
              <a:t>4800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위치 변경 단계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구성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Rotate </a:t>
            </a:r>
            <a:r>
              <a:rPr lang="ko-KR" altLang="en-US" sz="1600" dirty="0"/>
              <a:t>연산만 진행하기 때문에 비용이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비선형 단계 </a:t>
            </a:r>
            <a:r>
              <a:rPr lang="en-US" altLang="ko-KR" sz="1600" dirty="0"/>
              <a:t>: S-box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3200</a:t>
            </a:r>
            <a:r>
              <a:rPr lang="ko-KR" altLang="en-US" sz="1600" dirty="0"/>
              <a:t>개의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상수 덧셈 </a:t>
            </a:r>
            <a:r>
              <a:rPr lang="en-US" altLang="ko-KR" sz="1600" dirty="0"/>
              <a:t>: </a:t>
            </a:r>
            <a:r>
              <a:rPr lang="ko-KR" altLang="en-US" sz="1600" dirty="0"/>
              <a:t>일부 비트에 라운드 상수를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64 Constraints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b="1" dirty="0"/>
              <a:t>SHA3-256</a:t>
            </a:r>
            <a:r>
              <a:rPr lang="ko-KR" altLang="en-US" b="1" dirty="0"/>
              <a:t>의 회로 비용 계산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라운드 당 약 </a:t>
            </a:r>
            <a:r>
              <a:rPr lang="en-US" altLang="ko-KR" sz="1600" dirty="0"/>
              <a:t>8,064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비용은 약 </a:t>
            </a:r>
            <a:r>
              <a:rPr lang="en-US" altLang="ko-KR" sz="1600" dirty="0"/>
              <a:t>193,536 </a:t>
            </a:r>
            <a:r>
              <a:rPr lang="ko-KR" altLang="en-US" sz="1600" dirty="0"/>
              <a:t>제약 조건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8777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해시함수의 회로 비용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7576DE-14CF-9824-F81C-BD091EC3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635255"/>
              </p:ext>
            </p:extLst>
          </p:nvPr>
        </p:nvGraphicFramePr>
        <p:xfrm>
          <a:off x="1128759" y="2268005"/>
          <a:ext cx="6909925" cy="81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456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4049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193,536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5FFADB-7075-6D01-2CF4-3B6B65F1D4CB}"/>
              </a:ext>
            </a:extLst>
          </p:cNvPr>
          <p:cNvSpPr txBox="1"/>
          <p:nvPr/>
        </p:nvSpPr>
        <p:spPr>
          <a:xfrm>
            <a:off x="1006789" y="1487467"/>
            <a:ext cx="1105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SHA2-256 vs</a:t>
            </a:r>
            <a:r>
              <a:rPr lang="ko-KR" altLang="en-US" b="1" dirty="0"/>
              <a:t> </a:t>
            </a:r>
            <a:r>
              <a:rPr lang="en-US" altLang="ko-KR" b="1" dirty="0"/>
              <a:t>SHA3-256</a:t>
            </a:r>
            <a:r>
              <a:rPr lang="ko-KR" altLang="en-US" b="1" dirty="0"/>
              <a:t> </a:t>
            </a:r>
            <a:r>
              <a:rPr lang="en-US" altLang="ko-KR" b="1" dirty="0"/>
              <a:t>vs</a:t>
            </a:r>
            <a:r>
              <a:rPr lang="ko-KR" altLang="en-US" b="1" dirty="0"/>
              <a:t> </a:t>
            </a:r>
            <a:r>
              <a:rPr lang="en-US" altLang="ko-KR" b="1" dirty="0"/>
              <a:t>Poseidon</a:t>
            </a:r>
            <a:r>
              <a:rPr lang="ko-KR" altLang="en-US" b="1" dirty="0"/>
              <a:t> 의 회로 비용 비교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12488</TotalTime>
  <Words>640</Words>
  <Application>Microsoft Office PowerPoint</Application>
  <PresentationFormat>와이드스크린</PresentationFormat>
  <Paragraphs>112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해시함수 ZK 회로 비용 분석</vt:lpstr>
      <vt:lpstr>zk-SNARK</vt:lpstr>
      <vt:lpstr>산술 회로</vt:lpstr>
      <vt:lpstr>Poseidon의 회로 비용</vt:lpstr>
      <vt:lpstr>SHA2-256의 회로 비용</vt:lpstr>
      <vt:lpstr>SHA3-256의 회로 비용</vt:lpstr>
      <vt:lpstr>해시함수의 회로 비용 비교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1527</cp:revision>
  <dcterms:created xsi:type="dcterms:W3CDTF">2023-03-06T16:32:37Z</dcterms:created>
  <dcterms:modified xsi:type="dcterms:W3CDTF">2025-12-10T07:54:11Z</dcterms:modified>
</cp:coreProperties>
</file>