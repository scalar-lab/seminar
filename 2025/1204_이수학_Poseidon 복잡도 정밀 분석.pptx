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9"/>
  </p:notesMasterIdLst>
  <p:sldIdLst>
    <p:sldId id="256" r:id="rId2"/>
    <p:sldId id="290" r:id="rId3"/>
    <p:sldId id="296" r:id="rId4"/>
    <p:sldId id="295" r:id="rId5"/>
    <p:sldId id="298" r:id="rId6"/>
    <p:sldId id="300" r:id="rId7"/>
    <p:sldId id="297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0099"/>
    <a:srgbClr val="0066CC"/>
    <a:srgbClr val="CC99FF"/>
    <a:srgbClr val="2156A4"/>
    <a:srgbClr val="3366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85080" autoAdjust="0"/>
  </p:normalViewPr>
  <p:slideViewPr>
    <p:cSldViewPr snapToGrid="0">
      <p:cViewPr varScale="1">
        <p:scale>
          <a:sx n="136" d="100"/>
          <a:sy n="136" d="100"/>
        </p:scale>
        <p:origin x="1638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E87C4-1247-69B8-B25B-406B50B89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D8CFF5-15E0-6E61-E21E-8AFEF4B356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68C38D-F31C-B791-DE95-B34059693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3BAD1-C99F-D822-C353-1634C83E08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32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DC161-B7A1-6698-6470-73F057FA9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6CD3F6-7C1C-FE1C-AC6A-8F07F6659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1EC3FF-D4FB-DA7C-5679-760737FFF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Poseidon</a:t>
            </a:r>
            <a:r>
              <a:rPr lang="ko-KR" altLang="en-US" dirty="0"/>
              <a:t>의 </a:t>
            </a:r>
            <a:r>
              <a:rPr lang="en-US" altLang="ko-KR" dirty="0" err="1"/>
              <a:t>zkp</a:t>
            </a:r>
            <a:r>
              <a:rPr lang="en-US" altLang="ko-KR" dirty="0"/>
              <a:t> </a:t>
            </a:r>
            <a:r>
              <a:rPr lang="ko-KR" altLang="en-US" dirty="0"/>
              <a:t>회로에 특화된 이유 </a:t>
            </a:r>
            <a:r>
              <a:rPr lang="en-US" altLang="ko-KR" dirty="0"/>
              <a:t>= SHA2</a:t>
            </a:r>
            <a:r>
              <a:rPr lang="ko-KR" altLang="en-US" dirty="0"/>
              <a:t>는 비트 연산이 많아서 산술 회로로 변경하면 곱셈 비용이 많이 발생하지만 </a:t>
            </a:r>
            <a:r>
              <a:rPr lang="en-US" altLang="ko-KR" dirty="0"/>
              <a:t>Poseidon</a:t>
            </a:r>
            <a:r>
              <a:rPr lang="ko-KR" altLang="en-US" dirty="0"/>
              <a:t>은 곱셈 횟수를 최소화 했기 때문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DFD56B-9997-21C5-0E7E-938F4DBDC5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0382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BE245-0D70-4560-A028-78BC7FE36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FA86B7C-C01A-247A-D470-79EAAC2B6A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2A6E7F-E7B3-8574-A91C-3BA503DC46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C75122-17D7-5345-4438-64D1247FC1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3518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9A8B6-2C3A-5D27-288F-2F6691C3C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A9DD1E-3F8B-D3A6-69FA-4730F2559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10D6AB-ED24-3CB3-E31D-23B03611C4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14C25B-3CA4-EB4A-602A-9DE68A273A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94387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400BB-6D37-1763-46A5-025825CCA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10F4A7-CD75-BB06-6812-ED9B3E09FD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0A77991-C7EF-5228-9CE2-CAF3326876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D55F11-00F2-33AE-D5DB-0D846C993D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24045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5D3D0-FE31-077C-59B9-CBDEC597E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FD872C-C0A9-BFB5-65C0-FCBE782B3E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788384-DC60-9316-F200-CC00A31D8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84D277-44D3-A93F-E5F2-DA5FD35D58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9562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ko-KR" altLang="en-US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해시함수</a:t>
            </a:r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ZK </a:t>
            </a:r>
            <a:r>
              <a:rPr lang="ko-KR" altLang="en-US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회로 비용 분석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61452" y="1666695"/>
            <a:ext cx="2033004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2025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12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10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5BB03-C6B5-4A77-4BDD-F79F6341E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9C4D6B-F2EC-9B93-A1B0-5A509A619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zk</a:t>
            </a:r>
            <a:r>
              <a:rPr lang="en-US" altLang="ko-KR" dirty="0"/>
              <a:t>-SNARK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AB4B01-1C5F-54F8-5FED-4119A174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4CFD5C5-CF00-1D18-F24B-70DF4EBEE026}"/>
                  </a:ext>
                </a:extLst>
              </p:cNvPr>
              <p:cNvSpPr txBox="1"/>
              <p:nvPr/>
            </p:nvSpPr>
            <p:spPr>
              <a:xfrm>
                <a:off x="923161" y="1445265"/>
                <a:ext cx="9671539" cy="3574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zk-SNAKR(zero-knowledge succinct non-interactive argument of knowledge)</a:t>
                </a:r>
                <a:endParaRPr lang="en-US" altLang="ko-KR" sz="1600" b="1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 err="1"/>
                  <a:t>ZKProof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체계 중 하나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생성된 증명의 크기와 확인하는데 필요한 시간을 수백 바이트</a:t>
                </a:r>
                <a:r>
                  <a:rPr lang="en-US" altLang="ko-KR" sz="1600" dirty="0"/>
                  <a:t>, </a:t>
                </a:r>
                <a:r>
                  <a:rPr lang="ko-KR" altLang="en-US" sz="1600" dirty="0" err="1"/>
                  <a:t>밀리초</a:t>
                </a:r>
                <a:r>
                  <a:rPr lang="ko-KR" altLang="en-US" sz="1600" dirty="0"/>
                  <a:t> 범위내로 한정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ZKP </a:t>
                </a:r>
                <a:r>
                  <a:rPr lang="ko-KR" altLang="en-US" sz="1600" dirty="0"/>
                  <a:t>확인을 위해 사용하기 쉬움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검증 시간이 증명해야 할 </a:t>
                </a:r>
                <a:r>
                  <a:rPr lang="ko-KR" altLang="en-US" sz="1600" dirty="0" err="1"/>
                  <a:t>연산량과</a:t>
                </a:r>
                <a:r>
                  <a:rPr lang="ko-KR" altLang="en-US" sz="1600" dirty="0"/>
                  <a:t> 무관하게 거의 일정</a:t>
                </a:r>
                <a:r>
                  <a:rPr lang="en-US" altLang="ko-KR" sz="1600" dirty="0"/>
                  <a:t>(Constant time)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 err="1"/>
                  <a:t>zk</a:t>
                </a:r>
                <a:r>
                  <a:rPr lang="en-US" altLang="ko-KR" sz="1600" dirty="0"/>
                  <a:t>-SNARK</a:t>
                </a:r>
                <a:r>
                  <a:rPr lang="ko-KR" altLang="en-US" sz="1600" dirty="0"/>
                  <a:t>도 여러 체계로 나뉨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r>
                  <a:rPr lang="ko-KR" altLang="en-US" sz="1600" b="1" dirty="0"/>
                  <a:t>기본 </a:t>
                </a:r>
                <a:r>
                  <a:rPr lang="en-US" altLang="ko-KR" sz="1600" b="1" dirty="0" err="1"/>
                  <a:t>zk</a:t>
                </a:r>
                <a:r>
                  <a:rPr lang="en-US" altLang="ko-KR" sz="1600" b="1" dirty="0"/>
                  <a:t>-SNAKR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근이 있는 다항식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sz="1600" i="1">
                        <a:latin typeface="Cambria Math" panose="02040503050406030204" pitchFamily="18" charset="0"/>
                      </a:rPr>
                      <m:t>을</m:t>
                    </m:r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알고 있음을 증명하는 것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방법 </a:t>
                </a:r>
                <a:r>
                  <a:rPr lang="en-US" altLang="ko-KR" sz="1600" dirty="0"/>
                  <a:t>: </a:t>
                </a:r>
                <a:r>
                  <a:rPr lang="ko-KR" altLang="en-US" sz="1600" dirty="0"/>
                  <a:t>비밀 다항식에 근을 대입했을 때 값이 </a:t>
                </a:r>
                <a:r>
                  <a:rPr lang="en-US" altLang="ko-KR" sz="1600" dirty="0"/>
                  <a:t>0</a:t>
                </a:r>
                <a:r>
                  <a:rPr lang="ko-KR" altLang="en-US" sz="1600" dirty="0"/>
                  <a:t>이 됨을 증명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4CFD5C5-CF00-1D18-F24B-70DF4EBEE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161" y="1445265"/>
                <a:ext cx="9671539" cy="3574055"/>
              </a:xfrm>
              <a:prstGeom prst="rect">
                <a:avLst/>
              </a:prstGeom>
              <a:blipFill>
                <a:blip r:embed="rId3"/>
                <a:stretch>
                  <a:fillRect l="-504" t="-8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2449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B06F2-69DA-3EF4-EA51-E35423FA1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B43067-AC14-1FBD-4DFE-6F2F5D1D8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산술 회로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3BE4E7-CE3C-3864-00AF-EBE490C69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9E1DC2-300A-C6C5-A082-5178473C0D5E}"/>
                  </a:ext>
                </a:extLst>
              </p:cNvPr>
              <p:cNvSpPr txBox="1"/>
              <p:nvPr/>
            </p:nvSpPr>
            <p:spPr>
              <a:xfrm>
                <a:off x="909093" y="1016202"/>
                <a:ext cx="9671539" cy="5539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b="1" dirty="0"/>
                  <a:t>산술회로</a:t>
                </a:r>
                <a:endParaRPr lang="en-US" altLang="ko-KR" b="1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 err="1"/>
                  <a:t>zk</a:t>
                </a:r>
                <a:r>
                  <a:rPr lang="en-US" altLang="ko-KR" sz="1600" dirty="0"/>
                  <a:t>-SNAKR</a:t>
                </a:r>
                <a:r>
                  <a:rPr lang="ko-KR" altLang="en-US" sz="1600" dirty="0"/>
                  <a:t> 등을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사용할 때에는 프로그램을 산술 회로로 변환하는 과정이 필요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방정식에서 얻은 입력과 출력을 채우면 등식이 정확하게 </a:t>
                </a:r>
                <a:r>
                  <a:rPr lang="ko-KR" altLang="en-US" sz="1600" dirty="0" err="1"/>
                  <a:t>성립해야함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성립하지 않을 경우 유효한 실행이 아닌 것으로 간주</a:t>
                </a:r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산술 회로는 </a:t>
                </a:r>
                <a:r>
                  <a:rPr lang="en-US" altLang="ko-KR" sz="1600" dirty="0"/>
                  <a:t>R1CS(rank-1 constraint system)</a:t>
                </a:r>
                <a:r>
                  <a:rPr lang="ko-KR" altLang="en-US" sz="1600" dirty="0"/>
                  <a:t>로 구성됨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덧셈과 상수 곱셈은 비용이 </a:t>
                </a:r>
                <a:r>
                  <a:rPr lang="en-US" altLang="ko-KR" sz="1600" dirty="0"/>
                  <a:t>0</a:t>
                </a:r>
                <a:r>
                  <a:rPr lang="ko-KR" altLang="en-US" sz="1600" dirty="0"/>
                  <a:t>에 가깝지만 변수 간의 곱셈은 비용이 비쌈</a:t>
                </a:r>
                <a:r>
                  <a:rPr lang="en-US" altLang="ko-KR" sz="1600" dirty="0"/>
                  <a:t>(1 </a:t>
                </a:r>
                <a:r>
                  <a:rPr lang="ko-KR" altLang="en-US" sz="1600" dirty="0"/>
                  <a:t>제약 조건</a:t>
                </a:r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r>
                  <a:rPr lang="en-US" altLang="ko-KR" sz="1600" b="1" dirty="0"/>
                  <a:t>R1CS(rank-1 constraint system)</a:t>
                </a:r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ko-KR" altLang="en-US" sz="1600" dirty="0"/>
                  <a:t>형식의 일련의 방정식 </a:t>
                </a:r>
                <a:r>
                  <a:rPr lang="en-US" altLang="ko-KR" sz="1600" dirty="0"/>
                  <a:t>(L, R, O</a:t>
                </a:r>
                <a:r>
                  <a:rPr lang="ko-KR" altLang="en-US" sz="1600" dirty="0"/>
                  <a:t>는 특정 변수 덧셈의 결과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곱셈은 </a:t>
                </a:r>
                <a:r>
                  <a:rPr lang="en-US" altLang="ko-KR" sz="1600" dirty="0"/>
                  <a:t>L, R </a:t>
                </a:r>
                <a:r>
                  <a:rPr lang="ko-KR" altLang="en-US" sz="1600" dirty="0"/>
                  <a:t>사이에만 존재</a:t>
                </a:r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ex) a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+3)=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ko-KR" sz="1600" dirty="0"/>
                  <a:t>, w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×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ko-KR" sz="1600" dirty="0"/>
                  <a:t> (w</a:t>
                </a:r>
                <a:r>
                  <a:rPr lang="ko-KR" altLang="en-US" sz="1600" dirty="0"/>
                  <a:t>는 </a:t>
                </a:r>
                <a:r>
                  <a:rPr lang="en-US" altLang="ko-KR" sz="1600" dirty="0"/>
                  <a:t>0 </a:t>
                </a:r>
                <a:r>
                  <a:rPr lang="ko-KR" altLang="en-US" sz="1600" dirty="0"/>
                  <a:t>또는 </a:t>
                </a:r>
                <a:r>
                  <a:rPr lang="en-US" altLang="ko-KR" sz="1600" dirty="0"/>
                  <a:t>1</a:t>
                </a:r>
                <a:r>
                  <a:rPr lang="ko-KR" altLang="en-US" sz="1600" dirty="0"/>
                  <a:t>이라는 제약 조건</a:t>
                </a:r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프로그램 실행의 입력 및 출력과 일치한고 주장하는 일련의 값을 검증자에게 제공 → 검증자는 해당 값으로 등식이 성립하는지 확인할 수 </a:t>
                </a:r>
                <a:r>
                  <a:rPr lang="ko-KR" altLang="en-US" sz="1600" dirty="0" err="1"/>
                  <a:t>있어야함</a:t>
                </a:r>
                <a:endParaRPr lang="en-US" altLang="ko-KR" sz="16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9E1DC2-300A-C6C5-A082-5178473C0D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093" y="1016202"/>
                <a:ext cx="9671539" cy="5539978"/>
              </a:xfrm>
              <a:prstGeom prst="rect">
                <a:avLst/>
              </a:prstGeom>
              <a:blipFill>
                <a:blip r:embed="rId3"/>
                <a:stretch>
                  <a:fillRect l="-504" t="-661" b="-4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 descr="텍스트, 폰트, 친필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A46CCA-961E-F34B-91D4-9EBB6D3805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9900" y="3042016"/>
            <a:ext cx="1976512" cy="132623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2967EB6-17B8-09FD-6296-1A3F53D1AD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8069" y="3347017"/>
            <a:ext cx="4826038" cy="419655"/>
          </a:xfrm>
          <a:prstGeom prst="rect">
            <a:avLst/>
          </a:prstGeom>
        </p:spPr>
      </p:pic>
      <p:sp>
        <p:nvSpPr>
          <p:cNvPr id="10" name="화살표: 왼쪽/오른쪽 9">
            <a:extLst>
              <a:ext uri="{FF2B5EF4-FFF2-40B4-BE49-F238E27FC236}">
                <a16:creationId xmlns:a16="http://schemas.microsoft.com/office/drawing/2014/main" id="{10892C17-E955-7E24-BB84-E3EA2847C279}"/>
              </a:ext>
            </a:extLst>
          </p:cNvPr>
          <p:cNvSpPr/>
          <p:nvPr/>
        </p:nvSpPr>
        <p:spPr>
          <a:xfrm>
            <a:off x="4065514" y="3419963"/>
            <a:ext cx="1136124" cy="318249"/>
          </a:xfrm>
          <a:prstGeom prst="leftRightArrow">
            <a:avLst/>
          </a:prstGeom>
          <a:solidFill>
            <a:srgbClr val="002C6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A56F57-5E9F-6C1F-A658-D413B56FD599}"/>
              </a:ext>
            </a:extLst>
          </p:cNvPr>
          <p:cNvSpPr txBox="1"/>
          <p:nvPr/>
        </p:nvSpPr>
        <p:spPr>
          <a:xfrm>
            <a:off x="3937475" y="4306355"/>
            <a:ext cx="17177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제약 조건 변환 예시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393715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CCEBA-84FA-02A6-5372-651D11C47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7EBCDD-0BA8-D415-1BE2-20838ABB6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</a:t>
            </a:r>
            <a:r>
              <a:rPr lang="ko-KR" altLang="en-US" dirty="0"/>
              <a:t>의 회로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6EBB8A-DF79-5524-1922-9086A0CB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BE1CDB-8D07-6E57-A634-8D4C54D1D05B}"/>
                  </a:ext>
                </a:extLst>
              </p:cNvPr>
              <p:cNvSpPr txBox="1"/>
              <p:nvPr/>
            </p:nvSpPr>
            <p:spPr>
              <a:xfrm>
                <a:off x="1006789" y="1487467"/>
                <a:ext cx="10348961" cy="3603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Poseidon</a:t>
                </a:r>
                <a:r>
                  <a:rPr lang="ko-KR" altLang="en-US" b="1" dirty="0"/>
                  <a:t>의 회로 비용</a:t>
                </a:r>
                <a:endParaRPr lang="en-US" altLang="ko-KR" b="1" dirty="0"/>
              </a:p>
              <a:p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 err="1"/>
                  <a:t>zk</a:t>
                </a:r>
                <a:r>
                  <a:rPr lang="en-US" altLang="ko-KR" sz="1600" dirty="0"/>
                  <a:t>-SNARK(R1CS) </a:t>
                </a:r>
                <a:r>
                  <a:rPr lang="ko-KR" altLang="en-US" sz="1600" dirty="0"/>
                  <a:t>환경에서의 비용 </a:t>
                </a:r>
                <a:r>
                  <a:rPr lang="en-US" altLang="ko-KR" sz="1600" dirty="0"/>
                  <a:t>= </a:t>
                </a:r>
                <a:r>
                  <a:rPr lang="ko-KR" altLang="en-US" sz="1600" dirty="0"/>
                  <a:t>제약 조건의 수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Poseidon</a:t>
                </a:r>
                <a:r>
                  <a:rPr lang="ko-KR" altLang="en-US" sz="1600" dirty="0"/>
                  <a:t>의 비용은 주로 </a:t>
                </a:r>
                <a:r>
                  <a:rPr lang="en-US" altLang="ko-KR" sz="1600" dirty="0"/>
                  <a:t>S-box</a:t>
                </a:r>
                <a:r>
                  <a:rPr lang="ko-KR" altLang="en-US" sz="1600" dirty="0"/>
                  <a:t> 연산에서 발생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MDS </a:t>
                </a:r>
                <a:r>
                  <a:rPr lang="ko-KR" altLang="en-US" sz="1600" dirty="0"/>
                  <a:t>곱셈은 </a:t>
                </a:r>
                <a:r>
                  <a:rPr lang="en-US" altLang="ko-KR" sz="1600" dirty="0"/>
                  <a:t>cost</a:t>
                </a:r>
                <a:r>
                  <a:rPr lang="ko-KR" altLang="en-US" sz="1600" dirty="0"/>
                  <a:t> 거의 </a:t>
                </a:r>
                <a:r>
                  <a:rPr lang="en-US" altLang="ko-KR" sz="1600" dirty="0"/>
                  <a:t>X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총 제약 조건 수 </a:t>
                </a:r>
                <a14:m>
                  <m:oMath xmlns:m="http://schemas.openxmlformats.org/officeDocument/2006/math">
                    <m:r>
                      <a:rPr lang="ko-KR" altLang="en-US" sz="160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ko-KR" sz="1600" dirty="0"/>
                  <a:t> S-box </a:t>
                </a:r>
                <a:r>
                  <a:rPr lang="ko-KR" altLang="en-US" sz="1600" dirty="0"/>
                  <a:t>총 개수 </a:t>
                </a:r>
                <a14:m>
                  <m:oMath xmlns:m="http://schemas.openxmlformats.org/officeDocument/2006/math"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sz="1600" dirty="0"/>
                  <a:t> S-box </a:t>
                </a:r>
                <a:r>
                  <a:rPr lang="ko-KR" altLang="en-US" sz="1600" dirty="0"/>
                  <a:t>당 비용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r>
                  <a:rPr lang="en-US" altLang="ko-KR" b="1" dirty="0"/>
                  <a:t>Poseidon</a:t>
                </a:r>
                <a:r>
                  <a:rPr lang="ko-KR" altLang="en-US" b="1" dirty="0"/>
                  <a:t>의 회로 비용 계산</a:t>
                </a:r>
                <a:endParaRPr lang="en-US" altLang="ko-KR" sz="1600" b="1" dirty="0"/>
              </a:p>
              <a:p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S-box</a:t>
                </a:r>
                <a:r>
                  <a:rPr lang="ko-KR" altLang="en-US" sz="1600" dirty="0"/>
                  <a:t>는</a:t>
                </a:r>
                <a14:m>
                  <m:oMath xmlns:m="http://schemas.openxmlformats.org/officeDocument/2006/math"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ko-KR" altLang="en-US" sz="1600" dirty="0"/>
                  <a:t>연산을 사용</a:t>
                </a:r>
                <a:r>
                  <a:rPr lang="en-US" altLang="ko-KR" sz="1600" dirty="0"/>
                  <a:t>, Full Round</a:t>
                </a:r>
                <a:r>
                  <a:rPr lang="ko-KR" altLang="en-US" sz="1600" dirty="0"/>
                  <a:t>는 </a:t>
                </a:r>
                <a:r>
                  <a:rPr lang="en-US" altLang="ko-KR" sz="1600" dirty="0"/>
                  <a:t>8, Partial Round</a:t>
                </a:r>
                <a:r>
                  <a:rPr lang="ko-KR" altLang="en-US" sz="1600" dirty="0"/>
                  <a:t>는 </a:t>
                </a:r>
                <a:r>
                  <a:rPr lang="en-US" altLang="ko-KR" sz="1600" dirty="0"/>
                  <a:t>57, </a:t>
                </a:r>
                <a:r>
                  <a:rPr lang="ko-KR" altLang="en-US" sz="1600" dirty="0"/>
                  <a:t>총 </a:t>
                </a:r>
                <a:r>
                  <a:rPr lang="en-US" altLang="ko-KR" sz="1600" dirty="0"/>
                  <a:t>state</a:t>
                </a:r>
                <a:r>
                  <a:rPr lang="ko-KR" altLang="en-US" sz="1600" dirty="0"/>
                  <a:t>의 개수는 </a:t>
                </a:r>
                <a:r>
                  <a:rPr lang="en-US" altLang="ko-KR" sz="1600" dirty="0"/>
                  <a:t>3</a:t>
                </a:r>
                <a:r>
                  <a:rPr lang="ko-KR" altLang="en-US" sz="1600" dirty="0"/>
                  <a:t>개라고 가정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S-box </a:t>
                </a:r>
                <a:r>
                  <a:rPr lang="ko-KR" altLang="en-US" sz="1600" dirty="0"/>
                  <a:t>제약 조건 수 </a:t>
                </a:r>
                <a:r>
                  <a:rPr lang="en-US" altLang="ko-KR" sz="1600" dirty="0"/>
                  <a:t>= 3 (</a:t>
                </a:r>
                <a:r>
                  <a:rPr lang="ko-KR" altLang="en-US" sz="160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총 </a:t>
                </a:r>
                <a:r>
                  <a:rPr lang="en-US" altLang="ko-KR" sz="1600" dirty="0"/>
                  <a:t>S-box </a:t>
                </a:r>
                <a:r>
                  <a:rPr lang="ko-KR" altLang="en-US" sz="1600" dirty="0"/>
                  <a:t>수 </a:t>
                </a:r>
                <a:r>
                  <a:rPr lang="en-US" altLang="ko-KR" sz="1600" dirty="0"/>
                  <a:t>= 81</a:t>
                </a:r>
                <a:r>
                  <a:rPr lang="ko-KR" altLang="en-US" sz="1600" dirty="0"/>
                  <a:t>개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총 제약 조건 수 </a:t>
                </a:r>
                <a:r>
                  <a:rPr lang="en-US" altLang="ko-KR" sz="1600" dirty="0"/>
                  <a:t>= 243</a:t>
                </a:r>
                <a:r>
                  <a:rPr lang="ko-KR" altLang="en-US" sz="1600" dirty="0"/>
                  <a:t>개</a:t>
                </a:r>
                <a:endParaRPr lang="en-US" altLang="ko-KR" sz="16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BE1CDB-8D07-6E57-A634-8D4C54D1D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789" y="1487467"/>
                <a:ext cx="10348961" cy="3603807"/>
              </a:xfrm>
              <a:prstGeom prst="rect">
                <a:avLst/>
              </a:prstGeom>
              <a:blipFill>
                <a:blip r:embed="rId3"/>
                <a:stretch>
                  <a:fillRect l="-471" t="-846" b="-13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7077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1D108-ADEA-EB49-0D44-252A18B2D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27091F-CE4C-E4A7-C085-62F795A29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SHA2-256</a:t>
            </a:r>
            <a:r>
              <a:rPr lang="ko-KR" altLang="en-US" dirty="0"/>
              <a:t>의 회로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097E1B-8DED-4B1C-5AFC-D485C3796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01E38F-C9A9-D878-4BDD-416E5C908AF5}"/>
                  </a:ext>
                </a:extLst>
              </p:cNvPr>
              <p:cNvSpPr txBox="1"/>
              <p:nvPr/>
            </p:nvSpPr>
            <p:spPr>
              <a:xfrm>
                <a:off x="1006789" y="1487467"/>
                <a:ext cx="11050951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SHA2-256</a:t>
                </a:r>
                <a:r>
                  <a:rPr lang="ko-KR" altLang="en-US" b="1" dirty="0"/>
                  <a:t>의 회로 비용</a:t>
                </a:r>
                <a:endParaRPr lang="en-US" altLang="ko-KR" b="1" dirty="0"/>
              </a:p>
              <a:p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SHA-256</a:t>
                </a:r>
                <a:r>
                  <a:rPr lang="ko-KR" altLang="en-US" sz="1600" dirty="0"/>
                  <a:t>은 비트 단위의 조작을 기반으로 설계됨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 err="1"/>
                  <a:t>zk</a:t>
                </a:r>
                <a:r>
                  <a:rPr lang="en-US" altLang="ko-KR" sz="1600" dirty="0"/>
                  <a:t>-SNAKR</a:t>
                </a:r>
                <a:r>
                  <a:rPr lang="ko-KR" altLang="en-US" sz="1600" dirty="0"/>
                  <a:t>의 </a:t>
                </a:r>
                <a:r>
                  <a:rPr lang="en-US" altLang="ko-KR" sz="1600" dirty="0"/>
                  <a:t>R1CS</a:t>
                </a:r>
                <a:r>
                  <a:rPr lang="ko-KR" altLang="en-US" sz="1600" dirty="0"/>
                  <a:t>는 </a:t>
                </a:r>
                <a:r>
                  <a:rPr lang="en-US" altLang="ko-KR" sz="1600" dirty="0" err="1"/>
                  <a:t>Fp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위에서 동작하기 때문에 번역 비용 발생</a:t>
                </a:r>
                <a:endParaRPr lang="en-US" altLang="ko-KR" sz="1600" dirty="0"/>
              </a:p>
              <a:p>
                <a:endParaRPr lang="en-US" altLang="ko-KR" sz="1600" dirty="0"/>
              </a:p>
              <a:p>
                <a:r>
                  <a:rPr lang="ko-KR" altLang="en-US" sz="1600" b="1" dirty="0"/>
                  <a:t>연산별 제약 조건</a:t>
                </a:r>
                <a:endParaRPr lang="en-US" altLang="ko-KR" sz="1600" b="1" dirty="0"/>
              </a:p>
              <a:p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XOR</a:t>
                </a:r>
                <a:r>
                  <a:rPr lang="ko-KR" altLang="en-US" sz="1600" dirty="0"/>
                  <a:t> 연산 </a:t>
                </a:r>
                <a:r>
                  <a:rPr lang="en-US" altLang="ko-KR" sz="1600" dirty="0"/>
                  <a:t>: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⊕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𝑎𝑏</m:t>
                    </m:r>
                    <m:r>
                      <a:rPr lang="en-US" altLang="ko-K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600" dirty="0"/>
                  <a:t>로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변환 하여 진행 ⇒ </a:t>
                </a:r>
                <a:r>
                  <a:rPr lang="en-US" altLang="ko-KR" sz="1600" dirty="0"/>
                  <a:t>1</a:t>
                </a:r>
                <a:r>
                  <a:rPr lang="ko-KR" altLang="en-US" sz="1600" dirty="0"/>
                  <a:t>개의 제약 조건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AND </a:t>
                </a:r>
                <a:r>
                  <a:rPr lang="ko-KR" altLang="en-US" sz="1600" dirty="0"/>
                  <a:t>연산 </a:t>
                </a:r>
                <a:r>
                  <a:rPr lang="en-US" altLang="ko-KR" sz="1600" dirty="0"/>
                  <a:t>: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∧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⇒ </a:t>
                </a:r>
                <a:r>
                  <a:rPr lang="en-US" altLang="ko-KR" sz="1600" dirty="0"/>
                  <a:t>1</a:t>
                </a:r>
                <a:r>
                  <a:rPr lang="ko-KR" altLang="en-US" sz="1600" dirty="0"/>
                  <a:t>개의 제약 조건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덧셈 연산 </a:t>
                </a:r>
                <a:r>
                  <a:rPr lang="en-US" altLang="ko-KR" sz="1600" dirty="0"/>
                  <a:t>: </a:t>
                </a:r>
                <a:r>
                  <a:rPr lang="ko-KR" altLang="en-US" sz="1600" dirty="0"/>
                  <a:t>회로 상에서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동작하기 위해 </a:t>
                </a:r>
                <a:r>
                  <a:rPr lang="en-US" altLang="ko-KR" sz="1600" dirty="0"/>
                  <a:t>mod </a:t>
                </a:r>
                <a:r>
                  <a:rPr lang="ko-KR" altLang="en-US" sz="1600" dirty="0"/>
                  <a:t>연산 진행 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→ 비트 분해 및 </a:t>
                </a:r>
                <a:r>
                  <a:rPr lang="en-US" altLang="ko-KR" sz="1600" dirty="0"/>
                  <a:t>carry </a:t>
                </a:r>
                <a:r>
                  <a:rPr lang="ko-KR" altLang="en-US" sz="1600" dirty="0"/>
                  <a:t>연산 필요 ⇒ </a:t>
                </a:r>
                <a:r>
                  <a:rPr lang="en-US" altLang="ko-KR" sz="1600" dirty="0"/>
                  <a:t>1~2</a:t>
                </a:r>
                <a:r>
                  <a:rPr lang="ko-KR" altLang="en-US" sz="1600" dirty="0"/>
                  <a:t>개 제약 조건</a:t>
                </a:r>
                <a:r>
                  <a:rPr lang="en-US" altLang="ko-KR" sz="1600" dirty="0"/>
                  <a:t>(1.5</a:t>
                </a:r>
                <a:r>
                  <a:rPr lang="ko-KR" altLang="en-US" sz="1600" dirty="0"/>
                  <a:t>로 계산</a:t>
                </a:r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r>
                  <a:rPr lang="en-US" altLang="ko-KR" b="1" dirty="0"/>
                  <a:t>SHA2-256</a:t>
                </a:r>
                <a:r>
                  <a:rPr lang="ko-KR" altLang="en-US" b="1" dirty="0"/>
                  <a:t>의 회로 비용 계산</a:t>
                </a:r>
                <a:endParaRPr lang="en-US" altLang="ko-KR" b="1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메시지 확장 </a:t>
                </a:r>
                <a:r>
                  <a:rPr lang="en-US" altLang="ko-KR" sz="1600" dirty="0"/>
                  <a:t>: 48</a:t>
                </a:r>
                <a:r>
                  <a:rPr lang="ko-KR" altLang="en-US" sz="1600" dirty="0"/>
                  <a:t>회의 라운드</a:t>
                </a:r>
                <a:r>
                  <a:rPr lang="en-US" altLang="ko-KR" sz="1600" dirty="0"/>
                  <a:t>, 150</a:t>
                </a:r>
                <a:r>
                  <a:rPr lang="ko-KR" altLang="en-US" sz="1600" dirty="0"/>
                  <a:t>개의 제약조건 ⇒ 약 </a:t>
                </a:r>
                <a:r>
                  <a:rPr lang="en-US" altLang="ko-KR" sz="1600" dirty="0"/>
                  <a:t>7,200</a:t>
                </a:r>
                <a:r>
                  <a:rPr lang="ko-KR" altLang="en-US" sz="1600" dirty="0"/>
                  <a:t>개 제약 조건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Compression Function : 64</a:t>
                </a:r>
                <a:r>
                  <a:rPr lang="ko-KR" altLang="en-US" sz="1600" dirty="0"/>
                  <a:t>회 라운드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약 </a:t>
                </a:r>
                <a:r>
                  <a:rPr lang="en-US" altLang="ko-KR" sz="1600" dirty="0"/>
                  <a:t>360 </a:t>
                </a:r>
                <a:r>
                  <a:rPr lang="ko-KR" altLang="en-US" sz="1600" dirty="0"/>
                  <a:t>개의 제약조건 ⇒ 약 </a:t>
                </a:r>
                <a:r>
                  <a:rPr lang="en-US" altLang="ko-KR" sz="1600" dirty="0"/>
                  <a:t>23,040</a:t>
                </a:r>
                <a:r>
                  <a:rPr lang="ko-KR" altLang="en-US" sz="1600" dirty="0"/>
                  <a:t>개의 제약 조건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총 비용은 약 </a:t>
                </a:r>
                <a:r>
                  <a:rPr lang="en-US" altLang="ko-KR" sz="1600" dirty="0"/>
                  <a:t>30,240 </a:t>
                </a:r>
                <a:r>
                  <a:rPr lang="ko-KR" altLang="en-US" sz="1600" dirty="0"/>
                  <a:t>제약 조건</a:t>
                </a:r>
                <a:endParaRPr lang="en-US" altLang="ko-KR" sz="16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01E38F-C9A9-D878-4BDD-416E5C908A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789" y="1487467"/>
                <a:ext cx="11050951" cy="4093428"/>
              </a:xfrm>
              <a:prstGeom prst="rect">
                <a:avLst/>
              </a:prstGeom>
              <a:blipFill>
                <a:blip r:embed="rId3"/>
                <a:stretch>
                  <a:fillRect l="-441" t="-744" r="-662" b="-8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6142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AB687-29D2-B2B1-2B6B-8A696246F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CE03B9-6E55-706D-BE9B-5E731776E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SHA3-256</a:t>
            </a:r>
            <a:r>
              <a:rPr lang="ko-KR" altLang="en-US" dirty="0"/>
              <a:t>의 회로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313D7C-A40E-1C15-4FCD-D0A3AA414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1DDAD4-3259-A698-54D3-2BA3CB3C0C61}"/>
              </a:ext>
            </a:extLst>
          </p:cNvPr>
          <p:cNvSpPr txBox="1"/>
          <p:nvPr/>
        </p:nvSpPr>
        <p:spPr>
          <a:xfrm>
            <a:off x="1006789" y="1487467"/>
            <a:ext cx="1105095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SHA3-256</a:t>
            </a:r>
            <a:r>
              <a:rPr lang="ko-KR" altLang="en-US" b="1" dirty="0"/>
              <a:t>의 회로 비용</a:t>
            </a:r>
            <a:endParaRPr lang="en-US" altLang="ko-KR" b="1" dirty="0"/>
          </a:p>
          <a:p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총 </a:t>
            </a:r>
            <a:r>
              <a:rPr lang="en-US" altLang="ko-KR" sz="1600" dirty="0"/>
              <a:t>24</a:t>
            </a:r>
            <a:r>
              <a:rPr lang="ko-KR" altLang="en-US" sz="1600" dirty="0"/>
              <a:t>라운드 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각 라운드마다 </a:t>
            </a:r>
            <a:r>
              <a:rPr lang="en-US" altLang="ko-KR" sz="1600" dirty="0"/>
              <a:t>5</a:t>
            </a:r>
            <a:r>
              <a:rPr lang="ko-KR" altLang="en-US" sz="1600" dirty="0"/>
              <a:t>단계로 나뉨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r>
              <a:rPr lang="ko-KR" altLang="en-US" sz="1600" b="1" dirty="0"/>
              <a:t>단계별 제약 조건</a:t>
            </a:r>
            <a:endParaRPr lang="en-US" altLang="ko-KR" sz="1600" b="1" dirty="0"/>
          </a:p>
          <a:p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확산 단계 </a:t>
            </a:r>
            <a:r>
              <a:rPr lang="en-US" altLang="ko-KR" sz="1600" dirty="0"/>
              <a:t>: </a:t>
            </a:r>
            <a:r>
              <a:rPr lang="ko-KR" altLang="en-US" sz="1600" dirty="0"/>
              <a:t>비트당 약 </a:t>
            </a:r>
            <a:r>
              <a:rPr lang="en-US" altLang="ko-KR" sz="1600" dirty="0"/>
              <a:t>3</a:t>
            </a:r>
            <a:r>
              <a:rPr lang="ko-KR" altLang="en-US" sz="1600" dirty="0"/>
              <a:t>회의 </a:t>
            </a:r>
            <a:r>
              <a:rPr lang="en-US" altLang="ko-KR" sz="1600" dirty="0"/>
              <a:t>XOR </a:t>
            </a:r>
            <a:r>
              <a:rPr lang="ko-KR" altLang="en-US" sz="1600" dirty="0"/>
              <a:t>연산</a:t>
            </a:r>
            <a:r>
              <a:rPr lang="en-US" altLang="ko-KR" sz="1600" dirty="0"/>
              <a:t>, 1600-bit</a:t>
            </a:r>
            <a:r>
              <a:rPr lang="ko-KR" altLang="en-US" sz="1600" dirty="0"/>
              <a:t>에 대해 수행 ⇒ </a:t>
            </a:r>
            <a:r>
              <a:rPr lang="en-US" altLang="ko-KR" sz="1600" dirty="0"/>
              <a:t>4800</a:t>
            </a:r>
            <a:r>
              <a:rPr lang="ko-KR" altLang="en-US" sz="1600" dirty="0"/>
              <a:t>개 제약 조건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위치 변경 단계</a:t>
            </a:r>
            <a:r>
              <a:rPr lang="en-US" altLang="ko-KR" sz="1600" dirty="0"/>
              <a:t>(</a:t>
            </a:r>
            <a:r>
              <a:rPr lang="ko-KR" altLang="en-US" sz="1600" dirty="0"/>
              <a:t>총 </a:t>
            </a:r>
            <a:r>
              <a:rPr lang="en-US" altLang="ko-KR" sz="1600" dirty="0"/>
              <a:t>2</a:t>
            </a:r>
            <a:r>
              <a:rPr lang="ko-KR" altLang="en-US" sz="1600" dirty="0"/>
              <a:t>단계 구성</a:t>
            </a:r>
            <a:r>
              <a:rPr lang="en-US" altLang="ko-KR" sz="1600" dirty="0"/>
              <a:t>)</a:t>
            </a:r>
            <a:r>
              <a:rPr lang="ko-KR" altLang="en-US" sz="1600" dirty="0"/>
              <a:t> </a:t>
            </a:r>
            <a:r>
              <a:rPr lang="en-US" altLang="ko-KR" sz="1600" dirty="0"/>
              <a:t>: Rotate </a:t>
            </a:r>
            <a:r>
              <a:rPr lang="ko-KR" altLang="en-US" sz="1600" dirty="0"/>
              <a:t>연산만 진행하기 때문에 비용이 </a:t>
            </a:r>
            <a:r>
              <a:rPr lang="en-US" altLang="ko-KR" sz="1600" dirty="0"/>
              <a:t>0</a:t>
            </a:r>
            <a:r>
              <a:rPr lang="ko-KR" altLang="en-US" sz="1600" dirty="0"/>
              <a:t>에 가까움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비선형 단계 </a:t>
            </a:r>
            <a:r>
              <a:rPr lang="en-US" altLang="ko-KR" sz="1600" dirty="0"/>
              <a:t>: S-box </a:t>
            </a:r>
            <a:r>
              <a:rPr lang="ko-KR" altLang="en-US" sz="1600" dirty="0"/>
              <a:t>연산 ⇒ 약 </a:t>
            </a:r>
            <a:r>
              <a:rPr lang="en-US" altLang="ko-KR" sz="1600" dirty="0"/>
              <a:t>3200</a:t>
            </a:r>
            <a:r>
              <a:rPr lang="ko-KR" altLang="en-US" sz="1600" dirty="0"/>
              <a:t>개의 제약 조건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상수 덧셈 </a:t>
            </a:r>
            <a:r>
              <a:rPr lang="en-US" altLang="ko-KR" sz="1600" dirty="0"/>
              <a:t>: </a:t>
            </a:r>
            <a:r>
              <a:rPr lang="ko-KR" altLang="en-US" sz="1600" dirty="0"/>
              <a:t>일부 비트에 라운드 상수를 </a:t>
            </a:r>
            <a:r>
              <a:rPr lang="en-US" altLang="ko-KR" sz="1600" dirty="0"/>
              <a:t>XOR </a:t>
            </a:r>
            <a:r>
              <a:rPr lang="ko-KR" altLang="en-US" sz="1600" dirty="0"/>
              <a:t>연산 ⇒ 약 </a:t>
            </a:r>
            <a:r>
              <a:rPr lang="en-US" altLang="ko-KR" sz="1600" dirty="0"/>
              <a:t>64 Constraints</a:t>
            </a:r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r>
              <a:rPr lang="en-US" altLang="ko-KR" b="1" dirty="0"/>
              <a:t>SHA3-256</a:t>
            </a:r>
            <a:r>
              <a:rPr lang="ko-KR" altLang="en-US" b="1" dirty="0"/>
              <a:t>의 회로 비용 계산</a:t>
            </a:r>
            <a:endParaRPr lang="en-US" altLang="ko-KR" b="1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라운드 당 약 </a:t>
            </a:r>
            <a:r>
              <a:rPr lang="en-US" altLang="ko-KR" sz="1600" dirty="0"/>
              <a:t>8,064</a:t>
            </a:r>
            <a:r>
              <a:rPr lang="ko-KR" altLang="en-US" sz="1600" dirty="0"/>
              <a:t>개 제약 조건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총 비용은 약 </a:t>
            </a:r>
            <a:r>
              <a:rPr lang="en-US" altLang="ko-KR" sz="1600" dirty="0"/>
              <a:t>193,536 </a:t>
            </a:r>
            <a:r>
              <a:rPr lang="ko-KR" altLang="en-US" sz="1600" dirty="0"/>
              <a:t>제약 조건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887773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45247-679E-DB70-58EF-37D55D27B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E20608-5D4D-7C48-E43D-1732607F7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해시함수의 회로 비용 비교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03663A-587E-CCA0-AC66-6084388DD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77576DE-14CF-9824-F81C-BD091EC39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635255"/>
              </p:ext>
            </p:extLst>
          </p:nvPr>
        </p:nvGraphicFramePr>
        <p:xfrm>
          <a:off x="1128759" y="2268005"/>
          <a:ext cx="6909925" cy="8192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5456">
                  <a:extLst>
                    <a:ext uri="{9D8B030D-6E8A-4147-A177-3AD203B41FA5}">
                      <a16:colId xmlns:a16="http://schemas.microsoft.com/office/drawing/2014/main" val="1667041438"/>
                    </a:ext>
                  </a:extLst>
                </a:gridCol>
                <a:gridCol w="1694823">
                  <a:extLst>
                    <a:ext uri="{9D8B030D-6E8A-4147-A177-3AD203B41FA5}">
                      <a16:colId xmlns:a16="http://schemas.microsoft.com/office/drawing/2014/main" val="709653482"/>
                    </a:ext>
                  </a:extLst>
                </a:gridCol>
                <a:gridCol w="1694823">
                  <a:extLst>
                    <a:ext uri="{9D8B030D-6E8A-4147-A177-3AD203B41FA5}">
                      <a16:colId xmlns:a16="http://schemas.microsoft.com/office/drawing/2014/main" val="3379829072"/>
                    </a:ext>
                  </a:extLst>
                </a:gridCol>
                <a:gridCol w="1694823">
                  <a:extLst>
                    <a:ext uri="{9D8B030D-6E8A-4147-A177-3AD203B41FA5}">
                      <a16:colId xmlns:a16="http://schemas.microsoft.com/office/drawing/2014/main" val="1018566879"/>
                    </a:ext>
                  </a:extLst>
                </a:gridCol>
              </a:tblGrid>
              <a:tr h="240493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SHA3-256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Poseidon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771222"/>
                  </a:ext>
                </a:extLst>
              </a:tr>
              <a:tr h="5144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총 제약 조건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30,240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193,536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243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3870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25FFADB-7075-6D01-2CF4-3B6B65F1D4CB}"/>
              </a:ext>
            </a:extLst>
          </p:cNvPr>
          <p:cNvSpPr txBox="1"/>
          <p:nvPr/>
        </p:nvSpPr>
        <p:spPr>
          <a:xfrm>
            <a:off x="1006789" y="1487467"/>
            <a:ext cx="11050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SHA2-256 vs</a:t>
            </a:r>
            <a:r>
              <a:rPr lang="ko-KR" altLang="en-US" b="1" dirty="0"/>
              <a:t> </a:t>
            </a:r>
            <a:r>
              <a:rPr lang="en-US" altLang="ko-KR" b="1" dirty="0"/>
              <a:t>SHA3-256</a:t>
            </a:r>
            <a:r>
              <a:rPr lang="ko-KR" altLang="en-US" b="1" dirty="0"/>
              <a:t> </a:t>
            </a:r>
            <a:r>
              <a:rPr lang="en-US" altLang="ko-KR" b="1" dirty="0"/>
              <a:t>vs</a:t>
            </a:r>
            <a:r>
              <a:rPr lang="ko-KR" altLang="en-US" b="1" dirty="0"/>
              <a:t> </a:t>
            </a:r>
            <a:r>
              <a:rPr lang="en-US" altLang="ko-KR" b="1" dirty="0"/>
              <a:t>Poseidon</a:t>
            </a:r>
            <a:r>
              <a:rPr lang="ko-KR" altLang="en-US" b="1" dirty="0"/>
              <a:t> 의 회로 비용 비교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947633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12488</TotalTime>
  <Words>640</Words>
  <Application>Microsoft Office PowerPoint</Application>
  <PresentationFormat>와이드스크린</PresentationFormat>
  <Paragraphs>112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Cambria Math</vt:lpstr>
      <vt:lpstr>Office 테마</vt:lpstr>
      <vt:lpstr>해시함수 ZK 회로 비용 분석</vt:lpstr>
      <vt:lpstr>zk-SNARK</vt:lpstr>
      <vt:lpstr>산술 회로</vt:lpstr>
      <vt:lpstr>Poseidon의 회로 비용</vt:lpstr>
      <vt:lpstr>SHA2-256의 회로 비용</vt:lpstr>
      <vt:lpstr>SHA3-256의 회로 비용</vt:lpstr>
      <vt:lpstr>해시함수의 회로 비용 비교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이수학</cp:lastModifiedBy>
  <cp:revision>1527</cp:revision>
  <dcterms:created xsi:type="dcterms:W3CDTF">2023-03-06T16:32:37Z</dcterms:created>
  <dcterms:modified xsi:type="dcterms:W3CDTF">2025-12-10T07:53:43Z</dcterms:modified>
</cp:coreProperties>
</file>