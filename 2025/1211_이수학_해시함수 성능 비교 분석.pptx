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48" r:id="rId1"/>
  </p:sldMasterIdLst>
  <p:notesMasterIdLst>
    <p:notesMasterId r:id="rId11"/>
  </p:notesMasterIdLst>
  <p:sldIdLst>
    <p:sldId id="256" r:id="rId2"/>
    <p:sldId id="290" r:id="rId3"/>
    <p:sldId id="296" r:id="rId4"/>
    <p:sldId id="295" r:id="rId5"/>
    <p:sldId id="298" r:id="rId6"/>
    <p:sldId id="300" r:id="rId7"/>
    <p:sldId id="297" r:id="rId8"/>
    <p:sldId id="301" r:id="rId9"/>
    <p:sldId id="302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C62"/>
    <a:srgbClr val="000099"/>
    <a:srgbClr val="0066CC"/>
    <a:srgbClr val="CC99FF"/>
    <a:srgbClr val="2156A4"/>
    <a:srgbClr val="336699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85080" autoAdjust="0"/>
  </p:normalViewPr>
  <p:slideViewPr>
    <p:cSldViewPr snapToGrid="0">
      <p:cViewPr varScale="1">
        <p:scale>
          <a:sx n="127" d="100"/>
          <a:sy n="127" d="100"/>
        </p:scale>
        <p:origin x="162" y="31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03" d="100"/>
          <a:sy n="103" d="100"/>
        </p:scale>
        <p:origin x="3648" y="5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F939A6-D8A1-4A3E-B1AF-CF6B86DE165A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032124-6EC6-43C3-BD2F-F4850F49A6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753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526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E87C4-1247-69B8-B25B-406B50B89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9D8CFF5-15E0-6E61-E21E-8AFEF4B356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268C38D-F31C-B791-DE95-B340596933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73BAD1-C99F-D822-C353-1634C83E08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1326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DC161-B7A1-6698-6470-73F057FA9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B6CD3F6-7C1C-FE1C-AC6A-8F07F66591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31EC3FF-D4FB-DA7C-5679-760737FFFB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Poseidon</a:t>
            </a:r>
            <a:r>
              <a:rPr lang="ko-KR" altLang="en-US" dirty="0"/>
              <a:t>의 </a:t>
            </a:r>
            <a:r>
              <a:rPr lang="en-US" altLang="ko-KR" dirty="0" err="1"/>
              <a:t>zkp</a:t>
            </a:r>
            <a:r>
              <a:rPr lang="en-US" altLang="ko-KR" dirty="0"/>
              <a:t> </a:t>
            </a:r>
            <a:r>
              <a:rPr lang="ko-KR" altLang="en-US" dirty="0"/>
              <a:t>회로에 특화된 이유 </a:t>
            </a:r>
            <a:r>
              <a:rPr lang="en-US" altLang="ko-KR" dirty="0"/>
              <a:t>= SHA2</a:t>
            </a:r>
            <a:r>
              <a:rPr lang="ko-KR" altLang="en-US" dirty="0"/>
              <a:t>는 비트 연산이 많아서 산술 회로로 변경하면 곱셈 비용이 많이 발생하지만 </a:t>
            </a:r>
            <a:r>
              <a:rPr lang="en-US" altLang="ko-KR" dirty="0"/>
              <a:t>Poseidon</a:t>
            </a:r>
            <a:r>
              <a:rPr lang="ko-KR" altLang="en-US" dirty="0"/>
              <a:t>은 곱셈 횟수를 최소화 했기 때문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DFD56B-9997-21C5-0E7E-938F4DBDC5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70382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BE245-0D70-4560-A028-78BC7FE36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FA86B7C-C01A-247A-D470-79EAAC2B6A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42A6E7F-E7B3-8574-A91C-3BA503DC46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AC75122-17D7-5345-4438-64D1247FC1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35188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9A8B6-2C3A-5D27-288F-2F6691C3C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FA9DD1E-3F8B-D3A6-69FA-4730F2559C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210D6AB-ED24-3CB3-E31D-23B03611C4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14C25B-3CA4-EB4A-602A-9DE68A273A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94387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400BB-6D37-1763-46A5-025825CCA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910F4A7-CD75-BB06-6812-ED9B3E09FD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0A77991-C7EF-5228-9CE2-CAF3326876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D55F11-00F2-33AE-D5DB-0D846C993D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24045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5D3D0-FE31-077C-59B9-CBDEC597E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2FD872C-C0A9-BFB5-65C0-FCBE782B3E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A788384-DC60-9316-F200-CC00A31D8C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84D277-44D3-A93F-E5F2-DA5FD35D58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95626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2A675-837B-72E1-E7FB-38EE4370F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1056FB6-9121-CC43-3D6C-13BB0D7BA3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BA459D3-F12A-C4E6-3912-370FCBABBC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412314-9C1E-EC36-D42E-595D3DB5FA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58744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75251-AFF0-783F-56D6-426442879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7BF800D-375B-73ED-FB44-50BEB9F659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91F6756-5444-9990-AE5B-F3192424FE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증명</a:t>
            </a:r>
            <a:r>
              <a:rPr lang="en-US" altLang="ko-KR" dirty="0"/>
              <a:t> </a:t>
            </a:r>
            <a:r>
              <a:rPr lang="ko-KR" altLang="en-US" dirty="0"/>
              <a:t>생성 시간 </a:t>
            </a:r>
            <a:r>
              <a:rPr lang="en-US" altLang="ko-KR" dirty="0"/>
              <a:t>= </a:t>
            </a:r>
            <a:r>
              <a:rPr lang="ko-KR" altLang="en-US" dirty="0"/>
              <a:t>암호화된 키</a:t>
            </a:r>
            <a:r>
              <a:rPr lang="en-US" altLang="ko-KR" dirty="0"/>
              <a:t>(</a:t>
            </a:r>
            <a:r>
              <a:rPr lang="ko-KR" altLang="en-US" dirty="0" err="1"/>
              <a:t>카됴</a:t>
            </a:r>
            <a:r>
              <a:rPr lang="en-US" altLang="ko-KR" dirty="0"/>
              <a:t>)</a:t>
            </a:r>
            <a:r>
              <a:rPr lang="ko-KR" altLang="en-US" dirty="0"/>
              <a:t>와 계산된 값</a:t>
            </a:r>
            <a:r>
              <a:rPr lang="en-US" altLang="ko-KR" dirty="0"/>
              <a:t>(witness)</a:t>
            </a:r>
            <a:r>
              <a:rPr lang="ko-KR" altLang="en-US" dirty="0"/>
              <a:t>를 가지고 수학  연산을 수행하여 암호문 만드는 과정에 걸리는 시간 </a:t>
            </a:r>
            <a:r>
              <a:rPr lang="en-US" altLang="ko-KR" dirty="0"/>
              <a:t>= CPU </a:t>
            </a:r>
            <a:r>
              <a:rPr lang="ko-KR" altLang="en-US" dirty="0"/>
              <a:t>가장 많은 시간 소요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91E7158-6C93-9E4A-299B-20CEE8A21F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26738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96069A-B2F6-4FA1-AD4D-2A323F30C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19AA13B-A8E5-4FE8-A0C3-D3B2AFC20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B6C15F-F3F5-4FD9-905B-15117DA31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D11E-A0F7-4FA6-ACB7-78AA5BA9D62F}" type="datetime1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1A8263-FD44-4E94-B425-7997E926A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82FA20-B669-4095-A48B-C38AD003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975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DBC53-D141-4CA5-B5A2-F3FFB856A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52" y="176443"/>
            <a:ext cx="12021437" cy="687161"/>
          </a:xfrm>
        </p:spPr>
        <p:txBody>
          <a:bodyPr/>
          <a:lstStyle>
            <a:lvl1pPr>
              <a:defRPr b="1">
                <a:solidFill>
                  <a:srgbClr val="002C62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4B7B04-A8B7-4F63-8E44-AF4B7DF11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68ECB3-E602-48E8-B4DD-6395774C1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24C7B-84A8-4EA4-A24F-E6D033A0AF5B}" type="datetime1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266D8C-21AF-4084-9D7F-D22D3B951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E35378-C752-4505-80FB-FEE7F104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4540" y="6356350"/>
            <a:ext cx="2743200" cy="365125"/>
          </a:xfrm>
        </p:spPr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15E7BE2-ECE1-4BDD-B754-E19AA34FEEB8}"/>
              </a:ext>
            </a:extLst>
          </p:cNvPr>
          <p:cNvCxnSpPr>
            <a:cxnSpLocks/>
          </p:cNvCxnSpPr>
          <p:nvPr userDrawn="1"/>
        </p:nvCxnSpPr>
        <p:spPr>
          <a:xfrm>
            <a:off x="35168" y="176443"/>
            <a:ext cx="0" cy="687161"/>
          </a:xfrm>
          <a:prstGeom prst="line">
            <a:avLst/>
          </a:prstGeom>
          <a:ln w="76200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0911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DA98FC-457C-4539-A9F9-5E33F436F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16A6F8-E102-4969-BC2D-A82CAFD1C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111405-D260-4CEE-AB0F-2164CC9F7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06B30-2073-4305-9D3A-0916E29AB440}" type="datetime1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8A5793-DA58-417A-BB19-EB5FB470D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10BC3D-30E2-4719-AB75-90B6AC055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696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210D63-A220-4A80-8040-023B45C33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800E88-D9CC-40E2-A228-1DF3046AF3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C85741-AD4A-423C-BBF8-BEE9F218D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05DFA8-92FE-436A-AABA-BB7F4D5E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BFF7C-6511-4AE1-B612-A30E568F1FCB}" type="datetime1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18C9D4-14AE-42F2-B4D2-8D67F2DF8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2C7BB9-6B70-4AA3-A457-200DB844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70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4DC8E2-E156-4C1B-A2F5-A8BA9612C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4FBECB-0E3D-4BC8-9FE2-C3AAA031D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A68962-5696-4C86-8B90-D8C66C87F0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EF4313-1D05-4480-A6D5-56E1DB4DA4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FD04F94-7B0E-43B5-902F-88072858C6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0CCBDA9-B265-4A3B-8511-7B749734A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DD75-5095-4C61-91A4-CF88A65BDFB9}" type="datetime1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CCC3DF3-CFF5-4FB2-9D5C-7C408E7C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4E32E33-68B4-43E5-8FD5-35CF40715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405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D93D4F-BBC4-484E-B69C-ED5B1B6D2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1A50EB4-34A2-44F9-A98D-4C7F1499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530C-2AA3-4CF7-9FD5-BD5A25DD584B}" type="datetime1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887AA7-BB40-49EF-A7BD-9B42012F7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5BCA18-5903-472D-A59F-371D567EA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624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3052FA-83BA-4B4E-AF86-D946E318B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9933-39D2-48D7-81EE-0FA4E39D937B}" type="datetime1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9648522-4FEF-4AEC-BD94-28251C3B7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FE2665-8B25-4024-BBEC-CFAC9CD2C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178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8BDAE-5BD4-4FF7-B0F3-2914ED8D3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223818-7332-4BC2-B08E-202545FA3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66E1A0-55B8-4C56-8061-3E942BB15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819FB9-7A93-44A4-9048-D8E152B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35F7E-94F8-43AF-BA3C-2C0EFE7FEF59}" type="datetime1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3777AD-299E-42C8-BD4A-C33CBFD24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738496-BED7-46A0-9B6C-3A0ED70BD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743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251FE-50B6-429C-A5B6-41CCC4B08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4F9112C-74FA-48DA-9F57-A0FE41483F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CC4692-8176-450C-BFAF-3623A36B2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8D725E-2EA1-46CB-8A4F-9EDF17CC8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E7615-84C3-4169-9A08-54E8DCDD2913}" type="datetime1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5FC6DA-7A65-4895-8AF7-FC7B67E9A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9FC8C7-18E7-449C-AD48-0ABB0EF9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485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C3C79F-5B5B-415E-8024-08261215D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4E4B49-C25B-456D-A666-A3AB7DB27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144563-52D8-4510-89D4-6B03708ED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0212-C18E-4A1F-93E7-F7CEC1EDC046}" type="datetime1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FBE8A6-E611-47E5-A029-CFA1EBF26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03308A-F8BF-490F-A63A-ECA122FA5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06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BC554A-B6FF-46DB-ACAB-826BF9D91C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BDF5C3-6FAC-47AB-BB19-0321DBAF5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A40FDA-BF4D-4F35-BECE-9F365FE6C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6BDA-DA22-4CDD-A71E-4F480C069A60}" type="datetime1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2C4534-204F-4701-868E-3EDA14DF9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C512BC-7F13-464E-ADBC-25743F33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006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3C559B7-6256-431E-A890-529AA36F9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519C8B-4FA7-4FB2-8717-1669983D3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61D0ED-6A06-41E6-9D97-FF94C8170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768DCC-8D9B-4B47-BE29-50C716B9994F}" type="datetime1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D21631-28ED-4C23-820E-5CA390255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6A2E70-8EAA-4B18-8A7B-601C41DD1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88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BF76F126-0A4F-46B8-9B2B-8C3F76512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2800" y="5004758"/>
            <a:ext cx="5821861" cy="959759"/>
          </a:xfrm>
        </p:spPr>
        <p:txBody>
          <a:bodyPr>
            <a:normAutofit/>
          </a:bodyPr>
          <a:lstStyle/>
          <a:p>
            <a:pPr algn="r"/>
            <a:r>
              <a:rPr lang="en-US" altLang="ko-KR" b="1" dirty="0" err="1">
                <a:solidFill>
                  <a:srgbClr val="002C62"/>
                </a:solidFill>
              </a:rPr>
              <a:t>Suhak</a:t>
            </a:r>
            <a:r>
              <a:rPr lang="en-US" altLang="ko-KR" b="1" dirty="0">
                <a:solidFill>
                  <a:srgbClr val="002C62"/>
                </a:solidFill>
              </a:rPr>
              <a:t> Lee</a:t>
            </a:r>
          </a:p>
          <a:p>
            <a:pPr algn="r"/>
            <a:r>
              <a:rPr lang="en-US" altLang="ko-KR" b="1" dirty="0">
                <a:solidFill>
                  <a:srgbClr val="002C62"/>
                </a:solidFill>
              </a:rPr>
              <a:t>Department of Computer Engineering</a:t>
            </a:r>
          </a:p>
          <a:p>
            <a:pPr algn="r"/>
            <a:endParaRPr lang="ko-KR" altLang="en-US" b="1" dirty="0">
              <a:solidFill>
                <a:srgbClr val="002C62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500BC8-BD81-46C1-9DB9-8BCC851C5446}"/>
              </a:ext>
            </a:extLst>
          </p:cNvPr>
          <p:cNvSpPr/>
          <p:nvPr/>
        </p:nvSpPr>
        <p:spPr>
          <a:xfrm>
            <a:off x="-1" y="2135416"/>
            <a:ext cx="12192000" cy="2079997"/>
          </a:xfrm>
          <a:prstGeom prst="rect">
            <a:avLst/>
          </a:prstGeom>
          <a:solidFill>
            <a:srgbClr val="002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Picture 381" descr="악세사리">
            <a:extLst>
              <a:ext uri="{FF2B5EF4-FFF2-40B4-BE49-F238E27FC236}">
                <a16:creationId xmlns:a16="http://schemas.microsoft.com/office/drawing/2014/main" id="{6D421F4B-5169-46B4-9249-AB53789FC1C6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 rot="16200000" flipV="1">
            <a:off x="6022181" y="-1806768"/>
            <a:ext cx="147638" cy="12192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EB04FD9-6A59-4C4E-B0B6-829FC2BFF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450" y="2242315"/>
            <a:ext cx="10453006" cy="1604508"/>
          </a:xfrm>
        </p:spPr>
        <p:txBody>
          <a:bodyPr>
            <a:normAutofit/>
          </a:bodyPr>
          <a:lstStyle/>
          <a:p>
            <a:pPr algn="r"/>
            <a:r>
              <a:rPr lang="ko-KR" altLang="en-US" sz="44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해시함수</a:t>
            </a:r>
            <a:r>
              <a:rPr lang="en-US" altLang="ko-KR" sz="44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 ZK </a:t>
            </a:r>
            <a:r>
              <a:rPr lang="ko-KR" altLang="en-US" sz="44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회로 비용 분석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5E8C29-A238-4DD7-B7C5-335AFB9E0EF2}"/>
              </a:ext>
            </a:extLst>
          </p:cNvPr>
          <p:cNvSpPr/>
          <p:nvPr/>
        </p:nvSpPr>
        <p:spPr>
          <a:xfrm flipH="1">
            <a:off x="11786144" y="5004758"/>
            <a:ext cx="45719" cy="959758"/>
          </a:xfrm>
          <a:prstGeom prst="rect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28" name="Picture 4" descr="HONGIK UNIVERSITY">
            <a:extLst>
              <a:ext uri="{FF2B5EF4-FFF2-40B4-BE49-F238E27FC236}">
                <a16:creationId xmlns:a16="http://schemas.microsoft.com/office/drawing/2014/main" id="{6B30C8C5-C24D-49AC-8DCD-2AC2166EC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80" y="1773596"/>
            <a:ext cx="3089820" cy="214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부제목 2">
            <a:extLst>
              <a:ext uri="{FF2B5EF4-FFF2-40B4-BE49-F238E27FC236}">
                <a16:creationId xmlns:a16="http://schemas.microsoft.com/office/drawing/2014/main" id="{6DD967C6-5A84-204B-192A-9720D2E48DAD}"/>
              </a:ext>
            </a:extLst>
          </p:cNvPr>
          <p:cNvSpPr txBox="1">
            <a:spLocks/>
          </p:cNvSpPr>
          <p:nvPr/>
        </p:nvSpPr>
        <p:spPr>
          <a:xfrm>
            <a:off x="9861452" y="1666695"/>
            <a:ext cx="2033004" cy="4279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b="1" dirty="0">
                <a:solidFill>
                  <a:srgbClr val="002C62"/>
                </a:solidFill>
              </a:rPr>
              <a:t>2025</a:t>
            </a:r>
            <a:r>
              <a:rPr lang="ko-KR" altLang="en-US" b="1" dirty="0">
                <a:solidFill>
                  <a:srgbClr val="002C62"/>
                </a:solidFill>
              </a:rPr>
              <a:t>년 </a:t>
            </a:r>
            <a:r>
              <a:rPr lang="en-US" altLang="ko-KR" b="1" dirty="0">
                <a:solidFill>
                  <a:srgbClr val="002C62"/>
                </a:solidFill>
              </a:rPr>
              <a:t>12</a:t>
            </a:r>
            <a:r>
              <a:rPr lang="ko-KR" altLang="en-US" b="1" dirty="0">
                <a:solidFill>
                  <a:srgbClr val="002C62"/>
                </a:solidFill>
              </a:rPr>
              <a:t>월 </a:t>
            </a:r>
            <a:r>
              <a:rPr lang="en-US" altLang="ko-KR" b="1" dirty="0">
                <a:solidFill>
                  <a:srgbClr val="002C62"/>
                </a:solidFill>
              </a:rPr>
              <a:t>10</a:t>
            </a:r>
            <a:r>
              <a:rPr lang="ko-KR" altLang="en-US" b="1" dirty="0">
                <a:solidFill>
                  <a:srgbClr val="002C62"/>
                </a:solidFill>
              </a:rPr>
              <a:t>일</a:t>
            </a:r>
            <a:endParaRPr lang="en-US" altLang="ko-KR" b="1" dirty="0">
              <a:solidFill>
                <a:srgbClr val="002C6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0686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5BB03-C6B5-4A77-4BDD-F79F6341E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9C4D6B-F2EC-9B93-A1B0-5A509A619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err="1"/>
              <a:t>zk</a:t>
            </a:r>
            <a:r>
              <a:rPr lang="en-US" altLang="ko-KR" dirty="0"/>
              <a:t>-SNARK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DAB4B01-1C5F-54F8-5FED-4119A174C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2</a:t>
            </a:fld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4CFD5C5-CF00-1D18-F24B-70DF4EBEE026}"/>
                  </a:ext>
                </a:extLst>
              </p:cNvPr>
              <p:cNvSpPr txBox="1"/>
              <p:nvPr/>
            </p:nvSpPr>
            <p:spPr>
              <a:xfrm>
                <a:off x="923161" y="1445265"/>
                <a:ext cx="9671539" cy="3574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/>
                  <a:t>zk-SNAKR(zero-knowledge succinct non-interactive argument of knowledge)</a:t>
                </a:r>
                <a:endParaRPr lang="en-US" altLang="ko-KR" sz="1600" b="1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 err="1"/>
                  <a:t>ZKProof</a:t>
                </a:r>
                <a:r>
                  <a:rPr lang="en-US" altLang="ko-KR" sz="1600" dirty="0"/>
                  <a:t> </a:t>
                </a:r>
                <a:r>
                  <a:rPr lang="ko-KR" altLang="en-US" sz="1600" dirty="0"/>
                  <a:t>체계 중 하나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생성된 증명의 크기와 확인하는데 필요한 시간을 수백 바이트</a:t>
                </a:r>
                <a:r>
                  <a:rPr lang="en-US" altLang="ko-KR" sz="1600" dirty="0"/>
                  <a:t>, </a:t>
                </a:r>
                <a:r>
                  <a:rPr lang="ko-KR" altLang="en-US" sz="1600" dirty="0" err="1"/>
                  <a:t>밀리초</a:t>
                </a:r>
                <a:r>
                  <a:rPr lang="ko-KR" altLang="en-US" sz="1600" dirty="0"/>
                  <a:t> 범위내로 한정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/>
                  <a:t>ZKP </a:t>
                </a:r>
                <a:r>
                  <a:rPr lang="ko-KR" altLang="en-US" sz="1600" dirty="0"/>
                  <a:t>확인을 위해 사용하기 쉬움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검증 시간이 증명해야 할 </a:t>
                </a:r>
                <a:r>
                  <a:rPr lang="ko-KR" altLang="en-US" sz="1600" dirty="0" err="1"/>
                  <a:t>연산량과</a:t>
                </a:r>
                <a:r>
                  <a:rPr lang="ko-KR" altLang="en-US" sz="1600" dirty="0"/>
                  <a:t> 무관하게 거의 일정</a:t>
                </a:r>
                <a:r>
                  <a:rPr lang="en-US" altLang="ko-KR" sz="1600" dirty="0"/>
                  <a:t>(Constant time)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 err="1"/>
                  <a:t>zk</a:t>
                </a:r>
                <a:r>
                  <a:rPr lang="en-US" altLang="ko-KR" sz="1600" dirty="0"/>
                  <a:t>-SNARK</a:t>
                </a:r>
                <a:r>
                  <a:rPr lang="ko-KR" altLang="en-US" sz="1600" dirty="0"/>
                  <a:t>도 여러 체계로 나뉨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r>
                  <a:rPr lang="ko-KR" altLang="en-US" sz="1600" b="1" dirty="0"/>
                  <a:t>기본 </a:t>
                </a:r>
                <a:r>
                  <a:rPr lang="en-US" altLang="ko-KR" sz="1600" b="1" dirty="0" err="1"/>
                  <a:t>zk</a:t>
                </a:r>
                <a:r>
                  <a:rPr lang="en-US" altLang="ko-KR" sz="1600" b="1" dirty="0"/>
                  <a:t>-SNAKR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근이 있는 다항식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ko-KR" altLang="en-US" sz="1600" i="1">
                        <a:latin typeface="Cambria Math" panose="02040503050406030204" pitchFamily="18" charset="0"/>
                      </a:rPr>
                      <m:t>을</m:t>
                    </m:r>
                  </m:oMath>
                </a14:m>
                <a:r>
                  <a:rPr lang="en-US" altLang="ko-KR" sz="1600" dirty="0"/>
                  <a:t> </a:t>
                </a:r>
                <a:r>
                  <a:rPr lang="ko-KR" altLang="en-US" sz="1600" dirty="0"/>
                  <a:t>알고 있음을 증명하는 것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방법 </a:t>
                </a:r>
                <a:r>
                  <a:rPr lang="en-US" altLang="ko-KR" sz="1600" dirty="0"/>
                  <a:t>: </a:t>
                </a:r>
                <a:r>
                  <a:rPr lang="ko-KR" altLang="en-US" sz="1600" dirty="0"/>
                  <a:t>비밀 다항식에 근을 대입했을 때 값이 </a:t>
                </a:r>
                <a:r>
                  <a:rPr lang="en-US" altLang="ko-KR" sz="1600" dirty="0"/>
                  <a:t>0</a:t>
                </a:r>
                <a:r>
                  <a:rPr lang="ko-KR" altLang="en-US" sz="1600" dirty="0"/>
                  <a:t>이 됨을 증명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4CFD5C5-CF00-1D18-F24B-70DF4EBEE0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161" y="1445265"/>
                <a:ext cx="9671539" cy="3574055"/>
              </a:xfrm>
              <a:prstGeom prst="rect">
                <a:avLst/>
              </a:prstGeom>
              <a:blipFill>
                <a:blip r:embed="rId3"/>
                <a:stretch>
                  <a:fillRect l="-504" t="-85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2449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B06F2-69DA-3EF4-EA51-E35423FA1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B43067-AC14-1FBD-4DFE-6F2F5D1D8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산술 회로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3BE4E7-CE3C-3864-00AF-EBE490C69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3</a:t>
            </a:fld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99E1DC2-300A-C6C5-A082-5178473C0D5E}"/>
                  </a:ext>
                </a:extLst>
              </p:cNvPr>
              <p:cNvSpPr txBox="1"/>
              <p:nvPr/>
            </p:nvSpPr>
            <p:spPr>
              <a:xfrm>
                <a:off x="909093" y="1016202"/>
                <a:ext cx="9671539" cy="55399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b="1" dirty="0"/>
                  <a:t>산술회로</a:t>
                </a:r>
                <a:endParaRPr lang="en-US" altLang="ko-KR" b="1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 err="1"/>
                  <a:t>zk</a:t>
                </a:r>
                <a:r>
                  <a:rPr lang="en-US" altLang="ko-KR" sz="1600" dirty="0"/>
                  <a:t>-SNAKR</a:t>
                </a:r>
                <a:r>
                  <a:rPr lang="ko-KR" altLang="en-US" sz="1600" dirty="0"/>
                  <a:t> 등을</a:t>
                </a:r>
                <a:r>
                  <a:rPr lang="en-US" altLang="ko-KR" sz="1600" dirty="0"/>
                  <a:t> </a:t>
                </a:r>
                <a:r>
                  <a:rPr lang="ko-KR" altLang="en-US" sz="1600" dirty="0"/>
                  <a:t>사용할 때에는 프로그램을 산술 회로로 변환하는 과정이 필요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방정식에서 얻은 입력과 출력을 채우면 등식이 정확하게 </a:t>
                </a:r>
                <a:r>
                  <a:rPr lang="ko-KR" altLang="en-US" sz="1600" dirty="0" err="1"/>
                  <a:t>성립해야함</a:t>
                </a:r>
                <a:r>
                  <a:rPr lang="en-US" altLang="ko-KR" sz="1600" dirty="0"/>
                  <a:t>(</a:t>
                </a:r>
                <a:r>
                  <a:rPr lang="ko-KR" altLang="en-US" sz="1600" dirty="0"/>
                  <a:t>성립하지 않을 경우 유효한 실행이 아닌 것으로 간주</a:t>
                </a:r>
                <a:r>
                  <a:rPr lang="en-US" altLang="ko-KR" sz="1600" dirty="0"/>
                  <a:t>)</a:t>
                </a:r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산술 회로는 </a:t>
                </a:r>
                <a:r>
                  <a:rPr lang="en-US" altLang="ko-KR" sz="1600" dirty="0"/>
                  <a:t>R1CS(rank-1 constraint system)</a:t>
                </a:r>
                <a:r>
                  <a:rPr lang="ko-KR" altLang="en-US" sz="1600" dirty="0"/>
                  <a:t>로 구성됨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덧셈과 상수 곱셈은 비용이 </a:t>
                </a:r>
                <a:r>
                  <a:rPr lang="en-US" altLang="ko-KR" sz="1600" dirty="0"/>
                  <a:t>0</a:t>
                </a:r>
                <a:r>
                  <a:rPr lang="ko-KR" altLang="en-US" sz="1600" dirty="0"/>
                  <a:t>에 가깝지만 변수 간의 곱셈은 비용이 비쌈</a:t>
                </a:r>
                <a:r>
                  <a:rPr lang="en-US" altLang="ko-KR" sz="1600" dirty="0"/>
                  <a:t>(1 </a:t>
                </a:r>
                <a:r>
                  <a:rPr lang="ko-KR" altLang="en-US" sz="1600" dirty="0"/>
                  <a:t>제약 조건</a:t>
                </a:r>
                <a:r>
                  <a:rPr lang="en-US" altLang="ko-KR" sz="1600" dirty="0"/>
                  <a:t>)</a:t>
                </a:r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r>
                  <a:rPr lang="en-US" altLang="ko-KR" sz="1600" b="1" dirty="0"/>
                  <a:t>R1CS(rank-1 constraint system)</a:t>
                </a:r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 ×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ko-KR" altLang="en-US" sz="1600" dirty="0"/>
                  <a:t>형식의 일련의 방정식 </a:t>
                </a:r>
                <a:r>
                  <a:rPr lang="en-US" altLang="ko-KR" sz="1600" dirty="0"/>
                  <a:t>(L, R, O</a:t>
                </a:r>
                <a:r>
                  <a:rPr lang="ko-KR" altLang="en-US" sz="1600" dirty="0"/>
                  <a:t>는 특정 변수 덧셈의 결과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곱셈은 </a:t>
                </a:r>
                <a:r>
                  <a:rPr lang="en-US" altLang="ko-KR" sz="1600" dirty="0"/>
                  <a:t>L, R </a:t>
                </a:r>
                <a:r>
                  <a:rPr lang="ko-KR" altLang="en-US" sz="1600" dirty="0"/>
                  <a:t>사이에만 존재</a:t>
                </a:r>
                <a:r>
                  <a:rPr lang="en-US" altLang="ko-KR" sz="1600" dirty="0"/>
                  <a:t>)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/>
                  <a:t>ex) a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 ×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+3)=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ko-KR" sz="1600" dirty="0"/>
                  <a:t>, w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 ×</m:t>
                    </m:r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ko-KR" sz="1600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w</m:t>
                    </m:r>
                    <m:r>
                      <a:rPr lang="en-US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altLang="ko-KR" sz="1600" dirty="0"/>
                  <a:t> (w</a:t>
                </a:r>
                <a:r>
                  <a:rPr lang="ko-KR" altLang="en-US" sz="1600" dirty="0"/>
                  <a:t>는 </a:t>
                </a:r>
                <a:r>
                  <a:rPr lang="en-US" altLang="ko-KR" sz="1600" dirty="0"/>
                  <a:t>0 </a:t>
                </a:r>
                <a:r>
                  <a:rPr lang="ko-KR" altLang="en-US" sz="1600" dirty="0"/>
                  <a:t>또는 </a:t>
                </a:r>
                <a:r>
                  <a:rPr lang="en-US" altLang="ko-KR" sz="1600" dirty="0"/>
                  <a:t>1</a:t>
                </a:r>
                <a:r>
                  <a:rPr lang="ko-KR" altLang="en-US" sz="1600" dirty="0"/>
                  <a:t>이라는 제약 조건</a:t>
                </a:r>
                <a:r>
                  <a:rPr lang="en-US" altLang="ko-KR" sz="1600" dirty="0"/>
                  <a:t>)</a:t>
                </a:r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프로그램 실행의 입력 및 출력과 일치한고 주장하는 일련의 값을 검증자에게 제공 → 검증자는 해당 값으로 등식이 성립하는지 확인할 수 </a:t>
                </a:r>
                <a:r>
                  <a:rPr lang="ko-KR" altLang="en-US" sz="1600" dirty="0" err="1"/>
                  <a:t>있어야함</a:t>
                </a:r>
                <a:endParaRPr lang="en-US" altLang="ko-KR" sz="1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99E1DC2-300A-C6C5-A082-5178473C0D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093" y="1016202"/>
                <a:ext cx="9671539" cy="5539978"/>
              </a:xfrm>
              <a:prstGeom prst="rect">
                <a:avLst/>
              </a:prstGeom>
              <a:blipFill>
                <a:blip r:embed="rId3"/>
                <a:stretch>
                  <a:fillRect l="-504" t="-661" b="-44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 descr="텍스트, 폰트, 친필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1A46CCA-961E-F34B-91D4-9EBB6D3805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9900" y="3042016"/>
            <a:ext cx="1976512" cy="132623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2967EB6-17B8-09FD-6296-1A3F53D1AD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8069" y="3347017"/>
            <a:ext cx="4826038" cy="419655"/>
          </a:xfrm>
          <a:prstGeom prst="rect">
            <a:avLst/>
          </a:prstGeom>
        </p:spPr>
      </p:pic>
      <p:sp>
        <p:nvSpPr>
          <p:cNvPr id="10" name="화살표: 왼쪽/오른쪽 9">
            <a:extLst>
              <a:ext uri="{FF2B5EF4-FFF2-40B4-BE49-F238E27FC236}">
                <a16:creationId xmlns:a16="http://schemas.microsoft.com/office/drawing/2014/main" id="{10892C17-E955-7E24-BB84-E3EA2847C279}"/>
              </a:ext>
            </a:extLst>
          </p:cNvPr>
          <p:cNvSpPr/>
          <p:nvPr/>
        </p:nvSpPr>
        <p:spPr>
          <a:xfrm>
            <a:off x="4065514" y="3419963"/>
            <a:ext cx="1136124" cy="318249"/>
          </a:xfrm>
          <a:prstGeom prst="leftRightArrow">
            <a:avLst/>
          </a:prstGeom>
          <a:solidFill>
            <a:srgbClr val="002C6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A56F57-5E9F-6C1F-A658-D413B56FD599}"/>
              </a:ext>
            </a:extLst>
          </p:cNvPr>
          <p:cNvSpPr txBox="1"/>
          <p:nvPr/>
        </p:nvSpPr>
        <p:spPr>
          <a:xfrm>
            <a:off x="3937475" y="4306355"/>
            <a:ext cx="17177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제약 조건 변환 예시</a:t>
            </a: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1393715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CCEBA-84FA-02A6-5372-651D11C47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7EBCDD-0BA8-D415-1BE2-20838ABB6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Poseidon</a:t>
            </a:r>
            <a:r>
              <a:rPr lang="ko-KR" altLang="en-US" dirty="0"/>
              <a:t>의 회로 비용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6EBB8A-DF79-5524-1922-9086A0CB1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4</a:t>
            </a:fld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9BE1CDB-8D07-6E57-A634-8D4C54D1D05B}"/>
                  </a:ext>
                </a:extLst>
              </p:cNvPr>
              <p:cNvSpPr txBox="1"/>
              <p:nvPr/>
            </p:nvSpPr>
            <p:spPr>
              <a:xfrm>
                <a:off x="1006789" y="1487467"/>
                <a:ext cx="10348961" cy="36038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/>
                  <a:t>Poseidon</a:t>
                </a:r>
                <a:r>
                  <a:rPr lang="ko-KR" altLang="en-US" b="1" dirty="0"/>
                  <a:t>의 회로 비용</a:t>
                </a:r>
                <a:endParaRPr lang="en-US" altLang="ko-KR" b="1" dirty="0"/>
              </a:p>
              <a:p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 err="1"/>
                  <a:t>zk</a:t>
                </a:r>
                <a:r>
                  <a:rPr lang="en-US" altLang="ko-KR" sz="1600" dirty="0"/>
                  <a:t>-SNARK(R1CS) </a:t>
                </a:r>
                <a:r>
                  <a:rPr lang="ko-KR" altLang="en-US" sz="1600" dirty="0"/>
                  <a:t>환경에서의 비용 </a:t>
                </a:r>
                <a:r>
                  <a:rPr lang="en-US" altLang="ko-KR" sz="1600" dirty="0"/>
                  <a:t>= </a:t>
                </a:r>
                <a:r>
                  <a:rPr lang="ko-KR" altLang="en-US" sz="1600" dirty="0"/>
                  <a:t>제약 조건의 수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/>
                  <a:t>Poseidon</a:t>
                </a:r>
                <a:r>
                  <a:rPr lang="ko-KR" altLang="en-US" sz="1600" dirty="0"/>
                  <a:t>의 비용은 주로 </a:t>
                </a:r>
                <a:r>
                  <a:rPr lang="en-US" altLang="ko-KR" sz="1600" dirty="0"/>
                  <a:t>S-box</a:t>
                </a:r>
                <a:r>
                  <a:rPr lang="ko-KR" altLang="en-US" sz="1600" dirty="0"/>
                  <a:t> 연산에서 발생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/>
                  <a:t>MDS </a:t>
                </a:r>
                <a:r>
                  <a:rPr lang="ko-KR" altLang="en-US" sz="1600" dirty="0"/>
                  <a:t>곱셈은 </a:t>
                </a:r>
                <a:r>
                  <a:rPr lang="en-US" altLang="ko-KR" sz="1600" dirty="0"/>
                  <a:t>cost</a:t>
                </a:r>
                <a:r>
                  <a:rPr lang="ko-KR" altLang="en-US" sz="1600" dirty="0"/>
                  <a:t> 거의 </a:t>
                </a:r>
                <a:r>
                  <a:rPr lang="en-US" altLang="ko-KR" sz="1600" dirty="0"/>
                  <a:t>X</a:t>
                </a:r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총 제약 조건 수 </a:t>
                </a:r>
                <a14:m>
                  <m:oMath xmlns:m="http://schemas.openxmlformats.org/officeDocument/2006/math">
                    <m:r>
                      <a:rPr lang="ko-KR" altLang="en-US" sz="1600" i="1" smtClean="0"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altLang="ko-KR" sz="1600" dirty="0"/>
                  <a:t> S-box </a:t>
                </a:r>
                <a:r>
                  <a:rPr lang="ko-KR" altLang="en-US" sz="1600" dirty="0"/>
                  <a:t>총 개수 </a:t>
                </a:r>
                <a14:m>
                  <m:oMath xmlns:m="http://schemas.openxmlformats.org/officeDocument/2006/math">
                    <m:r>
                      <a:rPr lang="en-US" altLang="ko-KR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ko-KR" sz="1600" dirty="0"/>
                  <a:t> S-box </a:t>
                </a:r>
                <a:r>
                  <a:rPr lang="ko-KR" altLang="en-US" sz="1600" dirty="0"/>
                  <a:t>당 비용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r>
                  <a:rPr lang="en-US" altLang="ko-KR" b="1" dirty="0"/>
                  <a:t>Poseidon</a:t>
                </a:r>
                <a:r>
                  <a:rPr lang="ko-KR" altLang="en-US" b="1" dirty="0"/>
                  <a:t>의 회로 비용 계산</a:t>
                </a:r>
                <a:endParaRPr lang="en-US" altLang="ko-KR" sz="1600" b="1" dirty="0"/>
              </a:p>
              <a:p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/>
                  <a:t>S-box</a:t>
                </a:r>
                <a:r>
                  <a:rPr lang="ko-KR" altLang="en-US" sz="1600" dirty="0"/>
                  <a:t>는</a:t>
                </a:r>
                <a14:m>
                  <m:oMath xmlns:m="http://schemas.openxmlformats.org/officeDocument/2006/math">
                    <m:r>
                      <a:rPr lang="en-US" altLang="ko-KR" sz="1600" b="0" i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ko-KR" altLang="en-US" sz="1600" dirty="0"/>
                  <a:t>연산을 사용</a:t>
                </a:r>
                <a:r>
                  <a:rPr lang="en-US" altLang="ko-KR" sz="1600" dirty="0"/>
                  <a:t>, Full Round</a:t>
                </a:r>
                <a:r>
                  <a:rPr lang="ko-KR" altLang="en-US" sz="1600" dirty="0"/>
                  <a:t>는 </a:t>
                </a:r>
                <a:r>
                  <a:rPr lang="en-US" altLang="ko-KR" sz="1600" dirty="0"/>
                  <a:t>8, Partial Round</a:t>
                </a:r>
                <a:r>
                  <a:rPr lang="ko-KR" altLang="en-US" sz="1600" dirty="0"/>
                  <a:t>는 </a:t>
                </a:r>
                <a:r>
                  <a:rPr lang="en-US" altLang="ko-KR" sz="1600" dirty="0"/>
                  <a:t>57, </a:t>
                </a:r>
                <a:r>
                  <a:rPr lang="ko-KR" altLang="en-US" sz="1600" dirty="0"/>
                  <a:t>총 </a:t>
                </a:r>
                <a:r>
                  <a:rPr lang="en-US" altLang="ko-KR" sz="1600" dirty="0"/>
                  <a:t>state</a:t>
                </a:r>
                <a:r>
                  <a:rPr lang="ko-KR" altLang="en-US" sz="1600" dirty="0"/>
                  <a:t>의 개수는 </a:t>
                </a:r>
                <a:r>
                  <a:rPr lang="en-US" altLang="ko-KR" sz="1600" dirty="0"/>
                  <a:t>3</a:t>
                </a:r>
                <a:r>
                  <a:rPr lang="ko-KR" altLang="en-US" sz="1600" dirty="0"/>
                  <a:t>개라고 가정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/>
                  <a:t>S-box </a:t>
                </a:r>
                <a:r>
                  <a:rPr lang="ko-KR" altLang="en-US" sz="1600" dirty="0"/>
                  <a:t>제약 조건 수 </a:t>
                </a:r>
                <a:r>
                  <a:rPr lang="en-US" altLang="ko-KR" sz="1600" dirty="0"/>
                  <a:t>= 3 (</a:t>
                </a:r>
                <a:r>
                  <a:rPr lang="ko-KR" altLang="en-US" sz="1600" dirty="0"/>
                  <a:t>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 ×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총 </a:t>
                </a:r>
                <a:r>
                  <a:rPr lang="en-US" altLang="ko-KR" sz="1600" dirty="0"/>
                  <a:t>S-box </a:t>
                </a:r>
                <a:r>
                  <a:rPr lang="ko-KR" altLang="en-US" sz="1600" dirty="0"/>
                  <a:t>수 </a:t>
                </a:r>
                <a:r>
                  <a:rPr lang="en-US" altLang="ko-KR" sz="1600" dirty="0"/>
                  <a:t>= 81</a:t>
                </a:r>
                <a:r>
                  <a:rPr lang="ko-KR" altLang="en-US" sz="1600" dirty="0"/>
                  <a:t>개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총 제약 조건 수 </a:t>
                </a:r>
                <a:r>
                  <a:rPr lang="en-US" altLang="ko-KR" sz="1600" dirty="0"/>
                  <a:t>= 243</a:t>
                </a:r>
                <a:r>
                  <a:rPr lang="ko-KR" altLang="en-US" sz="1600" dirty="0"/>
                  <a:t>개</a:t>
                </a:r>
                <a:endParaRPr lang="en-US" altLang="ko-KR" sz="1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9BE1CDB-8D07-6E57-A634-8D4C54D1D0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789" y="1487467"/>
                <a:ext cx="10348961" cy="3603807"/>
              </a:xfrm>
              <a:prstGeom prst="rect">
                <a:avLst/>
              </a:prstGeom>
              <a:blipFill>
                <a:blip r:embed="rId3"/>
                <a:stretch>
                  <a:fillRect l="-471" t="-846" b="-135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70774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1D108-ADEA-EB49-0D44-252A18B2D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27091F-CE4C-E4A7-C085-62F795A29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SHA2-256</a:t>
            </a:r>
            <a:r>
              <a:rPr lang="ko-KR" altLang="en-US" dirty="0"/>
              <a:t>의 회로 비용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097E1B-8DED-4B1C-5AFC-D485C3796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5</a:t>
            </a:fld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E01E38F-C9A9-D878-4BDD-416E5C908AF5}"/>
                  </a:ext>
                </a:extLst>
              </p:cNvPr>
              <p:cNvSpPr txBox="1"/>
              <p:nvPr/>
            </p:nvSpPr>
            <p:spPr>
              <a:xfrm>
                <a:off x="1006789" y="1487467"/>
                <a:ext cx="11050951" cy="40934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/>
                  <a:t>SHA2-256</a:t>
                </a:r>
                <a:r>
                  <a:rPr lang="ko-KR" altLang="en-US" b="1" dirty="0"/>
                  <a:t>의 회로 비용</a:t>
                </a:r>
                <a:endParaRPr lang="en-US" altLang="ko-KR" b="1" dirty="0"/>
              </a:p>
              <a:p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/>
                  <a:t>SHA-256</a:t>
                </a:r>
                <a:r>
                  <a:rPr lang="ko-KR" altLang="en-US" sz="1600" dirty="0"/>
                  <a:t>은 비트 단위의 조작을 기반으로 설계됨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 err="1"/>
                  <a:t>zk</a:t>
                </a:r>
                <a:r>
                  <a:rPr lang="en-US" altLang="ko-KR" sz="1600" dirty="0"/>
                  <a:t>-SNAKR</a:t>
                </a:r>
                <a:r>
                  <a:rPr lang="ko-KR" altLang="en-US" sz="1600" dirty="0"/>
                  <a:t>의 </a:t>
                </a:r>
                <a:r>
                  <a:rPr lang="en-US" altLang="ko-KR" sz="1600" dirty="0"/>
                  <a:t>R1CS</a:t>
                </a:r>
                <a:r>
                  <a:rPr lang="ko-KR" altLang="en-US" sz="1600" dirty="0"/>
                  <a:t>는 </a:t>
                </a:r>
                <a:r>
                  <a:rPr lang="en-US" altLang="ko-KR" sz="1600" dirty="0" err="1"/>
                  <a:t>Fp</a:t>
                </a:r>
                <a:r>
                  <a:rPr lang="en-US" altLang="ko-KR" sz="1600" dirty="0"/>
                  <a:t> </a:t>
                </a:r>
                <a:r>
                  <a:rPr lang="ko-KR" altLang="en-US" sz="1600" dirty="0"/>
                  <a:t>위에서 동작하기 때문에 번역 비용 발생</a:t>
                </a:r>
                <a:endParaRPr lang="en-US" altLang="ko-KR" sz="1600" dirty="0"/>
              </a:p>
              <a:p>
                <a:endParaRPr lang="en-US" altLang="ko-KR" sz="1600" dirty="0"/>
              </a:p>
              <a:p>
                <a:r>
                  <a:rPr lang="ko-KR" altLang="en-US" sz="1600" b="1" dirty="0"/>
                  <a:t>연산별 제약 조건</a:t>
                </a:r>
                <a:endParaRPr lang="en-US" altLang="ko-KR" sz="1600" b="1" dirty="0"/>
              </a:p>
              <a:p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/>
                  <a:t>XOR</a:t>
                </a:r>
                <a:r>
                  <a:rPr lang="ko-KR" altLang="en-US" sz="1600" dirty="0"/>
                  <a:t> 연산 </a:t>
                </a:r>
                <a:r>
                  <a:rPr lang="en-US" altLang="ko-KR" sz="1600" dirty="0"/>
                  <a:t>: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 ⊕ 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𝑎𝑏</m:t>
                    </m:r>
                    <m:r>
                      <a:rPr lang="en-US" altLang="ko-KR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sz="1600" dirty="0"/>
                  <a:t>로</a:t>
                </a:r>
                <a:r>
                  <a:rPr lang="en-US" altLang="ko-KR" sz="1600" dirty="0"/>
                  <a:t> </a:t>
                </a:r>
                <a:r>
                  <a:rPr lang="ko-KR" altLang="en-US" sz="1600" dirty="0"/>
                  <a:t>변환 하여 진행 ⇒ </a:t>
                </a:r>
                <a:r>
                  <a:rPr lang="en-US" altLang="ko-KR" sz="1600" dirty="0"/>
                  <a:t>1</a:t>
                </a:r>
                <a:r>
                  <a:rPr lang="ko-KR" altLang="en-US" sz="1600" dirty="0"/>
                  <a:t>개의 제약 조건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/>
                  <a:t>AND </a:t>
                </a:r>
                <a:r>
                  <a:rPr lang="ko-KR" altLang="en-US" sz="1600" dirty="0"/>
                  <a:t>연산 </a:t>
                </a:r>
                <a:r>
                  <a:rPr lang="en-US" altLang="ko-KR" sz="1600" dirty="0"/>
                  <a:t>: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 ∧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 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ko-KR" sz="1600" dirty="0"/>
                  <a:t> </a:t>
                </a:r>
                <a:r>
                  <a:rPr lang="ko-KR" altLang="en-US" sz="1600" dirty="0"/>
                  <a:t>⇒ </a:t>
                </a:r>
                <a:r>
                  <a:rPr lang="en-US" altLang="ko-KR" sz="1600" dirty="0"/>
                  <a:t>1</a:t>
                </a:r>
                <a:r>
                  <a:rPr lang="ko-KR" altLang="en-US" sz="1600" dirty="0"/>
                  <a:t>개의 제약 조건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덧셈 연산 </a:t>
                </a:r>
                <a:r>
                  <a:rPr lang="en-US" altLang="ko-KR" sz="1600" dirty="0"/>
                  <a:t>: </a:t>
                </a:r>
                <a:r>
                  <a:rPr lang="ko-KR" altLang="en-US" sz="1600" dirty="0"/>
                  <a:t>회로 상에서</a:t>
                </a:r>
                <a:r>
                  <a:rPr lang="en-US" altLang="ko-KR" sz="1600" dirty="0"/>
                  <a:t> </a:t>
                </a:r>
                <a:r>
                  <a:rPr lang="ko-KR" altLang="en-US" sz="1600" dirty="0"/>
                  <a:t>동작하기 위해 </a:t>
                </a:r>
                <a:r>
                  <a:rPr lang="en-US" altLang="ko-KR" sz="1600" dirty="0"/>
                  <a:t>mod </a:t>
                </a:r>
                <a:r>
                  <a:rPr lang="ko-KR" altLang="en-US" sz="1600" dirty="0"/>
                  <a:t>연산 진행 </a:t>
                </a:r>
                <a:r>
                  <a:rPr lang="en-US" altLang="ko-KR" sz="1600" dirty="0"/>
                  <a:t> </a:t>
                </a:r>
                <a:r>
                  <a:rPr lang="ko-KR" altLang="en-US" sz="1600" dirty="0"/>
                  <a:t>→ 비트 분해 및 </a:t>
                </a:r>
                <a:r>
                  <a:rPr lang="en-US" altLang="ko-KR" sz="1600" dirty="0"/>
                  <a:t>carry </a:t>
                </a:r>
                <a:r>
                  <a:rPr lang="ko-KR" altLang="en-US" sz="1600" dirty="0"/>
                  <a:t>연산 필요 ⇒ </a:t>
                </a:r>
                <a:r>
                  <a:rPr lang="en-US" altLang="ko-KR" sz="1600" dirty="0"/>
                  <a:t>1~2</a:t>
                </a:r>
                <a:r>
                  <a:rPr lang="ko-KR" altLang="en-US" sz="1600" dirty="0"/>
                  <a:t>개 제약 조건</a:t>
                </a:r>
                <a:r>
                  <a:rPr lang="en-US" altLang="ko-KR" sz="1600" dirty="0"/>
                  <a:t>(1.5</a:t>
                </a:r>
                <a:r>
                  <a:rPr lang="ko-KR" altLang="en-US" sz="1600" dirty="0"/>
                  <a:t>로 계산</a:t>
                </a:r>
                <a:r>
                  <a:rPr lang="en-US" altLang="ko-KR" sz="1600" dirty="0"/>
                  <a:t>)</a:t>
                </a:r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r>
                  <a:rPr lang="en-US" altLang="ko-KR" b="1" dirty="0"/>
                  <a:t>SHA2-256</a:t>
                </a:r>
                <a:r>
                  <a:rPr lang="ko-KR" altLang="en-US" b="1" dirty="0"/>
                  <a:t>의 회로 비용 계산</a:t>
                </a:r>
                <a:endParaRPr lang="en-US" altLang="ko-KR" b="1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메시지 확장 </a:t>
                </a:r>
                <a:r>
                  <a:rPr lang="en-US" altLang="ko-KR" sz="1600" dirty="0"/>
                  <a:t>: 48</a:t>
                </a:r>
                <a:r>
                  <a:rPr lang="ko-KR" altLang="en-US" sz="1600" dirty="0"/>
                  <a:t>회의 라운드</a:t>
                </a:r>
                <a:r>
                  <a:rPr lang="en-US" altLang="ko-KR" sz="1600" dirty="0"/>
                  <a:t>, 150</a:t>
                </a:r>
                <a:r>
                  <a:rPr lang="ko-KR" altLang="en-US" sz="1600" dirty="0"/>
                  <a:t>개의 제약조건 ⇒ 약 </a:t>
                </a:r>
                <a:r>
                  <a:rPr lang="en-US" altLang="ko-KR" sz="1600" dirty="0"/>
                  <a:t>7,200</a:t>
                </a:r>
                <a:r>
                  <a:rPr lang="ko-KR" altLang="en-US" sz="1600" dirty="0"/>
                  <a:t>개 제약 조건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/>
                  <a:t>Compression Function : 64</a:t>
                </a:r>
                <a:r>
                  <a:rPr lang="ko-KR" altLang="en-US" sz="1600" dirty="0"/>
                  <a:t>회 라운드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약 </a:t>
                </a:r>
                <a:r>
                  <a:rPr lang="en-US" altLang="ko-KR" sz="1600" dirty="0"/>
                  <a:t>360 </a:t>
                </a:r>
                <a:r>
                  <a:rPr lang="ko-KR" altLang="en-US" sz="1600" dirty="0"/>
                  <a:t>개의 제약조건 ⇒ 약 </a:t>
                </a:r>
                <a:r>
                  <a:rPr lang="en-US" altLang="ko-KR" sz="1600" dirty="0"/>
                  <a:t>23,040</a:t>
                </a:r>
                <a:r>
                  <a:rPr lang="ko-KR" altLang="en-US" sz="1600" dirty="0"/>
                  <a:t>개의 제약 조건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총 비용은 약 </a:t>
                </a:r>
                <a:r>
                  <a:rPr lang="en-US" altLang="ko-KR" sz="1600" dirty="0"/>
                  <a:t>30,240 </a:t>
                </a:r>
                <a:r>
                  <a:rPr lang="ko-KR" altLang="en-US" sz="1600" dirty="0"/>
                  <a:t>제약 조건</a:t>
                </a:r>
                <a:endParaRPr lang="en-US" altLang="ko-KR" sz="1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E01E38F-C9A9-D878-4BDD-416E5C908A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789" y="1487467"/>
                <a:ext cx="11050951" cy="4093428"/>
              </a:xfrm>
              <a:prstGeom prst="rect">
                <a:avLst/>
              </a:prstGeom>
              <a:blipFill>
                <a:blip r:embed="rId3"/>
                <a:stretch>
                  <a:fillRect l="-441" t="-744" r="-662" b="-8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61429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AB687-29D2-B2B1-2B6B-8A696246F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CE03B9-6E55-706D-BE9B-5E731776E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SHA3-256</a:t>
            </a:r>
            <a:r>
              <a:rPr lang="ko-KR" altLang="en-US" dirty="0"/>
              <a:t>의 회로 비용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313D7C-A40E-1C15-4FCD-D0A3AA414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6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1DDAD4-3259-A698-54D3-2BA3CB3C0C61}"/>
              </a:ext>
            </a:extLst>
          </p:cNvPr>
          <p:cNvSpPr txBox="1"/>
          <p:nvPr/>
        </p:nvSpPr>
        <p:spPr>
          <a:xfrm>
            <a:off x="1006789" y="1487467"/>
            <a:ext cx="11050951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SHA3-256</a:t>
            </a:r>
            <a:r>
              <a:rPr lang="ko-KR" altLang="en-US" b="1" dirty="0"/>
              <a:t>의 회로 비용</a:t>
            </a:r>
            <a:endParaRPr lang="en-US" altLang="ko-KR" b="1" dirty="0"/>
          </a:p>
          <a:p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총 </a:t>
            </a:r>
            <a:r>
              <a:rPr lang="en-US" altLang="ko-KR" sz="1600" dirty="0"/>
              <a:t>24</a:t>
            </a:r>
            <a:r>
              <a:rPr lang="ko-KR" altLang="en-US" sz="1600" dirty="0"/>
              <a:t>라운드 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각 라운드마다 </a:t>
            </a:r>
            <a:r>
              <a:rPr lang="en-US" altLang="ko-KR" sz="1600" dirty="0"/>
              <a:t>5</a:t>
            </a:r>
            <a:r>
              <a:rPr lang="ko-KR" altLang="en-US" sz="1600" dirty="0"/>
              <a:t>단계로 나뉨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endParaRPr lang="en-US" altLang="ko-KR" sz="1600" dirty="0"/>
          </a:p>
          <a:p>
            <a:r>
              <a:rPr lang="ko-KR" altLang="en-US" sz="1600" b="1" dirty="0"/>
              <a:t>단계별 제약 조건</a:t>
            </a:r>
            <a:endParaRPr lang="en-US" altLang="ko-KR" sz="1600" b="1" dirty="0"/>
          </a:p>
          <a:p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확산 단계 </a:t>
            </a:r>
            <a:r>
              <a:rPr lang="en-US" altLang="ko-KR" sz="1600" dirty="0"/>
              <a:t>: </a:t>
            </a:r>
            <a:r>
              <a:rPr lang="ko-KR" altLang="en-US" sz="1600" dirty="0"/>
              <a:t>비트당 약 </a:t>
            </a:r>
            <a:r>
              <a:rPr lang="en-US" altLang="ko-KR" sz="1600" dirty="0"/>
              <a:t>3</a:t>
            </a:r>
            <a:r>
              <a:rPr lang="ko-KR" altLang="en-US" sz="1600" dirty="0"/>
              <a:t>회의 </a:t>
            </a:r>
            <a:r>
              <a:rPr lang="en-US" altLang="ko-KR" sz="1600" dirty="0"/>
              <a:t>XOR </a:t>
            </a:r>
            <a:r>
              <a:rPr lang="ko-KR" altLang="en-US" sz="1600" dirty="0"/>
              <a:t>연산</a:t>
            </a:r>
            <a:r>
              <a:rPr lang="en-US" altLang="ko-KR" sz="1600" dirty="0"/>
              <a:t>, 1600-bit</a:t>
            </a:r>
            <a:r>
              <a:rPr lang="ko-KR" altLang="en-US" sz="1600" dirty="0"/>
              <a:t>에 대해 수행 ⇒ </a:t>
            </a:r>
            <a:r>
              <a:rPr lang="en-US" altLang="ko-KR" sz="1600" dirty="0"/>
              <a:t>4800</a:t>
            </a:r>
            <a:r>
              <a:rPr lang="ko-KR" altLang="en-US" sz="1600" dirty="0"/>
              <a:t>개 제약 조건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위치 변경 단계</a:t>
            </a:r>
            <a:r>
              <a:rPr lang="en-US" altLang="ko-KR" sz="1600" dirty="0"/>
              <a:t>(</a:t>
            </a:r>
            <a:r>
              <a:rPr lang="ko-KR" altLang="en-US" sz="1600" dirty="0"/>
              <a:t>총 </a:t>
            </a:r>
            <a:r>
              <a:rPr lang="en-US" altLang="ko-KR" sz="1600" dirty="0"/>
              <a:t>2</a:t>
            </a:r>
            <a:r>
              <a:rPr lang="ko-KR" altLang="en-US" sz="1600" dirty="0"/>
              <a:t>단계 구성</a:t>
            </a:r>
            <a:r>
              <a:rPr lang="en-US" altLang="ko-KR" sz="1600" dirty="0"/>
              <a:t>)</a:t>
            </a:r>
            <a:r>
              <a:rPr lang="ko-KR" altLang="en-US" sz="1600" dirty="0"/>
              <a:t> </a:t>
            </a:r>
            <a:r>
              <a:rPr lang="en-US" altLang="ko-KR" sz="1600" dirty="0"/>
              <a:t>: Rotate </a:t>
            </a:r>
            <a:r>
              <a:rPr lang="ko-KR" altLang="en-US" sz="1600" dirty="0"/>
              <a:t>연산만 진행하기 때문에 비용이 </a:t>
            </a:r>
            <a:r>
              <a:rPr lang="en-US" altLang="ko-KR" sz="1600" dirty="0"/>
              <a:t>0</a:t>
            </a:r>
            <a:r>
              <a:rPr lang="ko-KR" altLang="en-US" sz="1600" dirty="0"/>
              <a:t>에 가까움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비선형 단계 </a:t>
            </a:r>
            <a:r>
              <a:rPr lang="en-US" altLang="ko-KR" sz="1600" dirty="0"/>
              <a:t>: S-box </a:t>
            </a:r>
            <a:r>
              <a:rPr lang="ko-KR" altLang="en-US" sz="1600" dirty="0"/>
              <a:t>연산 ⇒ 약 </a:t>
            </a:r>
            <a:r>
              <a:rPr lang="en-US" altLang="ko-KR" sz="1600" dirty="0"/>
              <a:t>3200</a:t>
            </a:r>
            <a:r>
              <a:rPr lang="ko-KR" altLang="en-US" sz="1600" dirty="0"/>
              <a:t>개의 제약 조건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상수 덧셈 </a:t>
            </a:r>
            <a:r>
              <a:rPr lang="en-US" altLang="ko-KR" sz="1600" dirty="0"/>
              <a:t>: </a:t>
            </a:r>
            <a:r>
              <a:rPr lang="ko-KR" altLang="en-US" sz="1600" dirty="0"/>
              <a:t>일부 비트에 라운드 상수를 </a:t>
            </a:r>
            <a:r>
              <a:rPr lang="en-US" altLang="ko-KR" sz="1600" dirty="0"/>
              <a:t>XOR </a:t>
            </a:r>
            <a:r>
              <a:rPr lang="ko-KR" altLang="en-US" sz="1600" dirty="0"/>
              <a:t>연산 ⇒ 약 </a:t>
            </a:r>
            <a:r>
              <a:rPr lang="en-US" altLang="ko-KR" sz="1600" dirty="0"/>
              <a:t>64 Constraints</a:t>
            </a:r>
          </a:p>
          <a:p>
            <a:pPr marL="285750" indent="-285750">
              <a:buFontTx/>
              <a:buChar char="-"/>
            </a:pPr>
            <a:endParaRPr lang="en-US" altLang="ko-KR" sz="1600" dirty="0"/>
          </a:p>
          <a:p>
            <a:r>
              <a:rPr lang="en-US" altLang="ko-KR" b="1" dirty="0"/>
              <a:t>SHA3-256</a:t>
            </a:r>
            <a:r>
              <a:rPr lang="ko-KR" altLang="en-US" b="1" dirty="0"/>
              <a:t>의 회로 비용 계산</a:t>
            </a:r>
            <a:endParaRPr lang="en-US" altLang="ko-KR" b="1" dirty="0"/>
          </a:p>
          <a:p>
            <a:pPr marL="285750" indent="-285750">
              <a:buFontTx/>
              <a:buChar char="-"/>
            </a:pP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라운드 당 약 </a:t>
            </a:r>
            <a:r>
              <a:rPr lang="en-US" altLang="ko-KR" sz="1600" dirty="0"/>
              <a:t>8,064</a:t>
            </a:r>
            <a:r>
              <a:rPr lang="ko-KR" altLang="en-US" sz="1600" dirty="0"/>
              <a:t>개 제약 조건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총 비용은 약 </a:t>
            </a:r>
            <a:r>
              <a:rPr lang="en-US" altLang="ko-KR" sz="1600" dirty="0"/>
              <a:t>193,536 </a:t>
            </a:r>
            <a:r>
              <a:rPr lang="ko-KR" altLang="en-US" sz="1600" dirty="0"/>
              <a:t>제약 조건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18877739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45247-679E-DB70-58EF-37D55D27B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E20608-5D4D-7C48-E43D-1732607F7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해시함수의 회로 비용 비교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403663A-587E-CCA0-AC66-6084388DD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7</a:t>
            </a:fld>
            <a:endParaRPr lang="ko-KR" altLang="en-US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977576DE-14CF-9824-F81C-BD091EC390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6329480"/>
              </p:ext>
            </p:extLst>
          </p:nvPr>
        </p:nvGraphicFramePr>
        <p:xfrm>
          <a:off x="1128759" y="2268005"/>
          <a:ext cx="6909925" cy="8192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5456">
                  <a:extLst>
                    <a:ext uri="{9D8B030D-6E8A-4147-A177-3AD203B41FA5}">
                      <a16:colId xmlns:a16="http://schemas.microsoft.com/office/drawing/2014/main" val="1667041438"/>
                    </a:ext>
                  </a:extLst>
                </a:gridCol>
                <a:gridCol w="1694823">
                  <a:extLst>
                    <a:ext uri="{9D8B030D-6E8A-4147-A177-3AD203B41FA5}">
                      <a16:colId xmlns:a16="http://schemas.microsoft.com/office/drawing/2014/main" val="709653482"/>
                    </a:ext>
                  </a:extLst>
                </a:gridCol>
                <a:gridCol w="1694823">
                  <a:extLst>
                    <a:ext uri="{9D8B030D-6E8A-4147-A177-3AD203B41FA5}">
                      <a16:colId xmlns:a16="http://schemas.microsoft.com/office/drawing/2014/main" val="3379829072"/>
                    </a:ext>
                  </a:extLst>
                </a:gridCol>
                <a:gridCol w="1694823">
                  <a:extLst>
                    <a:ext uri="{9D8B030D-6E8A-4147-A177-3AD203B41FA5}">
                      <a16:colId xmlns:a16="http://schemas.microsoft.com/office/drawing/2014/main" val="1018566879"/>
                    </a:ext>
                  </a:extLst>
                </a:gridCol>
              </a:tblGrid>
              <a:tr h="240493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SHA2-256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SHA3-256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Poseidon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9771222"/>
                  </a:ext>
                </a:extLst>
              </a:tr>
              <a:tr h="5144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총 제약 조건 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30,240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193,536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243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38706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25FFADB-7075-6D01-2CF4-3B6B65F1D4CB}"/>
              </a:ext>
            </a:extLst>
          </p:cNvPr>
          <p:cNvSpPr txBox="1"/>
          <p:nvPr/>
        </p:nvSpPr>
        <p:spPr>
          <a:xfrm>
            <a:off x="1006789" y="1487467"/>
            <a:ext cx="11050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SHA2-256 vs</a:t>
            </a:r>
            <a:r>
              <a:rPr lang="ko-KR" altLang="en-US" b="1" dirty="0"/>
              <a:t> </a:t>
            </a:r>
            <a:r>
              <a:rPr lang="en-US" altLang="ko-KR" b="1" dirty="0"/>
              <a:t>SHA3-256</a:t>
            </a:r>
            <a:r>
              <a:rPr lang="ko-KR" altLang="en-US" b="1" dirty="0"/>
              <a:t> </a:t>
            </a:r>
            <a:r>
              <a:rPr lang="en-US" altLang="ko-KR" b="1" dirty="0"/>
              <a:t>vs</a:t>
            </a:r>
            <a:r>
              <a:rPr lang="ko-KR" altLang="en-US" b="1" dirty="0"/>
              <a:t> </a:t>
            </a:r>
            <a:r>
              <a:rPr lang="en-US" altLang="ko-KR" b="1" dirty="0"/>
              <a:t>Poseidon</a:t>
            </a:r>
            <a:r>
              <a:rPr lang="ko-KR" altLang="en-US" b="1" dirty="0"/>
              <a:t> 의 회로 비용 비교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947633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A211C-3FD1-12BF-EE0D-46F79DD21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F2E303-E51F-2A4E-4410-46C1D4469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회로 비용 비교 분석 실험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D01950-C9AB-6598-1644-1F53A3004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8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08CB32-FD58-0BE5-83FF-D2A7CC947964}"/>
              </a:ext>
            </a:extLst>
          </p:cNvPr>
          <p:cNvSpPr txBox="1"/>
          <p:nvPr/>
        </p:nvSpPr>
        <p:spPr>
          <a:xfrm>
            <a:off x="848905" y="2045116"/>
            <a:ext cx="11050951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err="1"/>
              <a:t>Circom</a:t>
            </a:r>
            <a:r>
              <a:rPr lang="en-US" altLang="ko-KR" sz="1600" dirty="0"/>
              <a:t> </a:t>
            </a:r>
            <a:r>
              <a:rPr lang="ko-KR" altLang="en-US" sz="1600" dirty="0"/>
              <a:t>상에서의 해시함수 회로 비용 비교 분석 진행</a:t>
            </a:r>
            <a:endParaRPr lang="en-US" altLang="ko-KR" sz="1600" dirty="0"/>
          </a:p>
          <a:p>
            <a:endParaRPr lang="en-US" altLang="ko-KR" b="1" dirty="0"/>
          </a:p>
          <a:p>
            <a:r>
              <a:rPr lang="en-US" altLang="ko-KR" b="1" dirty="0" err="1"/>
              <a:t>Circom</a:t>
            </a:r>
            <a:r>
              <a:rPr lang="ko-KR" altLang="en-US" b="1" dirty="0"/>
              <a:t>이란</a:t>
            </a:r>
            <a:r>
              <a:rPr lang="en-US" altLang="ko-KR" b="1" dirty="0"/>
              <a:t>?</a:t>
            </a:r>
          </a:p>
          <a:p>
            <a:pPr marL="285750" indent="-285750">
              <a:buFontTx/>
              <a:buChar char="-"/>
            </a:pPr>
            <a:endParaRPr lang="en-US" altLang="ko-KR" sz="1600" dirty="0"/>
          </a:p>
          <a:p>
            <a:pPr marL="285750" indent="-285750">
              <a:buFontTx/>
              <a:buChar char="-"/>
            </a:pP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en-US" altLang="ko-KR" sz="1600" dirty="0"/>
              <a:t>R1CS </a:t>
            </a:r>
            <a:r>
              <a:rPr lang="ko-KR" altLang="en-US" sz="1600" dirty="0"/>
              <a:t>방식을 사용하고</a:t>
            </a:r>
            <a:r>
              <a:rPr lang="en-US" altLang="ko-KR" sz="1600" dirty="0"/>
              <a:t>, </a:t>
            </a:r>
            <a:r>
              <a:rPr lang="ko-KR" altLang="en-US" sz="1600" dirty="0"/>
              <a:t>제약 조건의 수를 측정하기 위한 라이브러리를 다양하게 제공하여 사용이 용이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비트 연산의 비효율성을 보이기에 용이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공식 라이브러리에서 </a:t>
            </a:r>
            <a:r>
              <a:rPr lang="en-US" altLang="ko-KR" dirty="0"/>
              <a:t>SHA-256, Poseidon </a:t>
            </a:r>
            <a:r>
              <a:rPr lang="ko-KR" altLang="en-US" dirty="0"/>
              <a:t>제공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/>
              <a:t>R1CS </a:t>
            </a:r>
            <a:r>
              <a:rPr lang="ko-KR" altLang="en-US" dirty="0"/>
              <a:t>방식으로 제약 조건의 수를 측정</a:t>
            </a:r>
            <a:r>
              <a:rPr lang="en-US" altLang="ko-KR" dirty="0"/>
              <a:t>(Non-Linear, Linear)</a:t>
            </a:r>
          </a:p>
        </p:txBody>
      </p:sp>
    </p:spTree>
    <p:extLst>
      <p:ext uri="{BB962C8B-B14F-4D97-AF65-F5344CB8AC3E}">
        <p14:creationId xmlns:p14="http://schemas.microsoft.com/office/powerpoint/2010/main" val="38367096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A9B3C-855B-A27A-5069-59F29F87D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06E3B3-DD85-1544-58F1-4BA0F0116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회로 비용 비교 분석 실험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4C4D5A6-1AB1-C201-7D01-A6F65BCF9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9</a:t>
            </a:fld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32D3173-6545-8A2C-E2E4-8008986ED0D0}"/>
                  </a:ext>
                </a:extLst>
              </p:cNvPr>
              <p:cNvSpPr txBox="1"/>
              <p:nvPr/>
            </p:nvSpPr>
            <p:spPr>
              <a:xfrm>
                <a:off x="946854" y="1531240"/>
                <a:ext cx="11050951" cy="31747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b="1" dirty="0"/>
                  <a:t>실험 결과</a:t>
                </a:r>
                <a:endParaRPr lang="en-US" altLang="ko-KR" b="1" dirty="0"/>
              </a:p>
              <a:p>
                <a:endParaRPr lang="en-US" altLang="ko-KR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/>
                  <a:t>SHA2</a:t>
                </a:r>
                <a:r>
                  <a:rPr lang="ko-KR" altLang="en-US" sz="1600" dirty="0"/>
                  <a:t>에 비해 </a:t>
                </a:r>
                <a:r>
                  <a:rPr lang="en-US" altLang="ko-KR" sz="1600" dirty="0"/>
                  <a:t>Poseidon</a:t>
                </a:r>
                <a:r>
                  <a:rPr lang="ko-KR" altLang="en-US" sz="1600" dirty="0"/>
                  <a:t>이 </a:t>
                </a:r>
                <a:r>
                  <a:rPr lang="en-US" altLang="ko-KR" sz="1600" dirty="0"/>
                  <a:t>136</a:t>
                </a:r>
                <a:r>
                  <a:rPr lang="ko-KR" altLang="en-US" sz="1600" dirty="0"/>
                  <a:t>배 정도 빠름</a:t>
                </a:r>
                <a:r>
                  <a:rPr lang="en-US" altLang="ko-KR" sz="1600" dirty="0"/>
                  <a:t>(Non-Linear </a:t>
                </a:r>
                <a:r>
                  <a:rPr lang="ko-KR" altLang="en-US" sz="1600" dirty="0"/>
                  <a:t>기준</a:t>
                </a:r>
                <a:r>
                  <a:rPr lang="en-US" altLang="ko-KR" sz="1600" dirty="0"/>
                  <a:t>)</a:t>
                </a:r>
              </a:p>
              <a:p>
                <a:pPr marL="285750" indent="-285750">
                  <a:buFontTx/>
                  <a:buChar char="-"/>
                </a:pPr>
                <a:endParaRPr lang="en-US" altLang="ko-KR" dirty="0"/>
              </a:p>
              <a:p>
                <a:r>
                  <a:rPr lang="en-US" altLang="ko-KR" b="1" dirty="0"/>
                  <a:t>Non-Linear </a:t>
                </a:r>
                <a:r>
                  <a:rPr lang="ko-KR" altLang="en-US" b="1" dirty="0"/>
                  <a:t>제약 조건과 </a:t>
                </a:r>
                <a:r>
                  <a:rPr lang="en-US" altLang="ko-KR" b="1" dirty="0"/>
                  <a:t>Linear </a:t>
                </a:r>
                <a:r>
                  <a:rPr lang="ko-KR" altLang="en-US" b="1" dirty="0"/>
                  <a:t>제약 조건</a:t>
                </a:r>
                <a:endParaRPr lang="en-US" altLang="ko-KR" b="1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/>
                  <a:t>R1CS</a:t>
                </a:r>
                <a:r>
                  <a:rPr lang="ko-KR" altLang="en-US" sz="1600" dirty="0"/>
                  <a:t>를 기준으로 제약조건 수를 측정</a:t>
                </a:r>
                <a:r>
                  <a:rPr lang="en-US" altLang="ko-KR" sz="1600" dirty="0"/>
                  <a:t>(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 ×</m:t>
                    </m:r>
                    <m:r>
                      <a:rPr lang="en-US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en-US" altLang="ko-KR" sz="1600" dirty="0"/>
                  <a:t> </a:t>
                </a:r>
                <a:r>
                  <a:rPr lang="ko-KR" altLang="en-US" sz="1600" dirty="0"/>
                  <a:t>형식</a:t>
                </a:r>
                <a:r>
                  <a:rPr lang="en-US" altLang="ko-KR" sz="1600" dirty="0"/>
                  <a:t>)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/>
                  <a:t>Non-Linear </a:t>
                </a:r>
                <a:r>
                  <a:rPr lang="ko-KR" altLang="en-US" sz="1600" dirty="0"/>
                  <a:t>제약 조건</a:t>
                </a:r>
                <a:r>
                  <a:rPr lang="en-US" altLang="ko-KR" sz="1600" dirty="0"/>
                  <a:t>: </a:t>
                </a:r>
                <a:r>
                  <a:rPr lang="ko-KR" altLang="en-US" sz="1600" dirty="0"/>
                  <a:t>덧셈</a:t>
                </a:r>
                <a:r>
                  <a:rPr lang="en-US" altLang="ko-KR" sz="1600" dirty="0"/>
                  <a:t>(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ko-KR" sz="1600" dirty="0"/>
                  <a:t>), </a:t>
                </a:r>
                <a:r>
                  <a:rPr lang="ko-KR" altLang="en-US" sz="1600" dirty="0"/>
                  <a:t>상수 곱셈</a:t>
                </a:r>
                <a:r>
                  <a:rPr lang="en-US" altLang="ko-KR" sz="1600" dirty="0"/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dirty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ko-KR" sz="1600" dirty="0"/>
                  <a:t>)</a:t>
                </a:r>
                <a:r>
                  <a:rPr lang="ko-KR" altLang="en-US" sz="1600" dirty="0"/>
                  <a:t> 연산 ⇒ 계수 형태로 녹여낼 수 있어서 추가적인 제약 조건 생성 비용이 </a:t>
                </a:r>
                <a:r>
                  <a:rPr lang="en-US" altLang="ko-KR" sz="1600" dirty="0"/>
                  <a:t>0</a:t>
                </a:r>
                <a:r>
                  <a:rPr lang="ko-KR" altLang="en-US" sz="1600" dirty="0"/>
                  <a:t>에 가까움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/>
                  <a:t>Linear </a:t>
                </a:r>
                <a:r>
                  <a:rPr lang="ko-KR" altLang="en-US" sz="1600" dirty="0"/>
                  <a:t>제약 조건 </a:t>
                </a:r>
                <a:r>
                  <a:rPr lang="en-US" altLang="ko-KR" sz="1600" dirty="0"/>
                  <a:t>: </a:t>
                </a:r>
                <a:r>
                  <a:rPr lang="ko-KR" altLang="en-US" sz="1600" dirty="0"/>
                  <a:t>곱</a:t>
                </a:r>
                <a14:m>
                  <m:oMath xmlns:m="http://schemas.openxmlformats.org/officeDocument/2006/math">
                    <m:r>
                      <a:rPr lang="ko-KR" altLang="en-US" sz="1600" i="1" dirty="0" smtClean="0">
                        <a:latin typeface="Cambria Math" panose="02040503050406030204" pitchFamily="18" charset="0"/>
                      </a:rPr>
                      <m:t>셈</m:t>
                    </m:r>
                    <m:r>
                      <a:rPr lang="en-US" altLang="ko-KR" sz="1600" b="0" i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ko-KR" sz="1600" dirty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ko-KR" sz="1600" dirty="0"/>
                  <a:t>) </a:t>
                </a:r>
                <a:r>
                  <a:rPr lang="ko-KR" altLang="en-US" sz="1600" dirty="0"/>
                  <a:t>⇒ 방정식 성립을 위해 반드시 새로운 제약 조건 한 줄 필요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비용 </a:t>
                </a:r>
                <a14:m>
                  <m:oMath xmlns:m="http://schemas.openxmlformats.org/officeDocument/2006/math">
                    <m:r>
                      <a:rPr lang="ko-KR" altLang="en-US" sz="1600" i="1" smtClean="0"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altLang="ko-KR" sz="1600" dirty="0"/>
                  <a:t> Non-Linear </a:t>
                </a:r>
                <a:r>
                  <a:rPr lang="ko-KR" altLang="en-US" sz="1600" dirty="0"/>
                  <a:t>제약 조건 수</a:t>
                </a:r>
                <a:endParaRPr lang="en-US" altLang="ko-KR" sz="1600" dirty="0"/>
              </a:p>
              <a:p>
                <a:endParaRPr lang="en-US" altLang="ko-KR" sz="16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32D3173-6545-8A2C-E2E4-8008986ED0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854" y="1531240"/>
                <a:ext cx="11050951" cy="3174780"/>
              </a:xfrm>
              <a:prstGeom prst="rect">
                <a:avLst/>
              </a:prstGeom>
              <a:blipFill>
                <a:blip r:embed="rId3"/>
                <a:stretch>
                  <a:fillRect l="-441" t="-96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BDC4839E-5FD3-224F-8FFF-2CE22DB78B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3490258"/>
              </p:ext>
            </p:extLst>
          </p:nvPr>
        </p:nvGraphicFramePr>
        <p:xfrm>
          <a:off x="2403901" y="4616498"/>
          <a:ext cx="6910639" cy="1622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9521">
                  <a:extLst>
                    <a:ext uri="{9D8B030D-6E8A-4147-A177-3AD203B41FA5}">
                      <a16:colId xmlns:a16="http://schemas.microsoft.com/office/drawing/2014/main" val="1667041438"/>
                    </a:ext>
                  </a:extLst>
                </a:gridCol>
                <a:gridCol w="1830559">
                  <a:extLst>
                    <a:ext uri="{9D8B030D-6E8A-4147-A177-3AD203B41FA5}">
                      <a16:colId xmlns:a16="http://schemas.microsoft.com/office/drawing/2014/main" val="709653482"/>
                    </a:ext>
                  </a:extLst>
                </a:gridCol>
                <a:gridCol w="1830559">
                  <a:extLst>
                    <a:ext uri="{9D8B030D-6E8A-4147-A177-3AD203B41FA5}">
                      <a16:colId xmlns:a16="http://schemas.microsoft.com/office/drawing/2014/main" val="1018566879"/>
                    </a:ext>
                  </a:extLst>
                </a:gridCol>
              </a:tblGrid>
              <a:tr h="270354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SHA2-256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Poseidon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9771222"/>
                  </a:ext>
                </a:extLst>
              </a:tr>
              <a:tr h="3293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실험 측정 </a:t>
                      </a:r>
                      <a:r>
                        <a:rPr lang="en-US" altLang="ko-KR" sz="1200" dirty="0"/>
                        <a:t>- Non-linear </a:t>
                      </a:r>
                      <a:r>
                        <a:rPr lang="ko-KR" altLang="en-US" sz="1200" dirty="0"/>
                        <a:t>제약 조건 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29412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216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387062"/>
                  </a:ext>
                </a:extLst>
              </a:tr>
              <a:tr h="3293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실험 측정 </a:t>
                      </a:r>
                      <a:r>
                        <a:rPr lang="en-US" altLang="ko-KR" sz="1200" dirty="0"/>
                        <a:t>- Linear </a:t>
                      </a:r>
                      <a:r>
                        <a:rPr lang="ko-KR" altLang="en-US" sz="1200" dirty="0"/>
                        <a:t>제약 조건 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1852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199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9203612"/>
                  </a:ext>
                </a:extLst>
              </a:tr>
              <a:tr h="3293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이론 분석 </a:t>
                      </a:r>
                      <a:r>
                        <a:rPr lang="en-US" altLang="ko-KR" sz="1200" dirty="0"/>
                        <a:t>– </a:t>
                      </a:r>
                      <a:r>
                        <a:rPr lang="ko-KR" altLang="en-US" sz="1200" dirty="0"/>
                        <a:t>총 제약 조건 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30,240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243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7696623"/>
                  </a:ext>
                </a:extLst>
              </a:tr>
              <a:tr h="3293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증명 생성 시간</a:t>
                      </a:r>
                      <a:r>
                        <a:rPr lang="en-US" altLang="ko-KR" sz="1200" dirty="0"/>
                        <a:t>(</a:t>
                      </a:r>
                      <a:r>
                        <a:rPr lang="en-US" altLang="ko-KR" sz="1200" dirty="0" err="1"/>
                        <a:t>ms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169.2046 </a:t>
                      </a:r>
                      <a:r>
                        <a:rPr lang="en-US" altLang="ko-KR" sz="1200" dirty="0" err="1"/>
                        <a:t>ms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997636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7FC33A0-75D6-D06A-7D91-11A19A5D8498}"/>
              </a:ext>
            </a:extLst>
          </p:cNvPr>
          <p:cNvSpPr txBox="1"/>
          <p:nvPr/>
        </p:nvSpPr>
        <p:spPr>
          <a:xfrm>
            <a:off x="5408684" y="6327570"/>
            <a:ext cx="9010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실험 결과</a:t>
            </a: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36491576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12607</TotalTime>
  <Words>865</Words>
  <Application>Microsoft Office PowerPoint</Application>
  <PresentationFormat>와이드스크린</PresentationFormat>
  <Paragraphs>152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맑은 고딕</vt:lpstr>
      <vt:lpstr>Arial</vt:lpstr>
      <vt:lpstr>Cambria Math</vt:lpstr>
      <vt:lpstr>Office 테마</vt:lpstr>
      <vt:lpstr>해시함수 ZK 회로 비용 분석</vt:lpstr>
      <vt:lpstr>zk-SNARK</vt:lpstr>
      <vt:lpstr>산술 회로</vt:lpstr>
      <vt:lpstr>Poseidon의 회로 비용</vt:lpstr>
      <vt:lpstr>SHA2-256의 회로 비용</vt:lpstr>
      <vt:lpstr>SHA3-256의 회로 비용</vt:lpstr>
      <vt:lpstr>해시함수의 회로 비용 비교</vt:lpstr>
      <vt:lpstr>회로 비용 비교 분석 실험</vt:lpstr>
      <vt:lpstr>회로 비용 비교 분석 실험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konwoo</dc:creator>
  <cp:lastModifiedBy>이수학</cp:lastModifiedBy>
  <cp:revision>1535</cp:revision>
  <dcterms:created xsi:type="dcterms:W3CDTF">2023-03-06T16:32:37Z</dcterms:created>
  <dcterms:modified xsi:type="dcterms:W3CDTF">2025-12-11T09:05:18Z</dcterms:modified>
</cp:coreProperties>
</file>