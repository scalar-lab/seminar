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5"/>
  </p:notesMasterIdLst>
  <p:sldIdLst>
    <p:sldId id="256" r:id="rId2"/>
    <p:sldId id="287" r:id="rId3"/>
    <p:sldId id="28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0099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86" d="100"/>
          <a:sy n="86" d="100"/>
        </p:scale>
        <p:origin x="102" y="119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E7461-BA82-9CED-8821-F55712DBC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BA8B70-86E5-A5E7-BF3C-136CE9FA2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78187A-F9F1-F690-E0CC-14AE5A962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6BE0FD-5BAD-E332-72F5-0FE4949EB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339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03366-E9BD-1749-0885-FB2A30005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B44C67-A7F2-157C-22AC-A7949B3F2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855F4F-11E3-D644-3F22-7754CC729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F9AD33-C9D6-DA67-AC7D-FE5C286BA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40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POSEIDON </a:t>
            </a:r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비교분석 실험 결과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2025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11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27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CC341-C554-46D8-2D8D-D772568C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4A6E0C-4A38-A679-C610-F88486651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Python </a:t>
            </a:r>
            <a:r>
              <a:rPr lang="ko-KR" altLang="en-US" dirty="0"/>
              <a:t>측정 결과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0F1E8C-BB56-E732-0736-F0A92A5F7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E6D9C4-866B-35A1-E622-6F42DBE12A63}"/>
              </a:ext>
            </a:extLst>
          </p:cNvPr>
          <p:cNvSpPr txBox="1"/>
          <p:nvPr/>
        </p:nvSpPr>
        <p:spPr>
          <a:xfrm>
            <a:off x="974848" y="1200617"/>
            <a:ext cx="836497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256-bit</a:t>
            </a:r>
            <a:r>
              <a:rPr lang="ko-KR" altLang="en-US" b="1" dirty="0"/>
              <a:t> 비트 스트림 수 </a:t>
            </a:r>
            <a:r>
              <a:rPr lang="en-US" altLang="ko-KR" b="1" dirty="0"/>
              <a:t>: 10,000</a:t>
            </a:r>
            <a:r>
              <a:rPr lang="ko-KR" altLang="en-US" b="1" dirty="0"/>
              <a:t>개</a:t>
            </a:r>
            <a:endParaRPr lang="en-US" altLang="ko-KR" b="1" dirty="0"/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Pattern0 : 000…00 (256-bit) 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Pattern1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111…11 (256-bit)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Pattern2 : 0101…01 (256-bit)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Pattern3 : 1010…10 (256-bit)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Pattern4 : Pseudorandom</a:t>
            </a:r>
            <a:r>
              <a:rPr lang="ko-KR" altLang="en-US" sz="1600" dirty="0"/>
              <a:t>한 </a:t>
            </a:r>
            <a:r>
              <a:rPr lang="en-US" altLang="ko-KR" sz="1600" dirty="0"/>
              <a:t>256-bit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5</a:t>
            </a:r>
            <a:r>
              <a:rPr lang="ko-KR" altLang="en-US" sz="1600" dirty="0"/>
              <a:t>개 패턴의 평균 측정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r>
              <a:rPr lang="en-US" altLang="ko-KR" sz="1600" dirty="0"/>
              <a:t>Poseidon </a:t>
            </a:r>
            <a:r>
              <a:rPr lang="ko-KR" altLang="en-US" sz="1600" dirty="0"/>
              <a:t>제외 다른 해시함수는 </a:t>
            </a:r>
            <a:r>
              <a:rPr lang="en-US" altLang="ko-KR" sz="1600" dirty="0"/>
              <a:t>Python </a:t>
            </a:r>
            <a:r>
              <a:rPr lang="ko-KR" altLang="en-US" sz="1600" dirty="0"/>
              <a:t>라이브러리 활용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 </a:t>
            </a:r>
            <a:endParaRPr lang="ko-KR" altLang="en-US" sz="16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272986A-0D57-153D-6960-4D1B3D7F0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405241"/>
              </p:ext>
            </p:extLst>
          </p:nvPr>
        </p:nvGraphicFramePr>
        <p:xfrm>
          <a:off x="927344" y="4179494"/>
          <a:ext cx="6822828" cy="1544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593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1872667723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1018566879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1512441429"/>
                    </a:ext>
                  </a:extLst>
                </a:gridCol>
              </a:tblGrid>
              <a:tr h="36243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Blake2s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Blake2b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총 처리 시간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초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0.022255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0.0171847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49.235168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0.047117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0.024091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속도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 err="1"/>
                        <a:t>ms</a:t>
                      </a:r>
                      <a:r>
                        <a:rPr lang="en-US" altLang="ko-KR" sz="1200" dirty="0"/>
                        <a:t>/bitstream)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0.002225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0.00171847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4.923517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0.004712</a:t>
                      </a:r>
                    </a:p>
                    <a:p>
                      <a:pPr algn="ctr" latinLnBrk="1"/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0.002409</a:t>
                      </a:r>
                    </a:p>
                    <a:p>
                      <a:pPr algn="ctr" latinLnBrk="1"/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481955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</a:t>
                      </a:r>
                      <a:r>
                        <a:rPr lang="en-US" altLang="ko-KR" sz="1200" dirty="0"/>
                        <a:t>CPU </a:t>
                      </a:r>
                      <a:r>
                        <a:rPr lang="ko-KR" altLang="en-US" sz="1200" dirty="0"/>
                        <a:t>사용량</a:t>
                      </a:r>
                      <a:r>
                        <a:rPr lang="en-US" altLang="ko-KR" sz="1200" dirty="0"/>
                        <a:t>(%)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59.80%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91.06%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99.81%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59.99%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82.98%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168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3114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6A7C6-4FD3-DBA6-F181-66040AF3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44AC3-BC1A-6833-E7BE-4D385116A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Rust </a:t>
            </a:r>
            <a:r>
              <a:rPr lang="ko-KR" altLang="en-US" dirty="0"/>
              <a:t>측정 결과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057E0C-EC31-B383-9716-FD74EAA53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078FCF-6A12-A67C-AF2C-242AAB55AD18}"/>
              </a:ext>
            </a:extLst>
          </p:cNvPr>
          <p:cNvSpPr txBox="1"/>
          <p:nvPr/>
        </p:nvSpPr>
        <p:spPr>
          <a:xfrm>
            <a:off x="949569" y="1574073"/>
            <a:ext cx="836497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600" dirty="0"/>
              <a:t>SHA2-256, SHA3-256, POSEIDON, Blake2s, Blake2b </a:t>
            </a:r>
            <a:r>
              <a:rPr lang="ko-KR" altLang="en-US" sz="1600" dirty="0"/>
              <a:t>측정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Rust</a:t>
            </a:r>
            <a:r>
              <a:rPr lang="ko-KR" altLang="en-US" sz="1600" dirty="0"/>
              <a:t>는 평균 </a:t>
            </a:r>
            <a:r>
              <a:rPr lang="en-US" altLang="ko-KR" sz="1600" dirty="0"/>
              <a:t>CPU </a:t>
            </a:r>
            <a:r>
              <a:rPr lang="ko-KR" altLang="en-US" sz="1600" dirty="0"/>
              <a:t>사용량 측정이 어려운 관계로 총 처리 시간 및 평균 속도 측정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동일하게 </a:t>
            </a:r>
            <a:r>
              <a:rPr lang="en-US" altLang="ko-KR" sz="1600" dirty="0"/>
              <a:t>5</a:t>
            </a:r>
            <a:r>
              <a:rPr lang="ko-KR" altLang="en-US" sz="1600" dirty="0"/>
              <a:t>개 패턴의 평균 측정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SHA2-256</a:t>
            </a:r>
            <a:r>
              <a:rPr lang="ko-KR" altLang="en-US" sz="1600" dirty="0"/>
              <a:t> 및 </a:t>
            </a:r>
            <a:r>
              <a:rPr lang="en-US" altLang="ko-KR" sz="1600" dirty="0"/>
              <a:t>POSEIDON</a:t>
            </a:r>
            <a:r>
              <a:rPr lang="ko-KR" altLang="en-US" sz="1600" dirty="0"/>
              <a:t>은 </a:t>
            </a:r>
            <a:r>
              <a:rPr lang="en-US" altLang="ko-KR" sz="1600" dirty="0"/>
              <a:t>2</a:t>
            </a:r>
            <a:r>
              <a:rPr lang="ko-KR" altLang="en-US" sz="1600" dirty="0"/>
              <a:t>가지 구현으로 측정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Poseidon(v1)</a:t>
            </a:r>
            <a:r>
              <a:rPr lang="ko-KR" altLang="en-US" sz="1600" dirty="0"/>
              <a:t>은 </a:t>
            </a:r>
            <a:r>
              <a:rPr lang="en-US" altLang="ko-KR" sz="1600" dirty="0"/>
              <a:t>SHA2 </a:t>
            </a:r>
            <a:r>
              <a:rPr lang="ko-KR" altLang="en-US" sz="1600" dirty="0"/>
              <a:t>대비 약 </a:t>
            </a:r>
            <a:r>
              <a:rPr lang="en-US" altLang="ko-KR" sz="1600" dirty="0"/>
              <a:t>61</a:t>
            </a:r>
            <a:r>
              <a:rPr lang="ko-KR" altLang="en-US" sz="1600" dirty="0"/>
              <a:t>배 </a:t>
            </a:r>
            <a:r>
              <a:rPr lang="en-US" altLang="ko-KR" sz="1600" dirty="0"/>
              <a:t>~ 71</a:t>
            </a:r>
            <a:r>
              <a:rPr lang="ko-KR" altLang="en-US" sz="1600" dirty="0"/>
              <a:t>배</a:t>
            </a:r>
            <a:r>
              <a:rPr lang="en-US" altLang="ko-KR" sz="1600" dirty="0"/>
              <a:t>, SHA3 </a:t>
            </a:r>
            <a:r>
              <a:rPr lang="ko-KR" altLang="en-US" sz="1600" dirty="0"/>
              <a:t>대비 </a:t>
            </a:r>
            <a:r>
              <a:rPr lang="en-US" altLang="ko-KR" sz="1600" dirty="0"/>
              <a:t>61</a:t>
            </a:r>
            <a:r>
              <a:rPr lang="ko-KR" altLang="en-US" sz="1600" dirty="0"/>
              <a:t>배 느림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Poseidon(v2)</a:t>
            </a:r>
            <a:r>
              <a:rPr lang="ko-KR" altLang="en-US" sz="1600" dirty="0"/>
              <a:t>은 </a:t>
            </a:r>
            <a:r>
              <a:rPr lang="en-US" altLang="ko-KR" sz="1600" dirty="0"/>
              <a:t>SHA2 </a:t>
            </a:r>
            <a:r>
              <a:rPr lang="ko-KR" altLang="en-US" sz="1600" dirty="0"/>
              <a:t>대비 약 </a:t>
            </a:r>
            <a:r>
              <a:rPr lang="en-US" altLang="ko-KR" sz="1600" dirty="0"/>
              <a:t>159</a:t>
            </a:r>
            <a:r>
              <a:rPr lang="ko-KR" altLang="en-US" sz="1600" dirty="0"/>
              <a:t>배 </a:t>
            </a:r>
            <a:r>
              <a:rPr lang="en-US" altLang="ko-KR" sz="1600" dirty="0"/>
              <a:t>~ 185</a:t>
            </a:r>
            <a:r>
              <a:rPr lang="ko-KR" altLang="en-US" sz="1600" dirty="0"/>
              <a:t>배</a:t>
            </a:r>
            <a:r>
              <a:rPr lang="en-US" altLang="ko-KR" sz="1600" dirty="0"/>
              <a:t>, SHA3 </a:t>
            </a:r>
            <a:r>
              <a:rPr lang="ko-KR" altLang="en-US" sz="1600" dirty="0"/>
              <a:t>대비 </a:t>
            </a:r>
            <a:r>
              <a:rPr lang="en-US" altLang="ko-KR" sz="1600" dirty="0"/>
              <a:t>159</a:t>
            </a:r>
            <a:r>
              <a:rPr lang="ko-KR" altLang="en-US" sz="1600" dirty="0"/>
              <a:t>배 느림</a:t>
            </a:r>
            <a:endParaRPr lang="en-US" altLang="ko-KR" sz="16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022CB2D-39CD-F379-43ED-71A765934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756677"/>
              </p:ext>
            </p:extLst>
          </p:nvPr>
        </p:nvGraphicFramePr>
        <p:xfrm>
          <a:off x="1163200" y="3916423"/>
          <a:ext cx="9549345" cy="1337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7528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1128831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1128831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1128831">
                  <a:extLst>
                    <a:ext uri="{9D8B030D-6E8A-4147-A177-3AD203B41FA5}">
                      <a16:colId xmlns:a16="http://schemas.microsoft.com/office/drawing/2014/main" val="1872667723"/>
                    </a:ext>
                  </a:extLst>
                </a:gridCol>
                <a:gridCol w="1128831">
                  <a:extLst>
                    <a:ext uri="{9D8B030D-6E8A-4147-A177-3AD203B41FA5}">
                      <a16:colId xmlns:a16="http://schemas.microsoft.com/office/drawing/2014/main" val="1018566879"/>
                    </a:ext>
                  </a:extLst>
                </a:gridCol>
                <a:gridCol w="1128831">
                  <a:extLst>
                    <a:ext uri="{9D8B030D-6E8A-4147-A177-3AD203B41FA5}">
                      <a16:colId xmlns:a16="http://schemas.microsoft.com/office/drawing/2014/main" val="1512441429"/>
                    </a:ext>
                  </a:extLst>
                </a:gridCol>
                <a:gridCol w="1128831">
                  <a:extLst>
                    <a:ext uri="{9D8B030D-6E8A-4147-A177-3AD203B41FA5}">
                      <a16:colId xmlns:a16="http://schemas.microsoft.com/office/drawing/2014/main" val="105558520"/>
                    </a:ext>
                  </a:extLst>
                </a:gridCol>
                <a:gridCol w="1128831">
                  <a:extLst>
                    <a:ext uri="{9D8B030D-6E8A-4147-A177-3AD203B41FA5}">
                      <a16:colId xmlns:a16="http://schemas.microsoft.com/office/drawing/2014/main" val="1678356301"/>
                    </a:ext>
                  </a:extLst>
                </a:gridCol>
              </a:tblGrid>
              <a:tr h="36243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(v1)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(v2)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(v1)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(v2)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Blake2s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Blake2b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총 처리 시간</a:t>
                      </a:r>
                      <a:r>
                        <a:rPr lang="en-US" altLang="ko-KR" sz="1200"/>
                        <a:t>(</a:t>
                      </a:r>
                      <a:r>
                        <a:rPr lang="ko-KR" altLang="en-US" sz="1200"/>
                        <a:t>초</a:t>
                      </a:r>
                      <a:r>
                        <a:rPr lang="en-US" altLang="ko-KR" sz="120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0.008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0.007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0.008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0.469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1.214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0.007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평균 속도</a:t>
                      </a:r>
                      <a:r>
                        <a:rPr lang="en-US" altLang="ko-KR" sz="1200"/>
                        <a:t>(ms/bitstream)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0.0008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0.0007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0.0008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0.0469</a:t>
                      </a:r>
                    </a:p>
                    <a:p>
                      <a:pPr algn="ctr" latinLnBrk="1"/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0.1214</a:t>
                      </a:r>
                    </a:p>
                    <a:p>
                      <a:pPr algn="ctr" latinLnBrk="1"/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0.0015</a:t>
                      </a:r>
                    </a:p>
                    <a:p>
                      <a:pPr algn="ctr" latinLnBrk="1"/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0.0007</a:t>
                      </a:r>
                    </a:p>
                    <a:p>
                      <a:pPr algn="ctr" latinLnBrk="1"/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481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309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11034</TotalTime>
  <Words>289</Words>
  <Application>Microsoft Office PowerPoint</Application>
  <PresentationFormat>와이드스크린</PresentationFormat>
  <Paragraphs>93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POSEIDON 비교분석 실험 결과</vt:lpstr>
      <vt:lpstr>Python 측정 결과</vt:lpstr>
      <vt:lpstr>Rust 측정 결과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1473</cp:revision>
  <dcterms:created xsi:type="dcterms:W3CDTF">2023-03-06T16:32:37Z</dcterms:created>
  <dcterms:modified xsi:type="dcterms:W3CDTF">2025-11-27T09:39:02Z</dcterms:modified>
</cp:coreProperties>
</file>