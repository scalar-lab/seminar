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7"/>
  </p:notesMasterIdLst>
  <p:sldIdLst>
    <p:sldId id="256" r:id="rId2"/>
    <p:sldId id="272" r:id="rId3"/>
    <p:sldId id="275" r:id="rId4"/>
    <p:sldId id="276" r:id="rId5"/>
    <p:sldId id="274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0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25500-4EA9-46E7-A01C-1619D8BA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34D1E5-440C-4B86-4E3D-2EC29DB37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FDE4C8-41FA-5DCD-1151-BB322CBF9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BF73E0-B7FB-C037-6815-C7684A4D3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903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228CB-844F-3089-2B29-14F1D0303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965AF7-5EAC-35B6-F13A-0EBC80832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F95FF5-9957-720F-DDF3-36B2CCC2E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6879C-D86E-0836-47B7-ADE7E9E00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839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FD4E2-76EB-A674-C0F3-B1F09E3B3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FD10FF-B425-65A9-1224-47F051D5A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781A280-6BBF-24E0-9CC0-CF7A56213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5BB0CF-FC28-08DF-7B16-4A1DCD6E8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49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RISC-V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0280" y="1666695"/>
            <a:ext cx="2034176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1BFD-6794-68F7-E2A4-3C30510DD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B4360-A41D-D009-6A12-00E4C099D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목표 및 진행사항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F7840A-A58D-2C26-E961-A96C9478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1582" y="6124589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51DFB-8A91-9FBA-1888-6F1313E74A09}"/>
              </a:ext>
            </a:extLst>
          </p:cNvPr>
          <p:cNvSpPr txBox="1"/>
          <p:nvPr/>
        </p:nvSpPr>
        <p:spPr>
          <a:xfrm>
            <a:off x="805219" y="1394954"/>
            <a:ext cx="11285964" cy="1702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&lt;</a:t>
            </a:r>
            <a:r>
              <a:rPr lang="ko-KR" altLang="en-US" dirty="0"/>
              <a:t>목표</a:t>
            </a:r>
            <a:r>
              <a:rPr lang="en-US" altLang="ko-KR" dirty="0"/>
              <a:t>&gt;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BNN</a:t>
            </a:r>
            <a:r>
              <a:rPr lang="ko-KR" altLang="en-US" dirty="0"/>
              <a:t>을 </a:t>
            </a:r>
            <a:r>
              <a:rPr lang="en-US" altLang="ko-KR" dirty="0"/>
              <a:t>RISC-V</a:t>
            </a:r>
            <a:r>
              <a:rPr lang="ko-KR" altLang="en-US" dirty="0"/>
              <a:t>에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W8A8, W1A8, W1A1</a:t>
            </a:r>
            <a:r>
              <a:rPr lang="ko-KR" altLang="en-US" dirty="0"/>
              <a:t> </a:t>
            </a:r>
            <a:r>
              <a:rPr lang="en-US" altLang="ko-KR" dirty="0"/>
              <a:t>Quantization</a:t>
            </a:r>
            <a:r>
              <a:rPr lang="ko-KR" altLang="en-US" dirty="0"/>
              <a:t>을 지원하는 모델을 </a:t>
            </a:r>
            <a:r>
              <a:rPr lang="en-US" altLang="ko-KR" dirty="0"/>
              <a:t>RISC-V</a:t>
            </a:r>
            <a:r>
              <a:rPr lang="ko-KR" altLang="en-US" dirty="0"/>
              <a:t>에서 동작하도록 구현</a:t>
            </a:r>
            <a:endParaRPr lang="en-US" altLang="ko-KR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LUT(Lookup Table)</a:t>
            </a:r>
            <a:r>
              <a:rPr lang="ko-KR" altLang="en-US" dirty="0"/>
              <a:t> 없이 동작하는 </a:t>
            </a:r>
            <a:r>
              <a:rPr lang="en-US" altLang="ko-KR" dirty="0"/>
              <a:t>bit-wise </a:t>
            </a:r>
            <a:r>
              <a:rPr lang="ko-KR" altLang="en-US" dirty="0"/>
              <a:t>기반 </a:t>
            </a:r>
            <a:r>
              <a:rPr lang="en-US" altLang="ko-KR" dirty="0"/>
              <a:t>Logic-Gate Network</a:t>
            </a:r>
            <a:r>
              <a:rPr lang="ko-KR" altLang="en-US" dirty="0"/>
              <a:t>를 </a:t>
            </a:r>
            <a:r>
              <a:rPr lang="en-US" altLang="ko-KR" dirty="0"/>
              <a:t>RISC-V</a:t>
            </a:r>
            <a:r>
              <a:rPr lang="ko-KR" altLang="en-US" dirty="0"/>
              <a:t>에서 동작하도록 구현</a:t>
            </a:r>
            <a:r>
              <a:rPr lang="en-US" altLang="ko-KR" dirty="0"/>
              <a:t>(</a:t>
            </a:r>
            <a:r>
              <a:rPr lang="ko-KR" altLang="en-US" dirty="0"/>
              <a:t>추가</a:t>
            </a:r>
            <a:r>
              <a:rPr lang="en-US" altLang="ko-KR" dirty="0"/>
              <a:t>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413C9E-1B66-17F4-224F-27DF9F75F34D}"/>
              </a:ext>
            </a:extLst>
          </p:cNvPr>
          <p:cNvSpPr/>
          <p:nvPr/>
        </p:nvSpPr>
        <p:spPr>
          <a:xfrm>
            <a:off x="102141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기존 </a:t>
            </a:r>
            <a:r>
              <a:rPr lang="en-US" altLang="ko-KR" sz="1600" dirty="0">
                <a:solidFill>
                  <a:schemeClr val="tx1"/>
                </a:solidFill>
              </a:rPr>
              <a:t>Mixed-Precision Neural Networks on RISC-V Cores </a:t>
            </a:r>
            <a:r>
              <a:rPr lang="ko-KR" altLang="en-US" sz="1600" dirty="0">
                <a:solidFill>
                  <a:schemeClr val="tx1"/>
                </a:solidFill>
              </a:rPr>
              <a:t>코드 분석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985DDA-C30E-0D10-16C0-BC2D7422377E}"/>
              </a:ext>
            </a:extLst>
          </p:cNvPr>
          <p:cNvSpPr/>
          <p:nvPr/>
        </p:nvSpPr>
        <p:spPr>
          <a:xfrm>
            <a:off x="4908892" y="3293986"/>
            <a:ext cx="2038223" cy="161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BNN</a:t>
            </a:r>
            <a:r>
              <a:rPr lang="ko-KR" altLang="en-US" sz="1600" dirty="0">
                <a:solidFill>
                  <a:schemeClr val="tx1"/>
                </a:solidFill>
              </a:rPr>
              <a:t>을 </a:t>
            </a:r>
            <a:r>
              <a:rPr lang="en-US" altLang="ko-KR" sz="1600" dirty="0" err="1">
                <a:solidFill>
                  <a:schemeClr val="tx1"/>
                </a:solidFill>
              </a:rPr>
              <a:t>Brevitas</a:t>
            </a:r>
            <a:r>
              <a:rPr lang="ko-KR" altLang="en-US" sz="1600" dirty="0">
                <a:solidFill>
                  <a:schemeClr val="tx1"/>
                </a:solidFill>
              </a:rPr>
              <a:t>로 구현 및 학습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AF34C-80EC-6259-37CD-4963A3EEAC34}"/>
              </a:ext>
            </a:extLst>
          </p:cNvPr>
          <p:cNvSpPr/>
          <p:nvPr/>
        </p:nvSpPr>
        <p:spPr>
          <a:xfrm>
            <a:off x="8796370" y="3293985"/>
            <a:ext cx="3218412" cy="6871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W8A8, W1A8, W1A1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Quantization</a:t>
            </a:r>
            <a:r>
              <a:rPr lang="ko-KR" altLang="en-US" sz="1400" dirty="0">
                <a:solidFill>
                  <a:schemeClr val="tx1"/>
                </a:solidFill>
              </a:rPr>
              <a:t>을 지원하는 모델을 </a:t>
            </a:r>
            <a:r>
              <a:rPr lang="en-US" altLang="ko-KR" sz="1400" dirty="0">
                <a:solidFill>
                  <a:schemeClr val="tx1"/>
                </a:solidFill>
              </a:rPr>
              <a:t>RISC-V</a:t>
            </a:r>
            <a:r>
              <a:rPr lang="ko-KR" altLang="en-US" sz="1400" dirty="0">
                <a:solidFill>
                  <a:schemeClr val="tx1"/>
                </a:solidFill>
              </a:rPr>
              <a:t>에 구현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6D16E-8227-1483-9939-D25F7DA87D7F}"/>
              </a:ext>
            </a:extLst>
          </p:cNvPr>
          <p:cNvSpPr txBox="1"/>
          <p:nvPr/>
        </p:nvSpPr>
        <p:spPr>
          <a:xfrm>
            <a:off x="929875" y="5005052"/>
            <a:ext cx="2371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Python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r>
              <a:rPr lang="en-US" altLang="ko-KR" sz="1400" dirty="0"/>
              <a:t>- VGG8 </a:t>
            </a:r>
            <a:r>
              <a:rPr lang="ko-KR" altLang="en-US" sz="1400" dirty="0"/>
              <a:t>모델 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CEE5F4-52E4-E3AD-4062-E3749F93E3FD}"/>
              </a:ext>
            </a:extLst>
          </p:cNvPr>
          <p:cNvSpPr txBox="1"/>
          <p:nvPr/>
        </p:nvSpPr>
        <p:spPr>
          <a:xfrm>
            <a:off x="4043194" y="4986372"/>
            <a:ext cx="46014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XNOR-Net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</a:t>
            </a:r>
            <a:r>
              <a:rPr lang="en-US" altLang="ko-KR" sz="1400" dirty="0" err="1"/>
              <a:t>ReactNet</a:t>
            </a:r>
            <a:r>
              <a:rPr lang="ko-KR" altLang="en-US" sz="1400" dirty="0"/>
              <a:t>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OVSW </a:t>
            </a:r>
            <a:r>
              <a:rPr lang="ko-KR" altLang="en-US" sz="1400" dirty="0"/>
              <a:t>학습 가능 여부 검토 후 </a:t>
            </a:r>
            <a:r>
              <a:rPr lang="en-US" altLang="ko-KR" sz="1400" dirty="0" err="1"/>
              <a:t>Brevitas</a:t>
            </a:r>
            <a:r>
              <a:rPr lang="ko-KR" altLang="en-US" sz="1400" dirty="0"/>
              <a:t>로 구현 및 학습</a:t>
            </a:r>
          </a:p>
          <a:p>
            <a:r>
              <a:rPr lang="en-US" altLang="ko-KR" sz="1400" dirty="0"/>
              <a:t>- Conv </a:t>
            </a:r>
            <a:r>
              <a:rPr lang="ko-KR" altLang="en-US" sz="1400" dirty="0"/>
              <a:t>연산에 대한 플로우 확인</a:t>
            </a:r>
            <a:endParaRPr lang="en-US" altLang="ko-KR" sz="1400" dirty="0"/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C573986B-C7CC-DBCB-85C3-FE9FF5A45E68}"/>
              </a:ext>
            </a:extLst>
          </p:cNvPr>
          <p:cNvSpPr/>
          <p:nvPr/>
        </p:nvSpPr>
        <p:spPr>
          <a:xfrm>
            <a:off x="374799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934A7D4-1260-12B5-77C3-B5875808C2A2}"/>
              </a:ext>
            </a:extLst>
          </p:cNvPr>
          <p:cNvSpPr/>
          <p:nvPr/>
        </p:nvSpPr>
        <p:spPr>
          <a:xfrm>
            <a:off x="7635472" y="3865047"/>
            <a:ext cx="472543" cy="47254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7222D4-FB37-BF83-E834-AA75F973C731}"/>
              </a:ext>
            </a:extLst>
          </p:cNvPr>
          <p:cNvSpPr/>
          <p:nvPr/>
        </p:nvSpPr>
        <p:spPr>
          <a:xfrm>
            <a:off x="8796370" y="4221489"/>
            <a:ext cx="3218412" cy="6871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Bit-wise </a:t>
            </a:r>
            <a:r>
              <a:rPr lang="ko-KR" altLang="en-US" sz="1400" dirty="0">
                <a:solidFill>
                  <a:schemeClr val="tx1"/>
                </a:solidFill>
              </a:rPr>
              <a:t>연산 기반 </a:t>
            </a:r>
            <a:r>
              <a:rPr lang="en-US" altLang="ko-KR" sz="1400" dirty="0">
                <a:solidFill>
                  <a:schemeClr val="tx1"/>
                </a:solidFill>
              </a:rPr>
              <a:t>Logic Gate Network </a:t>
            </a:r>
            <a:r>
              <a:rPr lang="ko-KR" altLang="en-US" sz="1400" dirty="0">
                <a:solidFill>
                  <a:schemeClr val="tx1"/>
                </a:solidFill>
              </a:rPr>
              <a:t>구현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Pytorch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DDE58D-73A3-D47A-ABD8-27E309BCC4DD}"/>
              </a:ext>
            </a:extLst>
          </p:cNvPr>
          <p:cNvSpPr txBox="1"/>
          <p:nvPr/>
        </p:nvSpPr>
        <p:spPr>
          <a:xfrm>
            <a:off x="8812120" y="4985992"/>
            <a:ext cx="310321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8-bit / 1-bit</a:t>
            </a:r>
            <a:r>
              <a:rPr lang="ko-KR" altLang="en-US" sz="1400" dirty="0"/>
              <a:t> </a:t>
            </a:r>
            <a:r>
              <a:rPr lang="en-US" altLang="ko-KR" sz="1400" dirty="0"/>
              <a:t>C</a:t>
            </a:r>
            <a:r>
              <a:rPr lang="ko-KR" altLang="en-US" sz="1400" dirty="0"/>
              <a:t>코드 분석 및 세팅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DWN</a:t>
            </a:r>
            <a:r>
              <a:rPr lang="ko-KR" altLang="en-US" sz="1400" dirty="0"/>
              <a:t>을 </a:t>
            </a:r>
            <a:r>
              <a:rPr lang="en-US" altLang="ko-KR" sz="1400" dirty="0"/>
              <a:t>RISC-V</a:t>
            </a:r>
            <a:r>
              <a:rPr lang="ko-KR" altLang="en-US" sz="1400" dirty="0"/>
              <a:t>용 </a:t>
            </a:r>
            <a:r>
              <a:rPr lang="en-US" altLang="ko-KR" sz="1400" dirty="0"/>
              <a:t>C</a:t>
            </a:r>
            <a:r>
              <a:rPr lang="ko-KR" altLang="en-US" sz="1400" dirty="0"/>
              <a:t>코드 생성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Bit-Wise </a:t>
            </a:r>
            <a:r>
              <a:rPr lang="ko-KR" altLang="en-US" sz="1400" dirty="0"/>
              <a:t>연산 기반 </a:t>
            </a:r>
            <a:r>
              <a:rPr lang="en-US" altLang="ko-KR" sz="1400" dirty="0"/>
              <a:t>DWN </a:t>
            </a:r>
            <a:r>
              <a:rPr lang="ko-KR" altLang="en-US" sz="1400" dirty="0"/>
              <a:t>구현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32869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DFB75-FF9A-FBBD-20E2-1CECD0F6D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7FF54-D86B-89A6-94DE-93B7F95B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DWN </a:t>
            </a:r>
            <a:r>
              <a:rPr lang="ko-KR" altLang="en-US" dirty="0"/>
              <a:t>코드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69696-80D6-901B-05E2-2095F353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41EA49-37F8-1C99-8126-6B59E41B41D9}"/>
              </a:ext>
            </a:extLst>
          </p:cNvPr>
          <p:cNvSpPr txBox="1"/>
          <p:nvPr/>
        </p:nvSpPr>
        <p:spPr>
          <a:xfrm>
            <a:off x="688345" y="1461460"/>
            <a:ext cx="616965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binarization.py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전처리</a:t>
            </a:r>
            <a:r>
              <a:rPr lang="ko-KR" altLang="en-US" sz="1600" dirty="0"/>
              <a:t> 및 이진화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Thermometer</a:t>
            </a:r>
            <a:r>
              <a:rPr lang="ko-KR" altLang="en-US" sz="1600" dirty="0"/>
              <a:t> 인코딩 구현</a:t>
            </a:r>
            <a:r>
              <a:rPr lang="en-US" altLang="ko-KR" sz="1600" dirty="0"/>
              <a:t>(3</a:t>
            </a:r>
            <a:r>
              <a:rPr lang="ko-KR" altLang="en-US" sz="1600" dirty="0"/>
              <a:t>가지 방식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Uniform Thermometer : min/max </a:t>
            </a:r>
            <a:r>
              <a:rPr lang="ko-KR" altLang="en-US" sz="1600" dirty="0"/>
              <a:t>기반 균등 간격 </a:t>
            </a:r>
            <a:r>
              <a:rPr lang="ko-KR" altLang="en-US" sz="1600" dirty="0" err="1"/>
              <a:t>임계값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Gaussian Thermometer : </a:t>
            </a:r>
            <a:r>
              <a:rPr lang="ko-KR" altLang="en-US" sz="1600" dirty="0"/>
              <a:t>정규 </a:t>
            </a:r>
            <a:r>
              <a:rPr lang="ko-KR" altLang="en-US" sz="1600" dirty="0" err="1"/>
              <a:t>분위수</a:t>
            </a:r>
            <a:r>
              <a:rPr lang="ko-KR" altLang="en-US" sz="1600" dirty="0"/>
              <a:t> 기반 </a:t>
            </a:r>
            <a:r>
              <a:rPr lang="ko-KR" altLang="en-US" sz="1600" dirty="0" err="1"/>
              <a:t>임계값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Distributive Thermometer : </a:t>
            </a:r>
            <a:r>
              <a:rPr lang="ko-KR" altLang="en-US" sz="1600" dirty="0"/>
              <a:t>데이터 </a:t>
            </a:r>
            <a:r>
              <a:rPr lang="ko-KR" altLang="en-US" sz="1600" dirty="0" err="1"/>
              <a:t>분위수</a:t>
            </a:r>
            <a:r>
              <a:rPr lang="ko-KR" altLang="en-US" sz="1600" dirty="0"/>
              <a:t> 기반 </a:t>
            </a:r>
            <a:r>
              <a:rPr lang="ko-KR" altLang="en-US" sz="1600" dirty="0" err="1"/>
              <a:t>임계값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b="1" dirty="0"/>
              <a:t>mapping.py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정적 매핑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학습 매핑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순전파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역전파</a:t>
            </a:r>
            <a:r>
              <a:rPr lang="ko-KR" altLang="en-US" sz="1600" dirty="0"/>
              <a:t> 사용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22640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5881C-0E1C-0324-4B1E-FE4B2066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77298-BA00-03F9-0283-EB32BFA6D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DWN </a:t>
            </a:r>
            <a:r>
              <a:rPr lang="ko-KR" altLang="en-US" dirty="0"/>
              <a:t>코드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70D269-541B-3BC9-DB18-CB0EABF9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E48CD8-C4FE-DBC2-3320-83F82AA507C6}"/>
              </a:ext>
            </a:extLst>
          </p:cNvPr>
          <p:cNvSpPr txBox="1"/>
          <p:nvPr/>
        </p:nvSpPr>
        <p:spPr>
          <a:xfrm>
            <a:off x="688345" y="1461460"/>
            <a:ext cx="616965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Lut_layer.py</a:t>
            </a:r>
          </a:p>
          <a:p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600" dirty="0"/>
              <a:t>EFD Function </a:t>
            </a:r>
            <a:r>
              <a:rPr lang="ko-KR" altLang="en-US" sz="1600" dirty="0"/>
              <a:t>호출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sz="2000" b="1" dirty="0"/>
              <a:t>utils.py</a:t>
            </a:r>
          </a:p>
          <a:p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Padding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GroupSum</a:t>
            </a:r>
            <a:r>
              <a:rPr lang="en-US" altLang="ko-KR" dirty="0"/>
              <a:t> : </a:t>
            </a:r>
            <a:r>
              <a:rPr lang="ko-KR" altLang="en-US" dirty="0"/>
              <a:t>마지막 축을 </a:t>
            </a:r>
            <a:r>
              <a:rPr lang="en-US" altLang="ko-KR" dirty="0"/>
              <a:t>reshape </a:t>
            </a:r>
            <a:r>
              <a:rPr lang="ko-KR" altLang="en-US" dirty="0"/>
              <a:t>후 그룹 합 및 스케일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 err="1"/>
              <a:t>STEFunction</a:t>
            </a:r>
            <a:r>
              <a:rPr lang="en-US" altLang="ko-KR" dirty="0"/>
              <a:t> : </a:t>
            </a:r>
            <a:r>
              <a:rPr lang="ko-KR" altLang="en-US" dirty="0"/>
              <a:t>이진화</a:t>
            </a:r>
            <a:r>
              <a:rPr lang="en-US" altLang="ko-KR" dirty="0"/>
              <a:t>, Straight-Through backward</a:t>
            </a:r>
          </a:p>
        </p:txBody>
      </p:sp>
    </p:spTree>
    <p:extLst>
      <p:ext uri="{BB962C8B-B14F-4D97-AF65-F5344CB8AC3E}">
        <p14:creationId xmlns:p14="http://schemas.microsoft.com/office/powerpoint/2010/main" val="344027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43161-891E-ACEA-DFA8-3AB35898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4541F-DB46-6F41-C3F2-4C214BD7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53EEC-77F2-085C-DF65-AA7880E9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B81F2-B6D9-6B60-1A38-38046B22DC47}"/>
              </a:ext>
            </a:extLst>
          </p:cNvPr>
          <p:cNvSpPr txBox="1"/>
          <p:nvPr/>
        </p:nvSpPr>
        <p:spPr>
          <a:xfrm>
            <a:off x="688345" y="1461460"/>
            <a:ext cx="102972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Differentiable </a:t>
            </a:r>
            <a:r>
              <a:rPr lang="en-US" altLang="ko-KR" dirty="0" err="1"/>
              <a:t>Weigthless</a:t>
            </a:r>
            <a:r>
              <a:rPr lang="en-US" altLang="ko-KR" dirty="0"/>
              <a:t> Neural Networks(DWN) </a:t>
            </a:r>
            <a:r>
              <a:rPr lang="ko-KR" altLang="en-US" dirty="0"/>
              <a:t>논문 리뷰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 err="1"/>
              <a:t>Pytorch</a:t>
            </a:r>
            <a:r>
              <a:rPr lang="en-US" altLang="ko-KR" dirty="0"/>
              <a:t> </a:t>
            </a:r>
            <a:r>
              <a:rPr lang="ko-KR" altLang="en-US" dirty="0"/>
              <a:t>코드 분석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RISC-V</a:t>
            </a:r>
            <a:r>
              <a:rPr lang="ko-KR" altLang="en-US" dirty="0"/>
              <a:t>에서 동작 가능한 </a:t>
            </a:r>
            <a:r>
              <a:rPr lang="en-US" altLang="ko-KR" dirty="0"/>
              <a:t>DWN Inference C</a:t>
            </a:r>
            <a:r>
              <a:rPr lang="ko-KR" altLang="en-US" dirty="0"/>
              <a:t>코드 생성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C</a:t>
            </a:r>
            <a:r>
              <a:rPr lang="ko-KR" altLang="en-US" dirty="0"/>
              <a:t>코드 생성을 위한 </a:t>
            </a:r>
            <a:r>
              <a:rPr lang="en-US" altLang="ko-KR" dirty="0"/>
              <a:t>BNN </a:t>
            </a:r>
            <a:r>
              <a:rPr lang="ko-KR" altLang="en-US" dirty="0"/>
              <a:t>파라미터 추출</a:t>
            </a: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dirty="0"/>
              <a:t>RISC-V</a:t>
            </a:r>
            <a:r>
              <a:rPr lang="ko-KR" altLang="en-US" dirty="0"/>
              <a:t>에서 동작 가능한 </a:t>
            </a:r>
            <a:r>
              <a:rPr lang="en-US" altLang="ko-KR" dirty="0"/>
              <a:t>BNN Inference C</a:t>
            </a:r>
            <a:r>
              <a:rPr lang="ko-KR" altLang="en-US" dirty="0"/>
              <a:t>코드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1164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10601</TotalTime>
  <Words>309</Words>
  <Application>Microsoft Office PowerPoint</Application>
  <PresentationFormat>와이드스크린</PresentationFormat>
  <Paragraphs>63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RISC-V</vt:lpstr>
      <vt:lpstr>목표 및 진행사항</vt:lpstr>
      <vt:lpstr>DWN 코드 분석</vt:lpstr>
      <vt:lpstr>DWN 코드 분석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1345</cp:revision>
  <dcterms:created xsi:type="dcterms:W3CDTF">2023-03-06T16:32:37Z</dcterms:created>
  <dcterms:modified xsi:type="dcterms:W3CDTF">2025-11-10T14:44:20Z</dcterms:modified>
</cp:coreProperties>
</file>