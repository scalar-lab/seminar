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22" r:id="rId2"/>
    <p:sldId id="310" r:id="rId3"/>
    <p:sldId id="414" r:id="rId4"/>
    <p:sldId id="438" r:id="rId5"/>
    <p:sldId id="439" r:id="rId6"/>
    <p:sldId id="440" r:id="rId7"/>
    <p:sldId id="446" r:id="rId8"/>
    <p:sldId id="443" r:id="rId9"/>
    <p:sldId id="445" r:id="rId10"/>
    <p:sldId id="447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8FB5FFC-F69C-554E-F7B5-88E0D1055F70}" name="여인국" initials="" userId="S::yik6465@mail.hongik.ac.kr::b08fdc00-faea-4d2c-bdbd-5d4f18a55a2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5B40"/>
    <a:srgbClr val="FFCC66"/>
    <a:srgbClr val="FFFF99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72929F-D5CF-40A6-8D84-5CD7D96E90B3}" v="3" dt="2025-02-19T06:49:30.4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테마 스타일 2 - 강조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5879" autoAdjust="0"/>
  </p:normalViewPr>
  <p:slideViewPr>
    <p:cSldViewPr snapToGrid="0">
      <p:cViewPr>
        <p:scale>
          <a:sx n="125" d="100"/>
          <a:sy n="125" d="100"/>
        </p:scale>
        <p:origin x="1592" y="8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C40FE1-7BA5-8046-91E8-6C4230D41AD3}" type="datetimeFigureOut">
              <a:rPr kumimoji="1" lang="ko-KR" altLang="en-US" smtClean="0"/>
              <a:t>2025-08-12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7FA4FD-DB31-984A-A042-9460A8A5E2C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86733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FA4FD-DB31-984A-A042-9460A8A5E2CC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9517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4294C-3614-F7DD-A23A-2FDAE2CB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A55A1E-4A35-CB44-DFE7-4EC7D8E0E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5B7D7E-6AF5-85FC-BF6B-EFC043685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4EDD1C-D3DD-F6AB-9C9E-C6EBA3D54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FA4FD-DB31-984A-A042-9460A8A5E2CC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79700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DFF6F-3B59-8F05-20BE-87A0E465C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5EF207-4830-FAE8-AC13-37307FD1E1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1373B1-9434-E793-1ECB-687731BDA3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FB7226-9D09-20B7-54AB-CAC2AC9E86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FA4FD-DB31-984A-A042-9460A8A5E2CC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51221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91C58-872A-F93C-EE52-5E3E6701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5BC722-00E3-C745-EE43-DAB03EE73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70FF7B-C4BC-67F4-A550-DEC17D3AE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602B97-70ED-DC48-DA0C-178968C11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FA4FD-DB31-984A-A042-9460A8A5E2CC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2917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A8408-AF84-562E-DE5C-738465686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5F9BA2-6D61-6DB1-AED6-02B660589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F519DF-DD45-E986-CBC0-89EEF21EC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B3F631-094A-10A8-CFFF-657B206F4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FA4FD-DB31-984A-A042-9460A8A5E2CC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51172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F2021-A259-4367-2D13-1473AF1B8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927872-3621-21D0-6B8E-C3E11E027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357149-E30B-9AD9-C81C-495B06EC8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A9AFB3-E29E-CAF9-9AB9-DFEB2295F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FA4FD-DB31-984A-A042-9460A8A5E2CC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37102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AF6DE-ED66-A2A8-9BD7-3BC675AB5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19A98C-CFA2-FC8F-9E14-5633947E5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E2959A-8731-83D3-E8A7-022223162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F4F6C7-32FB-D3DC-C81C-8DE0BA42BD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FA4FD-DB31-984A-A042-9460A8A5E2CC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02139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F74D7-9900-5D8F-4BC4-0A048462E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78A79A-49DD-9C39-FED8-7D462727A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559628-EDCE-7560-B056-A55685ADA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F9625F-6195-3CCB-25CB-57335CAC8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FA4FD-DB31-984A-A042-9460A8A5E2CC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75691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1DE26-7DF4-E729-1847-A22A1AF06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BA74F9-2D9A-61FE-845A-16717C259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22A7C5-68CB-18AF-23AA-31206CCC6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9C8731-7942-78C1-470C-CE9BBE5454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FA4FD-DB31-984A-A042-9460A8A5E2CC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1430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B3FAD0-8A20-7923-7893-2EDDC6A36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57EC36-DB78-3E3C-0B1A-ABBB8B591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17449F-69FD-805C-C39A-B7BB5C351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67B945-E2BF-3AE2-BF80-57707719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740A89-8ED5-1DE4-0932-F4619809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169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E0059C-1272-27C1-1AD6-858000F9B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665ED2-8C20-1A39-C730-D0DB5DA39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0570D4-1B83-0DC1-A092-0006B933A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438F6B-89D5-FA59-AECA-9C58EEB5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1CF01-5594-7769-953C-B65FC693F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47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A22BAD-536C-DC56-6FBA-54B806A02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7FACC2-7594-84A1-98F6-AF97A97B9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7F1AF0-C9C4-A661-43B0-E209AB8AA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371A97-F258-6B31-B3CD-9305BD9DE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ABC1C9-73BB-F630-F686-E40DBA434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664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850DB0-E55B-C55B-63A0-126AB4202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F75F8E-99DD-33CA-3F5F-29220BE450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C4F783-5C32-0B5D-B01B-1AC08933D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BD1F01-1C29-CD60-3B29-ABF685EA5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63A724-2312-50A8-3659-4DA1EC938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B54B74-1878-2F89-232F-D32A912C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746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D218E-988A-51B4-6024-FE9639BC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9523B5-FCF1-499E-49C2-6BDC8021E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B31C7B-51E7-AFB9-5DD8-F78B39B6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5BD7C79-9775-B4D7-5B30-566AB49262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1B1C7A-39CC-FCD2-83A3-C3532E668B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7A9A09E-EB7F-BEE9-11C3-E50D3D4CB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D6D792A-84DF-9AE4-8C2A-DCAE99571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4802669-260A-44CC-C41D-A8641CE6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350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4293D4-70FE-5457-F371-8B7509CE7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90CC3D2-B6DE-E187-73CE-17CA5D802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55F0F3-B4F4-A6BE-989E-9A7BDB98E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7571F9-87AF-E7E2-F8E9-88E49D1DF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925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230C8B-5A0D-4D48-D771-EA22A520B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D66062-2B02-B107-35C6-312DAB3F8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873AE3-8B29-D5BA-BF91-AE21F4071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397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753660-3212-EE45-91F5-F4C841C4A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8E8ABC-216F-9F65-D5D3-CCAB19C08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2CB595-0DAB-9D35-EA4F-E1F051C75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9F31B5-B190-3A07-9402-861FBF2E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2D2245-C8A9-F6A0-4F13-518FA8679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73318B-17B8-CF65-FC55-EE2216855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336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679F2-D2A1-8A39-8451-51B50C213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0E8CA9B-4ECD-D356-3DEA-7C1B96A9F6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836D72-8411-6376-FEBC-E1DC807A8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DCF28B-D30C-33E2-9BA4-1A8109A10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F3F371-A1D2-46FB-5605-6C0952C2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CD465F-343F-DD44-38C9-7A72FAFC1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732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ECE4E6-BB68-E209-FD54-F2CB4F8FE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C2F5D5-C52E-8948-1E04-47429F51E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ACED61-6459-E9F3-F667-CD45EB04F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12A630-389B-82D6-6659-5AAFF37A2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30AC94-E7B6-302B-657F-FC63A31B6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247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2636D74-C086-6DAF-F1F0-641C25206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E0CD25-9725-AC8F-327B-EC8CD3F07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EE4FCC-8D88-5A91-FC57-492BB19A5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D022-6272-4AA1-A870-94C99CE0EF5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369D90-CC7C-6CC8-FA86-333066C8D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6F36C8-39F5-1CD6-93AC-F6E80E74C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954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02F0BC9-F8C8-1B5F-B5B4-B22D12F1C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55735D-8AB4-4156-2BC1-0F061E4F7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5346F7-01BD-4C01-6AC7-9AC84B8D9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2D022-6272-4AA1-A870-94C99CE0EF59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F14D27-9906-A464-0E2B-DF4B10D19D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EDB760-460D-ABD8-50AD-E8E248938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41C9B4-4430-4D86-829B-89DDB9A6C3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771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B022DE3-A5C1-0F30-9CBC-709960FECCCA}"/>
              </a:ext>
            </a:extLst>
          </p:cNvPr>
          <p:cNvSpPr/>
          <p:nvPr/>
        </p:nvSpPr>
        <p:spPr>
          <a:xfrm>
            <a:off x="-1" y="2135416"/>
            <a:ext cx="12192000" cy="203925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BD2E7041-E496-0DE1-508D-EA2FCD158B37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0" y="-184750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 descr="HONGIK UNIVERSITY">
            <a:extLst>
              <a:ext uri="{FF2B5EF4-FFF2-40B4-BE49-F238E27FC236}">
                <a16:creationId xmlns:a16="http://schemas.microsoft.com/office/drawing/2014/main" id="{3A97E3AC-4A3D-CAA0-74C4-4533F5912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F541B045-3E6E-5E49-1D4C-1B52514ADCFB}"/>
              </a:ext>
            </a:extLst>
          </p:cNvPr>
          <p:cNvSpPr txBox="1">
            <a:spLocks/>
          </p:cNvSpPr>
          <p:nvPr/>
        </p:nvSpPr>
        <p:spPr>
          <a:xfrm>
            <a:off x="9946784" y="1773596"/>
            <a:ext cx="2004026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 dirty="0">
                <a:solidFill>
                  <a:srgbClr val="002C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2025/08/12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79B37C4A-0F26-6B4C-6B77-6D262C1A72BD}"/>
              </a:ext>
            </a:extLst>
          </p:cNvPr>
          <p:cNvSpPr txBox="1">
            <a:spLocks/>
          </p:cNvSpPr>
          <p:nvPr/>
        </p:nvSpPr>
        <p:spPr>
          <a:xfrm>
            <a:off x="5892800" y="5004758"/>
            <a:ext cx="5821861" cy="95975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b="1" dirty="0" err="1">
                <a:solidFill>
                  <a:srgbClr val="002C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Inguk</a:t>
            </a:r>
            <a:r>
              <a:rPr lang="en-US" altLang="ko-KR" b="1" dirty="0">
                <a:solidFill>
                  <a:srgbClr val="002C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Yeo</a:t>
            </a:r>
          </a:p>
          <a:p>
            <a:pPr marL="0" indent="0" algn="r">
              <a:buNone/>
            </a:pPr>
            <a:r>
              <a:rPr lang="en-US" altLang="ko-KR" b="1" dirty="0">
                <a:solidFill>
                  <a:srgbClr val="002C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12DC813-95DC-4402-F9A7-F201A36FE1B2}"/>
              </a:ext>
            </a:extLst>
          </p:cNvPr>
          <p:cNvSpPr/>
          <p:nvPr/>
        </p:nvSpPr>
        <p:spPr>
          <a:xfrm flipH="1">
            <a:off x="11848737" y="493859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ACA9415-6CD1-BFA9-2FB1-06AC91B07121}"/>
              </a:ext>
            </a:extLst>
          </p:cNvPr>
          <p:cNvSpPr txBox="1">
            <a:spLocks/>
          </p:cNvSpPr>
          <p:nvPr/>
        </p:nvSpPr>
        <p:spPr>
          <a:xfrm>
            <a:off x="1441450" y="2320752"/>
            <a:ext cx="10453006" cy="1604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ko-KR" altLang="en-US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6B3220C1-8007-71BF-B5F6-F3267675B164}"/>
              </a:ext>
            </a:extLst>
          </p:cNvPr>
          <p:cNvSpPr txBox="1">
            <a:spLocks/>
          </p:cNvSpPr>
          <p:nvPr/>
        </p:nvSpPr>
        <p:spPr>
          <a:xfrm>
            <a:off x="490451" y="2320752"/>
            <a:ext cx="11404005" cy="1604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40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A&amp;B BNN</a:t>
            </a:r>
          </a:p>
          <a:p>
            <a:pPr algn="ctr"/>
            <a:r>
              <a:rPr lang="en-US" altLang="ko-KR" sz="40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(CVPR 2024)</a:t>
            </a:r>
            <a:endParaRPr lang="ko-KR" altLang="en-US" sz="40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271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80848670-0909-AA97-1CE1-E7929A760E22}"/>
              </a:ext>
            </a:extLst>
          </p:cNvPr>
          <p:cNvSpPr txBox="1"/>
          <p:nvPr/>
        </p:nvSpPr>
        <p:spPr>
          <a:xfrm>
            <a:off x="1375558" y="814647"/>
            <a:ext cx="944088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XNOR-Net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Tx/>
              <a:buChar char="-"/>
            </a:pP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해상도가 높은 이미지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(ex. ImageNet)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에 대한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BNN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의 정확도 향상을 위해서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Scaling Factor 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도입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Tx/>
              <a:buChar char="-"/>
            </a:pP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Bi-</a:t>
            </a:r>
            <a:r>
              <a:rPr lang="en-US" altLang="ko-K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RealNet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Tx/>
              <a:buChar char="-"/>
            </a:pP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Skip Connection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을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BNN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에 도입</a:t>
            </a:r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altLang="ko-KR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ReActNet</a:t>
            </a:r>
            <a:endParaRPr lang="en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Tx/>
              <a:buChar char="-"/>
            </a:pPr>
            <a:r>
              <a:rPr lang="en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BNN 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내의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Activations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분포에 대해서 보다 효과적으로 대응하기 학습 가능한 파라미터가 존재하는 함수인 </a:t>
            </a:r>
            <a:r>
              <a:rPr lang="en-US" altLang="ko-KR" sz="2000" dirty="0" err="1">
                <a:latin typeface="Arial" panose="020B0604020202020204" pitchFamily="34" charset="0"/>
                <a:cs typeface="Arial" panose="020B0604020202020204" pitchFamily="34" charset="0"/>
              </a:rPr>
              <a:t>Rsign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과 </a:t>
            </a:r>
            <a:r>
              <a:rPr lang="en-US" altLang="ko-KR" sz="2000" dirty="0" err="1">
                <a:latin typeface="Arial" panose="020B0604020202020204" pitchFamily="34" charset="0"/>
                <a:cs typeface="Arial" panose="020B0604020202020204" pitchFamily="34" charset="0"/>
              </a:rPr>
              <a:t>RPReLU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도입 </a:t>
            </a:r>
            <a:endParaRPr lang="en" altLang="ko-KR" sz="20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BN-Free</a:t>
            </a:r>
            <a:endParaRPr lang="en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Tx/>
              <a:buChar char="-"/>
            </a:pP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기존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BNNs(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앞선 세 네트워크를 포함하여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에서 존재하는 실수 연산 부분인 </a:t>
            </a:r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Batch Normalization </a:t>
            </a:r>
            <a:r>
              <a:rPr lang="ko-K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제거를 위한 기법들을 도입한 네트워크</a:t>
            </a:r>
            <a:endParaRPr lang="en" altLang="ko-K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Tx/>
              <a:buChar char="-"/>
            </a:pPr>
            <a:endParaRPr lang="en-US" altLang="ko-K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altLang="ko-KR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A&amp;B BNN</a:t>
            </a:r>
            <a:endParaRPr lang="en-US" altLang="ko-KR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Tx/>
              <a:buChar char="-"/>
            </a:pPr>
            <a:r>
              <a:rPr lang="en" altLang="ko-KR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BN-Free</a:t>
            </a:r>
            <a:r>
              <a:rPr lang="ko-KR" alt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에서 여전히 존재하는 실수 연산들을 완전히 제거</a:t>
            </a:r>
            <a:endParaRPr lang="en-US" altLang="ko-KR" sz="20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A780908-D46A-CCF6-CD8F-8E82C2BBC44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14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2C62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algn="l" defTabSz="914400" rtl="0" eaLnBrk="1" fontAlgn="auto" latinLnBrk="1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Flow for Binary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2066862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53D08-66E4-382B-A3A6-653A08FA5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355C570-4623-9C60-5C02-689FD8C2770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898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2C62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algn="l" defTabSz="914400" rtl="0" eaLnBrk="1" fontAlgn="auto" latinLnBrk="1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Motivation in A&amp;B BNN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94E533-3813-CF4F-EAAD-995E9C481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889843"/>
            <a:ext cx="6888480" cy="34879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401B89-05DF-A521-E3E7-19A8C9B54C59}"/>
                  </a:ext>
                </a:extLst>
              </p:cNvPr>
              <p:cNvSpPr txBox="1"/>
              <p:nvPr/>
            </p:nvSpPr>
            <p:spPr>
              <a:xfrm>
                <a:off x="-1" y="4650825"/>
                <a:ext cx="12192001" cy="2110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" altLang="ko-K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Removing Multiplication operations in BN-Free BNN</a:t>
                </a:r>
                <a:endParaRPr lang="en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Respect to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" altLang="ko-KR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" altLang="ko-KR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ko-KR" altLang="en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00150" lvl="2" indent="-285750">
                  <a:buFontTx/>
                  <a:buChar char="-"/>
                </a:pP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" altLang="ko-KR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ko-KR" altLang="en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ko-KR" altLang="en-US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는</m:t>
                    </m:r>
                  </m:oMath>
                </a14:m>
                <a:r>
                  <a:rPr lang="en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분산으로 나눠주는 과정이다</a:t>
                </a: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𝛽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𝑉𝑎𝑟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lang="en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</a:t>
                </a:r>
                <a:r>
                  <a:rPr lang="en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 Mask Layer</a:t>
                </a: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에 흡수 시킴</a:t>
                </a:r>
                <a:endParaRPr lang="en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:endParaRPr lang="en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Respect to </a:t>
                </a:r>
                <a14:m>
                  <m:oMath xmlns:m="http://schemas.openxmlformats.org/officeDocument/2006/math">
                    <m:r>
                      <a:rPr lang="ko-KR" altLang="en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</m:oMath>
                </a14:m>
                <a:endParaRPr lang="en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:r>
                  <a:rPr lang="en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- </a:t>
                </a:r>
                <a14:m>
                  <m:oMath xmlns:m="http://schemas.openxmlformats.org/officeDocument/2006/math">
                    <m:r>
                      <a:rPr lang="ko-KR" altLang="en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ko-KR" altLang="en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는 활성화 함수를 조정하는 역할</a:t>
                </a: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</a:t>
                </a: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특정 상수 </a:t>
                </a: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(ex. </a:t>
                </a:r>
                <a14:m>
                  <m:oMath xmlns:m="http://schemas.openxmlformats.org/officeDocument/2006/math">
                    <m:r>
                      <a:rPr lang="ko-KR" altLang="en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𝛼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로 고정 </a:t>
                </a: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bit </a:t>
                </a: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연산으로 대체 가능</a:t>
                </a:r>
                <a:endParaRPr lang="en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401B89-05DF-A521-E3E7-19A8C9B54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4650825"/>
                <a:ext cx="12192001" cy="2110450"/>
              </a:xfrm>
              <a:prstGeom prst="rect">
                <a:avLst/>
              </a:prstGeom>
              <a:blipFill>
                <a:blip r:embed="rId4"/>
                <a:stretch>
                  <a:fillRect l="-400" t="-1734" b="-46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4348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092E3-8CD9-5071-0143-9D31581C6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CD4C60C-E327-C31E-5BBF-5AC183B8507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898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2C62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algn="l" defTabSz="914400" rtl="0" eaLnBrk="1" fontAlgn="auto" latinLnBrk="1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Scaled weight standardization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687EFA9-735B-F553-DB0A-45A1043E20BF}"/>
              </a:ext>
            </a:extLst>
          </p:cNvPr>
          <p:cNvGrpSpPr/>
          <p:nvPr/>
        </p:nvGrpSpPr>
        <p:grpSpPr>
          <a:xfrm>
            <a:off x="922752" y="2551099"/>
            <a:ext cx="10346496" cy="1755802"/>
            <a:chOff x="1173480" y="2871709"/>
            <a:chExt cx="10346496" cy="175580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B0ECEE9-BB8C-B413-00B8-9E9713C1D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23760" y="2871709"/>
              <a:ext cx="3886742" cy="111458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F8F3566-1FA7-024D-40F3-6DE9C5B42935}"/>
                </a:ext>
              </a:extLst>
            </p:cNvPr>
            <p:cNvSpPr txBox="1"/>
            <p:nvPr/>
          </p:nvSpPr>
          <p:spPr>
            <a:xfrm>
              <a:off x="1173480" y="2871709"/>
              <a:ext cx="492252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Batch Normalization (BN)</a:t>
              </a:r>
            </a:p>
            <a:p>
              <a:endParaRPr lang="en" altLang="ko-KR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" altLang="ko-KR" dirty="0">
                  <a:latin typeface="Arial" panose="020B0604020202020204" pitchFamily="34" charset="0"/>
                  <a:cs typeface="Arial" panose="020B0604020202020204" pitchFamily="34" charset="0"/>
                </a:rPr>
                <a:t>Activations </a:t>
              </a:r>
              <a:r>
                <a:rPr lang="ko-KR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평균 이동</a:t>
              </a:r>
              <a:endParaRPr lang="en" altLang="ko-KR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lvl="1"/>
              <a:endParaRPr lang="en" altLang="ko-KR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" altLang="ko-KR" dirty="0">
                  <a:latin typeface="Arial" panose="020B0604020202020204" pitchFamily="34" charset="0"/>
                  <a:cs typeface="Arial" panose="020B0604020202020204" pitchFamily="34" charset="0"/>
                </a:rPr>
                <a:t>Variance explode </a:t>
              </a:r>
              <a:r>
                <a:rPr lang="ko-KR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및 </a:t>
              </a:r>
              <a:r>
                <a:rPr lang="en-US" altLang="ko-KR" dirty="0">
                  <a:latin typeface="Arial" panose="020B0604020202020204" pitchFamily="34" charset="0"/>
                  <a:cs typeface="Arial" panose="020B0604020202020204" pitchFamily="34" charset="0"/>
                </a:rPr>
                <a:t>vanishing </a:t>
              </a:r>
              <a:r>
                <a:rPr lang="ko-KR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방지</a:t>
              </a:r>
              <a:r>
                <a:rPr lang="en" altLang="ko-KR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AE073F11-AEC6-5F34-71B6-9CA6A85C6D9C}"/>
                </a:ext>
              </a:extLst>
            </p:cNvPr>
            <p:cNvCxnSpPr>
              <a:cxnSpLocks/>
            </p:cNvCxnSpPr>
            <p:nvPr/>
          </p:nvCxnSpPr>
          <p:spPr>
            <a:xfrm>
              <a:off x="5892800" y="3610373"/>
              <a:ext cx="10414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1EF9204-63ED-0FBA-8DD1-1A0D9A30E146}"/>
                </a:ext>
              </a:extLst>
            </p:cNvPr>
            <p:cNvSpPr txBox="1"/>
            <p:nvPr/>
          </p:nvSpPr>
          <p:spPr>
            <a:xfrm>
              <a:off x="6090334" y="3241041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대체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C3C3B22-FBCE-B256-9D0C-491A84E87467}"/>
                    </a:ext>
                  </a:extLst>
                </p:cNvPr>
                <p:cNvSpPr txBox="1"/>
                <p:nvPr/>
              </p:nvSpPr>
              <p:spPr>
                <a:xfrm>
                  <a:off x="7574280" y="4349037"/>
                  <a:ext cx="3945696" cy="27847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ko-KR" b="0" dirty="0"/>
                    <a:t> ∙</a:t>
                  </a:r>
                  <a14:m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은</m:t>
                      </m:r>
                    </m:oMath>
                  </a14:m>
                  <a:r>
                    <a:rPr lang="ko-KR" altLang="en-US" dirty="0"/>
                    <a:t> </a:t>
                  </a:r>
                  <a:r>
                    <a:rPr lang="en-US" altLang="ko-KR" dirty="0"/>
                    <a:t>Fan-in / </a:t>
                  </a:r>
                  <a14:m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는</m:t>
                      </m:r>
                    </m:oMath>
                  </a14:m>
                  <a:r>
                    <a:rPr lang="ko-KR" altLang="en-US" dirty="0"/>
                    <a:t> </a:t>
                  </a:r>
                  <a:r>
                    <a:rPr lang="en-US" altLang="ko-KR" dirty="0"/>
                    <a:t>Activations</a:t>
                  </a:r>
                  <a:r>
                    <a:rPr lang="ko-KR" altLang="en-US" dirty="0"/>
                    <a:t>과 관련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C3C3B22-FBCE-B256-9D0C-491A84E874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4280" y="4349037"/>
                  <a:ext cx="3945696" cy="278474"/>
                </a:xfrm>
                <a:prstGeom prst="rect">
                  <a:avLst/>
                </a:prstGeom>
                <a:blipFill>
                  <a:blip r:embed="rId4"/>
                  <a:stretch>
                    <a:fillRect l="-1543" t="-28261" r="-926" b="-4782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4F6FFC5-D51B-759F-B575-02D42FE7C0E4}"/>
              </a:ext>
            </a:extLst>
          </p:cNvPr>
          <p:cNvSpPr txBox="1"/>
          <p:nvPr/>
        </p:nvSpPr>
        <p:spPr>
          <a:xfrm>
            <a:off x="0" y="6611779"/>
            <a:ext cx="118721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출처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: Andrew Brock, Soham De, and Samuel L Smith. Characterizing signal propagation to close the performance gap in unnormalized </a:t>
            </a:r>
            <a:r>
              <a:rPr lang="en-US" altLang="ko-KR" sz="1000" dirty="0" err="1">
                <a:latin typeface="Arial" panose="020B0604020202020204" pitchFamily="34" charset="0"/>
                <a:cs typeface="Arial" panose="020B0604020202020204" pitchFamily="34" charset="0"/>
              </a:rPr>
              <a:t>resnets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. In International Conference on Learning Representations, 2020. 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499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766D0-997C-553A-0532-08C765070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99FE129-E476-DEEB-62BD-8F544A36706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898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2C62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algn="l" defTabSz="914400" rtl="0" eaLnBrk="1" fontAlgn="auto" latinLnBrk="1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Adaptive gradient clipping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1242DAC-55FE-2ED7-4A22-4A723D094A3F}"/>
              </a:ext>
            </a:extLst>
          </p:cNvPr>
          <p:cNvGrpSpPr/>
          <p:nvPr/>
        </p:nvGrpSpPr>
        <p:grpSpPr>
          <a:xfrm>
            <a:off x="2628415" y="1651734"/>
            <a:ext cx="6935168" cy="2237200"/>
            <a:chOff x="2628416" y="2291171"/>
            <a:chExt cx="6935168" cy="223720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64046C6-72A9-F312-9E03-B3FC825FE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8416" y="2291171"/>
              <a:ext cx="6935168" cy="173379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878C5FD-B595-C78C-37E9-02B86808F91C}"/>
                    </a:ext>
                  </a:extLst>
                </p:cNvPr>
                <p:cNvSpPr txBox="1"/>
                <p:nvPr/>
              </p:nvSpPr>
              <p:spPr>
                <a:xfrm>
                  <a:off x="3731089" y="4024963"/>
                  <a:ext cx="4729821" cy="5034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ko-K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p>
                                </m:sSubSup>
                              </m:e>
                            </m:d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𝑊</m:t>
                                        </m:r>
                                      </m:e>
                                      <m:sub>
                                        <m:r>
                                          <a:rPr lang="en-US" altLang="ko-KR" sz="2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</m:s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ko-KR" altLang="en-US" sz="24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d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ko-KR" alt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</m:oMath>
                    </m:oMathPara>
                  </a14:m>
                  <a:endParaRPr lang="ko-KR" altLang="en-US" sz="2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8878C5FD-B595-C78C-37E9-02B86808F9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1089" y="4024963"/>
                  <a:ext cx="4729821" cy="50340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209D912-74D4-C766-6C8A-B39C95A540BF}"/>
              </a:ext>
            </a:extLst>
          </p:cNvPr>
          <p:cNvSpPr txBox="1"/>
          <p:nvPr/>
        </p:nvSpPr>
        <p:spPr>
          <a:xfrm>
            <a:off x="-1" y="4631775"/>
            <a:ext cx="121920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Adaptive gradient clipping</a:t>
            </a:r>
            <a:endParaRPr lang="en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가중치와 비교하여서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학습률이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그 보다는 작게 형성되도록 도와주는 기법</a:t>
            </a:r>
            <a:endParaRPr lang="en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이를 통해서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Gradient explode / vanishing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를 방지</a:t>
            </a:r>
            <a:r>
              <a:rPr lang="en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B2114C-5D2B-7C35-2554-C093C88FF595}"/>
              </a:ext>
            </a:extLst>
          </p:cNvPr>
          <p:cNvSpPr txBox="1"/>
          <p:nvPr/>
        </p:nvSpPr>
        <p:spPr>
          <a:xfrm>
            <a:off x="0" y="6451834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출처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ko-KR" sz="1000" dirty="0"/>
              <a:t>Andy Brock, Soham De, Samuel L Smith, and Karen Simonyan. High-performance large-scale image recognition without normalization. In International Conference on Machine Learning, pages 1059–1071. PMLR, 2021. 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156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33390-AF7E-1B8E-48CA-79C180635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4D8CC53-FEDD-B3A0-9CB6-A101EC6990B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898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2C62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algn="l" defTabSz="914400" rtl="0" eaLnBrk="1" fontAlgn="auto" latinLnBrk="1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Removal Mask Layer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A8DEDA5-A846-118A-10EB-661F2F62F2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148"/>
          <a:stretch>
            <a:fillRect/>
          </a:stretch>
        </p:blipFill>
        <p:spPr>
          <a:xfrm>
            <a:off x="1631950" y="1685012"/>
            <a:ext cx="3434080" cy="34879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AB6B29-D072-DFD6-D23E-91AB24C9B175}"/>
                  </a:ext>
                </a:extLst>
              </p:cNvPr>
              <p:cNvSpPr txBox="1"/>
              <p:nvPr/>
            </p:nvSpPr>
            <p:spPr>
              <a:xfrm>
                <a:off x="6096000" y="1574599"/>
                <a:ext cx="6096001" cy="3178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" altLang="ko-KR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Mask Layer </a:t>
                </a:r>
              </a:p>
              <a:p>
                <a:endParaRPr lang="en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ㅇ</a:t>
                </a:r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학습 시에만 유효하게 적용되며</a:t>
                </a: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추론 시에는 단순 </a:t>
                </a: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Sign </a:t>
                </a: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함수로 대체됨</a:t>
                </a: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따라서</a:t>
                </a: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" altLang="ko-KR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ko-KR" altLang="en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ko-KR" altLang="en-US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가</m:t>
                    </m:r>
                  </m:oMath>
                </a14:m>
                <a:r>
                  <a:rPr lang="en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해당 </a:t>
                </a:r>
                <a:r>
                  <a:rPr lang="en-US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Layer</a:t>
                </a: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에 흡수 가능해짐</a:t>
                </a:r>
                <a:endParaRPr lang="en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AB6B29-D072-DFD6-D23E-91AB24C9B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574599"/>
                <a:ext cx="6096001" cy="3178884"/>
              </a:xfrm>
              <a:prstGeom prst="rect">
                <a:avLst/>
              </a:prstGeom>
              <a:blipFill>
                <a:blip r:embed="rId4"/>
                <a:stretch>
                  <a:fillRect l="-800" t="-958" b="-268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6EC405C8-DB93-243E-C0A1-A917FD35A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659" y="2088034"/>
            <a:ext cx="4283214" cy="36372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3E3D89D-4AAF-2143-1E00-8FE7F4CA4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8659" y="2639126"/>
            <a:ext cx="3930637" cy="65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48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0E325-1497-09AC-623B-C7F93F80B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F0C8718-AB22-79C7-71D0-C9D62B57759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898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2C62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algn="l" defTabSz="914400" rtl="0" eaLnBrk="1" fontAlgn="auto" latinLnBrk="1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3600" dirty="0" err="1">
                <a:latin typeface="Arial" panose="020B0604020202020204" pitchFamily="34" charset="0"/>
                <a:cs typeface="Arial" panose="020B0604020202020204" pitchFamily="34" charset="0"/>
              </a:rPr>
              <a:t>QRPReLU</a:t>
            </a:r>
            <a:endParaRPr lang="en-US" altLang="ko-K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39F9B5-4D90-E768-964D-0AFBF6C87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5239412"/>
            <a:ext cx="4528820" cy="85023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EAE6BB5-7EF7-448A-A5C4-ADACA01B77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148"/>
          <a:stretch>
            <a:fillRect/>
          </a:stretch>
        </p:blipFill>
        <p:spPr>
          <a:xfrm>
            <a:off x="1492250" y="1320639"/>
            <a:ext cx="3434080" cy="3487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8A5E96-9240-C17E-8A96-A65FD31922E5}"/>
              </a:ext>
            </a:extLst>
          </p:cNvPr>
          <p:cNvSpPr txBox="1"/>
          <p:nvPr/>
        </p:nvSpPr>
        <p:spPr>
          <a:xfrm>
            <a:off x="6095999" y="1587299"/>
            <a:ext cx="60960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QRPReLU</a:t>
            </a:r>
          </a:p>
          <a:p>
            <a:endParaRPr lang="en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기존 활성화 함수인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RPReLU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대비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정확도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1.14%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상승 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기존의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Leaky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에 음수 구간만을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의 제곱 형태를 곱해주는 형태로 변경</a:t>
            </a:r>
            <a:endParaRPr lang="en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2BDEBC-FC5C-076D-6E60-FDC4B13A326C}"/>
                  </a:ext>
                </a:extLst>
              </p:cNvPr>
              <p:cNvSpPr txBox="1"/>
              <p:nvPr/>
            </p:nvSpPr>
            <p:spPr>
              <a:xfrm>
                <a:off x="506730" y="6089650"/>
                <a:ext cx="6096001" cy="374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𝜉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" altLang="ko-KR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ko-KR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는 학습 가능한 파라미터</a:t>
                </a:r>
                <a:endParaRPr lang="en" altLang="ko-K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2BDEBC-FC5C-076D-6E60-FDC4B13A3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30" y="6089650"/>
                <a:ext cx="6096001" cy="374526"/>
              </a:xfrm>
              <a:prstGeom prst="rect">
                <a:avLst/>
              </a:prstGeom>
              <a:blipFill>
                <a:blip r:embed="rId5"/>
                <a:stretch>
                  <a:fillRect t="-9836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6060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206CD-A704-4916-8504-774C4F466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1C1F052-D468-4755-8C35-3E358AED813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898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2C62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algn="l" defTabSz="914400" rtl="0" eaLnBrk="1" fontAlgn="auto" latinLnBrk="1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AB71A9-D21F-D504-B02F-61D50943EDC8}"/>
              </a:ext>
            </a:extLst>
          </p:cNvPr>
          <p:cNvGrpSpPr/>
          <p:nvPr/>
        </p:nvGrpSpPr>
        <p:grpSpPr>
          <a:xfrm>
            <a:off x="632657" y="1644148"/>
            <a:ext cx="10926686" cy="3566278"/>
            <a:chOff x="632657" y="1644148"/>
            <a:chExt cx="10926686" cy="3566278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88746D78-3420-DFA9-FEB6-780A79C7527E}"/>
                </a:ext>
              </a:extLst>
            </p:cNvPr>
            <p:cNvGrpSpPr/>
            <p:nvPr/>
          </p:nvGrpSpPr>
          <p:grpSpPr>
            <a:xfrm>
              <a:off x="632657" y="1647574"/>
              <a:ext cx="5944430" cy="2943640"/>
              <a:chOff x="632657" y="1647574"/>
              <a:chExt cx="5944430" cy="2943640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3B006FCB-ACCF-F839-F858-9C50B3D918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2657" y="2047684"/>
                <a:ext cx="5944430" cy="2543530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3E5B83-A8B7-E8CC-44D4-57C38F8A0BFA}"/>
                  </a:ext>
                </a:extLst>
              </p:cNvPr>
              <p:cNvSpPr txBox="1"/>
              <p:nvPr/>
            </p:nvSpPr>
            <p:spPr>
              <a:xfrm>
                <a:off x="632657" y="1647574"/>
                <a:ext cx="43308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- Accuracy in CIFAR-10 / CIFAR-100</a:t>
                </a:r>
                <a:endParaRPr lang="ko-KR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549F8B5B-33B0-247B-181D-45F0D43113C8}"/>
                </a:ext>
              </a:extLst>
            </p:cNvPr>
            <p:cNvGrpSpPr/>
            <p:nvPr/>
          </p:nvGrpSpPr>
          <p:grpSpPr>
            <a:xfrm>
              <a:off x="7367758" y="1644148"/>
              <a:ext cx="4191585" cy="3566278"/>
              <a:chOff x="7367758" y="1644148"/>
              <a:chExt cx="4191585" cy="3566278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525396CE-1454-7760-2B49-F4285F45C3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67758" y="2047685"/>
                <a:ext cx="4191585" cy="3162741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96FF1E-3302-2509-53E6-10B711232D73}"/>
                  </a:ext>
                </a:extLst>
              </p:cNvPr>
              <p:cNvSpPr txBox="1"/>
              <p:nvPr/>
            </p:nvSpPr>
            <p:spPr>
              <a:xfrm>
                <a:off x="7367758" y="1644148"/>
                <a:ext cx="29180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- Accuracy in ImageNet</a:t>
                </a:r>
                <a:endParaRPr lang="ko-KR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74816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1C5EA-BA14-7BBC-9F6D-DE9FC4C3D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9D6EC6-6B89-2729-821D-E378D7DA6064}"/>
              </a:ext>
            </a:extLst>
          </p:cNvPr>
          <p:cNvSpPr txBox="1"/>
          <p:nvPr/>
        </p:nvSpPr>
        <p:spPr>
          <a:xfrm>
            <a:off x="4849505" y="3105834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975980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330E7-92D0-2D96-34DF-5E1FC5A4E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D5E4B13-B907-EEB5-7A52-7F3CF25BB2C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898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2C62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algn="l" defTabSz="914400" rtl="0" eaLnBrk="1" fontAlgn="auto" latinLnBrk="1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Appendix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681D3C7-CCF8-441E-15E5-AB64BDD96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976" y="1503621"/>
            <a:ext cx="6107926" cy="385075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665F89D-0F01-61EF-063F-21BFD286F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552" y="1375873"/>
            <a:ext cx="2065206" cy="40464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067BACE-6044-9A62-C05E-E8AE7EF93A67}"/>
                  </a:ext>
                </a:extLst>
              </p:cNvPr>
              <p:cNvSpPr txBox="1"/>
              <p:nvPr/>
            </p:nvSpPr>
            <p:spPr>
              <a:xfrm>
                <a:off x="2782784" y="5631338"/>
                <a:ext cx="1538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067BACE-6044-9A62-C05E-E8AE7EF93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784" y="5631338"/>
                <a:ext cx="153888" cy="276999"/>
              </a:xfrm>
              <a:prstGeom prst="rect">
                <a:avLst/>
              </a:prstGeom>
              <a:blipFill>
                <a:blip r:embed="rId5"/>
                <a:stretch>
                  <a:fillRect l="-23077" r="-23077"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4276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51039</TotalTime>
  <Words>369</Words>
  <Application>Microsoft Office PowerPoint</Application>
  <PresentationFormat>와이드스크린</PresentationFormat>
  <Paragraphs>78</Paragraphs>
  <Slides>10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박형동</dc:creator>
  <cp:lastModifiedBy>여인국</cp:lastModifiedBy>
  <cp:revision>2290</cp:revision>
  <dcterms:created xsi:type="dcterms:W3CDTF">2024-10-28T22:08:11Z</dcterms:created>
  <dcterms:modified xsi:type="dcterms:W3CDTF">2025-08-12T10:50:16Z</dcterms:modified>
</cp:coreProperties>
</file>