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8"/>
  </p:notesMasterIdLst>
  <p:sldIdLst>
    <p:sldId id="256" r:id="rId2"/>
    <p:sldId id="291" r:id="rId3"/>
    <p:sldId id="289" r:id="rId4"/>
    <p:sldId id="290" r:id="rId5"/>
    <p:sldId id="292" r:id="rId6"/>
    <p:sldId id="29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92" d="100"/>
          <a:sy n="92" d="100"/>
        </p:scale>
        <p:origin x="1590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C8AFA-4F55-5F10-F1AD-D24585FB0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B515A4-5478-C570-5077-A790DF675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95F162-40EF-425B-6E80-B7D7CA6DB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CDC506-9ABE-C8B9-DBDC-F2FDF5A54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382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03366-E9BD-1749-0885-FB2A3000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B44C67-A7F2-157C-22AC-A7949B3F2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855F4F-11E3-D644-3F22-7754CC729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F9AD33-C9D6-DA67-AC7D-FE5C286BA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40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E87C4-1247-69B8-B25B-406B50B89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8CFF5-15E0-6E61-E21E-8AFEF4B35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268C38D-F31C-B791-DE95-B340596933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3BAD1-C99F-D822-C353-1634C83E0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32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B3804-7968-69BF-2F8E-19B14619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32FB0CD-F80E-7BAA-3A95-2451FF157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FFC3EA-1EEC-08F6-3C8F-C64BFCA01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298A2D-C2EF-1C95-AC93-C7D01C511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205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37E74-6593-55D2-A00F-482708670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969C73-92A6-6F75-522A-B25FFE78C5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9E7482-5C0F-8D28-AE09-11D9199C2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608263-D51B-7400-9699-99C078476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98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2025-12-01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해시 함수 성능 비교 분석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12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02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F6A40-8938-4F0A-769D-C69AD68E2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529C8-AB29-15B0-3232-AEAC0507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비교분석 </a:t>
            </a:r>
            <a:r>
              <a:rPr lang="en-US" altLang="ko-KR" dirty="0"/>
              <a:t>- Python </a:t>
            </a:r>
            <a:r>
              <a:rPr lang="ko-KR" altLang="en-US" dirty="0"/>
              <a:t>측정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95BB1F-B0D3-3774-6D3F-1AF6F2C1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B6F9F9-D5A3-5423-B909-368062F61DC5}"/>
              </a:ext>
            </a:extLst>
          </p:cNvPr>
          <p:cNvSpPr txBox="1"/>
          <p:nvPr/>
        </p:nvSpPr>
        <p:spPr>
          <a:xfrm>
            <a:off x="974848" y="1200617"/>
            <a:ext cx="836497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256-bit</a:t>
            </a:r>
            <a:r>
              <a:rPr lang="ko-KR" altLang="en-US" b="1" dirty="0"/>
              <a:t> 비트 스트림 수 </a:t>
            </a:r>
            <a:r>
              <a:rPr lang="en-US" altLang="ko-KR" b="1" dirty="0"/>
              <a:t>: 10,000</a:t>
            </a:r>
            <a:r>
              <a:rPr lang="ko-KR" altLang="en-US" b="1" dirty="0"/>
              <a:t>개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Pattern0 : 000…00 (256-bit) 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Pattern1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111…11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Pattern2 : 0101…01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Pattern3 : 1010…10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Pattern4 : Pseudorandom</a:t>
            </a:r>
            <a:r>
              <a:rPr lang="ko-KR" altLang="en-US" sz="1600" dirty="0"/>
              <a:t>한 </a:t>
            </a:r>
            <a:r>
              <a:rPr lang="en-US" altLang="ko-KR" sz="1600" dirty="0"/>
              <a:t>256-bit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5</a:t>
            </a:r>
            <a:r>
              <a:rPr lang="ko-KR" altLang="en-US" sz="1600" dirty="0"/>
              <a:t>개 패턴의 평균 측정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en-US" altLang="ko-KR" sz="1600" dirty="0"/>
              <a:t>Poseidon </a:t>
            </a:r>
            <a:r>
              <a:rPr lang="ko-KR" altLang="en-US" sz="1600" dirty="0"/>
              <a:t>제외 다른 해시함수는 </a:t>
            </a:r>
            <a:r>
              <a:rPr lang="en-US" altLang="ko-KR" sz="1600" dirty="0"/>
              <a:t>Python </a:t>
            </a:r>
            <a:r>
              <a:rPr lang="ko-KR" altLang="en-US" sz="1600" dirty="0"/>
              <a:t>라이브러리 활용</a:t>
            </a:r>
            <a:endParaRPr lang="en-US" altLang="ko-KR" sz="1600" dirty="0"/>
          </a:p>
          <a:p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 </a:t>
            </a:r>
            <a:endParaRPr lang="ko-KR" altLang="en-US" sz="16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3F489D4-D71D-86A9-428F-4DE5DD0C59F2}"/>
              </a:ext>
            </a:extLst>
          </p:cNvPr>
          <p:cNvGraphicFramePr>
            <a:graphicFrameLocks noGrp="1"/>
          </p:cNvGraphicFramePr>
          <p:nvPr/>
        </p:nvGraphicFramePr>
        <p:xfrm>
          <a:off x="927344" y="4179494"/>
          <a:ext cx="6822828" cy="15445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593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  <a:gridCol w="1056247">
                  <a:extLst>
                    <a:ext uri="{9D8B030D-6E8A-4147-A177-3AD203B41FA5}">
                      <a16:colId xmlns:a16="http://schemas.microsoft.com/office/drawing/2014/main" val="1512441429"/>
                    </a:ext>
                  </a:extLst>
                </a:gridCol>
              </a:tblGrid>
              <a:tr h="36243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Blake2s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Blake2b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처리 시간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초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0.022255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0.0171847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49.235168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0.047117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0.024091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속도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ms</a:t>
                      </a:r>
                      <a:r>
                        <a:rPr lang="en-US" altLang="ko-KR" sz="1200" dirty="0"/>
                        <a:t>/bitstream)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0.002225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0.00171847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4.923517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0.004712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0.002409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</a:t>
                      </a:r>
                      <a:r>
                        <a:rPr lang="en-US" altLang="ko-KR" sz="1200" dirty="0"/>
                        <a:t>CPU </a:t>
                      </a:r>
                      <a:r>
                        <a:rPr lang="ko-KR" altLang="en-US" sz="1200" dirty="0"/>
                        <a:t>사용량</a:t>
                      </a:r>
                      <a:r>
                        <a:rPr lang="en-US" altLang="ko-KR" sz="1200" dirty="0"/>
                        <a:t>(%)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59.80%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91.06%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99.81%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59.99%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82.98%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168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58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6A7C6-4FD3-DBA6-F181-66040AF33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44AC3-BC1A-6833-E7BE-4D385116A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비교분석 </a:t>
            </a:r>
            <a:r>
              <a:rPr lang="en-US" altLang="ko-KR" dirty="0"/>
              <a:t>- Rust </a:t>
            </a:r>
            <a:r>
              <a:rPr lang="ko-KR" altLang="en-US" dirty="0"/>
              <a:t>측정 결과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057E0C-EC31-B383-9716-FD74EAA53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78FCF-6A12-A67C-AF2C-242AAB55AD18}"/>
              </a:ext>
            </a:extLst>
          </p:cNvPr>
          <p:cNvSpPr txBox="1"/>
          <p:nvPr/>
        </p:nvSpPr>
        <p:spPr>
          <a:xfrm>
            <a:off x="949569" y="1574073"/>
            <a:ext cx="836497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600" dirty="0"/>
              <a:t>SHA2-256, SHA3-256, POSEIDON, Blake2s, Blake2b </a:t>
            </a:r>
            <a:r>
              <a:rPr lang="ko-KR" altLang="en-US" sz="1600" dirty="0"/>
              <a:t>측정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Rust</a:t>
            </a:r>
            <a:r>
              <a:rPr lang="ko-KR" altLang="en-US" sz="1600" dirty="0"/>
              <a:t>는 평균 </a:t>
            </a:r>
            <a:r>
              <a:rPr lang="en-US" altLang="ko-KR" sz="1600" dirty="0"/>
              <a:t>CPU </a:t>
            </a:r>
            <a:r>
              <a:rPr lang="ko-KR" altLang="en-US" sz="1600" dirty="0"/>
              <a:t>사용량 측정이 어려운 관계로 총 처리 시간 및 평균 속도 측정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동일하게 </a:t>
            </a:r>
            <a:r>
              <a:rPr lang="en-US" altLang="ko-KR" sz="1600" dirty="0"/>
              <a:t>5</a:t>
            </a:r>
            <a:r>
              <a:rPr lang="ko-KR" altLang="en-US" sz="1600" dirty="0"/>
              <a:t>개 패턴의 평균 측정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SHA2-256</a:t>
            </a:r>
            <a:r>
              <a:rPr lang="ko-KR" altLang="en-US" sz="1600" dirty="0"/>
              <a:t> 및 </a:t>
            </a:r>
            <a:r>
              <a:rPr lang="en-US" altLang="ko-KR" sz="1600" dirty="0"/>
              <a:t>POSEIDON</a:t>
            </a:r>
            <a:r>
              <a:rPr lang="ko-KR" altLang="en-US" sz="1600" dirty="0"/>
              <a:t>은 </a:t>
            </a:r>
            <a:r>
              <a:rPr lang="en-US" altLang="ko-KR" sz="1600" dirty="0"/>
              <a:t>2</a:t>
            </a:r>
            <a:r>
              <a:rPr lang="ko-KR" altLang="en-US" sz="1600" dirty="0"/>
              <a:t>가지 구현으로 측정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Poseidon(v1)</a:t>
            </a:r>
            <a:r>
              <a:rPr lang="ko-KR" altLang="en-US" sz="1600" dirty="0"/>
              <a:t>은 </a:t>
            </a:r>
            <a:r>
              <a:rPr lang="en-US" altLang="ko-KR" sz="1600" dirty="0"/>
              <a:t>SHA2 </a:t>
            </a:r>
            <a:r>
              <a:rPr lang="ko-KR" altLang="en-US" sz="1600" dirty="0"/>
              <a:t>대비 약 </a:t>
            </a:r>
            <a:r>
              <a:rPr lang="en-US" altLang="ko-KR" sz="1600" dirty="0"/>
              <a:t>61</a:t>
            </a:r>
            <a:r>
              <a:rPr lang="ko-KR" altLang="en-US" sz="1600" dirty="0"/>
              <a:t>배 </a:t>
            </a:r>
            <a:r>
              <a:rPr lang="en-US" altLang="ko-KR" sz="1600" dirty="0"/>
              <a:t>~ 71</a:t>
            </a:r>
            <a:r>
              <a:rPr lang="ko-KR" altLang="en-US" sz="1600" dirty="0"/>
              <a:t>배</a:t>
            </a:r>
            <a:r>
              <a:rPr lang="en-US" altLang="ko-KR" sz="1600" dirty="0"/>
              <a:t>, SHA3 </a:t>
            </a:r>
            <a:r>
              <a:rPr lang="ko-KR" altLang="en-US" sz="1600" dirty="0"/>
              <a:t>대비 </a:t>
            </a:r>
            <a:r>
              <a:rPr lang="en-US" altLang="ko-KR" sz="1600" dirty="0"/>
              <a:t>61</a:t>
            </a:r>
            <a:r>
              <a:rPr lang="ko-KR" altLang="en-US" sz="1600" dirty="0"/>
              <a:t>배 느림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Poseidon(v2)</a:t>
            </a:r>
            <a:r>
              <a:rPr lang="ko-KR" altLang="en-US" sz="1600" dirty="0"/>
              <a:t>은 </a:t>
            </a:r>
            <a:r>
              <a:rPr lang="en-US" altLang="ko-KR" sz="1600" dirty="0"/>
              <a:t>SHA2 </a:t>
            </a:r>
            <a:r>
              <a:rPr lang="ko-KR" altLang="en-US" sz="1600" dirty="0"/>
              <a:t>대비 약 </a:t>
            </a:r>
            <a:r>
              <a:rPr lang="en-US" altLang="ko-KR" sz="1600" dirty="0"/>
              <a:t>159</a:t>
            </a:r>
            <a:r>
              <a:rPr lang="ko-KR" altLang="en-US" sz="1600" dirty="0"/>
              <a:t>배 </a:t>
            </a:r>
            <a:r>
              <a:rPr lang="en-US" altLang="ko-KR" sz="1600" dirty="0"/>
              <a:t>~ 185</a:t>
            </a:r>
            <a:r>
              <a:rPr lang="ko-KR" altLang="en-US" sz="1600" dirty="0"/>
              <a:t>배</a:t>
            </a:r>
            <a:r>
              <a:rPr lang="en-US" altLang="ko-KR" sz="1600" dirty="0"/>
              <a:t>, SHA3 </a:t>
            </a:r>
            <a:r>
              <a:rPr lang="ko-KR" altLang="en-US" sz="1600" dirty="0"/>
              <a:t>대비 </a:t>
            </a:r>
            <a:r>
              <a:rPr lang="en-US" altLang="ko-KR" sz="1600" dirty="0"/>
              <a:t>159</a:t>
            </a:r>
            <a:r>
              <a:rPr lang="ko-KR" altLang="en-US" sz="1600" dirty="0"/>
              <a:t>배 느림</a:t>
            </a:r>
            <a:endParaRPr lang="en-US" altLang="ko-KR" sz="16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022CB2D-39CD-F379-43ED-71A765934A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756677"/>
              </p:ext>
            </p:extLst>
          </p:nvPr>
        </p:nvGraphicFramePr>
        <p:xfrm>
          <a:off x="1163200" y="3916423"/>
          <a:ext cx="9549345" cy="13377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7528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1512441429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105558520"/>
                    </a:ext>
                  </a:extLst>
                </a:gridCol>
                <a:gridCol w="1128831">
                  <a:extLst>
                    <a:ext uri="{9D8B030D-6E8A-4147-A177-3AD203B41FA5}">
                      <a16:colId xmlns:a16="http://schemas.microsoft.com/office/drawing/2014/main" val="1678356301"/>
                    </a:ext>
                  </a:extLst>
                </a:gridCol>
              </a:tblGrid>
              <a:tr h="36243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(v1)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(v2)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(v1)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(v2)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Blake2s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Blake2b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총 처리 시간</a:t>
                      </a:r>
                      <a:r>
                        <a:rPr lang="en-US" altLang="ko-KR" sz="1200"/>
                        <a:t>(</a:t>
                      </a:r>
                      <a:r>
                        <a:rPr lang="ko-KR" altLang="en-US" sz="1200"/>
                        <a:t>초</a:t>
                      </a:r>
                      <a:r>
                        <a:rPr lang="en-US" altLang="ko-KR" sz="120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0.008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0.008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0.469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1.214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0.015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평균 속도</a:t>
                      </a:r>
                      <a:r>
                        <a:rPr lang="en-US" altLang="ko-KR" sz="1200"/>
                        <a:t>(ms/bitstream)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0.0008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0.0007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0.0008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0.0469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0.1214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0.0015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0.0007</a:t>
                      </a:r>
                    </a:p>
                    <a:p>
                      <a:pPr algn="ctr" latinLnBrk="1"/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/bitstream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309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5BB03-C6B5-4A77-4BDD-F79F6341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C4D6B-F2EC-9B93-A1B0-5A509A619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비교분석 </a:t>
            </a:r>
            <a:r>
              <a:rPr lang="en-US" altLang="ko-KR" dirty="0"/>
              <a:t>– </a:t>
            </a:r>
            <a:r>
              <a:rPr lang="ko-KR" altLang="en-US" dirty="0"/>
              <a:t>회로 복잡도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AB4B01-1C5F-54F8-5FED-4119A174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9B3ACE7-C688-31CD-E5D7-CE235EB00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0083230"/>
              </p:ext>
            </p:extLst>
          </p:nvPr>
        </p:nvGraphicFramePr>
        <p:xfrm>
          <a:off x="1226762" y="1156017"/>
          <a:ext cx="10570987" cy="4160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928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3040353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3040353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3040353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</a:tblGrid>
              <a:tr h="320772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Poseidon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Merkle-Damgård </a:t>
                      </a:r>
                      <a:r>
                        <a:rPr lang="ko-KR" altLang="en-US" sz="1200" dirty="0"/>
                        <a:t>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Keccak-f[1600] </a:t>
                      </a:r>
                      <a:r>
                        <a:rPr lang="ko-KR" altLang="en-US" sz="1200" dirty="0"/>
                        <a:t>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Sponge </a:t>
                      </a:r>
                      <a:r>
                        <a:rPr lang="ko-KR" altLang="en-US" sz="1200" dirty="0"/>
                        <a:t>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8570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연산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32-bit CPU Word </a:t>
                      </a:r>
                      <a:r>
                        <a:rPr lang="ko-KR" altLang="en-US" sz="1100" dirty="0"/>
                        <a:t>기반 연산 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en-US" altLang="ko-KR" sz="1100" dirty="0"/>
                        <a:t>(ADD, XOR, SHIFT)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64-bit word CPU </a:t>
                      </a:r>
                      <a:r>
                        <a:rPr lang="ko-KR" altLang="en-US" sz="1100" dirty="0"/>
                        <a:t>기반 연산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en-US" altLang="ko-KR" sz="1100" dirty="0"/>
                        <a:t>(XOR, ROT, AND, NOT)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Prime field </a:t>
                      </a:r>
                      <a:r>
                        <a:rPr lang="ko-KR" altLang="en-US" sz="1100" dirty="0"/>
                        <a:t>기반 연산</a:t>
                      </a:r>
                      <a:endParaRPr lang="en-US" altLang="ko-KR" sz="1100" dirty="0"/>
                    </a:p>
                    <a:p>
                      <a:pPr algn="ctr" latinLnBrk="1"/>
                      <a:r>
                        <a:rPr lang="en-US" altLang="ko-KR" sz="1100" dirty="0"/>
                        <a:t>(Field Add, Field Mul)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  <a:tr h="5559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라운드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64 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24 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Full Round : 8 Round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Partial Round : 57Round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151661"/>
                  </a:ext>
                </a:extLst>
              </a:tr>
              <a:tr h="7279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라운드 당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연산 수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ADD : 9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Bitwise Logic(AND/XOR/NOT) : 12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Rotation/Shift :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6</a:t>
                      </a:r>
                      <a:r>
                        <a:rPr lang="ko-KR" altLang="en-US" sz="1100" dirty="0"/>
                        <a:t>회</a:t>
                      </a:r>
                      <a:br>
                        <a:rPr lang="en-US" altLang="ko-KR" sz="1100" dirty="0"/>
                      </a:br>
                      <a:r>
                        <a:rPr lang="en-US" altLang="ko-KR" sz="1100" dirty="0"/>
                        <a:t>+ </a:t>
                      </a:r>
                      <a:r>
                        <a:rPr lang="ko-KR" altLang="en-US" sz="1100" dirty="0"/>
                        <a:t>메시지 스케쥴 연산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XOR : 325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AND : 25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NOT : 25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Rotate </a:t>
                      </a:r>
                      <a:r>
                        <a:rPr lang="ko-KR" altLang="en-US" sz="1100" dirty="0"/>
                        <a:t>및 </a:t>
                      </a:r>
                      <a:r>
                        <a:rPr lang="en-US" altLang="ko-KR" sz="1100" dirty="0"/>
                        <a:t>Shift : 24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S-box </a:t>
                      </a:r>
                      <a:r>
                        <a:rPr lang="ko-KR" altLang="en-US" sz="1100" dirty="0"/>
                        <a:t>연산</a:t>
                      </a:r>
                      <a:r>
                        <a:rPr lang="en-US" altLang="ko-KR" sz="1100" dirty="0"/>
                        <a:t> = Squaring 2</a:t>
                      </a:r>
                      <a:r>
                        <a:rPr lang="ko-KR" altLang="en-US" sz="1100" dirty="0"/>
                        <a:t>회 </a:t>
                      </a:r>
                      <a:r>
                        <a:rPr lang="en-US" altLang="ko-KR" sz="1100" dirty="0"/>
                        <a:t>+ Multiplication 1</a:t>
                      </a:r>
                      <a:r>
                        <a:rPr lang="ko-KR" altLang="en-US" sz="1100" dirty="0"/>
                        <a:t>회 </a:t>
                      </a:r>
                      <a:r>
                        <a:rPr lang="en-US" altLang="ko-KR" sz="1100" dirty="0"/>
                        <a:t>= 3 Field Mul</a:t>
                      </a:r>
                    </a:p>
                    <a:p>
                      <a:endParaRPr lang="en-US" altLang="ko-KR" sz="1100" dirty="0"/>
                    </a:p>
                    <a:p>
                      <a:r>
                        <a:rPr lang="en-US" altLang="ko-KR" sz="1100" dirty="0"/>
                        <a:t>MDS Matrix = 3x3 </a:t>
                      </a:r>
                      <a:r>
                        <a:rPr lang="ko-KR" altLang="en-US" sz="1100" dirty="0" err="1"/>
                        <a:t>행렬곱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= 9 Field Mul + 6 </a:t>
                      </a:r>
                      <a:r>
                        <a:rPr lang="en-US" altLang="ko-KR" sz="1100" dirty="0" err="1"/>
                        <a:t>Feild</a:t>
                      </a:r>
                      <a:r>
                        <a:rPr lang="en-US" altLang="ko-KR" sz="1100" dirty="0"/>
                        <a:t> Adds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675070"/>
                  </a:ext>
                </a:extLst>
              </a:tr>
              <a:tr h="7279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연산 수</a:t>
                      </a:r>
                      <a:endParaRPr lang="en-US" altLang="ko-KR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ADD : 768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Bitwise Logic(AND/XOR/NOT) : 912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Rotation/Shift :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672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총 </a:t>
                      </a:r>
                      <a:r>
                        <a:rPr lang="en-US" altLang="ko-KR" sz="1100" dirty="0"/>
                        <a:t>2352</a:t>
                      </a:r>
                      <a:r>
                        <a:rPr lang="ko-KR" altLang="en-US" sz="1100" dirty="0"/>
                        <a:t>회의 </a:t>
                      </a:r>
                      <a:r>
                        <a:rPr lang="en-US" altLang="ko-KR" sz="1100" dirty="0"/>
                        <a:t>32-bit </a:t>
                      </a:r>
                      <a:r>
                        <a:rPr lang="ko-KR" altLang="en-US" sz="1100" dirty="0"/>
                        <a:t>연산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XOR : 7800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AND : 600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NOT : 600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Rotate </a:t>
                      </a:r>
                      <a:r>
                        <a:rPr lang="ko-KR" altLang="en-US" sz="1100" dirty="0"/>
                        <a:t>및 </a:t>
                      </a:r>
                      <a:r>
                        <a:rPr lang="en-US" altLang="ko-KR" sz="1100" dirty="0"/>
                        <a:t>Shift : 576</a:t>
                      </a:r>
                      <a:r>
                        <a:rPr lang="ko-KR" altLang="en-US" sz="1100" dirty="0"/>
                        <a:t>회</a:t>
                      </a: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총 </a:t>
                      </a:r>
                      <a:r>
                        <a:rPr lang="en-US" altLang="ko-KR" sz="1100" dirty="0"/>
                        <a:t>9576</a:t>
                      </a:r>
                      <a:r>
                        <a:rPr lang="ko-KR" altLang="en-US" sz="1100" dirty="0"/>
                        <a:t>회의 </a:t>
                      </a:r>
                      <a:r>
                        <a:rPr lang="en-US" altLang="ko-KR" sz="1100" dirty="0"/>
                        <a:t>64-bit </a:t>
                      </a:r>
                      <a:r>
                        <a:rPr lang="ko-KR" altLang="en-US" sz="1100" dirty="0"/>
                        <a:t>연산 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Full Round : 144 Field Mul + 72 Field Add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Partial Round : 684 Field Mul + 513 Field Add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총 </a:t>
                      </a:r>
                      <a:r>
                        <a:rPr lang="en-US" altLang="ko-KR" sz="1100" dirty="0"/>
                        <a:t>828</a:t>
                      </a:r>
                      <a:r>
                        <a:rPr lang="ko-KR" altLang="en-US" sz="1100" dirty="0"/>
                        <a:t>회의 </a:t>
                      </a:r>
                      <a:r>
                        <a:rPr lang="en-US" altLang="ko-KR" sz="1100" dirty="0"/>
                        <a:t>Field Mul, 585</a:t>
                      </a:r>
                      <a:r>
                        <a:rPr lang="ko-KR" altLang="en-US" sz="1100" dirty="0"/>
                        <a:t>회의 </a:t>
                      </a:r>
                      <a:r>
                        <a:rPr lang="en-US" altLang="ko-KR" sz="1100" dirty="0"/>
                        <a:t>Field Add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최소 약 </a:t>
                      </a:r>
                      <a:r>
                        <a:rPr lang="en-US" altLang="ko-KR" sz="1100" dirty="0"/>
                        <a:t>72,000</a:t>
                      </a:r>
                      <a:r>
                        <a:rPr lang="ko-KR" altLang="en-US" sz="1100" dirty="0"/>
                        <a:t>회 이상의 </a:t>
                      </a:r>
                      <a:r>
                        <a:rPr lang="en-US" altLang="ko-KR" sz="1100" dirty="0"/>
                        <a:t>CPU </a:t>
                      </a:r>
                      <a:r>
                        <a:rPr lang="ko-KR" altLang="en-US" sz="1100" dirty="0"/>
                        <a:t>연산 필요</a:t>
                      </a:r>
                      <a:endParaRPr lang="en-US" altLang="ko-KR" sz="11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5424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4CFD5C5-CF00-1D18-F24B-70DF4EBEE026}"/>
              </a:ext>
            </a:extLst>
          </p:cNvPr>
          <p:cNvSpPr txBox="1"/>
          <p:nvPr/>
        </p:nvSpPr>
        <p:spPr>
          <a:xfrm>
            <a:off x="1137310" y="5475658"/>
            <a:ext cx="8364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600" dirty="0"/>
              <a:t>1 Permutation </a:t>
            </a:r>
            <a:r>
              <a:rPr lang="ko-KR" altLang="en-US" sz="1600" dirty="0"/>
              <a:t>연산 기준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1</a:t>
            </a:r>
            <a:r>
              <a:rPr lang="ko-KR" altLang="en-US" sz="1600" dirty="0"/>
              <a:t> </a:t>
            </a:r>
            <a:r>
              <a:rPr lang="en-US" altLang="ko-KR" sz="1600" dirty="0"/>
              <a:t>Field</a:t>
            </a:r>
            <a:r>
              <a:rPr lang="ko-KR" altLang="en-US" sz="1600" dirty="0"/>
              <a:t> </a:t>
            </a:r>
            <a:r>
              <a:rPr lang="en-US" altLang="ko-KR" sz="1600" dirty="0"/>
              <a:t>Add</a:t>
            </a:r>
            <a:r>
              <a:rPr lang="ko-KR" altLang="en-US" sz="1600" dirty="0"/>
              <a:t> 연산은 </a:t>
            </a:r>
            <a:r>
              <a:rPr lang="en-US" altLang="ko-KR" sz="1600" dirty="0"/>
              <a:t>4~8</a:t>
            </a:r>
            <a:r>
              <a:rPr lang="ko-KR" altLang="en-US" sz="1600" dirty="0"/>
              <a:t>번의 </a:t>
            </a:r>
            <a:r>
              <a:rPr lang="en-US" altLang="ko-KR" sz="1600" dirty="0"/>
              <a:t>CPU Addition </a:t>
            </a:r>
            <a:r>
              <a:rPr lang="ko-KR" altLang="en-US" sz="1600" dirty="0"/>
              <a:t>연산과 </a:t>
            </a:r>
            <a:r>
              <a:rPr lang="en-US" altLang="ko-KR" sz="1600" dirty="0"/>
              <a:t>Carry Handling</a:t>
            </a:r>
            <a:r>
              <a:rPr lang="ko-KR" altLang="en-US" sz="1600" dirty="0"/>
              <a:t>으로 구성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1 Field Mul </a:t>
            </a:r>
            <a:r>
              <a:rPr lang="ko-KR" altLang="en-US" sz="1600" dirty="0"/>
              <a:t>연산은 </a:t>
            </a:r>
            <a:r>
              <a:rPr lang="en-US" altLang="ko-KR" sz="1600" dirty="0"/>
              <a:t>20~100 CPU Instruction</a:t>
            </a:r>
            <a:r>
              <a:rPr lang="ko-KR" altLang="en-US" sz="1600" dirty="0"/>
              <a:t>으로 구성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912449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22D52-D8A6-6410-857E-56F45ACDC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79755-108D-53F1-DDE0-677D8E5DA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Reuse </a:t>
            </a:r>
            <a:r>
              <a:rPr lang="ko-KR" altLang="en-US" dirty="0"/>
              <a:t>시나리오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716889-5803-1A39-12AB-34E3A8B3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4E617-02C2-440D-5624-E5693BB9EDD6}"/>
              </a:ext>
            </a:extLst>
          </p:cNvPr>
          <p:cNvSpPr txBox="1"/>
          <p:nvPr/>
        </p:nvSpPr>
        <p:spPr>
          <a:xfrm>
            <a:off x="974848" y="1200617"/>
            <a:ext cx="1055454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Reuse </a:t>
            </a:r>
            <a:r>
              <a:rPr lang="ko-KR" altLang="en-US" b="1" dirty="0"/>
              <a:t>시나리오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기존의 필드</a:t>
            </a:r>
            <a:r>
              <a:rPr lang="en-US" altLang="ko-KR" sz="1600" dirty="0"/>
              <a:t>(BN254, BLS12-381)</a:t>
            </a:r>
            <a:r>
              <a:rPr lang="ko-KR" altLang="en-US" sz="1600" dirty="0"/>
              <a:t> 사용을 그대로 유지하는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약 </a:t>
            </a:r>
            <a:r>
              <a:rPr lang="en-US" altLang="ko-KR" sz="1600" dirty="0"/>
              <a:t>254~255-bit</a:t>
            </a:r>
            <a:r>
              <a:rPr lang="ko-KR" altLang="en-US" sz="1600" dirty="0"/>
              <a:t>의 </a:t>
            </a:r>
            <a:r>
              <a:rPr lang="en-US" altLang="ko-KR" sz="1600" dirty="0"/>
              <a:t>output</a:t>
            </a:r>
            <a:r>
              <a:rPr lang="ko-KR" altLang="en-US" sz="1600" dirty="0"/>
              <a:t>이 출력됨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필드를 약 </a:t>
            </a:r>
            <a:r>
              <a:rPr lang="en-US" altLang="ko-KR" sz="1600" dirty="0"/>
              <a:t>128-bit(ex. Mersenne prime) /</a:t>
            </a:r>
            <a:r>
              <a:rPr lang="ko-KR" altLang="en-US" sz="1600" dirty="0"/>
              <a:t> </a:t>
            </a:r>
            <a:r>
              <a:rPr lang="en-US" altLang="ko-KR" sz="1600" dirty="0"/>
              <a:t>64-bit</a:t>
            </a:r>
            <a:r>
              <a:rPr lang="ko-KR" altLang="en-US" sz="1600" dirty="0"/>
              <a:t>의 필드로 변경 후 코어를 </a:t>
            </a:r>
            <a:r>
              <a:rPr lang="en-US" altLang="ko-KR" sz="1600" dirty="0"/>
              <a:t>2</a:t>
            </a:r>
            <a:r>
              <a:rPr lang="ko-KR" altLang="en-US" sz="1600" dirty="0"/>
              <a:t>회</a:t>
            </a:r>
            <a:r>
              <a:rPr lang="en-US" altLang="ko-KR" sz="1600" dirty="0"/>
              <a:t>/4</a:t>
            </a:r>
            <a:r>
              <a:rPr lang="ko-KR" altLang="en-US" sz="1600" dirty="0"/>
              <a:t>회 </a:t>
            </a:r>
            <a:r>
              <a:rPr lang="en-US" altLang="ko-KR" sz="1600" dirty="0"/>
              <a:t>reuse</a:t>
            </a:r>
            <a:r>
              <a:rPr lang="ko-KR" altLang="en-US" sz="1600" dirty="0"/>
              <a:t>하는 방법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기존 </a:t>
            </a:r>
            <a:r>
              <a:rPr lang="en-US" altLang="ko-KR" sz="1600" dirty="0"/>
              <a:t>Poseidon Parameter(Round </a:t>
            </a:r>
            <a:r>
              <a:rPr lang="ko-KR" altLang="en-US" sz="1600" dirty="0"/>
              <a:t>수</a:t>
            </a:r>
            <a:r>
              <a:rPr lang="en-US" altLang="ko-KR" sz="1600" dirty="0"/>
              <a:t>, </a:t>
            </a:r>
            <a:r>
              <a:rPr lang="ko-KR" altLang="en-US" sz="1600" dirty="0"/>
              <a:t>연산 수</a:t>
            </a:r>
            <a:r>
              <a:rPr lang="en-US" altLang="ko-KR" sz="1600" dirty="0"/>
              <a:t>, capacity, rate </a:t>
            </a:r>
            <a:r>
              <a:rPr lang="ko-KR" altLang="en-US" sz="1600" dirty="0"/>
              <a:t>등</a:t>
            </a:r>
            <a:r>
              <a:rPr lang="en-US" altLang="ko-KR" sz="1600" dirty="0"/>
              <a:t>) </a:t>
            </a:r>
            <a:r>
              <a:rPr lang="ko-KR" altLang="en-US" sz="1600" dirty="0"/>
              <a:t>설계 필요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병렬 연산 및 </a:t>
            </a:r>
            <a:r>
              <a:rPr lang="en-US" altLang="ko-KR" sz="1600" dirty="0"/>
              <a:t>full size hash </a:t>
            </a:r>
            <a:r>
              <a:rPr lang="ko-KR" altLang="en-US" sz="1600" dirty="0"/>
              <a:t>지원 여부 검토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C8658F-2D49-A1DE-C519-1CAB1911F4D7}"/>
              </a:ext>
            </a:extLst>
          </p:cNvPr>
          <p:cNvSpPr txBox="1"/>
          <p:nvPr/>
        </p:nvSpPr>
        <p:spPr>
          <a:xfrm>
            <a:off x="2788621" y="5318829"/>
            <a:ext cx="1102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기존</a:t>
            </a:r>
            <a:endParaRPr lang="en-US" altLang="ko-K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D554C9-6547-A7D5-A110-C164B0BB30C2}"/>
              </a:ext>
            </a:extLst>
          </p:cNvPr>
          <p:cNvSpPr txBox="1"/>
          <p:nvPr/>
        </p:nvSpPr>
        <p:spPr>
          <a:xfrm>
            <a:off x="7403465" y="5244753"/>
            <a:ext cx="11024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변형</a:t>
            </a:r>
            <a:endParaRPr lang="en-US" altLang="ko-KR" sz="16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BF5D5FF-62F9-31A3-A04B-EB2D4AC08E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106"/>
          <a:stretch>
            <a:fillRect/>
          </a:stretch>
        </p:blipFill>
        <p:spPr>
          <a:xfrm>
            <a:off x="2595320" y="3404711"/>
            <a:ext cx="1489032" cy="177326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C70DCE1-286B-8648-3B97-F0D9904FC6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894"/>
          <a:stretch>
            <a:fillRect/>
          </a:stretch>
        </p:blipFill>
        <p:spPr>
          <a:xfrm>
            <a:off x="3239042" y="3404711"/>
            <a:ext cx="845310" cy="177326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B0C5060-03EF-27CD-D68C-1ACD96D27C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469" r="19912" b="84182"/>
          <a:stretch>
            <a:fillRect/>
          </a:stretch>
        </p:blipFill>
        <p:spPr>
          <a:xfrm>
            <a:off x="3782037" y="3404711"/>
            <a:ext cx="168965" cy="28048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51C2539-640C-4856-9F0C-DA0A2E4F42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106"/>
          <a:stretch>
            <a:fillRect/>
          </a:stretch>
        </p:blipFill>
        <p:spPr>
          <a:xfrm>
            <a:off x="6465648" y="3471484"/>
            <a:ext cx="1489032" cy="1773269"/>
          </a:xfrm>
          <a:prstGeom prst="rect">
            <a:avLst/>
          </a:prstGeom>
        </p:spPr>
      </p:pic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C7A496DA-E6BC-1DB9-4696-A7E714804B4A}"/>
              </a:ext>
            </a:extLst>
          </p:cNvPr>
          <p:cNvCxnSpPr>
            <a:cxnSpLocks/>
          </p:cNvCxnSpPr>
          <p:nvPr/>
        </p:nvCxnSpPr>
        <p:spPr>
          <a:xfrm flipV="1">
            <a:off x="3432621" y="3263862"/>
            <a:ext cx="799366" cy="552537"/>
          </a:xfrm>
          <a:prstGeom prst="bentConnector3">
            <a:avLst>
              <a:gd name="adj1" fmla="val 74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602D492-18C6-EB12-26FD-6225E075082D}"/>
              </a:ext>
            </a:extLst>
          </p:cNvPr>
          <p:cNvSpPr txBox="1"/>
          <p:nvPr/>
        </p:nvSpPr>
        <p:spPr>
          <a:xfrm>
            <a:off x="4298613" y="3066157"/>
            <a:ext cx="1886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254~255-bit Field</a:t>
            </a:r>
          </a:p>
          <a:p>
            <a:r>
              <a:rPr lang="en-US" altLang="ko-KR" sz="1400" b="1" dirty="0"/>
              <a:t>(BN254, BLS12-381)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1F4C84-1920-AD37-AB30-806B70E15020}"/>
              </a:ext>
            </a:extLst>
          </p:cNvPr>
          <p:cNvSpPr txBox="1"/>
          <p:nvPr/>
        </p:nvSpPr>
        <p:spPr>
          <a:xfrm>
            <a:off x="8042885" y="2945846"/>
            <a:ext cx="28693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/>
              <a:t>128/64-bit Field</a:t>
            </a:r>
          </a:p>
          <a:p>
            <a:r>
              <a:rPr lang="en-US" altLang="ko-KR" sz="1400" b="1" dirty="0"/>
              <a:t>(Mersenne prime, Goldilocks </a:t>
            </a:r>
            <a:r>
              <a:rPr lang="ko-KR" altLang="en-US" sz="1400" b="1" dirty="0"/>
              <a:t>등</a:t>
            </a:r>
            <a:r>
              <a:rPr lang="en-US" altLang="ko-KR" sz="1400" b="1" dirty="0"/>
              <a:t>)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D2460BA-B040-6D43-8A1B-656B0BFDAB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9096"/>
          <a:stretch>
            <a:fillRect/>
          </a:stretch>
        </p:blipFill>
        <p:spPr>
          <a:xfrm>
            <a:off x="6452937" y="3540130"/>
            <a:ext cx="1824000" cy="1684605"/>
          </a:xfrm>
          <a:prstGeom prst="rect">
            <a:avLst/>
          </a:prstGeom>
        </p:spPr>
      </p:pic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480DA243-4162-B4B9-2C1D-D725D29E5561}"/>
              </a:ext>
            </a:extLst>
          </p:cNvPr>
          <p:cNvCxnSpPr>
            <a:cxnSpLocks/>
          </p:cNvCxnSpPr>
          <p:nvPr/>
        </p:nvCxnSpPr>
        <p:spPr>
          <a:xfrm flipV="1">
            <a:off x="7323632" y="3337072"/>
            <a:ext cx="719253" cy="533401"/>
          </a:xfrm>
          <a:prstGeom prst="bentConnector3">
            <a:avLst>
              <a:gd name="adj1" fmla="val -208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BE696F19-93C8-5273-2799-7B012350CC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779"/>
          <a:stretch>
            <a:fillRect/>
          </a:stretch>
        </p:blipFill>
        <p:spPr>
          <a:xfrm>
            <a:off x="7883571" y="3536999"/>
            <a:ext cx="1525985" cy="168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23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05FAC-4455-6A80-E54A-924FE99CF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4C9D41-2F23-ECCA-0795-58AE25FA9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 Do List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CCF06E-CDCF-2D1F-5DD8-FD958B54D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6AF64-6FB2-FB74-6CB2-474BB97F2AED}"/>
              </a:ext>
            </a:extLst>
          </p:cNvPr>
          <p:cNvSpPr txBox="1"/>
          <p:nvPr/>
        </p:nvSpPr>
        <p:spPr>
          <a:xfrm>
            <a:off x="974848" y="1200617"/>
            <a:ext cx="1055454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/>
              <a:t>To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Do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List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 err="1"/>
              <a:t>영지식</a:t>
            </a:r>
            <a:r>
              <a:rPr lang="ko-KR" altLang="en-US" sz="1600" dirty="0"/>
              <a:t> 증명 환경에서 </a:t>
            </a:r>
            <a:r>
              <a:rPr lang="en-US" altLang="ko-KR" sz="1600" dirty="0"/>
              <a:t>SHA2, SHA3 </a:t>
            </a:r>
            <a:r>
              <a:rPr lang="ko-KR" altLang="en-US" sz="1600" dirty="0"/>
              <a:t>성능 측정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Poseidon </a:t>
            </a:r>
            <a:r>
              <a:rPr lang="ko-KR" altLang="en-US" sz="1600" dirty="0"/>
              <a:t>단계별</a:t>
            </a:r>
            <a:r>
              <a:rPr lang="en-US" altLang="ko-KR" sz="1600" dirty="0"/>
              <a:t> </a:t>
            </a:r>
            <a:r>
              <a:rPr lang="ko-KR" altLang="en-US" sz="1600" dirty="0"/>
              <a:t>연산 정밀 측정</a:t>
            </a:r>
            <a:r>
              <a:rPr lang="en-US" altLang="ko-KR" sz="1600" dirty="0"/>
              <a:t> </a:t>
            </a:r>
            <a:r>
              <a:rPr lang="ko-KR" altLang="en-US" sz="1600" dirty="0"/>
              <a:t>→ 병목 확인 및 </a:t>
            </a:r>
            <a:r>
              <a:rPr lang="en-US" altLang="ko-KR" sz="1600" dirty="0"/>
              <a:t>Reuse</a:t>
            </a:r>
            <a:r>
              <a:rPr lang="ko-KR" altLang="en-US" sz="1600" dirty="0"/>
              <a:t> 방법 고안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57122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11199</TotalTime>
  <Words>679</Words>
  <Application>Microsoft Office PowerPoint</Application>
  <PresentationFormat>와이드스크린</PresentationFormat>
  <Paragraphs>169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해시 함수 성능 비교 분석</vt:lpstr>
      <vt:lpstr>비교분석 - Python 측정 결과</vt:lpstr>
      <vt:lpstr>비교분석 - Rust 측정 결과</vt:lpstr>
      <vt:lpstr>비교분석 – 회로 복잡도</vt:lpstr>
      <vt:lpstr>Reuse 시나리오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1490</cp:revision>
  <dcterms:created xsi:type="dcterms:W3CDTF">2023-03-06T16:32:37Z</dcterms:created>
  <dcterms:modified xsi:type="dcterms:W3CDTF">2025-12-01T09:27:18Z</dcterms:modified>
</cp:coreProperties>
</file>