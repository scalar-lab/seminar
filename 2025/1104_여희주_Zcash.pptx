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2"/>
  </p:notesMasterIdLst>
  <p:sldIdLst>
    <p:sldId id="256" r:id="rId2"/>
    <p:sldId id="717" r:id="rId3"/>
    <p:sldId id="689" r:id="rId4"/>
    <p:sldId id="718" r:id="rId5"/>
    <p:sldId id="719" r:id="rId6"/>
    <p:sldId id="720" r:id="rId7"/>
    <p:sldId id="721" r:id="rId8"/>
    <p:sldId id="722" r:id="rId9"/>
    <p:sldId id="723" r:id="rId10"/>
    <p:sldId id="70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62611" autoAdjust="0"/>
  </p:normalViewPr>
  <p:slideViewPr>
    <p:cSldViewPr snapToGrid="0">
      <p:cViewPr varScale="1">
        <p:scale>
          <a:sx n="71" d="100"/>
          <a:sy n="71" d="100"/>
        </p:scale>
        <p:origin x="2328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E1E4-21D7-A774-6C94-FBA06194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619A8C-C7E0-B7AF-6A30-6A4BDF00B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CB4C8-B6A9-CB4E-4C31-0C2E00840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kern="1200" dirty="0">
              <a:solidFill>
                <a:schemeClr val="tx1"/>
              </a:solidFill>
              <a:effectLst/>
              <a:latin typeface="+mn-ea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953BBB-E887-74B2-E24E-7D7FCEA03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585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1D2-9FCF-C67C-CF42-2DA06CFD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318CE-97C8-94AD-4228-930F2F07C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4E419-31EF-B488-D11C-F21A4AAE3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2C054D-E771-DFAF-A0E8-8AC7F77F4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542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E0E71-A8E7-6BAD-298A-9B7D02A8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DF384C-C773-509F-BA6B-84925731E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10B6CC-6CE3-0916-2D22-942AC167D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F498D-2ED1-1D22-0591-722A4041E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61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354B6-7A8D-3CCD-9344-6E7D69FA9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956104-F6A1-C4B4-38FB-AC955C1C6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247222-E9E3-8DD0-D1DC-32228E686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AB4F9A-587F-1C0E-D59B-F956F051F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482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1A20-87A1-D57E-98A8-07944E10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541C9E-3F17-AE63-164A-5CBBE5F68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925E1-C1AB-7B1C-B8B5-225D0C6CA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6F15D-5FA9-BF10-97CF-1BA5DFA3E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16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EF77-28A0-4FCC-8D80-32904765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510364-119D-766D-DACA-A12A4F86C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914A1-0067-007C-51CD-3BBC086D7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FCFCF-A785-19C4-6AEB-B4861F5E5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353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7B93-4B24-95C6-F458-00F6F4DA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89EA2D-A3BB-B031-A386-7E5D0C8A3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F8D6F9-B58A-E1A7-27B4-03DF487D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77AAA-FBED-89BF-F008-946F209DC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67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509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2025. 11. 4.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Heeju</a:t>
            </a:r>
            <a:r>
              <a:rPr lang="en-US" altLang="ko-KR" b="1" dirty="0">
                <a:solidFill>
                  <a:srgbClr val="002C62"/>
                </a:solidFill>
              </a:rPr>
              <a:t> Yeo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3925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0" y="-184750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320752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000" b="1" dirty="0" err="1">
                <a:solidFill>
                  <a:schemeClr val="bg1"/>
                </a:solidFill>
              </a:rPr>
              <a:t>Zcash</a:t>
            </a:r>
            <a:endParaRPr lang="en" altLang="ko-KR" sz="4000" b="1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946784" y="1666695"/>
            <a:ext cx="194767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4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6DCD-5FE5-2B57-B89A-269E010A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AB4C6-3E44-2D79-E2B4-6FC031EF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" altLang="ko-KR" dirty="0" err="1"/>
              <a:t>Zcash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EE71A0-91F2-A676-812E-37DF7022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1976F-E11D-1571-0537-C495C9D99AF9}"/>
              </a:ext>
            </a:extLst>
          </p:cNvPr>
          <p:cNvSpPr txBox="1"/>
          <p:nvPr/>
        </p:nvSpPr>
        <p:spPr>
          <a:xfrm>
            <a:off x="497123" y="1179881"/>
            <a:ext cx="8114722" cy="1454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>
                <a:latin typeface="+mn-ea"/>
              </a:rPr>
              <a:t>: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b="1" dirty="0" err="1">
                <a:latin typeface="+mn-ea"/>
              </a:rPr>
              <a:t>비트코인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" altLang="ko-KR" sz="2400" b="1" dirty="0">
                <a:latin typeface="+mn-ea"/>
              </a:rPr>
              <a:t>Bitcoin)</a:t>
            </a:r>
            <a:r>
              <a:rPr lang="ko-KR" altLang="en-US" sz="2400" b="1" dirty="0">
                <a:latin typeface="+mn-ea"/>
              </a:rPr>
              <a:t>에서 파생된 프라이버시 중심 암호화폐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 err="1">
                <a:latin typeface="+mn-ea"/>
              </a:rPr>
              <a:t>zk</a:t>
            </a:r>
            <a:r>
              <a:rPr lang="en" altLang="ko-KR" sz="2400" b="1" dirty="0">
                <a:latin typeface="+mn-ea"/>
              </a:rPr>
              <a:t>-SNARK </a:t>
            </a:r>
            <a:r>
              <a:rPr lang="ko-KR" altLang="en-US" sz="2400" b="1" dirty="0">
                <a:latin typeface="+mn-ea"/>
              </a:rPr>
              <a:t>기술이 처음으로 실용화된 대표적인 사례</a:t>
            </a:r>
          </a:p>
        </p:txBody>
      </p:sp>
    </p:spTree>
    <p:extLst>
      <p:ext uri="{BB962C8B-B14F-4D97-AF65-F5344CB8AC3E}">
        <p14:creationId xmlns:p14="http://schemas.microsoft.com/office/powerpoint/2010/main" val="288489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E574-CF35-4DD1-8D06-4127ADAD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0CBF3-F7BC-1AA4-7CC4-6A30C83E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" altLang="ko-KR" dirty="0"/>
              <a:t>Bitcoin vs </a:t>
            </a:r>
            <a:r>
              <a:rPr lang="en" altLang="ko-KR" dirty="0" err="1"/>
              <a:t>Zcash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1BD6A-C40D-BA23-3B43-79601F06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F83881-9F83-723C-4995-4478E4C56052}"/>
              </a:ext>
            </a:extLst>
          </p:cNvPr>
          <p:cNvGrpSpPr/>
          <p:nvPr/>
        </p:nvGrpSpPr>
        <p:grpSpPr>
          <a:xfrm>
            <a:off x="1986643" y="1176035"/>
            <a:ext cx="8218714" cy="4867883"/>
            <a:chOff x="1986643" y="1147371"/>
            <a:chExt cx="8218714" cy="486788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5BA6934-C8B8-2A60-E5C6-EF09B2BF0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6643" y="1687371"/>
              <a:ext cx="8218714" cy="4327883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0425916-48F8-5AF2-3546-0E0A4EE14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5041" y="1147371"/>
              <a:ext cx="54000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7478EE4-04B7-865A-6705-9CA05BDE1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4042" y="1147371"/>
              <a:ext cx="54000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6192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94F6A-A85B-D09D-F668-E3D0B188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D1CEF-C8FA-6ECC-B5AF-A3B06A65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Transaction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803E58-DC0A-2BA3-2B86-21827FC5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E6B53-B8E7-113F-EC7E-977D34DEBBE3}"/>
              </a:ext>
            </a:extLst>
          </p:cNvPr>
          <p:cNvSpPr txBox="1"/>
          <p:nvPr/>
        </p:nvSpPr>
        <p:spPr>
          <a:xfrm>
            <a:off x="497123" y="1179881"/>
            <a:ext cx="9808134" cy="4593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 err="1"/>
              <a:t>Zcash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주소 체계</a:t>
            </a:r>
            <a:endParaRPr lang="en" altLang="ko-KR" sz="24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/>
              <a:t>t-</a:t>
            </a:r>
            <a:r>
              <a:rPr lang="en-US" altLang="ko-KR" sz="2400" b="1" dirty="0"/>
              <a:t>address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(</a:t>
            </a:r>
            <a:r>
              <a:rPr lang="en" altLang="ko-KR" sz="2400" b="1" dirty="0"/>
              <a:t>Transparent)</a:t>
            </a:r>
            <a:endParaRPr lang="en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b="1" dirty="0" err="1">
                <a:latin typeface="+mn-ea"/>
              </a:rPr>
              <a:t>비트코인과</a:t>
            </a:r>
            <a:r>
              <a:rPr lang="ko-KR" altLang="en-US" sz="2400" b="1" dirty="0">
                <a:latin typeface="+mn-ea"/>
              </a:rPr>
              <a:t> 동일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잔액과 거래가 모두 공개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/>
              <a:t>z-address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(Private)</a:t>
            </a:r>
          </a:p>
          <a:p>
            <a:pPr lvl="1">
              <a:lnSpc>
                <a:spcPct val="150000"/>
              </a:lnSpc>
            </a:pP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b="1" dirty="0">
                <a:latin typeface="+mn-ea"/>
              </a:rPr>
              <a:t>트랜잭션 정보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ko-KR" altLang="en-US" sz="2400" b="1" dirty="0">
                <a:latin typeface="+mn-ea"/>
              </a:rPr>
              <a:t>보낸 사람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금액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수신자</a:t>
            </a:r>
            <a:r>
              <a:rPr lang="en-US" altLang="ko-KR" sz="2400" b="1" dirty="0">
                <a:latin typeface="+mn-ea"/>
              </a:rPr>
              <a:t>)</a:t>
            </a:r>
            <a:r>
              <a:rPr lang="ko-KR" altLang="en-US" sz="2400" b="1" dirty="0">
                <a:latin typeface="+mn-ea"/>
              </a:rPr>
              <a:t> 암호화</a:t>
            </a:r>
            <a:endParaRPr lang="en-US" altLang="ko-KR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" altLang="ko-KR" sz="2400" b="1" dirty="0">
                <a:latin typeface="+mn-ea"/>
              </a:rPr>
              <a:t>z-to-z </a:t>
            </a:r>
            <a:r>
              <a:rPr lang="ko-KR" altLang="en-US" sz="2400" b="1" dirty="0">
                <a:latin typeface="+mn-ea"/>
              </a:rPr>
              <a:t>거래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" altLang="ko-KR" sz="2400" b="1" dirty="0">
                <a:latin typeface="+mn-ea"/>
              </a:rPr>
              <a:t>Shielded Transaction) 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" altLang="ko-KR" sz="2400" b="1" dirty="0" err="1">
                <a:latin typeface="+mn-ea"/>
              </a:rPr>
              <a:t>zk</a:t>
            </a:r>
            <a:r>
              <a:rPr lang="en" altLang="ko-KR" sz="2400" b="1" dirty="0">
                <a:latin typeface="+mn-ea"/>
              </a:rPr>
              <a:t>-SNARK </a:t>
            </a:r>
            <a:r>
              <a:rPr lang="ko-KR" altLang="en-US" sz="2400" b="1" dirty="0">
                <a:latin typeface="+mn-ea"/>
              </a:rPr>
              <a:t>증명을 사용하여 검증</a:t>
            </a:r>
          </a:p>
        </p:txBody>
      </p:sp>
    </p:spTree>
    <p:extLst>
      <p:ext uri="{BB962C8B-B14F-4D97-AF65-F5344CB8AC3E}">
        <p14:creationId xmlns:p14="http://schemas.microsoft.com/office/powerpoint/2010/main" val="304030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6F25-E504-A799-CD41-A4963ED8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E1FA0-4A6D-4BEF-F894-B1F17571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Note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247E54-D50C-440B-6375-D4BB2925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2EC8A-EA27-FE18-A8EC-B70730EBDA03}"/>
              </a:ext>
            </a:extLst>
          </p:cNvPr>
          <p:cNvSpPr txBox="1"/>
          <p:nvPr/>
        </p:nvSpPr>
        <p:spPr>
          <a:xfrm>
            <a:off x="497123" y="1179881"/>
            <a:ext cx="9176551" cy="4779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>
                <a:latin typeface="+mn-ea"/>
              </a:rPr>
              <a:t>: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Zcash</a:t>
            </a:r>
            <a:r>
              <a:rPr lang="ko-KR" altLang="en-US" sz="2400" b="1" dirty="0">
                <a:latin typeface="+mn-ea"/>
              </a:rPr>
              <a:t>에서의 자산 단위</a:t>
            </a:r>
            <a:endParaRPr lang="en-US" altLang="ko-KR" sz="2400" b="1" dirty="0">
              <a:latin typeface="+mn-ea"/>
            </a:endParaRPr>
          </a:p>
          <a:p>
            <a:endParaRPr lang="en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>
                <a:latin typeface="+mn-ea"/>
              </a:rPr>
              <a:t>Bitcoin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en" altLang="ko-KR" sz="2400" b="1" dirty="0">
                <a:latin typeface="+mn-ea"/>
              </a:rPr>
              <a:t>UTXO(Unspent Transaction Output)</a:t>
            </a:r>
            <a:r>
              <a:rPr lang="ko-KR" altLang="en-US" sz="2400" b="1" dirty="0">
                <a:latin typeface="+mn-ea"/>
              </a:rPr>
              <a:t>와 유사한 개념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>
                <a:latin typeface="+mn-ea"/>
              </a:rPr>
              <a:t>Note = { value, recipient's public key, rho, r }</a:t>
            </a:r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n-ea"/>
              </a:rPr>
              <a:t>rho : nullifier </a:t>
            </a:r>
            <a:r>
              <a:rPr lang="ko-KR" altLang="en-US" sz="2400" b="1" dirty="0">
                <a:latin typeface="+mn-ea"/>
              </a:rPr>
              <a:t>계산에 사용될 노트에 고유한 값</a:t>
            </a:r>
            <a:endParaRPr lang="en-US" altLang="ko-KR" sz="2400" b="1" dirty="0">
              <a:latin typeface="+mn-ea"/>
            </a:endParaRPr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n-ea"/>
              </a:rPr>
              <a:t>r : random nonce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+mn-ea"/>
              </a:rPr>
              <a:t>수신자의 공개키로 암호화되어 블록체인에 기록</a:t>
            </a:r>
            <a:endParaRPr lang="en-US" altLang="ko-KR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856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E252-959B-298B-2A9C-94CEA5F52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0A6D5-E275-8799-E8B3-4BE600E11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Commitment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F5C50-A7F7-3E2B-4B5E-0C7508DE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6F906-CF6C-19F1-7612-4B90A497435A}"/>
              </a:ext>
            </a:extLst>
          </p:cNvPr>
          <p:cNvSpPr txBox="1"/>
          <p:nvPr/>
        </p:nvSpPr>
        <p:spPr>
          <a:xfrm>
            <a:off x="497123" y="1179881"/>
            <a:ext cx="11163634" cy="2193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각 </a:t>
            </a:r>
            <a:r>
              <a:rPr lang="en" altLang="ko-KR" sz="2400" b="1" dirty="0">
                <a:latin typeface="+mn-ea"/>
              </a:rPr>
              <a:t>Note</a:t>
            </a:r>
            <a:r>
              <a:rPr lang="ko-KR" altLang="en-US" sz="2400" b="1" dirty="0">
                <a:latin typeface="+mn-ea"/>
              </a:rPr>
              <a:t>는 해시 함수를 통해 </a:t>
            </a:r>
            <a:r>
              <a:rPr lang="en" altLang="ko-KR" sz="2400" b="1" dirty="0">
                <a:latin typeface="+mn-ea"/>
              </a:rPr>
              <a:t>Commitment</a:t>
            </a:r>
            <a:r>
              <a:rPr lang="ko-KR" altLang="en-US" sz="2400" b="1" dirty="0">
                <a:latin typeface="+mn-ea"/>
              </a:rPr>
              <a:t> 생성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블록체인에 기록되어 </a:t>
            </a:r>
            <a:r>
              <a:rPr lang="en" altLang="ko-KR" sz="2400" b="1" dirty="0">
                <a:latin typeface="+mn-ea"/>
              </a:rPr>
              <a:t>Note Commitment Tree(Merkle Tree) </a:t>
            </a:r>
            <a:r>
              <a:rPr lang="ko-KR" altLang="en-US" sz="2400" b="1" dirty="0">
                <a:latin typeface="+mn-ea"/>
              </a:rPr>
              <a:t>구성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검증자는 </a:t>
            </a:r>
            <a:r>
              <a:rPr lang="en" altLang="ko-KR" sz="2400" b="1" dirty="0">
                <a:latin typeface="+mn-ea"/>
              </a:rPr>
              <a:t>Commitment</a:t>
            </a:r>
            <a:r>
              <a:rPr lang="ko-KR" altLang="en-US" sz="2400" b="1" dirty="0">
                <a:latin typeface="+mn-ea"/>
              </a:rPr>
              <a:t>만 보고도 “올바른 </a:t>
            </a:r>
            <a:r>
              <a:rPr lang="en" altLang="ko-KR" sz="2400" b="1" dirty="0">
                <a:latin typeface="+mn-ea"/>
              </a:rPr>
              <a:t>Note</a:t>
            </a:r>
            <a:r>
              <a:rPr lang="ko-KR" altLang="en-US" sz="2400" b="1" dirty="0">
                <a:latin typeface="+mn-ea"/>
              </a:rPr>
              <a:t>가 </a:t>
            </a:r>
            <a:r>
              <a:rPr lang="ko-KR" altLang="en-US" sz="2400" b="1" dirty="0" err="1">
                <a:latin typeface="+mn-ea"/>
              </a:rPr>
              <a:t>존재한다”는</a:t>
            </a:r>
            <a:r>
              <a:rPr lang="ko-KR" altLang="en-US" sz="2400" b="1" dirty="0">
                <a:latin typeface="+mn-ea"/>
              </a:rPr>
              <a:t> 사실 확인 가능</a:t>
            </a:r>
          </a:p>
        </p:txBody>
      </p:sp>
      <p:pic>
        <p:nvPicPr>
          <p:cNvPr id="2050" name="Picture 2" descr="blockchain-zkp-zcash-hash-function-commitment-v4">
            <a:extLst>
              <a:ext uri="{FF2B5EF4-FFF2-40B4-BE49-F238E27FC236}">
                <a16:creationId xmlns:a16="http://schemas.microsoft.com/office/drawing/2014/main" id="{E96380FD-4A7E-5C87-2888-7E64235BE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328" y="3373045"/>
            <a:ext cx="6317343" cy="35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78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BC79-C1E2-BDD2-B7E6-86C81753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7CFAB-6F19-EB1C-8C13-27F6692B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Nullifier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EAC00-95E1-E12F-D07C-7EE67D66B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9A888-E57A-AA20-C139-80542AE1BFC0}"/>
              </a:ext>
            </a:extLst>
          </p:cNvPr>
          <p:cNvSpPr txBox="1"/>
          <p:nvPr/>
        </p:nvSpPr>
        <p:spPr>
          <a:xfrm>
            <a:off x="497123" y="1179881"/>
            <a:ext cx="8577989" cy="1454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>
                <a:latin typeface="+mn-ea"/>
              </a:rPr>
              <a:t>Note</a:t>
            </a:r>
            <a:r>
              <a:rPr lang="ko-KR" altLang="en-US" sz="2400" b="1" dirty="0" err="1">
                <a:latin typeface="+mn-ea"/>
              </a:rPr>
              <a:t>를</a:t>
            </a:r>
            <a:r>
              <a:rPr lang="ko-KR" altLang="en-US" sz="2400" b="1" dirty="0">
                <a:latin typeface="+mn-ea"/>
              </a:rPr>
              <a:t> 사용할 때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그 </a:t>
            </a:r>
            <a:r>
              <a:rPr lang="en" altLang="ko-KR" sz="2400" b="1" dirty="0">
                <a:latin typeface="+mn-ea"/>
              </a:rPr>
              <a:t>Note</a:t>
            </a:r>
            <a:r>
              <a:rPr lang="ko-KR" altLang="en-US" sz="2400" b="1" dirty="0">
                <a:latin typeface="+mn-ea"/>
              </a:rPr>
              <a:t>에서 파생된 </a:t>
            </a:r>
            <a:r>
              <a:rPr lang="en" altLang="ko-KR" sz="2400" b="1" dirty="0">
                <a:latin typeface="+mn-ea"/>
              </a:rPr>
              <a:t>Nullifier</a:t>
            </a:r>
            <a:r>
              <a:rPr lang="ko-KR" altLang="en-US" sz="2400" b="1" dirty="0" err="1">
                <a:latin typeface="+mn-ea"/>
              </a:rPr>
              <a:t>를</a:t>
            </a:r>
            <a:r>
              <a:rPr lang="ko-KR" altLang="en-US" sz="2400" b="1" dirty="0">
                <a:latin typeface="+mn-ea"/>
              </a:rPr>
              <a:t> 생성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동일한 </a:t>
            </a:r>
            <a:r>
              <a:rPr lang="en" altLang="ko-KR" sz="2400" b="1" dirty="0">
                <a:latin typeface="+mn-ea"/>
              </a:rPr>
              <a:t>Nullifier</a:t>
            </a:r>
            <a:r>
              <a:rPr lang="ko-KR" altLang="en-US" sz="2400" b="1" dirty="0">
                <a:latin typeface="+mn-ea"/>
              </a:rPr>
              <a:t>가 블록체인에 이미 존재 → </a:t>
            </a:r>
            <a:r>
              <a:rPr lang="en" altLang="ko-KR" sz="2400" b="1" dirty="0">
                <a:latin typeface="+mn-ea"/>
              </a:rPr>
              <a:t>Double-Spend</a:t>
            </a:r>
            <a:endParaRPr lang="ko-KR" altLang="en-US" sz="2400" b="1" dirty="0">
              <a:latin typeface="+mn-ea"/>
            </a:endParaRPr>
          </a:p>
        </p:txBody>
      </p:sp>
      <p:pic>
        <p:nvPicPr>
          <p:cNvPr id="3074" name="Picture 2" descr="blockchain-zkp-zcash-hash-function-nullifier-v4">
            <a:extLst>
              <a:ext uri="{FF2B5EF4-FFF2-40B4-BE49-F238E27FC236}">
                <a16:creationId xmlns:a16="http://schemas.microsoft.com/office/drawing/2014/main" id="{501C61AA-DC1F-5CEB-B371-63CD79615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400" y="2982112"/>
            <a:ext cx="6323200" cy="35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72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B182-7D0F-449D-88FD-D60BE740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67142-48A3-85AA-C59F-6CA6363D5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Sender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2B1C2-DB10-E73E-5409-4B359BA0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FB6AA-E7BE-D405-A375-88969634C786}"/>
              </a:ext>
            </a:extLst>
          </p:cNvPr>
          <p:cNvSpPr txBox="1"/>
          <p:nvPr/>
        </p:nvSpPr>
        <p:spPr>
          <a:xfrm>
            <a:off x="497123" y="1179881"/>
            <a:ext cx="9911688" cy="4439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증명</a:t>
            </a:r>
            <a:r>
              <a:rPr lang="en-US" altLang="ko-KR" sz="2400" b="1" dirty="0">
                <a:latin typeface="+mn-ea"/>
              </a:rPr>
              <a:t>(proof)</a:t>
            </a:r>
            <a:r>
              <a:rPr lang="ko-KR" altLang="en-US" sz="2400" b="1" dirty="0">
                <a:latin typeface="+mn-ea"/>
              </a:rPr>
              <a:t> 생성</a:t>
            </a:r>
            <a:endParaRPr lang="en-US" altLang="ko-KR" sz="2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 err="1">
                <a:latin typeface="+mn-ea"/>
              </a:rPr>
              <a:t>입력값의</a:t>
            </a:r>
            <a:r>
              <a:rPr lang="ko-KR" altLang="en-US" sz="2400" b="1" dirty="0">
                <a:latin typeface="+mn-ea"/>
              </a:rPr>
              <a:t> 총합이 </a:t>
            </a:r>
            <a:r>
              <a:rPr lang="ko-KR" altLang="en-US" sz="2400" b="1" dirty="0" err="1">
                <a:latin typeface="+mn-ea"/>
              </a:rPr>
              <a:t>출력값의</a:t>
            </a:r>
            <a:r>
              <a:rPr lang="ko-KR" altLang="en-US" sz="2400" b="1" dirty="0">
                <a:latin typeface="+mn-ea"/>
              </a:rPr>
              <a:t> 총합과 같다</a:t>
            </a:r>
            <a:r>
              <a:rPr lang="en-US" altLang="ko-KR" sz="2400" b="1" dirty="0">
                <a:latin typeface="+mn-ea"/>
              </a:rPr>
              <a:t>.</a:t>
            </a:r>
            <a:r>
              <a:rPr lang="ko-KR" altLang="en-US" sz="2400" b="1" dirty="0">
                <a:latin typeface="+mn-ea"/>
              </a:rPr>
              <a:t> </a:t>
            </a:r>
            <a:endParaRPr lang="en-US" altLang="ko-KR" sz="2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+mn-ea"/>
              </a:rPr>
              <a:t>송신자는 </a:t>
            </a:r>
            <a:r>
              <a:rPr lang="en" altLang="ko-KR" sz="2400" b="1" dirty="0">
                <a:latin typeface="+mn-ea"/>
              </a:rPr>
              <a:t>input notes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en" altLang="ko-KR" sz="2400" b="1" dirty="0">
                <a:latin typeface="+mn-ea"/>
              </a:rPr>
              <a:t>private spending key</a:t>
            </a:r>
            <a:r>
              <a:rPr lang="ko-KR" altLang="en-US" sz="2400" b="1" dirty="0" err="1">
                <a:latin typeface="+mn-ea"/>
              </a:rPr>
              <a:t>를</a:t>
            </a:r>
            <a:r>
              <a:rPr lang="ko-KR" altLang="en-US" sz="2400" b="1" dirty="0">
                <a:latin typeface="+mn-ea"/>
              </a:rPr>
              <a:t> 알고 있다</a:t>
            </a:r>
            <a:r>
              <a:rPr lang="en-US" altLang="ko-KR" sz="2400" b="1" dirty="0">
                <a:latin typeface="+mn-ea"/>
              </a:rPr>
              <a:t>.</a:t>
            </a:r>
          </a:p>
          <a:p>
            <a:pPr lvl="2"/>
            <a:r>
              <a:rPr lang="ko-KR" altLang="en-US" sz="2000" b="1" dirty="0"/>
              <a:t>→ </a:t>
            </a:r>
            <a:r>
              <a:rPr lang="ko-KR" altLang="en-US" sz="2000" b="1" dirty="0">
                <a:latin typeface="+mn-ea"/>
              </a:rPr>
              <a:t>해당 자금을 사용할 정당한 권한이 있음</a:t>
            </a:r>
            <a:endParaRPr lang="en-US" altLang="ko-KR" sz="2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" altLang="ko-KR" sz="2400" b="1" dirty="0">
                <a:latin typeface="+mn-ea"/>
              </a:rPr>
              <a:t>input notes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en" altLang="ko-KR" sz="2400" b="1" dirty="0">
                <a:latin typeface="+mn-ea"/>
              </a:rPr>
              <a:t>private spending key</a:t>
            </a:r>
            <a:r>
              <a:rPr lang="ko-KR" altLang="en-US" sz="2400" b="1" dirty="0">
                <a:latin typeface="+mn-ea"/>
              </a:rPr>
              <a:t>가</a:t>
            </a:r>
            <a:r>
              <a:rPr lang="en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전체 거래에 대한 서명과 </a:t>
            </a:r>
            <a:br>
              <a:rPr lang="en-US" altLang="ko-KR" sz="2400" b="1" dirty="0">
                <a:latin typeface="+mn-ea"/>
              </a:rPr>
            </a:br>
            <a:r>
              <a:rPr lang="ko-KR" altLang="en-US" sz="2400" b="1" dirty="0" err="1">
                <a:latin typeface="+mn-ea"/>
              </a:rPr>
              <a:t>암호학적으로</a:t>
            </a:r>
            <a:r>
              <a:rPr lang="ko-KR" altLang="en-US" sz="2400" b="1" dirty="0">
                <a:latin typeface="+mn-ea"/>
              </a:rPr>
              <a:t> 연결되어 있다</a:t>
            </a:r>
            <a:r>
              <a:rPr lang="en-US" altLang="ko-KR" sz="2400" b="1" dirty="0">
                <a:latin typeface="+mn-ea"/>
              </a:rPr>
              <a:t>.</a:t>
            </a:r>
          </a:p>
          <a:p>
            <a:pPr lvl="2"/>
            <a:r>
              <a:rPr lang="ko-KR" altLang="en-US" sz="2000" b="1" dirty="0">
                <a:latin typeface="+mn-ea"/>
              </a:rPr>
              <a:t>→ 개인 키를 모르는 제</a:t>
            </a:r>
            <a:r>
              <a:rPr lang="en-US" altLang="ko-KR" sz="2000" b="1" dirty="0">
                <a:latin typeface="+mn-ea"/>
              </a:rPr>
              <a:t>3</a:t>
            </a:r>
            <a:r>
              <a:rPr lang="ko-KR" altLang="en-US" sz="2000" b="1" dirty="0">
                <a:latin typeface="+mn-ea"/>
              </a:rPr>
              <a:t>자가 거래 내용 변조 불가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자신의 </a:t>
            </a:r>
            <a:r>
              <a:rPr lang="en" altLang="ko-KR" sz="2400" b="1" dirty="0">
                <a:latin typeface="+mn-ea"/>
              </a:rPr>
              <a:t>spending key</a:t>
            </a:r>
            <a:r>
              <a:rPr lang="ko-KR" altLang="en-US" sz="2400" b="1" dirty="0" err="1">
                <a:latin typeface="+mn-ea"/>
              </a:rPr>
              <a:t>를</a:t>
            </a:r>
            <a:r>
              <a:rPr lang="ko-KR" altLang="en-US" sz="2400" b="1" dirty="0">
                <a:latin typeface="+mn-ea"/>
              </a:rPr>
              <a:t> 사용하여 </a:t>
            </a:r>
            <a:r>
              <a:rPr lang="en" altLang="ko-KR" sz="2400" b="1" dirty="0">
                <a:latin typeface="+mn-ea"/>
              </a:rPr>
              <a:t>nullifier</a:t>
            </a:r>
            <a:r>
              <a:rPr lang="ko-KR" altLang="en-US" sz="2400" b="1" dirty="0">
                <a:latin typeface="+mn-ea"/>
              </a:rPr>
              <a:t> 공개</a:t>
            </a:r>
          </a:p>
        </p:txBody>
      </p:sp>
    </p:spTree>
    <p:extLst>
      <p:ext uri="{BB962C8B-B14F-4D97-AF65-F5344CB8AC3E}">
        <p14:creationId xmlns:p14="http://schemas.microsoft.com/office/powerpoint/2010/main" val="2705032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BCE1-74A1-49F0-3A40-312D7B10D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D1788-FEF7-23D3-8348-7E1F7B0A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Miner</a:t>
            </a: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337273-D7EA-3C2E-E9A2-39BEAE77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1FC2A-9BAC-09DC-1FAA-DE3983EFCDF6}"/>
              </a:ext>
            </a:extLst>
          </p:cNvPr>
          <p:cNvSpPr txBox="1"/>
          <p:nvPr/>
        </p:nvSpPr>
        <p:spPr>
          <a:xfrm>
            <a:off x="497123" y="1179881"/>
            <a:ext cx="11442556" cy="2931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각 </a:t>
            </a:r>
            <a:r>
              <a:rPr lang="en" altLang="ko-KR" sz="2400" b="1" dirty="0">
                <a:latin typeface="+mn-ea"/>
              </a:rPr>
              <a:t>input note</a:t>
            </a:r>
            <a:r>
              <a:rPr lang="ko-KR" altLang="en-US" sz="2400" b="1" dirty="0" err="1">
                <a:latin typeface="+mn-ea"/>
              </a:rPr>
              <a:t>에</a:t>
            </a:r>
            <a:r>
              <a:rPr lang="ko-KR" altLang="en-US" sz="2400" b="1" dirty="0">
                <a:latin typeface="+mn-ea"/>
              </a:rPr>
              <a:t> 대해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공개된 </a:t>
            </a:r>
            <a:r>
              <a:rPr lang="en" altLang="ko-KR" sz="2400" b="1" dirty="0">
                <a:latin typeface="+mn-ea"/>
              </a:rPr>
              <a:t>commitment</a:t>
            </a:r>
            <a:r>
              <a:rPr lang="ko-KR" altLang="en-US" sz="2400" b="1" dirty="0">
                <a:latin typeface="+mn-ea"/>
              </a:rPr>
              <a:t>가 존재한다</a:t>
            </a:r>
            <a:r>
              <a:rPr lang="en-US" altLang="ko-KR" sz="2400" b="1" dirty="0">
                <a:latin typeface="+mn-ea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>
                <a:latin typeface="+mn-ea"/>
              </a:rPr>
              <a:t>nullifier</a:t>
            </a:r>
            <a:r>
              <a:rPr lang="ko-KR" altLang="en-US" sz="2400" b="1" dirty="0">
                <a:latin typeface="+mn-ea"/>
              </a:rPr>
              <a:t>와 </a:t>
            </a:r>
            <a:r>
              <a:rPr lang="en" altLang="ko-KR" sz="2400" b="1" dirty="0">
                <a:latin typeface="+mn-ea"/>
              </a:rPr>
              <a:t>note commitment</a:t>
            </a:r>
            <a:r>
              <a:rPr lang="ko-KR" altLang="en-US" sz="2400" b="1" dirty="0">
                <a:latin typeface="+mn-ea"/>
              </a:rPr>
              <a:t>가 올바르게 계산되었다</a:t>
            </a:r>
            <a:r>
              <a:rPr lang="en-US" altLang="ko-KR" sz="2400" b="1" dirty="0">
                <a:latin typeface="+mn-ea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>
                <a:latin typeface="+mn-ea"/>
              </a:rPr>
              <a:t>output note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en" altLang="ko-KR" sz="2400" b="1" dirty="0">
                <a:latin typeface="+mn-ea"/>
              </a:rPr>
              <a:t>nullifier</a:t>
            </a:r>
            <a:r>
              <a:rPr lang="ko-KR" altLang="en-US" sz="2400" b="1" dirty="0">
                <a:latin typeface="+mn-ea"/>
              </a:rPr>
              <a:t>가 다른 어떤 </a:t>
            </a:r>
            <a:r>
              <a:rPr lang="en-US" altLang="ko-KR" sz="2400" b="1" dirty="0">
                <a:latin typeface="+mn-ea"/>
              </a:rPr>
              <a:t>note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en" altLang="ko-KR" sz="2400" b="1" dirty="0">
                <a:latin typeface="+mn-ea"/>
              </a:rPr>
              <a:t>nullifier</a:t>
            </a:r>
            <a:r>
              <a:rPr lang="ko-KR" altLang="en-US" sz="2400" b="1" dirty="0">
                <a:latin typeface="+mn-ea"/>
              </a:rPr>
              <a:t>와 충돌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" altLang="ko-KR" sz="2400" b="1" dirty="0">
                <a:latin typeface="+mn-ea"/>
              </a:rPr>
              <a:t>collision)</a:t>
            </a:r>
            <a:r>
              <a:rPr lang="ko-KR" altLang="en-US" sz="2400" b="1" dirty="0">
                <a:latin typeface="+mn-ea"/>
              </a:rPr>
              <a:t>하는 것은</a:t>
            </a:r>
            <a:br>
              <a:rPr lang="en-US" altLang="ko-KR" sz="2400" b="1" dirty="0">
                <a:latin typeface="+mn-ea"/>
              </a:rPr>
            </a:br>
            <a:r>
              <a:rPr lang="ko-KR" altLang="en-US" sz="2400" b="1" dirty="0">
                <a:latin typeface="+mn-ea"/>
              </a:rPr>
              <a:t>불가능하다</a:t>
            </a:r>
            <a:r>
              <a:rPr lang="en-US" altLang="ko-KR" sz="24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733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C6B6-8F90-9505-5A48-82B4E11B5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8A495-3BA8-B069-D8D7-E0D13DC4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081ED-A777-F799-781D-4251D856CA4C}"/>
              </a:ext>
            </a:extLst>
          </p:cNvPr>
          <p:cNvSpPr txBox="1"/>
          <p:nvPr/>
        </p:nvSpPr>
        <p:spPr>
          <a:xfrm>
            <a:off x="481102" y="1181464"/>
            <a:ext cx="2821606" cy="71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altLang="ko-KR" sz="2400" b="1" dirty="0" err="1">
                <a:latin typeface="+mn-ea"/>
              </a:rPr>
              <a:t>Zcash</a:t>
            </a:r>
            <a:r>
              <a:rPr lang="en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코드 분석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0CAB2F71-B4B9-BB35-2BDD-689C0041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ko-KR" dirty="0"/>
              <a:t>To-Do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177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32651</TotalTime>
  <Words>304</Words>
  <Application>Microsoft Macintosh PowerPoint</Application>
  <PresentationFormat>와이드스크린</PresentationFormat>
  <Paragraphs>63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Zcash</vt:lpstr>
      <vt:lpstr>Zcash</vt:lpstr>
      <vt:lpstr>Bitcoin vs Zcash</vt:lpstr>
      <vt:lpstr>Transaction</vt:lpstr>
      <vt:lpstr>Note</vt:lpstr>
      <vt:lpstr>Commitment</vt:lpstr>
      <vt:lpstr>Nullifier</vt:lpstr>
      <vt:lpstr>Sender</vt:lpstr>
      <vt:lpstr>Miner</vt:lpstr>
      <vt:lpstr>To-Do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여희주</cp:lastModifiedBy>
  <cp:revision>1246</cp:revision>
  <dcterms:created xsi:type="dcterms:W3CDTF">2023-03-06T16:32:37Z</dcterms:created>
  <dcterms:modified xsi:type="dcterms:W3CDTF">2025-11-03T16:08:02Z</dcterms:modified>
</cp:coreProperties>
</file>