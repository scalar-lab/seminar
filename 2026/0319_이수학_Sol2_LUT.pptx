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5"/>
  </p:notesMasterIdLst>
  <p:sldIdLst>
    <p:sldId id="256" r:id="rId2"/>
    <p:sldId id="350" r:id="rId3"/>
    <p:sldId id="35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86B"/>
    <a:srgbClr val="002C62"/>
    <a:srgbClr val="00CC00"/>
    <a:srgbClr val="DD802B"/>
    <a:srgbClr val="CC99FF"/>
    <a:srgbClr val="F4B183"/>
    <a:srgbClr val="2E75B6"/>
    <a:srgbClr val="336699"/>
    <a:srgbClr val="0066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85080" autoAdjust="0"/>
  </p:normalViewPr>
  <p:slideViewPr>
    <p:cSldViewPr snapToGrid="0">
      <p:cViewPr varScale="1">
        <p:scale>
          <a:sx n="84" d="100"/>
          <a:sy n="84" d="100"/>
        </p:scale>
        <p:origin x="120" y="12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BE40-A326-55BA-1141-C9FCFDBF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1A7AB7-9D20-53D1-67E3-23AED6129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856D56-B808-CC5E-F297-6607D29D6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5BA22-6A91-E5F3-5F16-39C0D098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32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D7D5-EA0F-EC64-15CC-6F5F677C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B0D262-94E2-F915-2AEA-62FA535B2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64F6E-FBD2-4AC7-7C25-F7F310503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58F9D-9F15-7670-1CEB-DF49D87A4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194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Sol2 + LUT</a:t>
            </a:r>
            <a:endParaRPr lang="ko-KR" altLang="en-US" sz="36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18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5FF5-C1AB-5D84-9821-17558950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9E4F7-3C3B-0887-12C5-03552CCBB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Sol2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LUT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9B268-A77B-B21A-1F6A-9A88BC9B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grpSp>
        <p:nvGrpSpPr>
          <p:cNvPr id="21" name="Group 28">
            <a:extLst>
              <a:ext uri="{FF2B5EF4-FFF2-40B4-BE49-F238E27FC236}">
                <a16:creationId xmlns:a16="http://schemas.microsoft.com/office/drawing/2014/main" id="{5E42FC9D-3560-376A-F07C-7C97E7471B50}"/>
              </a:ext>
            </a:extLst>
          </p:cNvPr>
          <p:cNvGrpSpPr/>
          <p:nvPr/>
        </p:nvGrpSpPr>
        <p:grpSpPr>
          <a:xfrm>
            <a:off x="361052" y="1766218"/>
            <a:ext cx="2906038" cy="3070197"/>
            <a:chOff x="4527692" y="2756818"/>
            <a:chExt cx="2906038" cy="3070197"/>
          </a:xfrm>
        </p:grpSpPr>
        <p:grpSp>
          <p:nvGrpSpPr>
            <p:cNvPr id="22" name="Group 29">
              <a:extLst>
                <a:ext uri="{FF2B5EF4-FFF2-40B4-BE49-F238E27FC236}">
                  <a16:creationId xmlns:a16="http://schemas.microsoft.com/office/drawing/2014/main" id="{E1A04A8B-18DC-5065-2D2B-B1FE4551690C}"/>
                </a:ext>
              </a:extLst>
            </p:cNvPr>
            <p:cNvGrpSpPr/>
            <p:nvPr/>
          </p:nvGrpSpPr>
          <p:grpSpPr>
            <a:xfrm>
              <a:off x="5251301" y="3010700"/>
              <a:ext cx="1353426" cy="418300"/>
              <a:chOff x="3739859" y="5115350"/>
              <a:chExt cx="1353426" cy="418300"/>
            </a:xfrm>
          </p:grpSpPr>
          <p:sp>
            <p:nvSpPr>
              <p:cNvPr id="29" name="Rectangle 36">
                <a:extLst>
                  <a:ext uri="{FF2B5EF4-FFF2-40B4-BE49-F238E27FC236}">
                    <a16:creationId xmlns:a16="http://schemas.microsoft.com/office/drawing/2014/main" id="{B8ABCB72-ABB0-7780-F790-08681C2CBC57}"/>
                  </a:ext>
                </a:extLst>
              </p:cNvPr>
              <p:cNvSpPr/>
              <p:nvPr/>
            </p:nvSpPr>
            <p:spPr>
              <a:xfrm>
                <a:off x="3739859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37">
                <a:extLst>
                  <a:ext uri="{FF2B5EF4-FFF2-40B4-BE49-F238E27FC236}">
                    <a16:creationId xmlns:a16="http://schemas.microsoft.com/office/drawing/2014/main" id="{CC7CB614-0526-8EEA-D395-453BF267E3C6}"/>
                  </a:ext>
                </a:extLst>
              </p:cNvPr>
              <p:cNvSpPr/>
              <p:nvPr/>
            </p:nvSpPr>
            <p:spPr>
              <a:xfrm>
                <a:off x="4191001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2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8">
                <a:extLst>
                  <a:ext uri="{FF2B5EF4-FFF2-40B4-BE49-F238E27FC236}">
                    <a16:creationId xmlns:a16="http://schemas.microsoft.com/office/drawing/2014/main" id="{D5CDC287-CF3A-A434-7E46-87DF5D2058A1}"/>
                  </a:ext>
                </a:extLst>
              </p:cNvPr>
              <p:cNvSpPr/>
              <p:nvPr/>
            </p:nvSpPr>
            <p:spPr>
              <a:xfrm>
                <a:off x="4642143" y="5115350"/>
                <a:ext cx="451142" cy="4183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1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ko-KR" sz="2100" baseline="-25000" dirty="0">
                    <a:solidFill>
                      <a:schemeClr val="tx1"/>
                    </a:solidFill>
                  </a:rPr>
                  <a:t>1</a:t>
                </a:r>
                <a:endParaRPr lang="en-US" sz="2100" baseline="-25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3" name="Straight Arrow Connector 30">
              <a:extLst>
                <a:ext uri="{FF2B5EF4-FFF2-40B4-BE49-F238E27FC236}">
                  <a16:creationId xmlns:a16="http://schemas.microsoft.com/office/drawing/2014/main" id="{C5D3C353-E66D-55AE-7082-6D227761A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63259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CEF562-5BA6-4D97-1959-88B2E80D82FC}"/>
                </a:ext>
              </a:extLst>
            </p:cNvPr>
            <p:cNvSpPr txBox="1"/>
            <p:nvPr/>
          </p:nvSpPr>
          <p:spPr>
            <a:xfrm>
              <a:off x="4527692" y="4687216"/>
              <a:ext cx="25534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[ </a:t>
              </a:r>
              <a:r>
                <a:rPr lang="en-US" dirty="0">
                  <a:solidFill>
                    <a:srgbClr val="FF0000"/>
                  </a:solidFill>
                </a:rPr>
                <a:t>part of r</a:t>
              </a:r>
              <a:r>
                <a:rPr lang="en-US" baseline="-25000" dirty="0">
                  <a:solidFill>
                    <a:srgbClr val="FF0000"/>
                  </a:solidFill>
                </a:rPr>
                <a:t>1</a:t>
              </a:r>
              <a:r>
                <a:rPr lang="en-US" dirty="0">
                  <a:solidFill>
                    <a:srgbClr val="FF0000"/>
                  </a:solidFill>
                </a:rPr>
                <a:t> | part of r</a:t>
              </a:r>
              <a:r>
                <a:rPr lang="en-US" baseline="-25000" dirty="0">
                  <a:solidFill>
                    <a:srgbClr val="FF0000"/>
                  </a:solidFill>
                </a:rPr>
                <a:t>2</a:t>
              </a:r>
              <a:r>
                <a:rPr lang="en-US" baseline="-25000" dirty="0"/>
                <a:t> </a:t>
              </a:r>
              <a:r>
                <a:rPr lang="en-US" dirty="0"/>
                <a:t>]</a:t>
              </a:r>
            </a:p>
          </p:txBody>
        </p:sp>
        <p:sp>
          <p:nvSpPr>
            <p:cNvPr id="25" name="Right Brace 32">
              <a:extLst>
                <a:ext uri="{FF2B5EF4-FFF2-40B4-BE49-F238E27FC236}">
                  <a16:creationId xmlns:a16="http://schemas.microsoft.com/office/drawing/2014/main" id="{F9DD2784-3823-AA86-CE14-639E46B5D17E}"/>
                </a:ext>
              </a:extLst>
            </p:cNvPr>
            <p:cNvSpPr/>
            <p:nvPr/>
          </p:nvSpPr>
          <p:spPr>
            <a:xfrm rot="5400000">
              <a:off x="5637041" y="4204777"/>
              <a:ext cx="299851" cy="212513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D650790-0255-0107-9B8E-8F3A7F595359}"/>
                </a:ext>
              </a:extLst>
            </p:cNvPr>
            <p:cNvSpPr txBox="1"/>
            <p:nvPr/>
          </p:nvSpPr>
          <p:spPr>
            <a:xfrm>
              <a:off x="4646225" y="5457683"/>
              <a:ext cx="2787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byte-aligned (e.g., 256b)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3BD531B-9754-F255-757E-B0D1A3817EBD}"/>
                </a:ext>
              </a:extLst>
            </p:cNvPr>
            <p:cNvSpPr txBox="1"/>
            <p:nvPr/>
          </p:nvSpPr>
          <p:spPr>
            <a:xfrm>
              <a:off x="5154231" y="2756818"/>
              <a:ext cx="673100" cy="286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~255b</a:t>
              </a:r>
            </a:p>
          </p:txBody>
        </p:sp>
        <p:cxnSp>
          <p:nvCxnSpPr>
            <p:cNvPr id="28" name="Straight Arrow Connector 35">
              <a:extLst>
                <a:ext uri="{FF2B5EF4-FFF2-40B4-BE49-F238E27FC236}">
                  <a16:creationId xmlns:a16="http://schemas.microsoft.com/office/drawing/2014/main" id="{8ADB65B7-DD69-EFED-7779-3F15C690D4D2}"/>
                </a:ext>
              </a:extLst>
            </p:cNvPr>
            <p:cNvCxnSpPr>
              <a:cxnSpLocks/>
            </p:cNvCxnSpPr>
            <p:nvPr/>
          </p:nvCxnSpPr>
          <p:spPr>
            <a:xfrm>
              <a:off x="5901264" y="3429000"/>
              <a:ext cx="0" cy="12185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F3F71E7-DBA8-0BC7-60F5-41843D679D02}"/>
              </a:ext>
            </a:extLst>
          </p:cNvPr>
          <p:cNvSpPr txBox="1"/>
          <p:nvPr/>
        </p:nvSpPr>
        <p:spPr>
          <a:xfrm>
            <a:off x="3909063" y="1926901"/>
            <a:ext cx="77251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R2</a:t>
            </a:r>
            <a:r>
              <a:rPr lang="ko-KR" altLang="en-US" sz="1400" dirty="0"/>
              <a:t>의 </a:t>
            </a:r>
            <a:r>
              <a:rPr lang="en-US" altLang="ko-KR" sz="1400" dirty="0"/>
              <a:t>LSB 2-bit</a:t>
            </a:r>
            <a:r>
              <a:rPr lang="ko-KR" altLang="en-US" sz="1400" dirty="0"/>
              <a:t>만 </a:t>
            </a:r>
            <a:r>
              <a:rPr lang="en-US" altLang="ko-KR" sz="1400" dirty="0"/>
              <a:t>slicing</a:t>
            </a:r>
            <a:r>
              <a:rPr lang="ko-KR" altLang="en-US" sz="1400" dirty="0"/>
              <a:t>해서 가져오는 경우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순수 </a:t>
            </a:r>
            <a:r>
              <a:rPr lang="en-US" altLang="ko-KR" sz="1400" dirty="0"/>
              <a:t>R1CS</a:t>
            </a:r>
            <a:r>
              <a:rPr lang="ko-KR" altLang="en-US" sz="1400" dirty="0"/>
              <a:t> 제약 시스템에서는 </a:t>
            </a:r>
            <a:r>
              <a:rPr lang="en-US" altLang="ko-KR" sz="1400" dirty="0"/>
              <a:t>LUT </a:t>
            </a:r>
            <a:r>
              <a:rPr lang="ko-KR" altLang="en-US" sz="1400" dirty="0"/>
              <a:t>적용 불가능해서 회로 내부가 아닌 외부에서 프로토콜 진행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LUT Table</a:t>
            </a:r>
            <a:r>
              <a:rPr lang="ko-KR" altLang="en-US" sz="1400" dirty="0"/>
              <a:t> 적용은 </a:t>
            </a:r>
            <a:r>
              <a:rPr lang="en-US" altLang="ko-KR" sz="1400" dirty="0"/>
              <a:t>Lookup sub-protocol</a:t>
            </a:r>
            <a:r>
              <a:rPr lang="ko-KR" altLang="en-US" sz="1400" dirty="0"/>
              <a:t>을 이용하여 진행 가능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1. Lasso </a:t>
            </a:r>
            <a:r>
              <a:rPr lang="ko-KR" altLang="en-US" sz="1400" dirty="0"/>
              <a:t>방식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2. CQ </a:t>
            </a:r>
            <a:r>
              <a:rPr lang="ko-KR" altLang="en-US" sz="1400" dirty="0"/>
              <a:t>방식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487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6E313-2520-8DA8-2280-D5CED63D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D1E13-F9C6-4408-279A-F3F9F074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Sol2 + LUT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67D913-B3B7-D0BB-717B-6EC8D0F3B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grpSp>
        <p:nvGrpSpPr>
          <p:cNvPr id="22" name="Group 29">
            <a:extLst>
              <a:ext uri="{FF2B5EF4-FFF2-40B4-BE49-F238E27FC236}">
                <a16:creationId xmlns:a16="http://schemas.microsoft.com/office/drawing/2014/main" id="{753EA829-E6BC-718A-F6D9-F8AF10F0F041}"/>
              </a:ext>
            </a:extLst>
          </p:cNvPr>
          <p:cNvGrpSpPr/>
          <p:nvPr/>
        </p:nvGrpSpPr>
        <p:grpSpPr>
          <a:xfrm>
            <a:off x="381198" y="2020100"/>
            <a:ext cx="1353426" cy="418300"/>
            <a:chOff x="3739859" y="5115350"/>
            <a:chExt cx="1353426" cy="418300"/>
          </a:xfrm>
        </p:grpSpPr>
        <p:sp>
          <p:nvSpPr>
            <p:cNvPr id="29" name="Rectangle 36">
              <a:extLst>
                <a:ext uri="{FF2B5EF4-FFF2-40B4-BE49-F238E27FC236}">
                  <a16:creationId xmlns:a16="http://schemas.microsoft.com/office/drawing/2014/main" id="{361A767E-BF9C-7CAD-710B-C39897882A96}"/>
                </a:ext>
              </a:extLst>
            </p:cNvPr>
            <p:cNvSpPr/>
            <p:nvPr/>
          </p:nvSpPr>
          <p:spPr>
            <a:xfrm>
              <a:off x="3739859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r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1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37">
              <a:extLst>
                <a:ext uri="{FF2B5EF4-FFF2-40B4-BE49-F238E27FC236}">
                  <a16:creationId xmlns:a16="http://schemas.microsoft.com/office/drawing/2014/main" id="{51B8112A-C05E-A2E3-5B79-FE94C2A77D0E}"/>
                </a:ext>
              </a:extLst>
            </p:cNvPr>
            <p:cNvSpPr/>
            <p:nvPr/>
          </p:nvSpPr>
          <p:spPr>
            <a:xfrm>
              <a:off x="4191001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r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2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8">
              <a:extLst>
                <a:ext uri="{FF2B5EF4-FFF2-40B4-BE49-F238E27FC236}">
                  <a16:creationId xmlns:a16="http://schemas.microsoft.com/office/drawing/2014/main" id="{996C21AB-38F1-72FF-5ED9-F804227002EB}"/>
                </a:ext>
              </a:extLst>
            </p:cNvPr>
            <p:cNvSpPr/>
            <p:nvPr/>
          </p:nvSpPr>
          <p:spPr>
            <a:xfrm>
              <a:off x="4642143" y="5115350"/>
              <a:ext cx="451142" cy="418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100" dirty="0">
                  <a:solidFill>
                    <a:schemeClr val="tx1"/>
                  </a:solidFill>
                </a:rPr>
                <a:t>c</a:t>
              </a:r>
              <a:r>
                <a:rPr lang="en-US" altLang="ko-KR" sz="2100" baseline="-25000" dirty="0">
                  <a:solidFill>
                    <a:schemeClr val="tx1"/>
                  </a:solidFill>
                </a:rPr>
                <a:t>1</a:t>
              </a:r>
              <a:endParaRPr lang="en-US" sz="2100" baseline="-25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1E698B-8306-9B5E-C7B8-A8AB017A1160}"/>
                  </a:ext>
                </a:extLst>
              </p:cNvPr>
              <p:cNvSpPr txBox="1"/>
              <p:nvPr/>
            </p:nvSpPr>
            <p:spPr>
              <a:xfrm>
                <a:off x="3208263" y="4464060"/>
                <a:ext cx="26617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r</a:t>
                </a:r>
                <a:r>
                  <a:rPr lang="en-US" altLang="ko-KR" sz="1400" baseline="-25000" dirty="0"/>
                  <a:t>2 </a:t>
                </a:r>
                <a:r>
                  <a:rPr lang="en-US" altLang="ko-KR" sz="1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31</m:t>
                        </m:r>
                      </m:sub>
                    </m:sSub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248</m:t>
                        </m:r>
                      </m:sup>
                    </m:sSup>
                  </m:oMath>
                </a14:m>
                <a:endParaRPr lang="en-US" altLang="ko-KR" sz="1400" baseline="-250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1E698B-8306-9B5E-C7B8-A8AB017A1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263" y="4464060"/>
                <a:ext cx="2661759" cy="307777"/>
              </a:xfrm>
              <a:prstGeom prst="rect">
                <a:avLst/>
              </a:prstGeom>
              <a:blipFill>
                <a:blip r:embed="rId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FA72603D-734F-F86C-1B39-C90B138B623B}"/>
              </a:ext>
            </a:extLst>
          </p:cNvPr>
          <p:cNvCxnSpPr>
            <a:stCxn id="29" idx="2"/>
          </p:cNvCxnSpPr>
          <p:nvPr/>
        </p:nvCxnSpPr>
        <p:spPr>
          <a:xfrm rot="16200000" flipH="1">
            <a:off x="907098" y="2138070"/>
            <a:ext cx="427062" cy="10277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6ED4A6C3-6F87-6F90-C553-06ADA81275A8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50900" y="2645410"/>
            <a:ext cx="990602" cy="576581"/>
          </a:xfrm>
          <a:prstGeom prst="bentConnector3">
            <a:avLst>
              <a:gd name="adj1" fmla="val 10096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4AD18B6-F6E2-E354-5868-1C3445EA5842}"/>
              </a:ext>
            </a:extLst>
          </p:cNvPr>
          <p:cNvSpPr txBox="1"/>
          <p:nvPr/>
        </p:nvSpPr>
        <p:spPr>
          <a:xfrm>
            <a:off x="1596582" y="2669602"/>
            <a:ext cx="371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81138E-3E4B-AB44-3CA0-CB678DBA3A5C}"/>
              </a:ext>
            </a:extLst>
          </p:cNvPr>
          <p:cNvSpPr txBox="1"/>
          <p:nvPr/>
        </p:nvSpPr>
        <p:spPr>
          <a:xfrm>
            <a:off x="1605215" y="3240416"/>
            <a:ext cx="401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baseline="-25000" dirty="0"/>
              <a:t> 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AAA813-0C9F-1DE6-63DC-3B0EB1F2B1D9}"/>
              </a:ext>
            </a:extLst>
          </p:cNvPr>
          <p:cNvSpPr txBox="1"/>
          <p:nvPr/>
        </p:nvSpPr>
        <p:spPr>
          <a:xfrm>
            <a:off x="1928153" y="2740757"/>
            <a:ext cx="18528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(254-bit </a:t>
            </a:r>
            <a:r>
              <a:rPr lang="ko-KR" altLang="en-US" sz="1200" dirty="0"/>
              <a:t>그대로 사용</a:t>
            </a:r>
            <a:r>
              <a:rPr lang="en-US" altLang="ko-KR" sz="1200" dirty="0"/>
              <a:t>)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표 34">
                <a:extLst>
                  <a:ext uri="{FF2B5EF4-FFF2-40B4-BE49-F238E27FC236}">
                    <a16:creationId xmlns:a16="http://schemas.microsoft.com/office/drawing/2014/main" id="{DED4BB9D-6EA1-A432-82AE-90232496E2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691225"/>
                  </p:ext>
                </p:extLst>
              </p:nvPr>
            </p:nvGraphicFramePr>
            <p:xfrm>
              <a:off x="3706186" y="2501741"/>
              <a:ext cx="1665914" cy="18466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5914">
                      <a:extLst>
                        <a:ext uri="{9D8B030D-6E8A-4147-A177-3AD203B41FA5}">
                          <a16:colId xmlns:a16="http://schemas.microsoft.com/office/drawing/2014/main" val="1169656885"/>
                        </a:ext>
                      </a:extLst>
                    </a:gridCol>
                  </a:tblGrid>
                  <a:tr h="36332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bg1"/>
                              </a:solidFill>
                            </a:rPr>
                            <a:t>Chunk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F386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276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1400" dirty="0"/>
                            <a:t> (8-bit)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4021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400" dirty="0"/>
                            <a:t> </a:t>
                          </a:r>
                          <a:r>
                            <a:rPr lang="en-US" altLang="ko-KR" sz="1400" dirty="0"/>
                            <a:t>(8-bit)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3233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…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6969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sz="1200" dirty="0"/>
                            <a:t> (2b’0 + 6bit)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10919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표 34">
                <a:extLst>
                  <a:ext uri="{FF2B5EF4-FFF2-40B4-BE49-F238E27FC236}">
                    <a16:creationId xmlns:a16="http://schemas.microsoft.com/office/drawing/2014/main" id="{DED4BB9D-6EA1-A432-82AE-90232496E2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691225"/>
                  </p:ext>
                </p:extLst>
              </p:nvPr>
            </p:nvGraphicFramePr>
            <p:xfrm>
              <a:off x="3706186" y="2501741"/>
              <a:ext cx="1665914" cy="18466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65914">
                      <a:extLst>
                        <a:ext uri="{9D8B030D-6E8A-4147-A177-3AD203B41FA5}">
                          <a16:colId xmlns:a16="http://schemas.microsoft.com/office/drawing/2014/main" val="1169656885"/>
                        </a:ext>
                      </a:extLst>
                    </a:gridCol>
                  </a:tblGrid>
                  <a:tr h="36332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bg1"/>
                              </a:solidFill>
                            </a:rPr>
                            <a:t>Chunk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F386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276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4" t="-100000" r="-727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4021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4" t="-200000" r="-727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3233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…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6969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4" t="-400000" r="-727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109193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8F94B4D-A441-128B-B23B-49BF2092EF28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2006716" y="3425082"/>
            <a:ext cx="1699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0D097F2-C07F-95D2-5AA6-62E9D835133C}"/>
                  </a:ext>
                </a:extLst>
              </p:cNvPr>
              <p:cNvSpPr txBox="1"/>
              <p:nvPr/>
            </p:nvSpPr>
            <p:spPr>
              <a:xfrm>
                <a:off x="767937" y="5152763"/>
                <a:ext cx="4604163" cy="1386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Lasso</a:t>
                </a:r>
                <a:r>
                  <a:rPr lang="ko-KR" altLang="en-US" sz="1400" dirty="0"/>
                  <a:t>의 증명 프로세스</a:t>
                </a:r>
                <a:endParaRPr lang="en-US" altLang="ko-KR" sz="1400" dirty="0"/>
              </a:p>
              <a:p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입력 </a:t>
                </a:r>
                <a:r>
                  <a:rPr lang="en-US" altLang="ko-KR" sz="1400" dirty="0"/>
                  <a:t>: Poseidon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값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분해 </a:t>
                </a:r>
                <a:r>
                  <a:rPr lang="en-US" altLang="ko-KR" sz="1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1400" dirty="0"/>
                  <a:t> 8-bit </a:t>
                </a:r>
                <a:r>
                  <a:rPr lang="ko-KR" altLang="en-US" sz="1400" dirty="0"/>
                  <a:t>크기의</a:t>
                </a:r>
                <a:r>
                  <a:rPr lang="en-US" altLang="ko-KR" sz="1400" dirty="0"/>
                  <a:t> 32</a:t>
                </a:r>
                <a:r>
                  <a:rPr lang="ko-KR" altLang="en-US" sz="1400" dirty="0"/>
                  <a:t>개 </a:t>
                </a:r>
                <a:r>
                  <a:rPr lang="ko-KR" altLang="en-US" sz="1400" dirty="0" err="1"/>
                  <a:t>청크로</a:t>
                </a:r>
                <a:r>
                  <a:rPr lang="ko-KR" altLang="en-US" sz="1400" dirty="0"/>
                  <a:t> 분해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Lookup </a:t>
                </a:r>
                <a:r>
                  <a:rPr lang="ko-KR" altLang="en-US" sz="1400" dirty="0"/>
                  <a:t>조회 후 </a:t>
                </a:r>
                <a:r>
                  <a:rPr lang="en-US" altLang="ko-KR" sz="1400" dirty="0"/>
                  <a:t>Table</a:t>
                </a:r>
                <a:r>
                  <a:rPr lang="ko-KR" altLang="en-US" sz="1400" dirty="0"/>
                  <a:t>에 </a:t>
                </a:r>
                <a:r>
                  <a:rPr lang="ko-KR" altLang="en-US" sz="1400" dirty="0" err="1"/>
                  <a:t>포함되어있는지</a:t>
                </a:r>
                <a:r>
                  <a:rPr lang="ko-KR" altLang="en-US" sz="1400" dirty="0"/>
                  <a:t> 확인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수식의 만족 여부 확인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0D097F2-C07F-95D2-5AA6-62E9D8351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37" y="5152763"/>
                <a:ext cx="4604163" cy="1386149"/>
              </a:xfrm>
              <a:prstGeom prst="rect">
                <a:avLst/>
              </a:prstGeom>
              <a:blipFill>
                <a:blip r:embed="rId5"/>
                <a:stretch>
                  <a:fillRect l="-397" t="-877" b="-35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41D2A32D-3B23-F690-B2AB-5C3A9F06A74E}"/>
              </a:ext>
            </a:extLst>
          </p:cNvPr>
          <p:cNvCxnSpPr>
            <a:cxnSpLocks/>
          </p:cNvCxnSpPr>
          <p:nvPr/>
        </p:nvCxnSpPr>
        <p:spPr>
          <a:xfrm>
            <a:off x="5372100" y="3038934"/>
            <a:ext cx="1619250" cy="3823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AEFA36C0-AF44-43F6-EBF0-7698873EA6D7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5372100" y="3421323"/>
            <a:ext cx="1619250" cy="37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3BD621EA-D051-3B34-0F99-3EAEA9B83ECD}"/>
              </a:ext>
            </a:extLst>
          </p:cNvPr>
          <p:cNvCxnSpPr>
            <a:cxnSpLocks/>
          </p:cNvCxnSpPr>
          <p:nvPr/>
        </p:nvCxnSpPr>
        <p:spPr>
          <a:xfrm flipV="1">
            <a:off x="5372100" y="3421323"/>
            <a:ext cx="1619250" cy="7944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B5A7785-5184-7ECF-7A51-15C21BE32B89}"/>
              </a:ext>
            </a:extLst>
          </p:cNvPr>
          <p:cNvSpPr txBox="1"/>
          <p:nvPr/>
        </p:nvSpPr>
        <p:spPr>
          <a:xfrm>
            <a:off x="5346600" y="3653077"/>
            <a:ext cx="387449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aseline="-25000" dirty="0"/>
              <a:t>…</a:t>
            </a:r>
          </a:p>
        </p:txBody>
      </p: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65EA9D81-20B7-7DCD-8BF6-E07007093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30785"/>
              </p:ext>
            </p:extLst>
          </p:nvPr>
        </p:nvGraphicFramePr>
        <p:xfrm>
          <a:off x="5845840" y="465763"/>
          <a:ext cx="1473303" cy="1681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001">
                  <a:extLst>
                    <a:ext uri="{9D8B030D-6E8A-4147-A177-3AD203B41FA5}">
                      <a16:colId xmlns:a16="http://schemas.microsoft.com/office/drawing/2014/main" val="1169656885"/>
                    </a:ext>
                  </a:extLst>
                </a:gridCol>
                <a:gridCol w="495302">
                  <a:extLst>
                    <a:ext uri="{9D8B030D-6E8A-4147-A177-3AD203B41FA5}">
                      <a16:colId xmlns:a16="http://schemas.microsoft.com/office/drawing/2014/main" val="846509245"/>
                    </a:ext>
                  </a:extLst>
                </a:gridCol>
              </a:tblGrid>
              <a:tr h="3363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</a:rPr>
                        <a:t>8-bit LUT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386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38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76041"/>
                  </a:ext>
                </a:extLst>
              </a:tr>
              <a:tr h="336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00000000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021184"/>
                  </a:ext>
                </a:extLst>
              </a:tr>
              <a:tr h="336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00000001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33621"/>
                  </a:ext>
                </a:extLst>
              </a:tr>
              <a:tr h="336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…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696972"/>
                  </a:ext>
                </a:extLst>
              </a:tr>
              <a:tr h="336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11111111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255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091931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A5EFA7B6-8792-FBBB-1E4A-F355D0FD27F4}"/>
              </a:ext>
            </a:extLst>
          </p:cNvPr>
          <p:cNvSpPr txBox="1"/>
          <p:nvPr/>
        </p:nvSpPr>
        <p:spPr>
          <a:xfrm>
            <a:off x="7012514" y="3230128"/>
            <a:ext cx="1900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테이블 내에 값이 있는지 확인 후 </a:t>
            </a:r>
            <a:r>
              <a:rPr lang="en-US" altLang="ko-KR" sz="1200" dirty="0"/>
              <a:t>commit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AB959F2F-C5BB-9D88-C42D-EABF55A649E0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8913438" y="3460961"/>
            <a:ext cx="5620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1C844D5-9F0D-1DE7-28CA-FA2305FF8BCF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6582491" y="2147293"/>
            <a:ext cx="0" cy="1241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36E5576-C7DB-E2D8-A3BC-0C1761CA1DCD}"/>
                  </a:ext>
                </a:extLst>
              </p:cNvPr>
              <p:cNvSpPr txBox="1"/>
              <p:nvPr/>
            </p:nvSpPr>
            <p:spPr>
              <a:xfrm>
                <a:off x="9314540" y="3267748"/>
                <a:ext cx="2796019" cy="353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ko-KR" sz="1600" dirty="0"/>
                  <a:t> = 0</a:t>
                </a:r>
                <a:r>
                  <a:rPr lang="ko-KR" altLang="en-US" sz="1600" dirty="0"/>
                  <a:t> 확인</a:t>
                </a:r>
                <a:endParaRPr lang="en-US" altLang="ko-KR" sz="1600" baseline="-250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36E5576-C7DB-E2D8-A3BC-0C1761CA1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540" y="3267748"/>
                <a:ext cx="2796019" cy="353430"/>
              </a:xfrm>
              <a:prstGeom prst="rect">
                <a:avLst/>
              </a:prstGeom>
              <a:blipFill>
                <a:blip r:embed="rId6"/>
                <a:stretch>
                  <a:fillRect l="-3922" t="-100000" b="-1637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46EE262-66BE-5886-8B1E-0365140DBD1B}"/>
              </a:ext>
            </a:extLst>
          </p:cNvPr>
          <p:cNvCxnSpPr>
            <a:cxnSpLocks/>
          </p:cNvCxnSpPr>
          <p:nvPr/>
        </p:nvCxnSpPr>
        <p:spPr>
          <a:xfrm flipV="1">
            <a:off x="10538460" y="2583350"/>
            <a:ext cx="0" cy="7370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71B7341-DA1F-B8CB-8C7C-F213602FFBF7}"/>
              </a:ext>
            </a:extLst>
          </p:cNvPr>
          <p:cNvSpPr txBox="1"/>
          <p:nvPr/>
        </p:nvSpPr>
        <p:spPr>
          <a:xfrm>
            <a:off x="9690269" y="2335623"/>
            <a:ext cx="16693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8-bit LUT</a:t>
            </a:r>
            <a:r>
              <a:rPr lang="ko-KR" altLang="en-US" sz="1200" dirty="0"/>
              <a:t> 조회 후 값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4A5734A-F633-BA1E-E1F6-D9750AE3EEA7}"/>
                  </a:ext>
                </a:extLst>
              </p:cNvPr>
              <p:cNvSpPr txBox="1"/>
              <p:nvPr/>
            </p:nvSpPr>
            <p:spPr>
              <a:xfrm>
                <a:off x="7388187" y="4382183"/>
                <a:ext cx="46041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증명 완료 시</a:t>
                </a:r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/>
                  <a:t>(8-bit)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LSB 2-bit</a:t>
                </a:r>
                <a:r>
                  <a:rPr lang="ko-KR" altLang="en-US" sz="1400" dirty="0"/>
                  <a:t>를 추출하는 과정 필요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4A5734A-F633-BA1E-E1F6-D9750AE3E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187" y="4382183"/>
                <a:ext cx="4604163" cy="307777"/>
              </a:xfrm>
              <a:prstGeom prst="rect">
                <a:avLst/>
              </a:prstGeom>
              <a:blipFill>
                <a:blip r:embed="rId7"/>
                <a:stretch>
                  <a:fillRect l="-397" t="-6000" r="-132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919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47020</TotalTime>
  <Words>198</Words>
  <Application>Microsoft Office PowerPoint</Application>
  <PresentationFormat>와이드스크린</PresentationFormat>
  <Paragraphs>57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Cambria Math</vt:lpstr>
      <vt:lpstr>Office 테마</vt:lpstr>
      <vt:lpstr>Sol2 + LUT</vt:lpstr>
      <vt:lpstr>Sol2 + LUT</vt:lpstr>
      <vt:lpstr>Sol2 + LUT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2263</cp:revision>
  <dcterms:created xsi:type="dcterms:W3CDTF">2023-03-06T16:32:37Z</dcterms:created>
  <dcterms:modified xsi:type="dcterms:W3CDTF">2026-03-19T09:31:55Z</dcterms:modified>
</cp:coreProperties>
</file>