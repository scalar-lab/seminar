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352" r:id="rId3"/>
    <p:sldId id="359" r:id="rId4"/>
    <p:sldId id="361" r:id="rId5"/>
    <p:sldId id="360" r:id="rId6"/>
    <p:sldId id="356" r:id="rId7"/>
    <p:sldId id="357" r:id="rId8"/>
    <p:sldId id="35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0650" autoAdjust="0"/>
  </p:normalViewPr>
  <p:slideViewPr>
    <p:cSldViewPr snapToGrid="0">
      <p:cViewPr varScale="1">
        <p:scale>
          <a:sx n="129" d="100"/>
          <a:sy n="129" d="100"/>
        </p:scale>
        <p:origin x="1542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저는 오늘 </a:t>
            </a:r>
            <a:r>
              <a:rPr kumimoji="1" lang="en-US" altLang="ko-KR" dirty="0"/>
              <a:t>Hierarchical Majority Voter </a:t>
            </a:r>
            <a:r>
              <a:rPr kumimoji="1" lang="ko-KR" altLang="en-US" dirty="0"/>
              <a:t>관련되어 어떤 실험들을 설계하고 진행하고 있는지</a:t>
            </a:r>
            <a:r>
              <a:rPr kumimoji="1" lang="en-US" altLang="ko-KR" dirty="0"/>
              <a:t>, </a:t>
            </a:r>
            <a:r>
              <a:rPr kumimoji="1" lang="ko-KR" altLang="en-US" dirty="0"/>
              <a:t>그리고 그 결과에 대한 공유와 앞으로는 어떤 실험을 통해서 방향성을 잡아갈 것인지에 대해서 말씀드리려고 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64D2-FDD9-C143-C4FC-68C36F01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E4F8A9-379F-E82F-9040-ACC8D187C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F25A85-7113-40F1-4228-28F506CC3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2F17D5-3EE2-CF22-2315-A476B0D32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1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4688-E0ED-9E22-9ADF-A992CC38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2FB8E-F2C7-601A-814B-26EEA6267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1BDBC5-9AFD-7E2F-D427-497BA9B8D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8EE90-0FB9-E8AB-52B7-6FBA5B29C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721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7A92-D37E-DE20-D7E1-EE7B653C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9EA359-07A5-9ED7-B5FF-71D250FD0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BE61B1-48E8-F4CF-DCFB-767668F74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1F6B02-56DA-5E80-BA61-6843D1AD3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612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6E8D-8243-06C8-D148-3C0B4287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22D439-FD19-A508-F092-D5CCB317F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477116-ED3D-1B4C-3391-505F19D0C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E29DCF-C861-6DD6-FD85-8747481B4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850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86A8-5925-2D9E-24C3-2C3759C6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7FA95E-6FF8-0B7D-6854-02E72B792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90306-E55F-E6CB-1DB3-946D4E840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&lt;light-Poseidon&gt;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Light Protocol</a:t>
            </a:r>
            <a:r>
              <a:rPr lang="ko-KR" altLang="en-US" sz="1200" dirty="0"/>
              <a:t>에서 만든 </a:t>
            </a:r>
            <a:r>
              <a:rPr lang="en-US" altLang="ko-KR" sz="1200" dirty="0"/>
              <a:t>Rust </a:t>
            </a:r>
            <a:r>
              <a:rPr lang="ko-KR" altLang="en-US" sz="1200" dirty="0"/>
              <a:t>라이브러리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원본 </a:t>
            </a:r>
            <a:r>
              <a:rPr lang="en-US" altLang="ko-KR" sz="1200" dirty="0"/>
              <a:t>Poseidon Hash Function </a:t>
            </a:r>
            <a:r>
              <a:rPr lang="ko-KR" altLang="en-US" sz="1200" dirty="0"/>
              <a:t>구현체</a:t>
            </a:r>
            <a:r>
              <a:rPr lang="en-US" altLang="ko-KR" sz="1200" dirty="0"/>
              <a:t>(</a:t>
            </a:r>
            <a:r>
              <a:rPr lang="ko-KR" altLang="en-US" sz="1200" dirty="0"/>
              <a:t>알고리즘 동일</a:t>
            </a:r>
            <a:r>
              <a:rPr lang="en-US" altLang="ko-KR" sz="1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공개 </a:t>
            </a:r>
            <a:r>
              <a:rPr lang="en-US" altLang="ko-KR" sz="1200" dirty="0"/>
              <a:t>crate</a:t>
            </a:r>
            <a:r>
              <a:rPr lang="ko-KR" altLang="en-US" sz="1200" dirty="0"/>
              <a:t>라서 같은 환경 구축하는데 있어서 편이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err="1"/>
              <a:t>Circom</a:t>
            </a:r>
            <a:r>
              <a:rPr lang="en-US" altLang="ko-KR" sz="1200" dirty="0"/>
              <a:t> </a:t>
            </a:r>
            <a:r>
              <a:rPr lang="ko-KR" altLang="en-US" sz="1200" dirty="0"/>
              <a:t>회로와 같은 </a:t>
            </a:r>
            <a:r>
              <a:rPr lang="en-US" altLang="ko-KR" sz="1200" dirty="0"/>
              <a:t>parameter</a:t>
            </a:r>
            <a:r>
              <a:rPr lang="ko-KR" altLang="en-US" sz="1200" dirty="0"/>
              <a:t>를 사용해서 </a:t>
            </a:r>
            <a:r>
              <a:rPr lang="en-US" altLang="ko-KR" sz="1200" dirty="0"/>
              <a:t>native</a:t>
            </a:r>
            <a:r>
              <a:rPr lang="ko-KR" altLang="en-US" sz="1200" dirty="0"/>
              <a:t>와 </a:t>
            </a:r>
            <a:r>
              <a:rPr lang="en-US" altLang="ko-KR" sz="1200" dirty="0"/>
              <a:t>in-circuit </a:t>
            </a:r>
            <a:r>
              <a:rPr lang="ko-KR" altLang="en-US" sz="1200" dirty="0"/>
              <a:t>간의 결과가 일치하는데 용이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5E51B-A6DF-EFC0-5637-4DDF26FCF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088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F263-0E21-9225-9B73-5B8B43D7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269540-658D-249F-EED3-79AC4EDDC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7FCEF0-4B46-80C1-75DB-072693342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H=20</a:t>
            </a:r>
            <a:r>
              <a:rPr kumimoji="1" lang="ko-KR" altLang="en-US" dirty="0"/>
              <a:t>인 </a:t>
            </a:r>
            <a:r>
              <a:rPr kumimoji="1" lang="en-US" altLang="ko-KR" dirty="0" err="1"/>
              <a:t>merkle</a:t>
            </a:r>
            <a:r>
              <a:rPr kumimoji="1" lang="en-US" altLang="ko-KR" dirty="0"/>
              <a:t> tree</a:t>
            </a:r>
            <a:r>
              <a:rPr kumimoji="1" lang="ko-KR" altLang="en-US" dirty="0"/>
              <a:t>에 대해서 </a:t>
            </a:r>
            <a:r>
              <a:rPr kumimoji="1" lang="en-US" altLang="ko-KR" dirty="0"/>
              <a:t>leaf</a:t>
            </a:r>
            <a:r>
              <a:rPr kumimoji="1" lang="ko-KR" altLang="en-US" dirty="0"/>
              <a:t>를 하나 바꿨을 때의 </a:t>
            </a:r>
            <a:r>
              <a:rPr kumimoji="1" lang="en-US" altLang="ko-KR" dirty="0"/>
              <a:t>update </a:t>
            </a:r>
            <a:r>
              <a:rPr kumimoji="1" lang="ko-KR" altLang="en-US" dirty="0"/>
              <a:t>과정을 기준으로 </a:t>
            </a:r>
            <a:r>
              <a:rPr kumimoji="1" lang="en-US" altLang="ko-KR" dirty="0"/>
              <a:t>export, witness, proof </a:t>
            </a:r>
            <a:r>
              <a:rPr kumimoji="1" lang="ko-KR" altLang="en-US" dirty="0"/>
              <a:t>생성 시간 비교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*light-</a:t>
            </a:r>
            <a:r>
              <a:rPr lang="en-US" altLang="ko-KR" sz="1200" dirty="0" err="1"/>
              <a:t>poseidon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깃허브에서</a:t>
            </a:r>
            <a:r>
              <a:rPr lang="ko-KR" altLang="en-US" sz="1200" dirty="0"/>
              <a:t> 공개된 </a:t>
            </a:r>
            <a:r>
              <a:rPr lang="en-US" altLang="ko-KR" sz="1200" dirty="0"/>
              <a:t>1</a:t>
            </a:r>
            <a:r>
              <a:rPr lang="ko-KR" altLang="en-US" sz="1200" dirty="0"/>
              <a:t>회 </a:t>
            </a:r>
            <a:r>
              <a:rPr lang="ko-KR" altLang="en-US" sz="1200" dirty="0" err="1"/>
              <a:t>해싱에</a:t>
            </a:r>
            <a:r>
              <a:rPr lang="ko-KR" altLang="en-US" sz="1200" dirty="0"/>
              <a:t> 소요되는 시간은 약 </a:t>
            </a:r>
            <a:r>
              <a:rPr lang="el-GR" altLang="ko-KR" sz="1200" dirty="0"/>
              <a:t>1</a:t>
            </a:r>
            <a:r>
              <a:rPr lang="en-US" altLang="ko-KR" sz="1200" dirty="0"/>
              <a:t>8</a:t>
            </a:r>
            <a:r>
              <a:rPr lang="el-GR" altLang="ko-KR" sz="1200" dirty="0"/>
              <a:t>.</a:t>
            </a:r>
            <a:r>
              <a:rPr lang="en-US" altLang="ko-KR" sz="1200" dirty="0"/>
              <a:t>94</a:t>
            </a:r>
            <a:r>
              <a:rPr lang="el-GR" altLang="ko-KR" sz="1200" dirty="0"/>
              <a:t> μ</a:t>
            </a:r>
            <a:r>
              <a:rPr lang="en-US" altLang="ko-KR" sz="1200" dirty="0"/>
              <a:t>s</a:t>
            </a:r>
            <a:endParaRPr lang="ko-KR" altLang="en-US" sz="1200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A2580A-9813-F14F-F30F-F176EA254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793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D389-CD1F-27CC-E9D5-5049FC39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9C2C7D-DD7E-4BCC-684B-1A79B2469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E1E220-5C80-2293-601D-3247CC50B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71987B-4B6D-3D61-4748-04A359FBE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12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655" y="2463266"/>
            <a:ext cx="10453006" cy="1604508"/>
          </a:xfrm>
        </p:spPr>
        <p:txBody>
          <a:bodyPr lIns="90000" anchor="ctr" anchorCtr="0">
            <a:norm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Off-Chain Latency(2)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774195" y="1666695"/>
            <a:ext cx="2120261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22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FAD6-9CAB-2D54-3746-46D4D5230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BF839-96BB-385C-CCA5-DBE232C4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 anchor="ctr">
            <a:normAutofit/>
          </a:bodyPr>
          <a:lstStyle/>
          <a:p>
            <a:r>
              <a:rPr lang="en-US" altLang="ko-KR" sz="4100"/>
              <a:t>ZK-rollup Interface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626362-C9AE-46E2-EB29-FA8F22816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817" y="1825625"/>
            <a:ext cx="6694365" cy="4351338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971C0AA-269C-ADCA-23D5-A5206C80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8736E57-F90E-408A-B1D8-FC5493EAAE16}" type="slidenum">
              <a:rPr lang="ko-KR" altLang="en-US" smtClean="0"/>
              <a:pPr>
                <a:spcAft>
                  <a:spcPts val="600"/>
                </a:spcAft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645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1BC4-FAA3-5D0E-1025-3B036561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B276F-19C1-425D-C3E1-BC306B10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실험 항목</a:t>
            </a:r>
            <a:endParaRPr lang="en-US" altLang="ko-KR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D765F-8D9E-B227-E126-E149A82BA680}"/>
              </a:ext>
            </a:extLst>
          </p:cNvPr>
          <p:cNvSpPr txBox="1"/>
          <p:nvPr/>
        </p:nvSpPr>
        <p:spPr>
          <a:xfrm>
            <a:off x="557561" y="1657815"/>
            <a:ext cx="1058622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R1CS</a:t>
            </a:r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Off-Chain Latency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89570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580B-6D91-A49A-FCF0-5DBAE206E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37985-FA80-FBE4-AFE1-67595418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R1CS </a:t>
            </a:r>
            <a:r>
              <a:rPr lang="ko-KR" altLang="en-US" sz="4000" dirty="0"/>
              <a:t>측정</a:t>
            </a:r>
            <a:endParaRPr lang="en-US" altLang="ko-KR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A2B40-1FDD-B1D0-3C5D-EF2CBD53F08E}"/>
              </a:ext>
            </a:extLst>
          </p:cNvPr>
          <p:cNvSpPr txBox="1"/>
          <p:nvPr/>
        </p:nvSpPr>
        <p:spPr>
          <a:xfrm>
            <a:off x="557561" y="1635512"/>
            <a:ext cx="10586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R1CS </a:t>
            </a:r>
            <a:r>
              <a:rPr lang="ko-KR" altLang="en-US" b="1" dirty="0"/>
              <a:t>측정 결과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85CD63-F72A-CB2E-1A1D-8B2FFC9D1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306950"/>
              </p:ext>
            </p:extLst>
          </p:nvPr>
        </p:nvGraphicFramePr>
        <p:xfrm>
          <a:off x="686419" y="2580683"/>
          <a:ext cx="10940585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117">
                  <a:extLst>
                    <a:ext uri="{9D8B030D-6E8A-4147-A177-3AD203B41FA5}">
                      <a16:colId xmlns:a16="http://schemas.microsoft.com/office/drawing/2014/main" val="2222981223"/>
                    </a:ext>
                  </a:extLst>
                </a:gridCol>
                <a:gridCol w="2188117">
                  <a:extLst>
                    <a:ext uri="{9D8B030D-6E8A-4147-A177-3AD203B41FA5}">
                      <a16:colId xmlns:a16="http://schemas.microsoft.com/office/drawing/2014/main" val="270204220"/>
                    </a:ext>
                  </a:extLst>
                </a:gridCol>
                <a:gridCol w="2188117">
                  <a:extLst>
                    <a:ext uri="{9D8B030D-6E8A-4147-A177-3AD203B41FA5}">
                      <a16:colId xmlns:a16="http://schemas.microsoft.com/office/drawing/2014/main" val="1755230930"/>
                    </a:ext>
                  </a:extLst>
                </a:gridCol>
                <a:gridCol w="2188117">
                  <a:extLst>
                    <a:ext uri="{9D8B030D-6E8A-4147-A177-3AD203B41FA5}">
                      <a16:colId xmlns:a16="http://schemas.microsoft.com/office/drawing/2014/main" val="628695811"/>
                    </a:ext>
                  </a:extLst>
                </a:gridCol>
                <a:gridCol w="2188117">
                  <a:extLst>
                    <a:ext uri="{9D8B030D-6E8A-4147-A177-3AD203B41FA5}">
                      <a16:colId xmlns:a16="http://schemas.microsoft.com/office/drawing/2014/main" val="2811575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단위 회로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97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Poseidon(2)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PoseidonEx</a:t>
                      </a:r>
                      <a:r>
                        <a:rPr lang="en-US" altLang="ko-KR" dirty="0"/>
                        <a:t>(2,2)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692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Num2Bits(254)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BitAgg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 Num2Bits*2 + Slicing + </a:t>
                      </a:r>
                      <a:r>
                        <a:rPr lang="en-US" altLang="ko-KR" dirty="0" err="1"/>
                        <a:t>Concat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2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41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0BB1FE-6086-F2A6-8C2E-D4872105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C9D83-289C-0B19-4A1D-667518D3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Off-Chain Latency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B491C-B35B-6F9A-AE72-56D76C22E571}"/>
              </a:ext>
            </a:extLst>
          </p:cNvPr>
          <p:cNvSpPr txBox="1"/>
          <p:nvPr/>
        </p:nvSpPr>
        <p:spPr>
          <a:xfrm>
            <a:off x="557561" y="1657815"/>
            <a:ext cx="105862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Off-Chain Latency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Merkle Tree</a:t>
            </a:r>
            <a:r>
              <a:rPr lang="ko-KR" altLang="en-US" sz="1400" dirty="0"/>
              <a:t>의 </a:t>
            </a:r>
            <a:r>
              <a:rPr lang="en-US" altLang="ko-KR" sz="1400" dirty="0"/>
              <a:t>Leaf</a:t>
            </a:r>
            <a:r>
              <a:rPr lang="ko-KR" altLang="en-US" sz="1400" dirty="0"/>
              <a:t> </a:t>
            </a:r>
            <a:r>
              <a:rPr lang="en-US" altLang="ko-KR" sz="1400" dirty="0"/>
              <a:t>Poseidon Hashing</a:t>
            </a:r>
            <a:r>
              <a:rPr lang="ko-KR" altLang="en-US" sz="1400" dirty="0"/>
              <a:t>부터 </a:t>
            </a:r>
            <a:r>
              <a:rPr lang="en-US" altLang="ko-KR" sz="1400" dirty="0"/>
              <a:t>Proof </a:t>
            </a:r>
            <a:r>
              <a:rPr lang="ko-KR" altLang="en-US" sz="1400" dirty="0"/>
              <a:t>생성까지의 소요되는 시간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</a:t>
            </a:r>
            <a:r>
              <a:rPr lang="ko-KR" altLang="en-US" sz="1400" dirty="0"/>
              <a:t>의 </a:t>
            </a:r>
            <a:r>
              <a:rPr lang="en-US" altLang="ko-KR" sz="1400" dirty="0"/>
              <a:t>criterion(</a:t>
            </a:r>
            <a:r>
              <a:rPr lang="ko-KR" altLang="en-US" sz="1400" dirty="0"/>
              <a:t>통계 기반 벤치마크 도구</a:t>
            </a:r>
            <a:r>
              <a:rPr lang="en-US" altLang="ko-KR" sz="1400" dirty="0"/>
              <a:t>, ns</a:t>
            </a:r>
            <a:r>
              <a:rPr lang="ko-KR" altLang="en-US" sz="1400" dirty="0"/>
              <a:t>단위의 정확한 측정 가능</a:t>
            </a:r>
            <a:r>
              <a:rPr lang="en-US" altLang="ko-KR" sz="1400" dirty="0"/>
              <a:t>)</a:t>
            </a:r>
            <a:r>
              <a:rPr lang="ko-KR" altLang="en-US" sz="1400" dirty="0"/>
              <a:t>을 사용하거나 </a:t>
            </a:r>
            <a:r>
              <a:rPr lang="en-US" altLang="ko-KR" sz="1400" dirty="0"/>
              <a:t>C++</a:t>
            </a:r>
            <a:r>
              <a:rPr lang="ko-KR" altLang="en-US" sz="1400" dirty="0"/>
              <a:t>의 </a:t>
            </a:r>
            <a:r>
              <a:rPr lang="en-US" altLang="ko-KR" sz="1400" dirty="0"/>
              <a:t>Google Benchmark</a:t>
            </a:r>
            <a:r>
              <a:rPr lang="ko-KR" altLang="en-US" sz="1400" dirty="0"/>
              <a:t>를 사용하여 측정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6CF879-9D6C-1BA1-7AB3-7FB873B5B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84" y="3069341"/>
            <a:ext cx="2837484" cy="32323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7B02B3-456E-07EB-4010-438E9C90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806" y="3069340"/>
            <a:ext cx="2837484" cy="3265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76325-7095-6CEC-A86D-B32E2D4E8799}"/>
              </a:ext>
            </a:extLst>
          </p:cNvPr>
          <p:cNvSpPr txBox="1"/>
          <p:nvPr/>
        </p:nvSpPr>
        <p:spPr>
          <a:xfrm>
            <a:off x="1542586" y="6346756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15173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BF7DE6-C72D-8542-6B0B-9B068A8F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BB3C-D166-51CC-B759-DEB8B329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Off-Chain Latency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4707D-548E-3AC2-5DA6-151E72B87D99}"/>
              </a:ext>
            </a:extLst>
          </p:cNvPr>
          <p:cNvSpPr txBox="1"/>
          <p:nvPr/>
        </p:nvSpPr>
        <p:spPr>
          <a:xfrm>
            <a:off x="516672" y="1681852"/>
            <a:ext cx="10586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Off-Chain Latency </a:t>
            </a:r>
            <a:r>
              <a:rPr lang="ko-KR" altLang="en-US" b="1" dirty="0"/>
              <a:t>측정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Off-Chain</a:t>
            </a:r>
            <a:r>
              <a:rPr lang="ko-KR" altLang="en-US" sz="1400" dirty="0"/>
              <a:t> </a:t>
            </a:r>
            <a:r>
              <a:rPr lang="en-US" altLang="ko-KR" sz="1400" dirty="0"/>
              <a:t>Flow</a:t>
            </a:r>
            <a:r>
              <a:rPr lang="ko-KR" altLang="en-US" sz="1400" dirty="0"/>
              <a:t> </a:t>
            </a:r>
            <a:r>
              <a:rPr lang="en-US" altLang="ko-KR" sz="1400" dirty="0"/>
              <a:t>: Merkle Root </a:t>
            </a:r>
            <a:r>
              <a:rPr lang="ko-KR" altLang="en-US" sz="1400" dirty="0"/>
              <a:t>계산 </a:t>
            </a:r>
            <a:r>
              <a:rPr lang="en-US" altLang="ko-KR" sz="1400" dirty="0"/>
              <a:t>-&gt; Export -&gt; Witness </a:t>
            </a:r>
            <a:r>
              <a:rPr lang="ko-KR" altLang="en-US" sz="1400" dirty="0"/>
              <a:t>생성 </a:t>
            </a:r>
            <a:r>
              <a:rPr lang="en-US" altLang="ko-KR" sz="1400" dirty="0"/>
              <a:t>-&gt; Proof 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 언어 </a:t>
            </a:r>
            <a:r>
              <a:rPr lang="en-US" altLang="ko-KR" sz="1400" dirty="0"/>
              <a:t>: Rust, </a:t>
            </a:r>
            <a:r>
              <a:rPr lang="en-US" altLang="ko-KR" sz="1400" dirty="0" err="1"/>
              <a:t>Circom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Poseidon hashing</a:t>
            </a:r>
            <a:r>
              <a:rPr lang="ko-KR" altLang="en-US" sz="1400" dirty="0"/>
              <a:t>은 </a:t>
            </a:r>
            <a:r>
              <a:rPr lang="en-US" altLang="ko-KR" sz="1400" dirty="0"/>
              <a:t>Rust</a:t>
            </a:r>
            <a:r>
              <a:rPr lang="ko-KR" altLang="en-US" sz="1400" dirty="0"/>
              <a:t>의 </a:t>
            </a:r>
            <a:r>
              <a:rPr lang="en-US" altLang="ko-KR" sz="1400" dirty="0"/>
              <a:t>light-</a:t>
            </a:r>
            <a:r>
              <a:rPr lang="en-US" altLang="ko-KR" sz="1400" dirty="0" err="1"/>
              <a:t>poseidon</a:t>
            </a:r>
            <a:r>
              <a:rPr lang="ko-KR" altLang="en-US" sz="1400" dirty="0"/>
              <a:t> 라이브러리 사용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Canonical Export</a:t>
            </a:r>
            <a:r>
              <a:rPr lang="ko-KR" altLang="en-US" sz="1400" dirty="0"/>
              <a:t>와 </a:t>
            </a:r>
            <a:r>
              <a:rPr lang="en-US" altLang="ko-KR" sz="1400" dirty="0"/>
              <a:t>Strategy1 </a:t>
            </a:r>
            <a:r>
              <a:rPr lang="ko-KR" altLang="en-US" sz="1400" dirty="0"/>
              <a:t>측정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48080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A5F063-7C1A-5E4F-91B8-7639FEA9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6A1DE-7BBB-5519-3A99-722D007A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Off-Chain Latency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EBAD7-D2FA-B628-6C6D-0EC47D094A6B}"/>
              </a:ext>
            </a:extLst>
          </p:cNvPr>
          <p:cNvSpPr txBox="1"/>
          <p:nvPr/>
        </p:nvSpPr>
        <p:spPr>
          <a:xfrm>
            <a:off x="516672" y="1681852"/>
            <a:ext cx="1058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공통 </a:t>
            </a:r>
            <a:r>
              <a:rPr lang="en-US" altLang="ko-KR" b="1" dirty="0"/>
              <a:t>Latency –</a:t>
            </a:r>
            <a:r>
              <a:rPr lang="ko-KR" altLang="en-US" b="1" dirty="0"/>
              <a:t> </a:t>
            </a:r>
            <a:r>
              <a:rPr lang="en-US" altLang="ko-KR" b="1" dirty="0"/>
              <a:t>Merkel</a:t>
            </a:r>
            <a:r>
              <a:rPr lang="ko-KR" altLang="en-US" b="1" dirty="0"/>
              <a:t> </a:t>
            </a:r>
            <a:r>
              <a:rPr lang="en-US" altLang="ko-KR" b="1" dirty="0"/>
              <a:t>Root</a:t>
            </a:r>
            <a:r>
              <a:rPr lang="ko-KR" altLang="en-US" b="1" dirty="0"/>
              <a:t> </a:t>
            </a:r>
            <a:r>
              <a:rPr lang="en-US" altLang="ko-KR" b="1" dirty="0"/>
              <a:t>update time </a:t>
            </a:r>
            <a:r>
              <a:rPr lang="ko-KR" altLang="en-US" b="1" dirty="0"/>
              <a:t>계산</a:t>
            </a:r>
            <a:endParaRPr lang="en-US" altLang="ko-KR" b="1" dirty="0"/>
          </a:p>
          <a:p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12D1AF3-DDFC-199D-E43F-B7C4636E8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476726"/>
              </p:ext>
            </p:extLst>
          </p:nvPr>
        </p:nvGraphicFramePr>
        <p:xfrm>
          <a:off x="350329" y="2167459"/>
          <a:ext cx="11491342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342">
                  <a:extLst>
                    <a:ext uri="{9D8B030D-6E8A-4147-A177-3AD203B41FA5}">
                      <a16:colId xmlns:a16="http://schemas.microsoft.com/office/drawing/2014/main" val="7224945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787765658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79931158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956720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985558478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644068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단일 </a:t>
                      </a:r>
                      <a:r>
                        <a:rPr lang="en-US" altLang="ko-KR" sz="1400" dirty="0"/>
                        <a:t>Poseidon hash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 = 10</a:t>
                      </a:r>
                      <a:r>
                        <a:rPr lang="ko-KR" altLang="en-US" sz="1400" dirty="0"/>
                        <a:t>인 </a:t>
                      </a:r>
                      <a:r>
                        <a:rPr lang="en-US" altLang="ko-KR" sz="1400" dirty="0"/>
                        <a:t>Merkle Tree, </a:t>
                      </a:r>
                      <a:r>
                        <a:rPr lang="ko-KR" altLang="en-US" sz="1400" dirty="0"/>
                        <a:t>단일 </a:t>
                      </a:r>
                      <a:r>
                        <a:rPr lang="en-US" altLang="ko-KR" sz="1400" dirty="0"/>
                        <a:t>leaf update</a:t>
                      </a:r>
                      <a:endParaRPr lang="ko-KR" alt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 = 20</a:t>
                      </a:r>
                      <a:r>
                        <a:rPr lang="ko-KR" altLang="en-US" sz="1400" dirty="0"/>
                        <a:t>인 </a:t>
                      </a:r>
                      <a:r>
                        <a:rPr lang="en-US" altLang="ko-KR" sz="1400" dirty="0"/>
                        <a:t>Merkle Tree, </a:t>
                      </a:r>
                      <a:r>
                        <a:rPr lang="ko-KR" altLang="en-US" sz="1400" dirty="0"/>
                        <a:t>단일 </a:t>
                      </a:r>
                      <a:r>
                        <a:rPr lang="en-US" altLang="ko-KR" sz="1400" dirty="0"/>
                        <a:t>leaf update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 = 10</a:t>
                      </a:r>
                      <a:r>
                        <a:rPr lang="ko-KR" altLang="en-US" sz="1400" dirty="0"/>
                        <a:t>인 </a:t>
                      </a:r>
                      <a:r>
                        <a:rPr lang="en-US" altLang="ko-KR" sz="1400" dirty="0"/>
                        <a:t>Merkle Tree, </a:t>
                      </a:r>
                      <a:r>
                        <a:rPr lang="ko-KR" altLang="en-US" sz="1400" dirty="0"/>
                        <a:t>모든 </a:t>
                      </a:r>
                      <a:r>
                        <a:rPr lang="en-US" altLang="ko-KR" sz="1400" dirty="0"/>
                        <a:t>leaf update</a:t>
                      </a:r>
                      <a:endParaRPr lang="ko-KR" alt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 = 20</a:t>
                      </a:r>
                      <a:r>
                        <a:rPr lang="ko-KR" altLang="en-US" sz="1400" dirty="0"/>
                        <a:t>인 </a:t>
                      </a:r>
                      <a:r>
                        <a:rPr lang="en-US" altLang="ko-KR" sz="1400" dirty="0"/>
                        <a:t>Merkle Tree, </a:t>
                      </a:r>
                      <a:r>
                        <a:rPr lang="ko-KR" altLang="en-US" sz="1400" dirty="0"/>
                        <a:t>모든 </a:t>
                      </a:r>
                      <a:r>
                        <a:rPr lang="en-US" altLang="ko-KR" sz="1400" dirty="0"/>
                        <a:t>leaf update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43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Poseidon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hashing </a:t>
                      </a:r>
                      <a:r>
                        <a:rPr lang="ko-KR" altLang="en-US" sz="1400" dirty="0"/>
                        <a:t>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1,023</a:t>
                      </a:r>
                      <a:r>
                        <a:rPr lang="ko-KR" altLang="en-US" sz="1400" dirty="0"/>
                        <a:t>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1,048,575</a:t>
                      </a:r>
                      <a:r>
                        <a:rPr lang="ko-KR" altLang="en-US" sz="1400" dirty="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65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</a:t>
                      </a:r>
                      <a:r>
                        <a:rPr lang="el-GR" altLang="ko-KR" sz="1400" dirty="0"/>
                        <a:t>1683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0.16447ms</a:t>
                      </a:r>
                      <a:endParaRPr lang="ko-KR" alt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0.33558ms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19.19ms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19,690ms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40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Poseidon hashing 1</a:t>
                      </a:r>
                      <a:r>
                        <a:rPr lang="ko-KR" altLang="en-US" sz="1400" dirty="0"/>
                        <a:t>회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</a:t>
                      </a:r>
                      <a:r>
                        <a:rPr lang="el-GR" altLang="ko-KR" sz="1400" dirty="0"/>
                        <a:t>1683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</a:t>
                      </a:r>
                      <a:r>
                        <a:rPr lang="el-GR" altLang="ko-KR" sz="1400" dirty="0"/>
                        <a:t>16</a:t>
                      </a:r>
                      <a:r>
                        <a:rPr lang="en-US" altLang="ko-KR" sz="1400" dirty="0"/>
                        <a:t>75ms</a:t>
                      </a:r>
                      <a:endParaRPr lang="ko-KR" alt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</a:t>
                      </a:r>
                      <a:r>
                        <a:rPr lang="el-GR" altLang="ko-KR" sz="1400" dirty="0"/>
                        <a:t>16</a:t>
                      </a:r>
                      <a:r>
                        <a:rPr lang="en-US" altLang="ko-KR" sz="1400" dirty="0"/>
                        <a:t>78ms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</a:t>
                      </a:r>
                      <a:r>
                        <a:rPr lang="el-GR" altLang="ko-KR" sz="1400" dirty="0"/>
                        <a:t>1</a:t>
                      </a:r>
                      <a:r>
                        <a:rPr lang="en-US" altLang="ko-KR" sz="1400" dirty="0"/>
                        <a:t>875ms</a:t>
                      </a:r>
                      <a:endParaRPr lang="ko-KR" alt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0.018</a:t>
                      </a:r>
                      <a:r>
                        <a:rPr lang="el-GR" altLang="ko-KR" sz="1400" dirty="0"/>
                        <a:t>.</a:t>
                      </a:r>
                      <a:r>
                        <a:rPr lang="en-US" altLang="ko-KR" sz="1400" dirty="0"/>
                        <a:t>78ms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8133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B53F54-8137-8679-9550-8773A135E858}"/>
                  </a:ext>
                </a:extLst>
              </p:cNvPr>
              <p:cNvSpPr txBox="1"/>
              <p:nvPr/>
            </p:nvSpPr>
            <p:spPr>
              <a:xfrm>
                <a:off x="350329" y="4343524"/>
                <a:ext cx="10586224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+mj-lt"/>
                  </a:rPr>
                  <a:t>Poseidon Hashing 1</a:t>
                </a:r>
                <a:r>
                  <a:rPr lang="ko-KR" altLang="en-US" sz="1400" dirty="0">
                    <a:latin typeface="+mj-lt"/>
                  </a:rPr>
                  <a:t>회에 소요되는 시간은 </a:t>
                </a:r>
                <a:r>
                  <a:rPr lang="ko-KR" altLang="en-US" sz="1400" dirty="0" err="1">
                    <a:latin typeface="+mj-lt"/>
                  </a:rPr>
                  <a:t>비슷</a:t>
                </a:r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𝑃𝑜𝑠𝑒𝑖𝑑𝑜𝑛</m:t>
                        </m:r>
                      </m:sub>
                    </m:sSub>
                  </m:oMath>
                </a14:m>
                <a:endParaRPr lang="en-US" altLang="ko-KR" sz="1400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1400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altLang="ko-KR" sz="1400" dirty="0"/>
                  <a:t> : Merkle Tree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Leaf </a:t>
                </a:r>
                <a:r>
                  <a:rPr lang="ko-KR" altLang="en-US" sz="1400" dirty="0"/>
                  <a:t>값이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개 </a:t>
                </a:r>
                <a:r>
                  <a:rPr lang="en-US" altLang="ko-KR" sz="1400" dirty="0"/>
                  <a:t>update </a:t>
                </a:r>
                <a:r>
                  <a:rPr lang="ko-KR" altLang="en-US" sz="1400" dirty="0"/>
                  <a:t>되었을 때</a:t>
                </a:r>
                <a:r>
                  <a:rPr lang="en-US" altLang="ko-KR" sz="1400" dirty="0"/>
                  <a:t>, Root</a:t>
                </a:r>
                <a:r>
                  <a:rPr lang="ko-KR" altLang="en-US" sz="1400" dirty="0"/>
                  <a:t>값까지 </a:t>
                </a:r>
                <a:r>
                  <a:rPr lang="en-US" altLang="ko-KR" sz="1400" dirty="0"/>
                  <a:t>update</a:t>
                </a:r>
                <a:r>
                  <a:rPr lang="ko-KR" altLang="en-US" sz="1400" dirty="0"/>
                  <a:t>되는데 소요되는 시간</a:t>
                </a:r>
                <a:endParaRPr lang="en-US" altLang="ko-KR" sz="1400" dirty="0"/>
              </a:p>
              <a:p>
                <a:r>
                  <a:rPr lang="en-US" altLang="ko-KR" sz="1400" dirty="0">
                    <a:ea typeface="Cambria Math" panose="02040503050406030204" pitchFamily="18" charset="0"/>
                  </a:rPr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𝑃𝑜𝑠𝑒𝑖𝑑𝑜𝑛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: Poseidon </a:t>
                </a:r>
                <a:r>
                  <a:rPr lang="ko-KR" altLang="en-US" sz="1400" dirty="0"/>
                  <a:t>단일 </a:t>
                </a:r>
                <a:r>
                  <a:rPr lang="en-US" altLang="ko-KR" sz="1400" dirty="0"/>
                  <a:t>hashing </a:t>
                </a:r>
                <a:r>
                  <a:rPr lang="ko-KR" altLang="en-US" sz="1400" dirty="0"/>
                  <a:t>소요 시간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B53F54-8137-8679-9550-8773A135E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29" y="4343524"/>
                <a:ext cx="10586224" cy="1600438"/>
              </a:xfrm>
              <a:prstGeom prst="rect">
                <a:avLst/>
              </a:prstGeom>
              <a:blipFill>
                <a:blip r:embed="rId3"/>
                <a:stretch>
                  <a:fillRect l="-173" t="-1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C64F2E49-F5A1-BEB9-1D38-B311B2FD54E9}"/>
              </a:ext>
            </a:extLst>
          </p:cNvPr>
          <p:cNvSpPr/>
          <p:nvPr/>
        </p:nvSpPr>
        <p:spPr>
          <a:xfrm>
            <a:off x="5902711" y="2152271"/>
            <a:ext cx="1947747" cy="19405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42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122148-BA2C-AB32-6457-E522AAE0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6E051-41FA-710F-A885-520B320D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Off-Chain Latency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5E4D7-6217-8368-2E53-C63E2388C14D}"/>
              </a:ext>
            </a:extLst>
          </p:cNvPr>
          <p:cNvSpPr txBox="1"/>
          <p:nvPr/>
        </p:nvSpPr>
        <p:spPr>
          <a:xfrm>
            <a:off x="477646" y="1627946"/>
            <a:ext cx="1058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Export Latency, Witness </a:t>
            </a:r>
            <a:r>
              <a:rPr lang="ko-KR" altLang="en-US" sz="1600" b="1" dirty="0"/>
              <a:t>생성 시간</a:t>
            </a:r>
            <a:r>
              <a:rPr lang="en-US" altLang="ko-KR" sz="1600" b="1" dirty="0"/>
              <a:t>, Proof </a:t>
            </a:r>
            <a:r>
              <a:rPr lang="ko-KR" altLang="en-US" sz="1600" b="1" dirty="0"/>
              <a:t>생성 시간 비교 </a:t>
            </a:r>
            <a:endParaRPr lang="en-US" altLang="ko-KR" sz="1600" b="1" dirty="0"/>
          </a:p>
          <a:p>
            <a:endParaRPr lang="en-US" altLang="ko-KR" sz="16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46F8D2-677B-3092-A43C-01BB0B09C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968249"/>
              </p:ext>
            </p:extLst>
          </p:nvPr>
        </p:nvGraphicFramePr>
        <p:xfrm>
          <a:off x="477646" y="2220688"/>
          <a:ext cx="11606562" cy="1504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518">
                  <a:extLst>
                    <a:ext uri="{9D8B030D-6E8A-4147-A177-3AD203B41FA5}">
                      <a16:colId xmlns:a16="http://schemas.microsoft.com/office/drawing/2014/main" val="72249451"/>
                    </a:ext>
                  </a:extLst>
                </a:gridCol>
                <a:gridCol w="1733174">
                  <a:extLst>
                    <a:ext uri="{9D8B030D-6E8A-4147-A177-3AD203B41FA5}">
                      <a16:colId xmlns:a16="http://schemas.microsoft.com/office/drawing/2014/main" val="787765658"/>
                    </a:ext>
                  </a:extLst>
                </a:gridCol>
                <a:gridCol w="1733174">
                  <a:extLst>
                    <a:ext uri="{9D8B030D-6E8A-4147-A177-3AD203B41FA5}">
                      <a16:colId xmlns:a16="http://schemas.microsoft.com/office/drawing/2014/main" val="2799311589"/>
                    </a:ext>
                  </a:extLst>
                </a:gridCol>
                <a:gridCol w="1733174">
                  <a:extLst>
                    <a:ext uri="{9D8B030D-6E8A-4147-A177-3AD203B41FA5}">
                      <a16:colId xmlns:a16="http://schemas.microsoft.com/office/drawing/2014/main" val="3518706002"/>
                    </a:ext>
                  </a:extLst>
                </a:gridCol>
                <a:gridCol w="1733174">
                  <a:extLst>
                    <a:ext uri="{9D8B030D-6E8A-4147-A177-3AD203B41FA5}">
                      <a16:colId xmlns:a16="http://schemas.microsoft.com/office/drawing/2014/main" val="2548532043"/>
                    </a:ext>
                  </a:extLst>
                </a:gridCol>
                <a:gridCol w="1733174">
                  <a:extLst>
                    <a:ext uri="{9D8B030D-6E8A-4147-A177-3AD203B41FA5}">
                      <a16:colId xmlns:a16="http://schemas.microsoft.com/office/drawing/2014/main" val="1790889028"/>
                    </a:ext>
                  </a:extLst>
                </a:gridCol>
                <a:gridCol w="1733174">
                  <a:extLst>
                    <a:ext uri="{9D8B030D-6E8A-4147-A177-3AD203B41FA5}">
                      <a16:colId xmlns:a16="http://schemas.microsoft.com/office/drawing/2014/main" val="1805995660"/>
                    </a:ext>
                  </a:extLst>
                </a:gridCol>
              </a:tblGrid>
              <a:tr h="47462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Canonical Export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44472"/>
                  </a:ext>
                </a:extLst>
              </a:tr>
              <a:tr h="511798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Export Latency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Witness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Proof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Export Latency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Witness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Proof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435684"/>
                  </a:ext>
                </a:extLst>
              </a:tr>
              <a:tr h="511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0.00003604ms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(36.04 ns)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85.01ms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470.89ms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0.00006917ms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(69.17 ns)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86.03ms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478.86ms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6585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180FD7-B147-824A-1EEF-2261C02FE623}"/>
              </a:ext>
            </a:extLst>
          </p:cNvPr>
          <p:cNvSpPr txBox="1"/>
          <p:nvPr/>
        </p:nvSpPr>
        <p:spPr>
          <a:xfrm>
            <a:off x="613316" y="3909579"/>
            <a:ext cx="464262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/>
              <a:t>추가 측정</a:t>
            </a:r>
            <a:endParaRPr lang="en-US" altLang="ko-KR" sz="1300" dirty="0"/>
          </a:p>
          <a:p>
            <a:pPr marL="285750" indent="-285750">
              <a:buFontTx/>
              <a:buChar char="-"/>
            </a:pPr>
            <a:r>
              <a:rPr lang="en-US" altLang="ko-KR" sz="1300" dirty="0"/>
              <a:t>Root update + export </a:t>
            </a:r>
            <a:r>
              <a:rPr lang="ko-KR" altLang="en-US" sz="1300" dirty="0"/>
              <a:t>소요 시간</a:t>
            </a:r>
            <a:endParaRPr lang="en-US" altLang="ko-KR" sz="13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Canonical Export : 0.016848ms(16.848</a:t>
            </a:r>
            <a:r>
              <a:rPr lang="el-GR" altLang="ko-KR" sz="1300" dirty="0"/>
              <a:t>μ</a:t>
            </a:r>
            <a:r>
              <a:rPr lang="en-US" altLang="ko-KR" sz="1300" dirty="0"/>
              <a:t>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Strategy 1 : 0.016833ms(16.833</a:t>
            </a:r>
            <a:r>
              <a:rPr lang="el-GR" altLang="ko-KR" sz="1300" dirty="0"/>
              <a:t>μ</a:t>
            </a:r>
            <a:r>
              <a:rPr lang="en-US" altLang="ko-KR" sz="1300" dirty="0"/>
              <a:t>s)</a:t>
            </a:r>
          </a:p>
          <a:p>
            <a:pPr marL="285750" indent="-285750">
              <a:buFontTx/>
              <a:buChar char="-"/>
            </a:pPr>
            <a:endParaRPr lang="en-US" altLang="ko-KR" sz="1300" dirty="0"/>
          </a:p>
          <a:p>
            <a:pPr marL="285750" indent="-285750">
              <a:buFontTx/>
              <a:buChar char="-"/>
            </a:pPr>
            <a:r>
              <a:rPr lang="en-US" altLang="ko-KR" sz="1300" dirty="0"/>
              <a:t>witness </a:t>
            </a:r>
            <a:r>
              <a:rPr lang="ko-KR" altLang="en-US" sz="1300" dirty="0"/>
              <a:t>생성 </a:t>
            </a:r>
            <a:r>
              <a:rPr lang="en-US" altLang="ko-KR" sz="1300" dirty="0"/>
              <a:t>+ proof </a:t>
            </a:r>
            <a:r>
              <a:rPr lang="ko-KR" altLang="en-US" sz="1300" dirty="0"/>
              <a:t>생성 소요 시간</a:t>
            </a:r>
            <a:endParaRPr lang="en-US" altLang="ko-KR" sz="13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Canonical Export : 492.26ms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Strategy 1 : 501.48ms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5BFA0-4A01-2A6E-2E39-FB180823E5DF}"/>
              </a:ext>
            </a:extLst>
          </p:cNvPr>
          <p:cNvSpPr txBox="1"/>
          <p:nvPr/>
        </p:nvSpPr>
        <p:spPr>
          <a:xfrm>
            <a:off x="5664817" y="3912806"/>
            <a:ext cx="63636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결과</a:t>
            </a:r>
            <a:endParaRPr lang="en-US" altLang="ko-KR" sz="1400" b="1" dirty="0"/>
          </a:p>
          <a:p>
            <a:endParaRPr lang="en-US" altLang="ko-KR" sz="1400" dirty="0"/>
          </a:p>
          <a:p>
            <a:pPr marL="342900" indent="-342900">
              <a:buFontTx/>
              <a:buAutoNum type="arabicPeriod"/>
            </a:pPr>
            <a:r>
              <a:rPr lang="en-US" altLang="ko-KR" sz="1400" dirty="0"/>
              <a:t>Export Latency</a:t>
            </a:r>
            <a:r>
              <a:rPr lang="ko-KR" altLang="en-US" sz="1400" dirty="0"/>
              <a:t>는 </a:t>
            </a:r>
            <a:r>
              <a:rPr lang="en-US" altLang="ko-KR" sz="1400" dirty="0"/>
              <a:t>Strategy1</a:t>
            </a:r>
            <a:r>
              <a:rPr lang="ko-KR" altLang="en-US" sz="1400" dirty="0"/>
              <a:t>이 </a:t>
            </a:r>
            <a:r>
              <a:rPr lang="en-US" altLang="ko-KR" sz="1400" dirty="0"/>
              <a:t>Canonical Export</a:t>
            </a:r>
            <a:r>
              <a:rPr lang="ko-KR" altLang="en-US" sz="1400" dirty="0"/>
              <a:t>보다 약 </a:t>
            </a:r>
            <a:r>
              <a:rPr lang="en-US" altLang="ko-KR" sz="1400" dirty="0"/>
              <a:t>33ns </a:t>
            </a:r>
            <a:r>
              <a:rPr lang="ko-KR" altLang="en-US" sz="1400" dirty="0"/>
              <a:t>더 소요됨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Witness </a:t>
            </a:r>
            <a:r>
              <a:rPr lang="ko-KR" altLang="en-US" sz="1400" dirty="0"/>
              <a:t>생성은 </a:t>
            </a:r>
            <a:r>
              <a:rPr lang="en-US" altLang="ko-KR" sz="1400" dirty="0"/>
              <a:t>Strategy1</a:t>
            </a:r>
            <a:r>
              <a:rPr lang="ko-KR" altLang="en-US" sz="1400" dirty="0"/>
              <a:t>이 </a:t>
            </a:r>
            <a:r>
              <a:rPr lang="en-US" altLang="ko-KR" sz="1400" dirty="0"/>
              <a:t>Canonical Export</a:t>
            </a:r>
            <a:r>
              <a:rPr lang="ko-KR" altLang="en-US" sz="1400" dirty="0"/>
              <a:t>보다 </a:t>
            </a:r>
            <a:r>
              <a:rPr lang="en-US" altLang="ko-KR" sz="1400" dirty="0"/>
              <a:t>1ms </a:t>
            </a:r>
            <a:r>
              <a:rPr lang="ko-KR" altLang="en-US" sz="1400" dirty="0"/>
              <a:t>더 소요됨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Proof </a:t>
            </a:r>
            <a:r>
              <a:rPr lang="ko-KR" altLang="en-US" sz="1400" dirty="0"/>
              <a:t>생성은 </a:t>
            </a:r>
            <a:r>
              <a:rPr lang="en-US" altLang="ko-KR" sz="1400" dirty="0"/>
              <a:t>Strategy1</a:t>
            </a:r>
            <a:r>
              <a:rPr lang="ko-KR" altLang="en-US" sz="1400" dirty="0"/>
              <a:t>이 </a:t>
            </a:r>
            <a:r>
              <a:rPr lang="en-US" altLang="ko-KR" sz="1400" dirty="0"/>
              <a:t>Canonical Export</a:t>
            </a:r>
            <a:r>
              <a:rPr lang="ko-KR" altLang="en-US" sz="1400" dirty="0"/>
              <a:t>보다 </a:t>
            </a:r>
            <a:r>
              <a:rPr lang="en-US" altLang="ko-KR" sz="1400" dirty="0"/>
              <a:t>8ms </a:t>
            </a:r>
            <a:r>
              <a:rPr lang="ko-KR" altLang="en-US" sz="1400" dirty="0"/>
              <a:t>더 소요됨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1719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24381</TotalTime>
  <Words>674</Words>
  <Application>Microsoft Office PowerPoint</Application>
  <PresentationFormat>와이드스크린</PresentationFormat>
  <Paragraphs>124</Paragraphs>
  <Slides>8</Slides>
  <Notes>8</Notes>
  <HiddenSlides>4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Poseidon Off-Chain Latency(2)</vt:lpstr>
      <vt:lpstr>ZK-rollup Interface</vt:lpstr>
      <vt:lpstr>실험 항목</vt:lpstr>
      <vt:lpstr>R1CS 측정</vt:lpstr>
      <vt:lpstr>Off-Chain Latency</vt:lpstr>
      <vt:lpstr>Off-Chain Latency</vt:lpstr>
      <vt:lpstr>Off-Chain Latency</vt:lpstr>
      <vt:lpstr>Off-Chain Latency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2612</cp:revision>
  <dcterms:created xsi:type="dcterms:W3CDTF">2023-03-06T16:32:37Z</dcterms:created>
  <dcterms:modified xsi:type="dcterms:W3CDTF">2026-05-23T08:49:57Z</dcterms:modified>
</cp:coreProperties>
</file>