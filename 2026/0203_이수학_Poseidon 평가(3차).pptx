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6"/>
  </p:notesMasterIdLst>
  <p:sldIdLst>
    <p:sldId id="256" r:id="rId2"/>
    <p:sldId id="353" r:id="rId3"/>
    <p:sldId id="355" r:id="rId4"/>
    <p:sldId id="3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CC00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>
        <p:scale>
          <a:sx n="50" d="100"/>
          <a:sy n="50" d="100"/>
        </p:scale>
        <p:origin x="33" y="51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3CB0-6863-6542-FECD-1E20AF78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5E6082-3CED-E109-6BBC-72402E04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2DD7D1-486B-6BA2-C1D2-F554880D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*Poseidon</a:t>
            </a:r>
            <a:r>
              <a:rPr lang="ko-KR" altLang="en-US" dirty="0"/>
              <a:t>에서는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libsnark</a:t>
            </a:r>
            <a:r>
              <a:rPr lang="en-US" altLang="ko-KR" dirty="0"/>
              <a:t>(C++ </a:t>
            </a:r>
            <a:r>
              <a:rPr lang="ko-KR" altLang="en-US" dirty="0"/>
              <a:t>기반</a:t>
            </a:r>
            <a:r>
              <a:rPr lang="en-US" altLang="ko-KR" dirty="0"/>
              <a:t>) </a:t>
            </a:r>
            <a:r>
              <a:rPr lang="ko-KR" altLang="en-US" dirty="0"/>
              <a:t>환경에서 회로를 구성하여 제약 조건 수를 </a:t>
            </a:r>
            <a:r>
              <a:rPr lang="ko-KR" altLang="en-US" dirty="0" err="1"/>
              <a:t>카운팅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87CBB1-DDEA-68DC-B752-B07F2C38C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59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891-8925-824F-BEC9-F9FAE485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94E13B-0E92-3B7F-B412-D55FF43FD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C31FB8-6D8C-5AE3-70D4-65E77F793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77FDD-9341-9A31-097C-039808E4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31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4F0E-06E2-2E2B-630E-BC83F7AA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9ECC8F-DBBA-21D2-D150-13E2248D8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818C5B-832B-2A66-7522-CF15417D4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9EE9F-A93A-9A2E-5BF6-2990325BB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1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평가 지표</a:t>
            </a:r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(3)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23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5AC5-3184-FBC5-5927-5F1AA46D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8963A-5B3F-08F8-8661-70C35B2F3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3139FC-7B72-9C3C-6E24-A8E36198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556EC7-7124-098A-B1B1-2DEAC0782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86" y="3740150"/>
            <a:ext cx="3487928" cy="2222798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8180B7-F32E-73FE-B296-487CF1CE6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759" y="3429000"/>
            <a:ext cx="3050028" cy="2741805"/>
          </a:xfrm>
          <a:prstGeom prst="rect">
            <a:avLst/>
          </a:prstGeom>
        </p:spPr>
      </p:pic>
      <p:pic>
        <p:nvPicPr>
          <p:cNvPr id="14" name="그림 13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15D00B-0272-DD48-33C6-B069734AD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453" y="3740150"/>
            <a:ext cx="1616559" cy="230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830979-DB19-359F-73D2-CA61B7715E8C}"/>
              </a:ext>
            </a:extLst>
          </p:cNvPr>
          <p:cNvSpPr txBox="1"/>
          <p:nvPr/>
        </p:nvSpPr>
        <p:spPr>
          <a:xfrm>
            <a:off x="1309453" y="614362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C710A-9B19-6058-B8C7-865BAD017813}"/>
              </a:ext>
            </a:extLst>
          </p:cNvPr>
          <p:cNvSpPr txBox="1"/>
          <p:nvPr/>
        </p:nvSpPr>
        <p:spPr>
          <a:xfrm>
            <a:off x="4567003" y="6110287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3D24A-2401-9E63-7EA8-13A4DD800DFD}"/>
              </a:ext>
            </a:extLst>
          </p:cNvPr>
          <p:cNvSpPr txBox="1"/>
          <p:nvPr/>
        </p:nvSpPr>
        <p:spPr>
          <a:xfrm>
            <a:off x="8719903" y="6276875"/>
            <a:ext cx="1714500" cy="28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Poseidon</a:t>
            </a:r>
            <a:r>
              <a:rPr lang="ko-KR" altLang="en-US" sz="1200" dirty="0"/>
              <a:t> 측정 지표 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/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Poseidon: A New Hash Function for Zero-Knowledge Proof Systems (USENIX Security 2021)</a:t>
                </a:r>
                <a:r>
                  <a:rPr lang="ko-KR" altLang="en-US" b="1" dirty="0"/>
                  <a:t> </a:t>
                </a:r>
                <a:endParaRPr lang="en-US" altLang="ko-KR" b="1" dirty="0"/>
              </a:p>
              <a:p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400" dirty="0"/>
                  <a:t>사용한 측정 지표 </a:t>
                </a:r>
                <a:r>
                  <a:rPr lang="en-US" altLang="ko-KR" sz="1400" dirty="0"/>
                  <a:t>: R1CS Constraints, 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 err="1"/>
                  <a:t>영지식</a:t>
                </a:r>
                <a:r>
                  <a:rPr lang="ko-KR" altLang="en-US" sz="1400" dirty="0"/>
                  <a:t> 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</a:t>
                </a:r>
                <a:endParaRPr lang="en-US" altLang="ko-KR" sz="1400" dirty="0"/>
              </a:p>
              <a:p>
                <a:pPr marL="285750" indent="-285750">
                  <a:buFontTx/>
                  <a:buChar char="-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R1CS </a:t>
                </a:r>
                <a:r>
                  <a:rPr lang="ko-KR" altLang="en-US" sz="1400" dirty="0"/>
                  <a:t>측정 </a:t>
                </a:r>
                <a:r>
                  <a:rPr lang="en-US" altLang="ko-KR" sz="1400" dirty="0"/>
                  <a:t>: </a:t>
                </a:r>
                <a:r>
                  <a:rPr lang="ko-KR" altLang="en-US" sz="1400" dirty="0"/>
                  <a:t>분석 혹은 </a:t>
                </a:r>
                <a:r>
                  <a:rPr lang="en-US" altLang="ko-KR" sz="1400" dirty="0" err="1"/>
                  <a:t>Circom</a:t>
                </a:r>
                <a:r>
                  <a:rPr lang="en-US" altLang="ko-KR" sz="1400" dirty="0"/>
                  <a:t>(R1CS </a:t>
                </a:r>
                <a:r>
                  <a:rPr lang="ko-KR" altLang="en-US" sz="1400" dirty="0"/>
                  <a:t>기반</a:t>
                </a:r>
                <a:r>
                  <a:rPr lang="en-US" altLang="ko-KR" sz="1400" dirty="0"/>
                  <a:t>) ZK</a:t>
                </a:r>
                <a:r>
                  <a:rPr lang="ko-KR" altLang="en-US" sz="1400" dirty="0"/>
                  <a:t> 프레임워크 사용하여 해시함수 코딩 후 분석 도구를 통해 추출 가능</a:t>
                </a:r>
                <a:endParaRPr lang="en-US" altLang="ko-KR" sz="1400" dirty="0"/>
              </a:p>
              <a:p>
                <a:pPr lvl="1"/>
                <a:r>
                  <a:rPr lang="en-US" altLang="ko-KR" sz="1400" dirty="0"/>
                  <a:t>*R1CS :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형태로 나타낼 수 있는 수식</a:t>
                </a:r>
                <a:r>
                  <a:rPr lang="en-US" altLang="ko-KR" sz="1400" dirty="0"/>
                  <a:t>. </a:t>
                </a:r>
                <a:r>
                  <a:rPr lang="ko-KR" altLang="en-US" sz="1400" dirty="0"/>
                  <a:t>영지식증명 회로 상에서의 비용</a:t>
                </a:r>
                <a:endParaRPr lang="en-US" altLang="ko-KR" sz="1400" dirty="0"/>
              </a:p>
              <a:p>
                <a:pPr lvl="1"/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en-US" altLang="ko-KR" sz="1400" dirty="0"/>
                  <a:t>Permutation 1</a:t>
                </a:r>
                <a:r>
                  <a:rPr lang="ko-KR" altLang="en-US" sz="1400" dirty="0"/>
                  <a:t>번 실행 시간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평균</a:t>
                </a:r>
                <a:r>
                  <a:rPr lang="en-US" altLang="ko-KR" sz="1400" dirty="0"/>
                  <a:t>)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증명 생성 시간</a:t>
                </a:r>
                <a:r>
                  <a:rPr lang="en-US" altLang="ko-KR" sz="1400" dirty="0"/>
                  <a:t>, </a:t>
                </a:r>
                <a:r>
                  <a:rPr lang="ko-KR" altLang="en-US" sz="1400" dirty="0"/>
                  <a:t>검증 시간 </a:t>
                </a:r>
                <a:r>
                  <a:rPr lang="en-US" altLang="ko-KR" sz="1400" dirty="0"/>
                  <a:t>: Rust </a:t>
                </a:r>
                <a:r>
                  <a:rPr lang="ko-KR" altLang="en-US" sz="1400" dirty="0"/>
                  <a:t>기반의 </a:t>
                </a:r>
                <a:r>
                  <a:rPr lang="en-US" altLang="ko-KR" sz="1400" dirty="0"/>
                  <a:t>ZK </a:t>
                </a:r>
                <a:r>
                  <a:rPr lang="ko-KR" altLang="en-US" sz="1400" dirty="0"/>
                  <a:t>프레임워크 상에서 해시 함수 구현 후 시간 측정 라이브러리 사용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848DFB-FAD8-5ADE-4AA0-66D7148B6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605" y="1181743"/>
                <a:ext cx="10763796" cy="2308324"/>
              </a:xfrm>
              <a:prstGeom prst="rect">
                <a:avLst/>
              </a:prstGeom>
              <a:blipFill>
                <a:blip r:embed="rId6"/>
                <a:stretch>
                  <a:fillRect l="-510" t="-1583" b="-1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79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CED7-6B70-D140-0D9F-F5B5FE7A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FC9CD-801F-2A24-52F8-49FB98AA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Groth16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691F68-3824-238D-D65D-C4E70CA0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A1905-262A-FC9F-EA93-598A4105D4AE}"/>
              </a:ext>
            </a:extLst>
          </p:cNvPr>
          <p:cNvSpPr txBox="1"/>
          <p:nvPr/>
        </p:nvSpPr>
        <p:spPr>
          <a:xfrm>
            <a:off x="899605" y="1181743"/>
            <a:ext cx="1076379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Groth16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 </a:t>
            </a:r>
            <a:r>
              <a:rPr lang="ko-KR" altLang="en-US" sz="1400" dirty="0"/>
              <a:t>측정</a:t>
            </a:r>
            <a:r>
              <a:rPr lang="en-US" altLang="ko-KR" sz="1400" dirty="0"/>
              <a:t>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 측정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논문 상 세팅 환경 </a:t>
            </a:r>
            <a:r>
              <a:rPr lang="en-US" altLang="ko-KR" sz="1400" dirty="0"/>
              <a:t>: Intel Core i7-8700 CPU, 32 GiB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실험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Ultra 5 225H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t = 3, BN254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입</a:t>
            </a:r>
            <a:r>
              <a:rPr lang="en-US" altLang="ko-KR" sz="1400" dirty="0"/>
              <a:t>/</a:t>
            </a:r>
            <a:r>
              <a:rPr lang="ko-KR" altLang="en-US" sz="1400" dirty="0"/>
              <a:t>출력 변수 할당 및 입력 처리하는 시스템 오버헤드 포함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C++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libsnark</a:t>
            </a:r>
            <a:r>
              <a:rPr lang="ko-KR" altLang="en-US" sz="1400" dirty="0"/>
              <a:t> 라이브러리를 통하여 측정</a:t>
            </a: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2B8C51-7F2F-10C5-779A-FA9C994FD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340610"/>
              </p:ext>
            </p:extLst>
          </p:nvPr>
        </p:nvGraphicFramePr>
        <p:xfrm>
          <a:off x="2186846" y="3945330"/>
          <a:ext cx="744636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95">
                  <a:extLst>
                    <a:ext uri="{9D8B030D-6E8A-4147-A177-3AD203B41FA5}">
                      <a16:colId xmlns:a16="http://schemas.microsoft.com/office/drawing/2014/main" val="3849906770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192487519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50832602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4210784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증명 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검증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R1CS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논문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43.1ms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1.2ms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3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0.505s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4.0ms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4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04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6F50-709D-4CB6-9E78-AE820258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8DB8D-137E-2489-F847-8881FD9C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PLONK base</a:t>
            </a:r>
            <a:r>
              <a:rPr lang="ko-KR" altLang="en-US" dirty="0"/>
              <a:t> </a:t>
            </a:r>
            <a:r>
              <a:rPr lang="en-US" altLang="ko-KR" dirty="0"/>
              <a:t>Poseidon-128 </a:t>
            </a:r>
            <a:r>
              <a:rPr lang="ko-KR" altLang="en-US" dirty="0"/>
              <a:t>비용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9A201-3DA9-4BD8-36A3-C3AA349F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8A1D0-FC33-3EEA-2022-8A2CAC1E6573}"/>
              </a:ext>
            </a:extLst>
          </p:cNvPr>
          <p:cNvSpPr txBox="1"/>
          <p:nvPr/>
        </p:nvSpPr>
        <p:spPr>
          <a:xfrm>
            <a:off x="912305" y="1207583"/>
            <a:ext cx="1076379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PLONK base</a:t>
            </a:r>
            <a:r>
              <a:rPr lang="ko-KR" altLang="en-US" b="1" dirty="0"/>
              <a:t> </a:t>
            </a:r>
            <a:r>
              <a:rPr lang="en-US" altLang="ko-KR" b="1" dirty="0"/>
              <a:t>Poseidon-128 </a:t>
            </a:r>
            <a:r>
              <a:rPr lang="ko-KR" altLang="en-US" b="1" dirty="0"/>
              <a:t>비용 측정 </a:t>
            </a:r>
            <a:endParaRPr lang="en-US" altLang="ko-KR" b="1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R1CS, </a:t>
            </a:r>
            <a:r>
              <a:rPr lang="ko-KR" altLang="en-US" sz="1400" dirty="0"/>
              <a:t>증명 생성 시간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시간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논문 상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i5-7300HQ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실험 세팅 환경 </a:t>
            </a:r>
            <a:r>
              <a:rPr lang="en-US" altLang="ko-KR" sz="1400" dirty="0"/>
              <a:t>: </a:t>
            </a:r>
            <a:r>
              <a:rPr lang="pt-BR" altLang="ko-KR" sz="1400" dirty="0"/>
              <a:t>Intel(R) Core(TM) Ultra 5 225H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Rust </a:t>
            </a:r>
            <a:r>
              <a:rPr lang="ko-KR" altLang="en-US" sz="1400" dirty="0"/>
              <a:t>기반의 구현체</a:t>
            </a:r>
            <a:r>
              <a:rPr lang="en-US" altLang="ko-KR" sz="1400" dirty="0"/>
              <a:t>(</a:t>
            </a:r>
            <a:r>
              <a:rPr lang="ko-KR" altLang="en-US" sz="1400" dirty="0"/>
              <a:t>진행중</a:t>
            </a:r>
            <a:r>
              <a:rPr lang="en-US" altLang="ko-KR" sz="1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Circom</a:t>
            </a:r>
            <a:r>
              <a:rPr lang="en-US" altLang="ko-KR" sz="1400" dirty="0"/>
              <a:t> </a:t>
            </a:r>
            <a:r>
              <a:rPr lang="ko-KR" altLang="en-US" sz="1400" dirty="0"/>
              <a:t>기반의 측정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Ununtu</a:t>
            </a:r>
            <a:r>
              <a:rPr lang="en-US" altLang="ko-KR" sz="1400" dirty="0"/>
              <a:t> 22.04 </a:t>
            </a:r>
            <a:r>
              <a:rPr lang="ko-KR" altLang="en-US" sz="1400" dirty="0"/>
              <a:t>가상환경에서 실험 진행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사용 </a:t>
            </a:r>
            <a:r>
              <a:rPr lang="en-US" altLang="ko-KR" sz="1400" dirty="0"/>
              <a:t>Field : BLS12-381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DB0E74E-E033-A8EF-B23F-1340A7021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660081"/>
              </p:ext>
            </p:extLst>
          </p:nvPr>
        </p:nvGraphicFramePr>
        <p:xfrm>
          <a:off x="1179005" y="4075330"/>
          <a:ext cx="957471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295">
                  <a:extLst>
                    <a:ext uri="{9D8B030D-6E8A-4147-A177-3AD203B41FA5}">
                      <a16:colId xmlns:a16="http://schemas.microsoft.com/office/drawing/2014/main" val="3849906770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3571109949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192487519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508326022"/>
                    </a:ext>
                  </a:extLst>
                </a:gridCol>
                <a:gridCol w="2128356">
                  <a:extLst>
                    <a:ext uri="{9D8B030D-6E8A-4147-A177-3AD203B41FA5}">
                      <a16:colId xmlns:a16="http://schemas.microsoft.com/office/drawing/2014/main" val="4210784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Baseline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증명 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검증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bg1"/>
                          </a:solidFill>
                        </a:rPr>
                        <a:t>R1CS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65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논문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Rust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3.59s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0.7ms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732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실험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Circom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8.60s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0.4s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2400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47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43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21788</TotalTime>
  <Words>339</Words>
  <Application>Microsoft Office PowerPoint</Application>
  <PresentationFormat>와이드스크린</PresentationFormat>
  <Paragraphs>72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Poseidon 평가 지표(3) </vt:lpstr>
      <vt:lpstr>비교 분석</vt:lpstr>
      <vt:lpstr>Groth16 base Poseidon-128 비용 측정</vt:lpstr>
      <vt:lpstr>PLONK base Poseidon-128 비용 측정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2079</cp:revision>
  <dcterms:created xsi:type="dcterms:W3CDTF">2023-03-06T16:32:37Z</dcterms:created>
  <dcterms:modified xsi:type="dcterms:W3CDTF">2026-02-02T13:24:58Z</dcterms:modified>
</cp:coreProperties>
</file>