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306" r:id="rId3"/>
    <p:sldId id="307" r:id="rId4"/>
    <p:sldId id="341" r:id="rId5"/>
    <p:sldId id="342" r:id="rId6"/>
    <p:sldId id="343" r:id="rId7"/>
    <p:sldId id="344" r:id="rId8"/>
    <p:sldId id="34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>
        <p:scale>
          <a:sx n="75" d="100"/>
          <a:sy n="75" d="100"/>
        </p:scale>
        <p:origin x="444" y="14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73D1-5404-C9BE-0D35-4D6DD156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3A41AA-4599-DBA7-CBCB-ABAC7C40B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979C-57B8-A587-07FE-02CB353B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3C2A2-88BA-DECC-5585-23EB44B7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60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EAE8-76D5-2052-A5A4-D8469532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6F971-B42E-6F98-7CB7-79E41DEFA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2C45E-1E8E-BCC4-A147-B97A5926A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69DED-8E76-E30B-77DC-3BA65A919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582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4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228E-C17D-64C1-15C7-AB8C392A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D1875A-E5E3-FD13-14F9-A06AD0C25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8EF47B-9E4A-514E-AAC9-79B2C3B0E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6F8E2-C0F7-5A1F-8C9C-FD31C5F59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64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1443-5FB7-02A2-4C78-AA089452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EF840-F19D-6582-BE47-19912DBD8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CA9ADE-F1B0-AA9A-14CF-E7254688E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EB0D6-7F3C-2E36-66C6-CD04EE3E8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3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AF68-0B85-E5A0-ADBB-AC0E2C2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16FE9B-EA88-DB5C-254D-3923C240F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AA9BB-8A3B-4A6D-1064-680B07B6D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2FCEF-47C1-3E39-71E3-6032C4E6F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77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1C03-E5D2-6C16-A241-B1E0542E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82EBB8-FB3D-3C08-5E97-23C261497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86AC12-F92D-9AF6-CF91-72860976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6472F-A30E-45AD-226F-73772FFAE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569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24" Type="http://schemas.openxmlformats.org/officeDocument/2006/relationships/image" Target="../media/image17.png"/><Relationship Id="rId15" Type="http://schemas.openxmlformats.org/officeDocument/2006/relationships/image" Target="../media/image81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14" Type="http://schemas.openxmlformats.org/officeDocument/2006/relationships/image" Target="../media/image71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image" Target="../media/image111.png"/><Relationship Id="rId8" Type="http://schemas.openxmlformats.org/officeDocument/2006/relationships/image" Target="../media/image44.png"/><Relationship Id="rId12" Type="http://schemas.openxmlformats.org/officeDocument/2006/relationships/image" Target="../media/image56.png"/><Relationship Id="rId17" Type="http://schemas.openxmlformats.org/officeDocument/2006/relationships/image" Target="../media/image10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0.png"/><Relationship Id="rId15" Type="http://schemas.openxmlformats.org/officeDocument/2006/relationships/image" Target="../media/image81.png"/><Relationship Id="rId19" Type="http://schemas.openxmlformats.org/officeDocument/2006/relationships/image" Target="../media/image12.png"/><Relationship Id="rId10" Type="http://schemas.openxmlformats.org/officeDocument/2006/relationships/image" Target="../media/image45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평가 지표 측정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D7F-5EFB-68AA-CD18-799FCB7C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32E5D-A891-936F-4ACF-791C444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1421B-00D1-AE47-21F1-F8A2F7AA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A0E130-12A5-D09F-0495-FA043AA6E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77041"/>
              </p:ext>
            </p:extLst>
          </p:nvPr>
        </p:nvGraphicFramePr>
        <p:xfrm>
          <a:off x="570298" y="3056206"/>
          <a:ext cx="10745402" cy="2315894"/>
        </p:xfrm>
        <a:graphic>
          <a:graphicData uri="http://schemas.openxmlformats.org/drawingml/2006/table">
            <a:tbl>
              <a:tblPr/>
              <a:tblGrid>
                <a:gridCol w="2686350">
                  <a:extLst>
                    <a:ext uri="{9D8B030D-6E8A-4147-A177-3AD203B41FA5}">
                      <a16:colId xmlns:a16="http://schemas.microsoft.com/office/drawing/2014/main" val="19328492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4012605287"/>
                    </a:ext>
                  </a:extLst>
                </a:gridCol>
                <a:gridCol w="2686350">
                  <a:extLst>
                    <a:ext uri="{9D8B030D-6E8A-4147-A177-3AD203B41FA5}">
                      <a16:colId xmlns:a16="http://schemas.microsoft.com/office/drawing/2014/main" val="3822389013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394583134"/>
                    </a:ext>
                  </a:extLst>
                </a:gridCol>
                <a:gridCol w="1343176">
                  <a:extLst>
                    <a:ext uri="{9D8B030D-6E8A-4147-A177-3AD203B41FA5}">
                      <a16:colId xmlns:a16="http://schemas.microsoft.com/office/drawing/2014/main" val="3145761262"/>
                    </a:ext>
                  </a:extLst>
                </a:gridCol>
              </a:tblGrid>
              <a:tr h="49671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Capacity-Safe Canonical Export (Sol1)</a:t>
                      </a:r>
                      <a:endParaRPr lang="en-US" sz="1200" b="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In-Circuit Cross-Lane Entropy Repacking(Sol2)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Byte-Native Poseidon Configuration</a:t>
                      </a:r>
                    </a:p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(Sol3)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87676"/>
                  </a:ext>
                </a:extLst>
              </a:tr>
              <a:tr h="29802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Goldilocks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+mj-lt"/>
                        </a:rPr>
                        <a:t>128-bit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68499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예상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318</a:t>
                      </a:r>
                      <a:endParaRPr lang="en-US" altLang="ko-KR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3121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+mj-lt"/>
                        </a:rPr>
                        <a:t>측정 </a:t>
                      </a:r>
                      <a:r>
                        <a:rPr lang="en-US" altLang="ko-KR" sz="1200" b="0" i="0" dirty="0">
                          <a:latin typeface="+mj-lt"/>
                        </a:rPr>
                        <a:t>Groth16(R1CS)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517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1092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763264"/>
                  </a:ext>
                </a:extLst>
              </a:tr>
              <a:tr h="29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PLONK(Rows)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623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463012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PLONK-LUT(Rows)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172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204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364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1245"/>
                  </a:ext>
                </a:extLst>
              </a:tr>
              <a:tr h="31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dirty="0">
                          <a:latin typeface="+mj-lt"/>
                        </a:rPr>
                        <a:t>EVM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34832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34912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75368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+mj-lt"/>
                        </a:rPr>
                        <a:t>48344</a:t>
                      </a:r>
                      <a:endParaRPr lang="ko-KR" altLang="en-US" sz="1200" b="0" i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554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BA2BA-3D50-110E-BA64-5480F0446BCB}"/>
              </a:ext>
            </a:extLst>
          </p:cNvPr>
          <p:cNvSpPr txBox="1"/>
          <p:nvPr/>
        </p:nvSpPr>
        <p:spPr>
          <a:xfrm>
            <a:off x="678180" y="1847854"/>
            <a:ext cx="9160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예상 </a:t>
            </a:r>
            <a:r>
              <a:rPr lang="en-US" altLang="ko-KR" sz="1400" dirty="0"/>
              <a:t>Groth16(R1CS), PLONK(Rows), PLONK-LUT(Rows) - </a:t>
            </a:r>
            <a:r>
              <a:rPr lang="ko-KR" altLang="en-US" sz="1400" dirty="0"/>
              <a:t>순수 이론 계산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측정 </a:t>
            </a:r>
            <a:r>
              <a:rPr lang="en-US" altLang="ko-KR" sz="1400" dirty="0"/>
              <a:t>Groth16(R1CS) –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컴파일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snarkjs</a:t>
            </a:r>
            <a:r>
              <a:rPr lang="en-US" altLang="ko-KR" sz="1400" dirty="0"/>
              <a:t> R1CS </a:t>
            </a:r>
            <a:r>
              <a:rPr lang="ko-KR" altLang="en-US" sz="1400" dirty="0"/>
              <a:t>파일 측정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407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FDBE-B6B7-E245-0CB9-A8A48347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C7B3-6337-4CB8-7F50-3D88F741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Implementation Cost – R1CS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B99B9-EFF2-0FFD-061C-4CF73404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E7DAAC-AD5B-271D-78E7-DE2DF753677A}"/>
                  </a:ext>
                </a:extLst>
              </p:cNvPr>
              <p:cNvSpPr txBox="1"/>
              <p:nvPr/>
            </p:nvSpPr>
            <p:spPr>
              <a:xfrm>
                <a:off x="678180" y="1847854"/>
                <a:ext cx="9160412" cy="1605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R1CS(Rank-1 Constraint System)</a:t>
                </a:r>
              </a:p>
              <a:p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다</m:t>
                    </m:r>
                    <m:r>
                      <a:rPr lang="ko-KR" altLang="en-US" sz="1400" i="1" dirty="0" smtClean="0">
                        <a:latin typeface="Cambria Math" panose="02040503050406030204" pitchFamily="18" charset="0"/>
                      </a:rPr>
                      <m:t>항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</a:rPr>
                      <m:t>식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다</m:t>
                        </m:r>
                        <m:r>
                          <a:rPr lang="ko-KR" altLang="en-US" sz="1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항</m:t>
                        </m:r>
                        <m:r>
                          <a:rPr lang="ko-KR" altLang="en-US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식</m:t>
                        </m:r>
                      </m:e>
                    </m:d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다</m:t>
                    </m:r>
                    <m:r>
                      <a:rPr lang="ko-KR" alt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항</m:t>
                    </m:r>
                    <m:r>
                      <a:rPr lang="ko-KR" alt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식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정의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Non-Linear Multiplication </a:t>
                </a:r>
                <a:r>
                  <a:rPr lang="ko-KR" altLang="en-US" sz="1400" dirty="0"/>
                  <a:t>개수가 핵심 비용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Poseidon</a:t>
                </a:r>
                <a:r>
                  <a:rPr lang="ko-KR" altLang="en-US" sz="1400" dirty="0"/>
                  <a:t>에서는 </a:t>
                </a:r>
                <a:r>
                  <a:rPr lang="en-US" altLang="ko-KR" sz="1400" dirty="0"/>
                  <a:t>S-Box </a:t>
                </a:r>
                <a:r>
                  <a:rPr lang="ko-KR" altLang="en-US" sz="1400" dirty="0"/>
                  <a:t>연산에서 주로 </a:t>
                </a:r>
                <a:r>
                  <a:rPr lang="en-US" altLang="ko-KR" sz="1400" dirty="0"/>
                  <a:t>R1CS</a:t>
                </a:r>
                <a:r>
                  <a:rPr lang="ko-KR" altLang="en-US" sz="1400" dirty="0"/>
                  <a:t>가 발생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E7DAAC-AD5B-271D-78E7-DE2DF7536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" y="1847854"/>
                <a:ext cx="9160412" cy="1605376"/>
              </a:xfrm>
              <a:prstGeom prst="rect">
                <a:avLst/>
              </a:prstGeom>
              <a:blipFill>
                <a:blip r:embed="rId3"/>
                <a:stretch>
                  <a:fillRect l="-200" t="-760" b="-3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03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el-GR" altLang="ko-KR" baseline="30000" dirty="0"/>
              <a:t>π</a:t>
            </a:r>
            <a:r>
              <a:rPr lang="ko-KR" altLang="en-US" dirty="0"/>
              <a:t> 구조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4838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57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612" name="사각형: 둥근 모서리 611">
            <a:extLst>
              <a:ext uri="{FF2B5EF4-FFF2-40B4-BE49-F238E27FC236}">
                <a16:creationId xmlns:a16="http://schemas.microsoft.com/office/drawing/2014/main" id="{4A1BEC5F-75EE-25B5-AEDB-5A903C069177}"/>
              </a:ext>
            </a:extLst>
          </p:cNvPr>
          <p:cNvSpPr/>
          <p:nvPr/>
        </p:nvSpPr>
        <p:spPr>
          <a:xfrm>
            <a:off x="5666636" y="4736436"/>
            <a:ext cx="1730932" cy="135412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 dirty="0">
                <a:solidFill>
                  <a:srgbClr val="0066CC"/>
                </a:solidFill>
              </a:rPr>
              <a:t>POSEIDON</a:t>
            </a:r>
            <a:r>
              <a:rPr lang="el-GR" altLang="ko-KR" i="1" baseline="30000" dirty="0">
                <a:solidFill>
                  <a:srgbClr val="0066CC"/>
                </a:solidFill>
              </a:rPr>
              <a:t>π</a:t>
            </a:r>
            <a:endParaRPr lang="en-US" altLang="ko-KR" b="1" i="1" baseline="30000" dirty="0">
              <a:solidFill>
                <a:srgbClr val="006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3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6B90-96ED-C727-3775-D3A31D45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E7CD3-2E28-965F-3A6A-19D784A5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1C863-C4B1-8F0A-15D9-BDC5BC64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DBE8085A-2A2F-9480-6E45-7A2CD1BEF374}"/>
              </a:ext>
            </a:extLst>
          </p:cNvPr>
          <p:cNvGrpSpPr/>
          <p:nvPr/>
        </p:nvGrpSpPr>
        <p:grpSpPr>
          <a:xfrm>
            <a:off x="896356" y="2051621"/>
            <a:ext cx="406664" cy="542989"/>
            <a:chOff x="5917473" y="4950823"/>
            <a:chExt cx="418013" cy="431074"/>
          </a:xfrm>
        </p:grpSpPr>
        <p:sp>
          <p:nvSpPr>
            <p:cNvPr id="415" name="직사각형 414">
              <a:extLst>
                <a:ext uri="{FF2B5EF4-FFF2-40B4-BE49-F238E27FC236}">
                  <a16:creationId xmlns:a16="http://schemas.microsoft.com/office/drawing/2014/main" id="{1DADD3DD-6C67-7003-7F8D-EFD2DB50E1EC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" name="직사각형 415">
              <a:extLst>
                <a:ext uri="{FF2B5EF4-FFF2-40B4-BE49-F238E27FC236}">
                  <a16:creationId xmlns:a16="http://schemas.microsoft.com/office/drawing/2014/main" id="{DAAEAC55-19E7-30CE-9576-5EB447362A3D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91BBC9-FCB5-9BF2-3AE7-3F5194D6B173}"/>
                  </a:ext>
                </a:extLst>
              </p:cNvPr>
              <p:cNvSpPr txBox="1"/>
              <p:nvPr/>
            </p:nvSpPr>
            <p:spPr>
              <a:xfrm>
                <a:off x="1764030" y="2004601"/>
                <a:ext cx="9160412" cy="2282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Posieodn-128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S-Box 1</a:t>
                </a:r>
                <a:r>
                  <a:rPr lang="ko-KR" altLang="en-US" sz="1600" b="1" dirty="0"/>
                  <a:t>개 당 발생하는 </a:t>
                </a:r>
                <a:r>
                  <a:rPr lang="en-US" altLang="ko-KR" sz="1600" b="1" dirty="0"/>
                  <a:t>R1CS = 3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ko-KR" sz="1400" dirty="0"/>
              </a:p>
              <a:p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sz="1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en-US" altLang="ko-KR" sz="1400" dirty="0"/>
                  <a:t>3</a:t>
                </a:r>
                <a:r>
                  <a:rPr lang="ko-KR" altLang="en-US" sz="1400" dirty="0"/>
                  <a:t>개의 곱셈 식 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91BBC9-FCB5-9BF2-3AE7-3F5194D6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30" y="2004601"/>
                <a:ext cx="9160412" cy="2282291"/>
              </a:xfrm>
              <a:prstGeom prst="rect">
                <a:avLst/>
              </a:prstGeom>
              <a:blipFill>
                <a:blip r:embed="rId3"/>
                <a:stretch>
                  <a:fillRect l="-333" t="-10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5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C129-F360-9048-7BC3-FF7CCF68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27930-E709-9E72-B532-D1521C6B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C918DD-5662-6308-193F-8656B172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99315D-14FF-1AB5-185A-E568A2472D12}"/>
              </a:ext>
            </a:extLst>
          </p:cNvPr>
          <p:cNvGrpSpPr/>
          <p:nvPr/>
        </p:nvGrpSpPr>
        <p:grpSpPr>
          <a:xfrm>
            <a:off x="593992" y="1788206"/>
            <a:ext cx="3549973" cy="1779369"/>
            <a:chOff x="101277" y="1771080"/>
            <a:chExt cx="3549973" cy="1779369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64E68A35-EA8F-A107-9823-8AEA9B6CFED8}"/>
                </a:ext>
              </a:extLst>
            </p:cNvPr>
            <p:cNvSpPr txBox="1"/>
            <p:nvPr/>
          </p:nvSpPr>
          <p:spPr>
            <a:xfrm>
              <a:off x="1299539" y="3288839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</a:t>
              </a:r>
              <a:r>
                <a:rPr lang="ko-KR" altLang="en-US" sz="1100" dirty="0"/>
                <a:t>번의 </a:t>
              </a:r>
              <a:r>
                <a:rPr lang="en-US" altLang="ko-KR" sz="1100" dirty="0"/>
                <a:t>full round</a:t>
              </a:r>
            </a:p>
          </p:txBody>
        </p:sp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9368C468-EF8C-55F3-36FF-185D69A95DC1}"/>
                </a:ext>
              </a:extLst>
            </p:cNvPr>
            <p:cNvGrpSpPr/>
            <p:nvPr/>
          </p:nvGrpSpPr>
          <p:grpSpPr>
            <a:xfrm>
              <a:off x="101277" y="1771080"/>
              <a:ext cx="3549973" cy="1217083"/>
              <a:chOff x="101277" y="1771080"/>
              <a:chExt cx="3549973" cy="1217083"/>
            </a:xfrm>
          </p:grpSpPr>
          <p:sp>
            <p:nvSpPr>
              <p:cNvPr id="468" name="사다리꼴 467">
                <a:extLst>
                  <a:ext uri="{FF2B5EF4-FFF2-40B4-BE49-F238E27FC236}">
                    <a16:creationId xmlns:a16="http://schemas.microsoft.com/office/drawing/2014/main" id="{3148EDA9-6DF5-8B85-7D58-7164DB3C22E8}"/>
                  </a:ext>
                </a:extLst>
              </p:cNvPr>
              <p:cNvSpPr/>
              <p:nvPr/>
            </p:nvSpPr>
            <p:spPr>
              <a:xfrm rot="5400000">
                <a:off x="72775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83AAF5A9-760F-931F-161E-3C064974C18F}"/>
                  </a:ext>
                </a:extLst>
              </p:cNvPr>
              <p:cNvGrpSpPr/>
              <p:nvPr/>
            </p:nvGrpSpPr>
            <p:grpSpPr>
              <a:xfrm>
                <a:off x="101277" y="1771080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990750B2-9D6F-23F3-2747-E284F36BD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04EB813C-EF95-66B8-A0F1-35D6B27E48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C10C103B-605E-D6E2-0D1D-AE54819C9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5CC63EF1-921A-3743-EDA7-4742C137721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045B0D83-68DF-BFB9-7E94-D4E9C07A70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3F7D76FF-4A31-178E-FE45-6D9F3C0EEE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382EEF7-EC1F-2C21-5BAD-022A7C4994D5}"/>
                  </a:ext>
                </a:extLst>
              </p:cNvPr>
              <p:cNvGrpSpPr/>
              <p:nvPr/>
            </p:nvGrpSpPr>
            <p:grpSpPr>
              <a:xfrm>
                <a:off x="57725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105" name="화살표: 오른쪽 104">
                  <a:extLst>
                    <a:ext uri="{FF2B5EF4-FFF2-40B4-BE49-F238E27FC236}">
                      <a16:creationId xmlns:a16="http://schemas.microsoft.com/office/drawing/2014/main" id="{DAFAB445-5BCD-A06A-2308-BB2DD5CF7089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화살표: 오른쪽 121">
                  <a:extLst>
                    <a:ext uri="{FF2B5EF4-FFF2-40B4-BE49-F238E27FC236}">
                      <a16:creationId xmlns:a16="http://schemas.microsoft.com/office/drawing/2014/main" id="{581E1EBF-D8A9-28E8-B099-0B8A32991E39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2F586ED6-6F6E-2435-C260-70B2CC571D47}"/>
                  </a:ext>
                </a:extLst>
              </p:cNvPr>
              <p:cNvGrpSpPr/>
              <p:nvPr/>
            </p:nvGrpSpPr>
            <p:grpSpPr>
              <a:xfrm>
                <a:off x="1221420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E0423805-9A30-7C69-0509-0E039C43DB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B7C092C9-5776-E3BC-D307-8C1FA0F8F4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B1CFE88E-333E-144F-135A-4177E9B47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493B002A-1AE5-8DC4-C89A-EB7245FDEC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889612C1-96E3-C582-46CD-E90C9C3F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6CD2BC4C-EEAB-1A50-6786-0B089868639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07CA7C4D-E640-C438-D906-43AF3BC21A11}"/>
                  </a:ext>
                </a:extLst>
              </p:cNvPr>
              <p:cNvGrpSpPr/>
              <p:nvPr/>
            </p:nvGrpSpPr>
            <p:grpSpPr>
              <a:xfrm>
                <a:off x="2377346" y="1777801"/>
                <a:ext cx="431450" cy="1210362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11566284-EBB8-F9C6-5103-4288BBBE29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F4384D62-E48D-9727-D25D-A4ADD88CBC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74D0A5D1-9D9D-1938-6699-1FABB555A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C2F7F317-B8FE-7C25-2422-442A0CB3B9C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639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9100E499-56D4-492F-74A2-4087C15711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7B9C2BF0-9329-2985-7BDA-B5D9ED7482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4" name="곱하기 기호 223">
                <a:extLst>
                  <a:ext uri="{FF2B5EF4-FFF2-40B4-BE49-F238E27FC236}">
                    <a16:creationId xmlns:a16="http://schemas.microsoft.com/office/drawing/2014/main" id="{7E09EB52-46F7-1CC2-3115-B89E6D923AA0}"/>
                  </a:ext>
                </a:extLst>
              </p:cNvPr>
              <p:cNvSpPr/>
              <p:nvPr/>
            </p:nvSpPr>
            <p:spPr>
              <a:xfrm>
                <a:off x="2885600" y="2345559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49FE8C59-2D2C-BC9C-FD9C-B604513DFB7A}"/>
                  </a:ext>
                </a:extLst>
              </p:cNvPr>
              <p:cNvSpPr/>
              <p:nvPr/>
            </p:nvSpPr>
            <p:spPr>
              <a:xfrm>
                <a:off x="3070347" y="2345910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AFFF146D-2D09-26DE-F029-8230C5710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9334" y="2345911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연결선 229">
                <a:extLst>
                  <a:ext uri="{FF2B5EF4-FFF2-40B4-BE49-F238E27FC236}">
                    <a16:creationId xmlns:a16="http://schemas.microsoft.com/office/drawing/2014/main" id="{8F53F1E7-8AD7-9784-3B62-4E20E29E08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192" y="245063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33E197F4-7885-E80A-24FC-E5A746079C4C}"/>
                  </a:ext>
                </a:extLst>
              </p:cNvPr>
              <p:cNvSpPr txBox="1"/>
              <p:nvPr/>
            </p:nvSpPr>
            <p:spPr>
              <a:xfrm>
                <a:off x="2687853" y="2582217"/>
                <a:ext cx="9633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/>
                  <a:t>3x3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MDS</a:t>
                </a:r>
                <a:r>
                  <a:rPr lang="ko-KR" altLang="en-US" sz="1000" dirty="0"/>
                  <a:t>행렬</a:t>
                </a:r>
                <a:endParaRPr lang="en-US" altLang="ko-KR" sz="1000" dirty="0"/>
              </a:p>
            </p:txBody>
          </p: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2B8B4A9E-8C98-9A0C-F56D-613E9B0388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7804" y="2405936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B987B823-992C-3D36-83C0-12F4DC0CBB69}"/>
                  </a:ext>
                </a:extLst>
              </p:cNvPr>
              <p:cNvGrpSpPr/>
              <p:nvPr/>
            </p:nvGrpSpPr>
            <p:grpSpPr>
              <a:xfrm>
                <a:off x="57673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3" name="화살표: 오른쪽 2">
                  <a:extLst>
                    <a:ext uri="{FF2B5EF4-FFF2-40B4-BE49-F238E27FC236}">
                      <a16:creationId xmlns:a16="http://schemas.microsoft.com/office/drawing/2014/main" id="{1A30536D-5F7D-9987-513A-F56EC16B27B2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화살표: 오른쪽 4">
                  <a:extLst>
                    <a:ext uri="{FF2B5EF4-FFF2-40B4-BE49-F238E27FC236}">
                      <a16:creationId xmlns:a16="http://schemas.microsoft.com/office/drawing/2014/main" id="{6A6ADADC-1B31-E776-9CAD-FFA475A986B3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2650B3D7-AB31-079E-622C-75F289CD0A95}"/>
                  </a:ext>
                </a:extLst>
              </p:cNvPr>
              <p:cNvGrpSpPr/>
              <p:nvPr/>
            </p:nvGrpSpPr>
            <p:grpSpPr>
              <a:xfrm>
                <a:off x="57023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07F0C9E1-BC47-2A14-73A4-B9E3DDAC59A4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106" name="화살표: 오른쪽 105">
                    <a:extLst>
                      <a:ext uri="{FF2B5EF4-FFF2-40B4-BE49-F238E27FC236}">
                        <a16:creationId xmlns:a16="http://schemas.microsoft.com/office/drawing/2014/main" id="{390A75D2-DD06-6E68-AE6B-08B9D222DD10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3" name="화살표: 오른쪽 122">
                    <a:extLst>
                      <a:ext uri="{FF2B5EF4-FFF2-40B4-BE49-F238E27FC236}">
                        <a16:creationId xmlns:a16="http://schemas.microsoft.com/office/drawing/2014/main" id="{4A41E95B-8610-9EB2-8BDE-6F101AB1821A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" name="사다리꼴 8">
                  <a:extLst>
                    <a:ext uri="{FF2B5EF4-FFF2-40B4-BE49-F238E27FC236}">
                      <a16:creationId xmlns:a16="http://schemas.microsoft.com/office/drawing/2014/main" id="{509CBD98-2947-A80D-3504-8469CEACB2BE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사다리꼴 9">
                <a:extLst>
                  <a:ext uri="{FF2B5EF4-FFF2-40B4-BE49-F238E27FC236}">
                    <a16:creationId xmlns:a16="http://schemas.microsoft.com/office/drawing/2014/main" id="{51D995A3-D498-5BFE-0133-A3EC1088CED6}"/>
                  </a:ext>
                </a:extLst>
              </p:cNvPr>
              <p:cNvSpPr/>
              <p:nvPr/>
            </p:nvSpPr>
            <p:spPr>
              <a:xfrm rot="5400000">
                <a:off x="73388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F8916D0D-1DA2-FF2A-4626-C46B8BC4551A}"/>
                  </a:ext>
                </a:extLst>
              </p:cNvPr>
              <p:cNvGrpSpPr/>
              <p:nvPr/>
            </p:nvGrpSpPr>
            <p:grpSpPr>
              <a:xfrm>
                <a:off x="1700401" y="1842612"/>
                <a:ext cx="652839" cy="1121739"/>
                <a:chOff x="1700401" y="1842612"/>
                <a:chExt cx="652839" cy="1121739"/>
              </a:xfrm>
            </p:grpSpPr>
            <p:grpSp>
              <p:nvGrpSpPr>
                <p:cNvPr id="210" name="그룹 209">
                  <a:extLst>
                    <a:ext uri="{FF2B5EF4-FFF2-40B4-BE49-F238E27FC236}">
                      <a16:creationId xmlns:a16="http://schemas.microsoft.com/office/drawing/2014/main" id="{2A4AFAF3-914F-4F52-06D7-599C7754889C}"/>
                    </a:ext>
                  </a:extLst>
                </p:cNvPr>
                <p:cNvGrpSpPr/>
                <p:nvPr/>
              </p:nvGrpSpPr>
              <p:grpSpPr>
                <a:xfrm>
                  <a:off x="1709932" y="1842612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211" name="그룹 210">
                    <a:extLst>
                      <a:ext uri="{FF2B5EF4-FFF2-40B4-BE49-F238E27FC236}">
                        <a16:creationId xmlns:a16="http://schemas.microsoft.com/office/drawing/2014/main" id="{E82C9C06-1C9A-133B-5B3D-DC3AA9E1D6F8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214" name="직사각형 213">
                      <a:extLst>
                        <a:ext uri="{FF2B5EF4-FFF2-40B4-BE49-F238E27FC236}">
                          <a16:creationId xmlns:a16="http://schemas.microsoft.com/office/drawing/2014/main" id="{977BFF69-88DB-F8FF-D347-37A5332E1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5" name="직사각형 214">
                      <a:extLst>
                        <a:ext uri="{FF2B5EF4-FFF2-40B4-BE49-F238E27FC236}">
                          <a16:creationId xmlns:a16="http://schemas.microsoft.com/office/drawing/2014/main" id="{46CF8568-B313-B5F5-5463-64B3D46A09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12" name="화살표: 오른쪽 211">
                    <a:extLst>
                      <a:ext uri="{FF2B5EF4-FFF2-40B4-BE49-F238E27FC236}">
                        <a16:creationId xmlns:a16="http://schemas.microsoft.com/office/drawing/2014/main" id="{2E92BAFC-3450-805A-7BA5-07730518B6F8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3" name="화살표: 오른쪽 212">
                    <a:extLst>
                      <a:ext uri="{FF2B5EF4-FFF2-40B4-BE49-F238E27FC236}">
                        <a16:creationId xmlns:a16="http://schemas.microsoft.com/office/drawing/2014/main" id="{007D0B53-A659-0E97-49CE-3EC5384C2744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6" name="그룹 215">
                  <a:extLst>
                    <a:ext uri="{FF2B5EF4-FFF2-40B4-BE49-F238E27FC236}">
                      <a16:creationId xmlns:a16="http://schemas.microsoft.com/office/drawing/2014/main" id="{E8F1469A-85E8-F17D-9F37-112FB799DD18}"/>
                    </a:ext>
                  </a:extLst>
                </p:cNvPr>
                <p:cNvGrpSpPr/>
                <p:nvPr/>
              </p:nvGrpSpPr>
              <p:grpSpPr>
                <a:xfrm>
                  <a:off x="1700401" y="2703780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217" name="그룹 216">
                    <a:extLst>
                      <a:ext uri="{FF2B5EF4-FFF2-40B4-BE49-F238E27FC236}">
                        <a16:creationId xmlns:a16="http://schemas.microsoft.com/office/drawing/2014/main" id="{DC212C8C-3154-1CDF-ACFD-C3134FA12B7C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E712741-7650-3A68-A9F5-96FE68B541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5EC2474C-E3D9-2247-4EB5-4B099FEB13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18" name="화살표: 오른쪽 217">
                    <a:extLst>
                      <a:ext uri="{FF2B5EF4-FFF2-40B4-BE49-F238E27FC236}">
                        <a16:creationId xmlns:a16="http://schemas.microsoft.com/office/drawing/2014/main" id="{925D1A40-F1F8-D9F9-7B18-60F78F9D0A70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9" name="화살표: 오른쪽 218">
                    <a:extLst>
                      <a:ext uri="{FF2B5EF4-FFF2-40B4-BE49-F238E27FC236}">
                        <a16:creationId xmlns:a16="http://schemas.microsoft.com/office/drawing/2014/main" id="{5F2FC50A-656B-B0D9-FF53-0B4A8D3F0078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ACE0848D-B207-0260-C47C-12E42A21DDFB}"/>
                    </a:ext>
                  </a:extLst>
                </p:cNvPr>
                <p:cNvGrpSpPr/>
                <p:nvPr/>
              </p:nvGrpSpPr>
              <p:grpSpPr>
                <a:xfrm>
                  <a:off x="1700401" y="2262744"/>
                  <a:ext cx="643308" cy="260571"/>
                  <a:chOff x="5574298" y="4874698"/>
                  <a:chExt cx="1423396" cy="431074"/>
                </a:xfrm>
              </p:grpSpPr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6BDFEBBD-08D2-59C7-2E58-3941E1E2672D}"/>
                      </a:ext>
                    </a:extLst>
                  </p:cNvPr>
                  <p:cNvGrpSpPr/>
                  <p:nvPr/>
                </p:nvGrpSpPr>
                <p:grpSpPr>
                  <a:xfrm>
                    <a:off x="6076994" y="4874698"/>
                    <a:ext cx="418013" cy="431074"/>
                    <a:chOff x="5917473" y="4950823"/>
                    <a:chExt cx="418013" cy="431074"/>
                  </a:xfrm>
                </p:grpSpPr>
                <p:sp>
                  <p:nvSpPr>
                    <p:cNvPr id="15" name="직사각형 14">
                      <a:extLst>
                        <a:ext uri="{FF2B5EF4-FFF2-40B4-BE49-F238E27FC236}">
                          <a16:creationId xmlns:a16="http://schemas.microsoft.com/office/drawing/2014/main" id="{28F84A53-05BA-F421-E25D-886845EF19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7473" y="4950823"/>
                      <a:ext cx="418013" cy="431074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EC35A096-D6B3-01FF-5BA8-ADEEC0DD9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2788" y="5011656"/>
                      <a:ext cx="295667" cy="307182"/>
                    </a:xfrm>
                    <a:prstGeom prst="rect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3" name="화살표: 오른쪽 12">
                    <a:extLst>
                      <a:ext uri="{FF2B5EF4-FFF2-40B4-BE49-F238E27FC236}">
                        <a16:creationId xmlns:a16="http://schemas.microsoft.com/office/drawing/2014/main" id="{0BA43D52-9E91-3072-6D8B-B53C0ADFD61C}"/>
                      </a:ext>
                    </a:extLst>
                  </p:cNvPr>
                  <p:cNvSpPr/>
                  <p:nvPr/>
                </p:nvSpPr>
                <p:spPr>
                  <a:xfrm>
                    <a:off x="5574298" y="4934941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" name="화살표: 오른쪽 13">
                    <a:extLst>
                      <a:ext uri="{FF2B5EF4-FFF2-40B4-BE49-F238E27FC236}">
                        <a16:creationId xmlns:a16="http://schemas.microsoft.com/office/drawing/2014/main" id="{A8ACB0C9-505F-F109-3B4E-26386AE876C4}"/>
                      </a:ext>
                    </a:extLst>
                  </p:cNvPr>
                  <p:cNvSpPr/>
                  <p:nvPr/>
                </p:nvSpPr>
                <p:spPr>
                  <a:xfrm>
                    <a:off x="6584463" y="4940357"/>
                    <a:ext cx="413231" cy="307182"/>
                  </a:xfrm>
                  <a:prstGeom prst="rightArrow">
                    <a:avLst/>
                  </a:prstGeom>
                  <a:solidFill>
                    <a:schemeClr val="tx2">
                      <a:lumMod val="75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B5D16B7-17C5-26F4-A987-B43DC4355565}"/>
              </a:ext>
            </a:extLst>
          </p:cNvPr>
          <p:cNvGrpSpPr/>
          <p:nvPr/>
        </p:nvGrpSpPr>
        <p:grpSpPr>
          <a:xfrm>
            <a:off x="593992" y="3988130"/>
            <a:ext cx="3549973" cy="1771743"/>
            <a:chOff x="4476427" y="1770588"/>
            <a:chExt cx="3549973" cy="1771743"/>
          </a:xfrm>
        </p:grpSpPr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E3170160-7696-FEEC-702C-1FF111C708E1}"/>
                </a:ext>
              </a:extLst>
            </p:cNvPr>
            <p:cNvSpPr txBox="1"/>
            <p:nvPr/>
          </p:nvSpPr>
          <p:spPr>
            <a:xfrm>
              <a:off x="7063003" y="2581725"/>
              <a:ext cx="963397" cy="22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0C2CCFC-C029-60F2-36B0-B396CD1915A6}"/>
                </a:ext>
              </a:extLst>
            </p:cNvPr>
            <p:cNvGrpSpPr/>
            <p:nvPr/>
          </p:nvGrpSpPr>
          <p:grpSpPr>
            <a:xfrm>
              <a:off x="4476427" y="1770588"/>
              <a:ext cx="3120729" cy="1771743"/>
              <a:chOff x="4476427" y="1770588"/>
              <a:chExt cx="3120729" cy="1771743"/>
            </a:xfrm>
          </p:grpSpPr>
          <p:grpSp>
            <p:nvGrpSpPr>
              <p:cNvPr id="379" name="그룹 378">
                <a:extLst>
                  <a:ext uri="{FF2B5EF4-FFF2-40B4-BE49-F238E27FC236}">
                    <a16:creationId xmlns:a16="http://schemas.microsoft.com/office/drawing/2014/main" id="{2A24DF90-7B98-8DD8-A2F0-3C4324378600}"/>
                  </a:ext>
                </a:extLst>
              </p:cNvPr>
              <p:cNvGrpSpPr/>
              <p:nvPr/>
            </p:nvGrpSpPr>
            <p:grpSpPr>
              <a:xfrm>
                <a:off x="4476427" y="1770588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2" name="직사각형 431">
                      <a:extLst>
                        <a:ext uri="{FF2B5EF4-FFF2-40B4-BE49-F238E27FC236}">
                          <a16:creationId xmlns:a16="http://schemas.microsoft.com/office/drawing/2014/main" id="{E3764530-A4DB-B869-0A43-2318744393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3" name="직사각형 432">
                      <a:extLst>
                        <a:ext uri="{FF2B5EF4-FFF2-40B4-BE49-F238E27FC236}">
                          <a16:creationId xmlns:a16="http://schemas.microsoft.com/office/drawing/2014/main" id="{5559AAEC-424F-5C2B-FA88-F25900D53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4" name="직사각형 433">
                      <a:extLst>
                        <a:ext uri="{FF2B5EF4-FFF2-40B4-BE49-F238E27FC236}">
                          <a16:creationId xmlns:a16="http://schemas.microsoft.com/office/drawing/2014/main" id="{E8345BC0-A027-AED6-F9A1-587BD343C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1" name="그룹 400">
                <a:extLst>
                  <a:ext uri="{FF2B5EF4-FFF2-40B4-BE49-F238E27FC236}">
                    <a16:creationId xmlns:a16="http://schemas.microsoft.com/office/drawing/2014/main" id="{CDBCF47F-DD6A-C445-480A-CFDDC68F5901}"/>
                  </a:ext>
                </a:extLst>
              </p:cNvPr>
              <p:cNvGrpSpPr/>
              <p:nvPr/>
            </p:nvGrpSpPr>
            <p:grpSpPr>
              <a:xfrm>
                <a:off x="5596570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5" name="직사각형 424">
                      <a:extLst>
                        <a:ext uri="{FF2B5EF4-FFF2-40B4-BE49-F238E27FC236}">
                          <a16:creationId xmlns:a16="http://schemas.microsoft.com/office/drawing/2014/main" id="{4900F0F2-800D-24BF-FF0E-4D79B23ED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6" name="직사각형 425">
                      <a:extLst>
                        <a:ext uri="{FF2B5EF4-FFF2-40B4-BE49-F238E27FC236}">
                          <a16:creationId xmlns:a16="http://schemas.microsoft.com/office/drawing/2014/main" id="{3B7C3931-97EB-0E67-0136-A19FA552C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7" name="직사각형 426">
                      <a:extLst>
                        <a:ext uri="{FF2B5EF4-FFF2-40B4-BE49-F238E27FC236}">
                          <a16:creationId xmlns:a16="http://schemas.microsoft.com/office/drawing/2014/main" id="{AFC4351C-B4B6-506C-2527-4FD41AEF4D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88E9768D-CC0A-6D74-0520-8EFB93DF0039}"/>
                  </a:ext>
                </a:extLst>
              </p:cNvPr>
              <p:cNvGrpSpPr/>
              <p:nvPr/>
            </p:nvGrpSpPr>
            <p:grpSpPr>
              <a:xfrm>
                <a:off x="6752496" y="1777309"/>
                <a:ext cx="431450" cy="1210364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2" name="직사각형 421">
                      <a:extLst>
                        <a:ext uri="{FF2B5EF4-FFF2-40B4-BE49-F238E27FC236}">
                          <a16:creationId xmlns:a16="http://schemas.microsoft.com/office/drawing/2014/main" id="{6AE9CF99-1971-8F0D-C723-DA91330C96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E76FCAC3-BACC-6B1C-70AF-C3DC21FCED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3" name="직사각형 422">
                      <a:extLst>
                        <a:ext uri="{FF2B5EF4-FFF2-40B4-BE49-F238E27FC236}">
                          <a16:creationId xmlns:a16="http://schemas.microsoft.com/office/drawing/2014/main" id="{11F48EC7-8096-2422-097F-C8285AD89A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B9382DB8-8EE8-18CF-6D87-B0FEF66BD1B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4" name="직사각형 423">
                      <a:extLst>
                        <a:ext uri="{FF2B5EF4-FFF2-40B4-BE49-F238E27FC236}">
                          <a16:creationId xmlns:a16="http://schemas.microsoft.com/office/drawing/2014/main" id="{77D45C6F-CD61-DD7C-D203-BDBA92BF6B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2F4C0908-0A63-0F93-9B8C-8FC4C0CD603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04" name="그룹 403">
                <a:extLst>
                  <a:ext uri="{FF2B5EF4-FFF2-40B4-BE49-F238E27FC236}">
                    <a16:creationId xmlns:a16="http://schemas.microsoft.com/office/drawing/2014/main" id="{56B1247C-37DA-31A8-588D-4309E41726E1}"/>
                  </a:ext>
                </a:extLst>
              </p:cNvPr>
              <p:cNvGrpSpPr/>
              <p:nvPr/>
            </p:nvGrpSpPr>
            <p:grpSpPr>
              <a:xfrm>
                <a:off x="6075552" y="2677891"/>
                <a:ext cx="643311" cy="260571"/>
                <a:chOff x="5574293" y="4874701"/>
                <a:chExt cx="1423401" cy="431074"/>
              </a:xfrm>
            </p:grpSpPr>
            <p:grpSp>
              <p:nvGrpSpPr>
                <p:cNvPr id="412" name="그룹 411">
                  <a:extLst>
                    <a:ext uri="{FF2B5EF4-FFF2-40B4-BE49-F238E27FC236}">
                      <a16:creationId xmlns:a16="http://schemas.microsoft.com/office/drawing/2014/main" id="{2EAB9BCF-206E-7006-3B46-D8BF145CAEE0}"/>
                    </a:ext>
                  </a:extLst>
                </p:cNvPr>
                <p:cNvGrpSpPr/>
                <p:nvPr/>
              </p:nvGrpSpPr>
              <p:grpSpPr>
                <a:xfrm>
                  <a:off x="6076987" y="4874701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415" name="직사각형 414">
                    <a:extLst>
                      <a:ext uri="{FF2B5EF4-FFF2-40B4-BE49-F238E27FC236}">
                        <a16:creationId xmlns:a16="http://schemas.microsoft.com/office/drawing/2014/main" id="{A33042E7-0131-CA7E-5E7C-787BD6AF6E37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6" name="직사각형 415">
                    <a:extLst>
                      <a:ext uri="{FF2B5EF4-FFF2-40B4-BE49-F238E27FC236}">
                        <a16:creationId xmlns:a16="http://schemas.microsoft.com/office/drawing/2014/main" id="{9D1EF454-FCA4-244A-DC52-D0E270F2CAFE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endParaRPr>
                  </a:p>
                </p:txBody>
              </p:sp>
            </p:grpSp>
            <p:sp>
              <p:nvSpPr>
                <p:cNvPr id="413" name="화살표: 오른쪽 412">
                  <a:extLst>
                    <a:ext uri="{FF2B5EF4-FFF2-40B4-BE49-F238E27FC236}">
                      <a16:creationId xmlns:a16="http://schemas.microsoft.com/office/drawing/2014/main" id="{B4D4E7B6-28C8-A960-7E2C-35F586126CE2}"/>
                    </a:ext>
                  </a:extLst>
                </p:cNvPr>
                <p:cNvSpPr/>
                <p:nvPr/>
              </p:nvSpPr>
              <p:spPr>
                <a:xfrm>
                  <a:off x="5574293" y="4934939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4" name="화살표: 오른쪽 413">
                  <a:extLst>
                    <a:ext uri="{FF2B5EF4-FFF2-40B4-BE49-F238E27FC236}">
                      <a16:creationId xmlns:a16="http://schemas.microsoft.com/office/drawing/2014/main" id="{3C2FFAC8-916E-FFE5-E595-4A7F3CD47DC1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05" name="곱하기 기호 404">
                <a:extLst>
                  <a:ext uri="{FF2B5EF4-FFF2-40B4-BE49-F238E27FC236}">
                    <a16:creationId xmlns:a16="http://schemas.microsoft.com/office/drawing/2014/main" id="{456FBD7C-AD42-E964-C51D-3AB8BCB868A5}"/>
                  </a:ext>
                </a:extLst>
              </p:cNvPr>
              <p:cNvSpPr/>
              <p:nvPr/>
            </p:nvSpPr>
            <p:spPr>
              <a:xfrm>
                <a:off x="7260750" y="2345068"/>
                <a:ext cx="142592" cy="144079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122A122F-C17D-4D75-2A28-A312656353F1}"/>
                  </a:ext>
                </a:extLst>
              </p:cNvPr>
              <p:cNvSpPr/>
              <p:nvPr/>
            </p:nvSpPr>
            <p:spPr>
              <a:xfrm>
                <a:off x="7445497" y="2345418"/>
                <a:ext cx="151659" cy="155755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07" name="직선 연결선 406">
                <a:extLst>
                  <a:ext uri="{FF2B5EF4-FFF2-40B4-BE49-F238E27FC236}">
                    <a16:creationId xmlns:a16="http://schemas.microsoft.com/office/drawing/2014/main" id="{5DA63C28-135C-C4D6-D337-9AF7FBEF43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4484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직선 연결선 407">
                <a:extLst>
                  <a:ext uri="{FF2B5EF4-FFF2-40B4-BE49-F238E27FC236}">
                    <a16:creationId xmlns:a16="http://schemas.microsoft.com/office/drawing/2014/main" id="{082FD585-3AA3-9071-14BB-D8B3314769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3342" y="2450139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직선 연결선 409">
                <a:extLst>
                  <a:ext uri="{FF2B5EF4-FFF2-40B4-BE49-F238E27FC236}">
                    <a16:creationId xmlns:a16="http://schemas.microsoft.com/office/drawing/2014/main" id="{E38DDC0C-1EE2-2922-432B-3C25141AA1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52954" y="2405442"/>
                <a:ext cx="13374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직선 연결선 410">
                <a:extLst>
                  <a:ext uri="{FF2B5EF4-FFF2-40B4-BE49-F238E27FC236}">
                    <a16:creationId xmlns:a16="http://schemas.microsoft.com/office/drawing/2014/main" id="{E55ABA80-4AAF-02B1-9E11-DE7FCA64B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4702" y="2345417"/>
                <a:ext cx="0" cy="16315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7" name="화살표: 오른쪽 576">
                <a:extLst>
                  <a:ext uri="{FF2B5EF4-FFF2-40B4-BE49-F238E27FC236}">
                    <a16:creationId xmlns:a16="http://schemas.microsoft.com/office/drawing/2014/main" id="{9A3861D5-14B8-2858-5A35-3683D1552B2E}"/>
                  </a:ext>
                </a:extLst>
              </p:cNvPr>
              <p:cNvSpPr/>
              <p:nvPr/>
            </p:nvSpPr>
            <p:spPr>
              <a:xfrm>
                <a:off x="6132262" y="1898426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9" name="화살표: 오른쪽 578">
                <a:extLst>
                  <a:ext uri="{FF2B5EF4-FFF2-40B4-BE49-F238E27FC236}">
                    <a16:creationId xmlns:a16="http://schemas.microsoft.com/office/drawing/2014/main" id="{7E99B4DF-64E3-EF1C-D1BD-0360E5112191}"/>
                  </a:ext>
                </a:extLst>
              </p:cNvPr>
              <p:cNvSpPr/>
              <p:nvPr/>
            </p:nvSpPr>
            <p:spPr>
              <a:xfrm>
                <a:off x="6127605" y="2304728"/>
                <a:ext cx="542515" cy="2200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87834A3F-0292-7E17-99B6-FF4BAD0C7D17}"/>
                  </a:ext>
                </a:extLst>
              </p:cNvPr>
              <p:cNvSpPr txBox="1"/>
              <p:nvPr/>
            </p:nvSpPr>
            <p:spPr>
              <a:xfrm>
                <a:off x="5508207" y="3280721"/>
                <a:ext cx="148641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dirty="0"/>
                  <a:t>57</a:t>
                </a:r>
                <a:r>
                  <a:rPr lang="ko-KR" altLang="en-US" sz="1100" dirty="0"/>
                  <a:t>번의 </a:t>
                </a:r>
                <a:r>
                  <a:rPr lang="en-US" altLang="ko-KR" sz="1100" dirty="0"/>
                  <a:t>partial round</a:t>
                </a:r>
              </a:p>
            </p:txBody>
          </p:sp>
          <p:sp>
            <p:nvSpPr>
              <p:cNvPr id="56" name="사다리꼴 55">
                <a:extLst>
                  <a:ext uri="{FF2B5EF4-FFF2-40B4-BE49-F238E27FC236}">
                    <a16:creationId xmlns:a16="http://schemas.microsoft.com/office/drawing/2014/main" id="{2E1EEACC-0068-5178-6B6A-C689B0544870}"/>
                  </a:ext>
                </a:extLst>
              </p:cNvPr>
              <p:cNvSpPr/>
              <p:nvPr/>
            </p:nvSpPr>
            <p:spPr>
              <a:xfrm rot="5400000">
                <a:off x="5114296" y="185310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DC912F17-680B-81BA-BA20-14260754E768}"/>
                  </a:ext>
                </a:extLst>
              </p:cNvPr>
              <p:cNvGrpSpPr/>
              <p:nvPr/>
            </p:nvGrpSpPr>
            <p:grpSpPr>
              <a:xfrm>
                <a:off x="4963794" y="1892264"/>
                <a:ext cx="602940" cy="153317"/>
                <a:chOff x="577254" y="1892264"/>
                <a:chExt cx="602940" cy="153317"/>
              </a:xfrm>
            </p:grpSpPr>
            <p:sp>
              <p:nvSpPr>
                <p:cNvPr id="58" name="화살표: 오른쪽 57">
                  <a:extLst>
                    <a:ext uri="{FF2B5EF4-FFF2-40B4-BE49-F238E27FC236}">
                      <a16:creationId xmlns:a16="http://schemas.microsoft.com/office/drawing/2014/main" id="{6306F964-5F3F-EC34-E182-25524F7C13EC}"/>
                    </a:ext>
                  </a:extLst>
                </p:cNvPr>
                <p:cNvSpPr/>
                <p:nvPr/>
              </p:nvSpPr>
              <p:spPr>
                <a:xfrm>
                  <a:off x="577254" y="189226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화살표: 오른쪽 58">
                  <a:extLst>
                    <a:ext uri="{FF2B5EF4-FFF2-40B4-BE49-F238E27FC236}">
                      <a16:creationId xmlns:a16="http://schemas.microsoft.com/office/drawing/2014/main" id="{1FEB5121-8C60-529A-E671-CCCF1D87E7A3}"/>
                    </a:ext>
                  </a:extLst>
                </p:cNvPr>
                <p:cNvSpPr/>
                <p:nvPr/>
              </p:nvSpPr>
              <p:spPr>
                <a:xfrm>
                  <a:off x="1035495" y="190134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E0572211-D672-7505-2758-C9271FDE2670}"/>
                  </a:ext>
                </a:extLst>
              </p:cNvPr>
              <p:cNvGrpSpPr/>
              <p:nvPr/>
            </p:nvGrpSpPr>
            <p:grpSpPr>
              <a:xfrm>
                <a:off x="4963270" y="2308684"/>
                <a:ext cx="602940" cy="153317"/>
                <a:chOff x="576730" y="2312609"/>
                <a:chExt cx="602940" cy="153317"/>
              </a:xfrm>
            </p:grpSpPr>
            <p:sp>
              <p:nvSpPr>
                <p:cNvPr id="61" name="화살표: 오른쪽 60">
                  <a:extLst>
                    <a:ext uri="{FF2B5EF4-FFF2-40B4-BE49-F238E27FC236}">
                      <a16:creationId xmlns:a16="http://schemas.microsoft.com/office/drawing/2014/main" id="{AF7A9A19-5BA7-3266-E9A4-F06DF342D09E}"/>
                    </a:ext>
                  </a:extLst>
                </p:cNvPr>
                <p:cNvSpPr/>
                <p:nvPr/>
              </p:nvSpPr>
              <p:spPr>
                <a:xfrm>
                  <a:off x="576730" y="2312609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화살표: 오른쪽 61">
                  <a:extLst>
                    <a:ext uri="{FF2B5EF4-FFF2-40B4-BE49-F238E27FC236}">
                      <a16:creationId xmlns:a16="http://schemas.microsoft.com/office/drawing/2014/main" id="{4EF09E84-8825-AF0A-4662-4757CB4DEEF4}"/>
                    </a:ext>
                  </a:extLst>
                </p:cNvPr>
                <p:cNvSpPr/>
                <p:nvPr/>
              </p:nvSpPr>
              <p:spPr>
                <a:xfrm>
                  <a:off x="1034971" y="2321692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273EB0B-08E7-84EA-4E40-A42B18412C7E}"/>
                  </a:ext>
                </a:extLst>
              </p:cNvPr>
              <p:cNvGrpSpPr/>
              <p:nvPr/>
            </p:nvGrpSpPr>
            <p:grpSpPr>
              <a:xfrm>
                <a:off x="4956774" y="2665043"/>
                <a:ext cx="602940" cy="284257"/>
                <a:chOff x="570234" y="2665043"/>
                <a:chExt cx="602940" cy="284257"/>
              </a:xfrm>
            </p:grpSpPr>
            <p:grpSp>
              <p:nvGrpSpPr>
                <p:cNvPr id="448" name="그룹 447">
                  <a:extLst>
                    <a:ext uri="{FF2B5EF4-FFF2-40B4-BE49-F238E27FC236}">
                      <a16:creationId xmlns:a16="http://schemas.microsoft.com/office/drawing/2014/main" id="{2A2DB3A9-6086-D6DA-4865-FBA09A334567}"/>
                    </a:ext>
                  </a:extLst>
                </p:cNvPr>
                <p:cNvGrpSpPr/>
                <p:nvPr/>
              </p:nvGrpSpPr>
              <p:grpSpPr>
                <a:xfrm>
                  <a:off x="570234" y="2725104"/>
                  <a:ext cx="602940" cy="153317"/>
                  <a:chOff x="570234" y="2725104"/>
                  <a:chExt cx="602940" cy="153317"/>
                </a:xfrm>
              </p:grpSpPr>
              <p:sp>
                <p:nvSpPr>
                  <p:cNvPr id="450" name="화살표: 오른쪽 449">
                    <a:extLst>
                      <a:ext uri="{FF2B5EF4-FFF2-40B4-BE49-F238E27FC236}">
                        <a16:creationId xmlns:a16="http://schemas.microsoft.com/office/drawing/2014/main" id="{53E3B270-C84A-3A14-F4F1-4DC28264CE7C}"/>
                      </a:ext>
                    </a:extLst>
                  </p:cNvPr>
                  <p:cNvSpPr/>
                  <p:nvPr/>
                </p:nvSpPr>
                <p:spPr>
                  <a:xfrm>
                    <a:off x="570234" y="2725104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1" name="화살표: 오른쪽 450">
                    <a:extLst>
                      <a:ext uri="{FF2B5EF4-FFF2-40B4-BE49-F238E27FC236}">
                        <a16:creationId xmlns:a16="http://schemas.microsoft.com/office/drawing/2014/main" id="{FAC37F49-0C3D-CE33-81B4-7854184BCEA0}"/>
                      </a:ext>
                    </a:extLst>
                  </p:cNvPr>
                  <p:cNvSpPr/>
                  <p:nvPr/>
                </p:nvSpPr>
                <p:spPr>
                  <a:xfrm>
                    <a:off x="1028475" y="2734187"/>
                    <a:ext cx="144699" cy="144234"/>
                  </a:xfrm>
                  <a:prstGeom prst="rightArrow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49" name="사다리꼴 448">
                  <a:extLst>
                    <a:ext uri="{FF2B5EF4-FFF2-40B4-BE49-F238E27FC236}">
                      <a16:creationId xmlns:a16="http://schemas.microsoft.com/office/drawing/2014/main" id="{64BEB54A-AC9E-8674-28CF-4A0E4E944BD8}"/>
                    </a:ext>
                  </a:extLst>
                </p:cNvPr>
                <p:cNvSpPr/>
                <p:nvPr/>
              </p:nvSpPr>
              <p:spPr>
                <a:xfrm rot="5400000">
                  <a:off x="727757" y="2684957"/>
                  <a:ext cx="284257" cy="244430"/>
                </a:xfrm>
                <a:prstGeom prst="trapezoid">
                  <a:avLst>
                    <a:gd name="adj" fmla="val 22033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52" name="사다리꼴 451">
                <a:extLst>
                  <a:ext uri="{FF2B5EF4-FFF2-40B4-BE49-F238E27FC236}">
                    <a16:creationId xmlns:a16="http://schemas.microsoft.com/office/drawing/2014/main" id="{F66BF190-7148-EC13-1911-AC6D8B10D66A}"/>
                  </a:ext>
                </a:extLst>
              </p:cNvPr>
              <p:cNvSpPr/>
              <p:nvPr/>
            </p:nvSpPr>
            <p:spPr>
              <a:xfrm rot="5400000">
                <a:off x="5120420" y="2269032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695B103-B0E3-D02A-6410-1FE1CC39ACD5}"/>
              </a:ext>
            </a:extLst>
          </p:cNvPr>
          <p:cNvSpPr txBox="1"/>
          <p:nvPr/>
        </p:nvSpPr>
        <p:spPr>
          <a:xfrm>
            <a:off x="4451279" y="1676287"/>
            <a:ext cx="735729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Posieodn-128</a:t>
            </a:r>
            <a:r>
              <a:rPr lang="ko-KR" altLang="en-US" sz="1600" b="1" dirty="0"/>
              <a:t>의</a:t>
            </a:r>
            <a:r>
              <a:rPr lang="en-US" altLang="ko-KR" sz="1600" b="1" dirty="0"/>
              <a:t> R1CS </a:t>
            </a:r>
            <a:endParaRPr lang="en-US" altLang="ko-KR" sz="1400" b="1" i="1" dirty="0">
              <a:latin typeface="Cambria Math" panose="02040503050406030204" pitchFamily="18" charset="0"/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&lt;Full Round&gt;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1 Round </a:t>
            </a:r>
            <a:r>
              <a:rPr lang="ko-KR" altLang="en-US" sz="1400" dirty="0"/>
              <a:t>당 발생하는 </a:t>
            </a:r>
            <a:r>
              <a:rPr lang="en-US" altLang="ko-KR" sz="1400" dirty="0"/>
              <a:t>R1CS : 3 x 3 =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Full Round</a:t>
            </a:r>
            <a:r>
              <a:rPr lang="ko-KR" altLang="en-US" sz="1400" dirty="0"/>
              <a:t>에서 발생하는 </a:t>
            </a:r>
            <a:r>
              <a:rPr lang="en-US" altLang="ko-KR" sz="1400" dirty="0"/>
              <a:t>R1CS : 8 x 9 = 72</a:t>
            </a:r>
          </a:p>
          <a:p>
            <a:endParaRPr lang="en-US" altLang="ko-KR" sz="1400" dirty="0"/>
          </a:p>
          <a:p>
            <a:r>
              <a:rPr lang="en-US" altLang="ko-KR" sz="1400" dirty="0"/>
              <a:t>&lt;Partial Round&gt;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1 Round </a:t>
            </a:r>
            <a:r>
              <a:rPr lang="ko-KR" altLang="en-US" sz="1400" dirty="0"/>
              <a:t>당 발생하는 </a:t>
            </a:r>
            <a:r>
              <a:rPr lang="en-US" altLang="ko-KR" sz="1400" dirty="0"/>
              <a:t>R1CS : 3 x 1 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Partial Round</a:t>
            </a:r>
            <a:r>
              <a:rPr lang="ko-KR" altLang="en-US" sz="1400" dirty="0"/>
              <a:t>에서 발생하는 </a:t>
            </a:r>
            <a:r>
              <a:rPr lang="en-US" altLang="ko-KR" sz="1400" dirty="0"/>
              <a:t>R1CS : 57 x 3 = 171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총 </a:t>
            </a:r>
            <a:r>
              <a:rPr lang="en-US" altLang="ko-KR" sz="1400" dirty="0"/>
              <a:t>R1CS = 243</a:t>
            </a:r>
          </a:p>
          <a:p>
            <a:endParaRPr lang="en-US" altLang="ko-KR" sz="1400" dirty="0"/>
          </a:p>
          <a:p>
            <a:r>
              <a:rPr lang="en-US" altLang="ko-KR" sz="1400" dirty="0"/>
              <a:t>Sol1</a:t>
            </a:r>
            <a:r>
              <a:rPr lang="ko-KR" altLang="en-US" sz="1400" dirty="0"/>
              <a:t>의 </a:t>
            </a:r>
            <a:r>
              <a:rPr lang="en-US" altLang="ko-KR" sz="1400" dirty="0"/>
              <a:t>R1CS = 243</a:t>
            </a:r>
          </a:p>
        </p:txBody>
      </p:sp>
    </p:spTree>
    <p:extLst>
      <p:ext uri="{BB962C8B-B14F-4D97-AF65-F5344CB8AC3E}">
        <p14:creationId xmlns:p14="http://schemas.microsoft.com/office/powerpoint/2010/main" val="125482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83E0-40E5-E059-740C-4336CE9A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EC406-394C-F4BC-A418-47E4432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BCDAF-4381-025D-5A82-AC853019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21" name="Group 28">
            <a:extLst>
              <a:ext uri="{FF2B5EF4-FFF2-40B4-BE49-F238E27FC236}">
                <a16:creationId xmlns:a16="http://schemas.microsoft.com/office/drawing/2014/main" id="{F724BA2F-9C03-02B6-9302-6F9D9E90D10F}"/>
              </a:ext>
            </a:extLst>
          </p:cNvPr>
          <p:cNvGrpSpPr/>
          <p:nvPr/>
        </p:nvGrpSpPr>
        <p:grpSpPr>
          <a:xfrm>
            <a:off x="361052" y="1766218"/>
            <a:ext cx="2906038" cy="3070197"/>
            <a:chOff x="4527692" y="2756818"/>
            <a:chExt cx="2906038" cy="3070197"/>
          </a:xfrm>
        </p:grpSpPr>
        <p:grpSp>
          <p:nvGrpSpPr>
            <p:cNvPr id="22" name="Group 29">
              <a:extLst>
                <a:ext uri="{FF2B5EF4-FFF2-40B4-BE49-F238E27FC236}">
                  <a16:creationId xmlns:a16="http://schemas.microsoft.com/office/drawing/2014/main" id="{991F836B-960D-B464-4A89-F143E3ADEB0F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29" name="Rectangle 36">
                <a:extLst>
                  <a:ext uri="{FF2B5EF4-FFF2-40B4-BE49-F238E27FC236}">
                    <a16:creationId xmlns:a16="http://schemas.microsoft.com/office/drawing/2014/main" id="{1B8B4DED-0BB3-D9F7-8826-EEE9BA48CA63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37">
                <a:extLst>
                  <a:ext uri="{FF2B5EF4-FFF2-40B4-BE49-F238E27FC236}">
                    <a16:creationId xmlns:a16="http://schemas.microsoft.com/office/drawing/2014/main" id="{DCCC235A-34E2-AAE4-13C0-EE27549627E1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8">
                <a:extLst>
                  <a:ext uri="{FF2B5EF4-FFF2-40B4-BE49-F238E27FC236}">
                    <a16:creationId xmlns:a16="http://schemas.microsoft.com/office/drawing/2014/main" id="{CA73BB26-EFC5-45AC-A33C-11EE259961CE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3" name="Straight Arrow Connector 30">
              <a:extLst>
                <a:ext uri="{FF2B5EF4-FFF2-40B4-BE49-F238E27FC236}">
                  <a16:creationId xmlns:a16="http://schemas.microsoft.com/office/drawing/2014/main" id="{E8B55CB8-1817-F747-7A58-0CF183A285FF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F8EA330-2B2F-083F-38A8-2B76726A3CEE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25" name="Right Brace 32">
              <a:extLst>
                <a:ext uri="{FF2B5EF4-FFF2-40B4-BE49-F238E27FC236}">
                  <a16:creationId xmlns:a16="http://schemas.microsoft.com/office/drawing/2014/main" id="{03F083CC-1510-1FCC-3262-E220A5521414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FA90B8-A041-F757-7C54-CF9CE08E6179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4DCE16-B1EC-F055-B994-5EDDDF93D9DF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28" name="Straight Arrow Connector 35">
              <a:extLst>
                <a:ext uri="{FF2B5EF4-FFF2-40B4-BE49-F238E27FC236}">
                  <a16:creationId xmlns:a16="http://schemas.microsoft.com/office/drawing/2014/main" id="{85CEB97C-607D-3848-F22F-27D40AE36257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F8A801-42A3-5489-6255-26F16B57CDC0}"/>
                  </a:ext>
                </a:extLst>
              </p:cNvPr>
              <p:cNvSpPr txBox="1"/>
              <p:nvPr/>
            </p:nvSpPr>
            <p:spPr>
              <a:xfrm>
                <a:off x="4451279" y="1676287"/>
                <a:ext cx="7357293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Sol2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R1CS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&lt;r1</a:t>
                </a:r>
                <a:r>
                  <a:rPr lang="ko-KR" altLang="en-US" sz="1400" dirty="0"/>
                  <a:t>은 모든 값을 사용</a:t>
                </a:r>
                <a:r>
                  <a:rPr lang="en-US" altLang="ko-KR" sz="1400" dirty="0"/>
                  <a:t>, r2</a:t>
                </a:r>
                <a:r>
                  <a:rPr lang="ko-KR" altLang="en-US" sz="1400" dirty="0"/>
                  <a:t>에서 </a:t>
                </a:r>
                <a:r>
                  <a:rPr lang="en-US" altLang="ko-KR" sz="1400" dirty="0"/>
                  <a:t>2-bit</a:t>
                </a:r>
                <a:r>
                  <a:rPr lang="ko-KR" altLang="en-US" sz="1400" dirty="0"/>
                  <a:t> 추출하는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r2</a:t>
                </a:r>
                <a:r>
                  <a:rPr lang="ko-KR" altLang="en-US" sz="1400" dirty="0"/>
                  <a:t>의 </a:t>
                </a:r>
                <a:r>
                  <a:rPr lang="ko-KR" altLang="en-US" sz="1400" dirty="0" err="1"/>
                  <a:t>출력값을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254-bit </a:t>
                </a:r>
                <a:r>
                  <a:rPr lang="ko-KR" altLang="en-US" sz="1400" dirty="0"/>
                  <a:t>값으로 변환하는 과정 필요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497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&lt;r1, r2 </a:t>
                </a:r>
                <a:r>
                  <a:rPr lang="ko-KR" altLang="en-US" sz="1400" dirty="0"/>
                  <a:t>모두 </a:t>
                </a:r>
                <a:r>
                  <a:rPr lang="en-US" altLang="ko-KR" sz="1400" dirty="0"/>
                  <a:t>128-bit </a:t>
                </a:r>
                <a:r>
                  <a:rPr lang="ko-KR" altLang="en-US" sz="1400" dirty="0"/>
                  <a:t>씩 추출하는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R1, r2</a:t>
                </a:r>
                <a:r>
                  <a:rPr lang="ko-KR" altLang="en-US" sz="1400" dirty="0"/>
                  <a:t>의 </a:t>
                </a:r>
                <a:r>
                  <a:rPr lang="ko-KR" altLang="en-US" sz="1400" dirty="0" err="1"/>
                  <a:t>출력값을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254-bit </a:t>
                </a:r>
                <a:r>
                  <a:rPr lang="ko-KR" altLang="en-US" sz="1400" dirty="0"/>
                  <a:t>값으로 변환하는 과정 필요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= 0, 1, … , 253)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출력값의 </a:t>
                </a:r>
                <a:r>
                  <a:rPr lang="en-US" altLang="ko-KR" sz="1400" dirty="0" err="1"/>
                  <a:t>i</a:t>
                </a:r>
                <a:r>
                  <a:rPr lang="ko-KR" altLang="en-US" sz="1400" dirty="0"/>
                  <a:t>번째 </a:t>
                </a:r>
                <a:r>
                  <a:rPr lang="ko-KR" altLang="en-US" sz="1400" dirty="0" err="1"/>
                  <a:t>비트값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773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F8A801-42A3-5489-6255-26F16B57C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79" y="1676287"/>
                <a:ext cx="7357293" cy="4216539"/>
              </a:xfrm>
              <a:prstGeom prst="rect">
                <a:avLst/>
              </a:prstGeom>
              <a:blipFill>
                <a:blip r:embed="rId3"/>
                <a:stretch>
                  <a:fillRect l="-414" t="-578" b="-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83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B375-E28A-B924-5E74-D47B50DD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01D7B-814C-3B7C-C61A-958F7CDB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Sol3</a:t>
            </a:r>
            <a:r>
              <a:rPr lang="ko-KR" altLang="en-US" dirty="0"/>
              <a:t>의 </a:t>
            </a:r>
            <a:r>
              <a:rPr lang="en-US" altLang="ko-KR" dirty="0"/>
              <a:t>R1CS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7F3B9-EC7D-80A3-92E1-777325A1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E49A10-B204-7434-9BD0-F68428572D5F}"/>
                  </a:ext>
                </a:extLst>
              </p:cNvPr>
              <p:cNvSpPr txBox="1"/>
              <p:nvPr/>
            </p:nvSpPr>
            <p:spPr>
              <a:xfrm>
                <a:off x="4768779" y="1676287"/>
                <a:ext cx="7357293" cy="4434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Sol3</a:t>
                </a:r>
                <a:r>
                  <a:rPr lang="ko-KR" altLang="en-US" sz="1600" b="1" dirty="0"/>
                  <a:t>의</a:t>
                </a:r>
                <a:r>
                  <a:rPr lang="en-US" altLang="ko-KR" sz="1600" b="1" dirty="0"/>
                  <a:t> R1CS 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&lt;128-bit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Field</a:t>
                </a:r>
                <a:r>
                  <a:rPr lang="ko-KR" altLang="en-US" sz="1400" dirty="0"/>
                  <a:t>를 사용하는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 </a:t>
                </a:r>
                <a:r>
                  <a:rPr lang="ko-KR" altLang="en-US" sz="1400" dirty="0"/>
                  <a:t>수 </a:t>
                </a:r>
                <a:r>
                  <a:rPr lang="en-US" altLang="ko-KR" sz="1400" dirty="0"/>
                  <a:t>: 58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sz="1400" dirty="0"/>
                  <a:t> (3 R1CS)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Full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6 x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8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x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3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=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144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 x 58 x 3 = 174</a:t>
                </a: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318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&lt;64-bit Field</a:t>
                </a:r>
                <a:r>
                  <a:rPr lang="ko-KR" altLang="en-US" sz="1400" dirty="0"/>
                  <a:t>를 사용하는 경우</a:t>
                </a:r>
                <a:r>
                  <a:rPr lang="en-US" altLang="ko-KR" sz="1400" dirty="0"/>
                  <a:t>&gt;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 </a:t>
                </a:r>
                <a:r>
                  <a:rPr lang="ko-KR" altLang="en-US" sz="1400" dirty="0"/>
                  <a:t>수 </a:t>
                </a:r>
                <a:r>
                  <a:rPr lang="en-US" altLang="ko-KR" sz="1400" dirty="0"/>
                  <a:t>: 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S-box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altLang="ko-KR" sz="1400" dirty="0"/>
                  <a:t>(4 R1CS)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Full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12 x 8 x 4= 384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Partial Round</a:t>
                </a:r>
                <a:r>
                  <a:rPr lang="ko-KR" altLang="en-US" sz="1400" dirty="0"/>
                  <a:t>의 총 </a:t>
                </a:r>
                <a:r>
                  <a:rPr lang="en-US" altLang="ko-KR" sz="1400" dirty="0"/>
                  <a:t>R1CS : 1 x 22 x 4 = 88</a:t>
                </a:r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약 </a:t>
                </a:r>
                <a:r>
                  <a:rPr lang="en-US" altLang="ko-KR" sz="1400" dirty="0"/>
                  <a:t>472</a:t>
                </a:r>
                <a:r>
                  <a:rPr lang="ko-KR" altLang="en-US" sz="1400" dirty="0"/>
                  <a:t>개의 </a:t>
                </a: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발생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E49A10-B204-7434-9BD0-F68428572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779" y="1676287"/>
                <a:ext cx="7357293" cy="4434355"/>
              </a:xfrm>
              <a:prstGeom prst="rect">
                <a:avLst/>
              </a:prstGeom>
              <a:blipFill>
                <a:blip r:embed="rId3"/>
                <a:stretch>
                  <a:fillRect l="-414" t="-550" b="-5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7">
            <a:extLst>
              <a:ext uri="{FF2B5EF4-FFF2-40B4-BE49-F238E27FC236}">
                <a16:creationId xmlns:a16="http://schemas.microsoft.com/office/drawing/2014/main" id="{75830A12-318D-1A19-4421-3DF42F3C4100}"/>
              </a:ext>
            </a:extLst>
          </p:cNvPr>
          <p:cNvGrpSpPr/>
          <p:nvPr/>
        </p:nvGrpSpPr>
        <p:grpSpPr>
          <a:xfrm>
            <a:off x="505016" y="1897789"/>
            <a:ext cx="3948096" cy="3062421"/>
            <a:chOff x="7724966" y="2757961"/>
            <a:chExt cx="3948096" cy="3062421"/>
          </a:xfrm>
        </p:grpSpPr>
        <p:sp>
          <p:nvSpPr>
            <p:cNvPr id="5" name="Right Brace 2">
              <a:extLst>
                <a:ext uri="{FF2B5EF4-FFF2-40B4-BE49-F238E27FC236}">
                  <a16:creationId xmlns:a16="http://schemas.microsoft.com/office/drawing/2014/main" id="{08053518-EFBA-91C1-7E67-E262F283C349}"/>
                </a:ext>
              </a:extLst>
            </p:cNvPr>
            <p:cNvSpPr/>
            <p:nvPr/>
          </p:nvSpPr>
          <p:spPr>
            <a:xfrm rot="5400000">
              <a:off x="8297859" y="4539230"/>
              <a:ext cx="342900" cy="141317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32EBFD-5419-8BD0-215C-B7C21C7D12E0}"/>
                </a:ext>
              </a:extLst>
            </p:cNvPr>
            <p:cNvSpPr txBox="1"/>
            <p:nvPr/>
          </p:nvSpPr>
          <p:spPr>
            <a:xfrm>
              <a:off x="7791897" y="5451050"/>
              <a:ext cx="2908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2E5C9531-BED4-547C-347D-9CE36D6FB076}"/>
                </a:ext>
              </a:extLst>
            </p:cNvPr>
            <p:cNvGrpSpPr/>
            <p:nvPr/>
          </p:nvGrpSpPr>
          <p:grpSpPr>
            <a:xfrm>
              <a:off x="7781602" y="3006661"/>
              <a:ext cx="3891460" cy="419931"/>
              <a:chOff x="7834765" y="3009069"/>
              <a:chExt cx="3891460" cy="419931"/>
            </a:xfrm>
          </p:grpSpPr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7190CB88-3F80-5577-DFA4-A09BE7A5798E}"/>
                  </a:ext>
                </a:extLst>
              </p:cNvPr>
              <p:cNvGrpSpPr/>
              <p:nvPr/>
            </p:nvGrpSpPr>
            <p:grpSpPr>
              <a:xfrm>
                <a:off x="7834765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9" name="Rectangle 19">
                  <a:extLst>
                    <a:ext uri="{FF2B5EF4-FFF2-40B4-BE49-F238E27FC236}">
                      <a16:creationId xmlns:a16="http://schemas.microsoft.com/office/drawing/2014/main" id="{2C87EB3A-4AEC-7CFB-32F5-87C448D5FC8C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Rectangle 20">
                  <a:extLst>
                    <a:ext uri="{FF2B5EF4-FFF2-40B4-BE49-F238E27FC236}">
                      <a16:creationId xmlns:a16="http://schemas.microsoft.com/office/drawing/2014/main" id="{6938CB4C-3D90-CB14-A514-DD4B24441DCC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Rectangle 21">
                  <a:extLst>
                    <a:ext uri="{FF2B5EF4-FFF2-40B4-BE49-F238E27FC236}">
                      <a16:creationId xmlns:a16="http://schemas.microsoft.com/office/drawing/2014/main" id="{E16E4C03-3C59-EB4B-ED36-8766B9419F7D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7">
                <a:extLst>
                  <a:ext uri="{FF2B5EF4-FFF2-40B4-BE49-F238E27FC236}">
                    <a16:creationId xmlns:a16="http://schemas.microsoft.com/office/drawing/2014/main" id="{367386C3-4D36-6F62-1596-09722E96F4FA}"/>
                  </a:ext>
                </a:extLst>
              </p:cNvPr>
              <p:cNvGrpSpPr/>
              <p:nvPr/>
            </p:nvGrpSpPr>
            <p:grpSpPr>
              <a:xfrm>
                <a:off x="8807630" y="3010700"/>
                <a:ext cx="972865" cy="418300"/>
                <a:chOff x="3739857" y="5115350"/>
                <a:chExt cx="1353428" cy="418300"/>
              </a:xfrm>
            </p:grpSpPr>
            <p:sp>
              <p:nvSpPr>
                <p:cNvPr id="56" name="Rectangle 16">
                  <a:extLst>
                    <a:ext uri="{FF2B5EF4-FFF2-40B4-BE49-F238E27FC236}">
                      <a16:creationId xmlns:a16="http://schemas.microsoft.com/office/drawing/2014/main" id="{54AB02C6-1869-7890-EA51-62A716D95AC6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Rectangle 17">
                  <a:extLst>
                    <a:ext uri="{FF2B5EF4-FFF2-40B4-BE49-F238E27FC236}">
                      <a16:creationId xmlns:a16="http://schemas.microsoft.com/office/drawing/2014/main" id="{BFCF885A-5312-97CB-D4B2-219F1801D921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5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Rectangle 18">
                  <a:extLst>
                    <a:ext uri="{FF2B5EF4-FFF2-40B4-BE49-F238E27FC236}">
                      <a16:creationId xmlns:a16="http://schemas.microsoft.com/office/drawing/2014/main" id="{C8C6573F-04DE-71E7-4686-F661C1E85F23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6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Group 8">
                <a:extLst>
                  <a:ext uri="{FF2B5EF4-FFF2-40B4-BE49-F238E27FC236}">
                    <a16:creationId xmlns:a16="http://schemas.microsoft.com/office/drawing/2014/main" id="{C65F687B-BACB-88AF-943F-9183662C4BB2}"/>
                  </a:ext>
                </a:extLst>
              </p:cNvPr>
              <p:cNvGrpSpPr/>
              <p:nvPr/>
            </p:nvGrpSpPr>
            <p:grpSpPr>
              <a:xfrm>
                <a:off x="9780495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20" name="Rectangle 13">
                  <a:extLst>
                    <a:ext uri="{FF2B5EF4-FFF2-40B4-BE49-F238E27FC236}">
                      <a16:creationId xmlns:a16="http://schemas.microsoft.com/office/drawing/2014/main" id="{1A8D84DC-3F5E-6DF9-FB5A-46AFAC44A933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7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14">
                  <a:extLst>
                    <a:ext uri="{FF2B5EF4-FFF2-40B4-BE49-F238E27FC236}">
                      <a16:creationId xmlns:a16="http://schemas.microsoft.com/office/drawing/2014/main" id="{44B1396D-F551-A1E7-F81C-F452B2544E65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r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8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15">
                  <a:extLst>
                    <a:ext uri="{FF2B5EF4-FFF2-40B4-BE49-F238E27FC236}">
                      <a16:creationId xmlns:a16="http://schemas.microsoft.com/office/drawing/2014/main" id="{D31483D3-7F16-4D1D-B7DA-EC6618663F8C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1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" name="Group 9">
                <a:extLst>
                  <a:ext uri="{FF2B5EF4-FFF2-40B4-BE49-F238E27FC236}">
                    <a16:creationId xmlns:a16="http://schemas.microsoft.com/office/drawing/2014/main" id="{CBC70B4B-7A38-9BFC-FBDC-BA8027444762}"/>
                  </a:ext>
                </a:extLst>
              </p:cNvPr>
              <p:cNvGrpSpPr/>
              <p:nvPr/>
            </p:nvGrpSpPr>
            <p:grpSpPr>
              <a:xfrm>
                <a:off x="10753360" y="3009069"/>
                <a:ext cx="972865" cy="418300"/>
                <a:chOff x="3739857" y="5115350"/>
                <a:chExt cx="1353428" cy="418300"/>
              </a:xfrm>
            </p:grpSpPr>
            <p:sp>
              <p:nvSpPr>
                <p:cNvPr id="17" name="Rectangle 10">
                  <a:extLst>
                    <a:ext uri="{FF2B5EF4-FFF2-40B4-BE49-F238E27FC236}">
                      <a16:creationId xmlns:a16="http://schemas.microsoft.com/office/drawing/2014/main" id="{E7B5BB39-354D-A381-4E78-D2335D8EABC5}"/>
                    </a:ext>
                  </a:extLst>
                </p:cNvPr>
                <p:cNvSpPr/>
                <p:nvPr/>
              </p:nvSpPr>
              <p:spPr>
                <a:xfrm>
                  <a:off x="3739857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2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1">
                  <a:extLst>
                    <a:ext uri="{FF2B5EF4-FFF2-40B4-BE49-F238E27FC236}">
                      <a16:creationId xmlns:a16="http://schemas.microsoft.com/office/drawing/2014/main" id="{C90879BD-E980-B39D-5BF4-F6469E88E014}"/>
                    </a:ext>
                  </a:extLst>
                </p:cNvPr>
                <p:cNvSpPr/>
                <p:nvPr/>
              </p:nvSpPr>
              <p:spPr>
                <a:xfrm>
                  <a:off x="4191001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 dirty="0">
                      <a:solidFill>
                        <a:schemeClr val="tx1"/>
                      </a:solidFill>
                    </a:rPr>
                    <a:t>3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2">
                  <a:extLst>
                    <a:ext uri="{FF2B5EF4-FFF2-40B4-BE49-F238E27FC236}">
                      <a16:creationId xmlns:a16="http://schemas.microsoft.com/office/drawing/2014/main" id="{F7187AD4-5431-7197-EB63-32AC94F493DD}"/>
                    </a:ext>
                  </a:extLst>
                </p:cNvPr>
                <p:cNvSpPr/>
                <p:nvPr/>
              </p:nvSpPr>
              <p:spPr>
                <a:xfrm>
                  <a:off x="4642143" y="5115350"/>
                  <a:ext cx="451142" cy="4183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tx1"/>
                      </a:solidFill>
                    </a:rPr>
                    <a:t>c</a:t>
                  </a:r>
                  <a:r>
                    <a:rPr lang="en-US" altLang="ko-KR" sz="1200" baseline="-25000">
                      <a:solidFill>
                        <a:schemeClr val="tx1"/>
                      </a:solidFill>
                    </a:rPr>
                    <a:t>4</a:t>
                  </a:r>
                  <a:endParaRPr lang="en-US" sz="1200" baseline="-250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521B01-61FB-2060-03C4-F2A9FD3326B2}"/>
                </a:ext>
              </a:extLst>
            </p:cNvPr>
            <p:cNvSpPr txBox="1"/>
            <p:nvPr/>
          </p:nvSpPr>
          <p:spPr>
            <a:xfrm>
              <a:off x="7724966" y="2757961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64b</a:t>
              </a:r>
            </a:p>
          </p:txBody>
        </p:sp>
        <p:cxnSp>
          <p:nvCxnSpPr>
            <p:cNvPr id="9" name="Straight Arrow Connector 23">
              <a:extLst>
                <a:ext uri="{FF2B5EF4-FFF2-40B4-BE49-F238E27FC236}">
                  <a16:creationId xmlns:a16="http://schemas.microsoft.com/office/drawing/2014/main" id="{FAB8A44F-CA3B-BFD1-66EC-BC1960C03F14}"/>
                </a:ext>
              </a:extLst>
            </p:cNvPr>
            <p:cNvCxnSpPr>
              <a:cxnSpLocks/>
            </p:cNvCxnSpPr>
            <p:nvPr/>
          </p:nvCxnSpPr>
          <p:spPr>
            <a:xfrm>
              <a:off x="7943746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24">
              <a:extLst>
                <a:ext uri="{FF2B5EF4-FFF2-40B4-BE49-F238E27FC236}">
                  <a16:creationId xmlns:a16="http://schemas.microsoft.com/office/drawing/2014/main" id="{866E6FEC-21F9-95A9-B46F-8A60EB217DA2}"/>
                </a:ext>
              </a:extLst>
            </p:cNvPr>
            <p:cNvCxnSpPr>
              <a:cxnSpLocks/>
            </p:cNvCxnSpPr>
            <p:nvPr/>
          </p:nvCxnSpPr>
          <p:spPr>
            <a:xfrm>
              <a:off x="8272367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25">
              <a:extLst>
                <a:ext uri="{FF2B5EF4-FFF2-40B4-BE49-F238E27FC236}">
                  <a16:creationId xmlns:a16="http://schemas.microsoft.com/office/drawing/2014/main" id="{05261D8A-222B-1D8E-BFDD-EAA5398C2DB7}"/>
                </a:ext>
              </a:extLst>
            </p:cNvPr>
            <p:cNvCxnSpPr>
              <a:cxnSpLocks/>
            </p:cNvCxnSpPr>
            <p:nvPr/>
          </p:nvCxnSpPr>
          <p:spPr>
            <a:xfrm>
              <a:off x="8587990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26">
              <a:extLst>
                <a:ext uri="{FF2B5EF4-FFF2-40B4-BE49-F238E27FC236}">
                  <a16:creationId xmlns:a16="http://schemas.microsoft.com/office/drawing/2014/main" id="{0C875A5E-571F-9A54-BD2A-62C94EF99FD0}"/>
                </a:ext>
              </a:extLst>
            </p:cNvPr>
            <p:cNvCxnSpPr>
              <a:cxnSpLocks/>
            </p:cNvCxnSpPr>
            <p:nvPr/>
          </p:nvCxnSpPr>
          <p:spPr>
            <a:xfrm>
              <a:off x="8916611" y="3424961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736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45410</TotalTime>
  <Words>644</Words>
  <Application>Microsoft Office PowerPoint</Application>
  <PresentationFormat>와이드스크린</PresentationFormat>
  <Paragraphs>236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Poseidon 평가 지표 측정</vt:lpstr>
      <vt:lpstr>Implementation Cost</vt:lpstr>
      <vt:lpstr>Implementation Cost – R1CS</vt:lpstr>
      <vt:lpstr>POSEIDONπ 구조</vt:lpstr>
      <vt:lpstr>Poseidon-128의 R1CS</vt:lpstr>
      <vt:lpstr>Poseidon-128의 R1CS</vt:lpstr>
      <vt:lpstr>Sol2의 R1CS</vt:lpstr>
      <vt:lpstr>Sol3의 R1CS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2198</cp:revision>
  <dcterms:created xsi:type="dcterms:W3CDTF">2023-03-06T16:32:37Z</dcterms:created>
  <dcterms:modified xsi:type="dcterms:W3CDTF">2026-03-17T13:15:19Z</dcterms:modified>
</cp:coreProperties>
</file>