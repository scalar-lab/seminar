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1"/>
  </p:notesMasterIdLst>
  <p:sldIdLst>
    <p:sldId id="256" r:id="rId2"/>
    <p:sldId id="270" r:id="rId3"/>
    <p:sldId id="283" r:id="rId4"/>
    <p:sldId id="288" r:id="rId5"/>
    <p:sldId id="289" r:id="rId6"/>
    <p:sldId id="290" r:id="rId7"/>
    <p:sldId id="291" r:id="rId8"/>
    <p:sldId id="292" r:id="rId9"/>
    <p:sldId id="28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66CC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16" autoAdjust="0"/>
    <p:restoredTop sz="83718" autoAdjust="0"/>
  </p:normalViewPr>
  <p:slideViewPr>
    <p:cSldViewPr snapToGrid="0">
      <p:cViewPr>
        <p:scale>
          <a:sx n="64" d="100"/>
          <a:sy n="64" d="100"/>
        </p:scale>
        <p:origin x="66" y="5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572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7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C1F0-F292-4285-A95F-A15DE7C1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C59FB0-B0C5-D787-DC4E-1F0A56A5C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C69EA-D81C-D4E4-C6A7-2F25A8BC5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18B6E-E98E-11DB-78AE-6AB4F5634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744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A0488-F768-434D-38B7-4336A6788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9DF15E-5559-2482-7CD4-F421836A6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92D1E6-E019-EB7C-1E3C-728AEE2A9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9B736A-1446-92AE-31BE-687454B4B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838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E1E5D-8FC9-1883-B3A2-34E7E0821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69B461-233E-C210-8DD0-E486CC736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81B867-560E-8565-C3DC-9A2C58283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1102F3-D1D6-F6CD-406F-4962534CD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756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BB030-60C8-E79A-7697-3927A1EB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9FAD05-6056-99B9-BEED-8E7BD9907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D443D0-BE62-3B6A-DC2A-85ABE543D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1BD19B-DA48-107A-C028-8E433B387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212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81378-1482-8954-30B6-F09AF3237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739E20-93A4-684C-C47A-D4D566287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DD60F8-E769-4B7C-E3E9-46AAE66B1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D3418-DB2B-F47F-F898-809F64E79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180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B7A12-B46E-28E4-55AF-4890CCEB5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5D3393-12C9-E812-777E-5BEC92329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393A55-FD62-2B31-BBDF-22C382B2A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B10105-BB9F-B543-82C0-82B9389D3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180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8AA04-8709-DBB2-7920-B5D4ED90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2ED9AD-0C94-0356-ABDD-CFCC82BF5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0C71B9-4ACB-1D6E-5ADF-D167AF9B4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E76571-63A3-9D5F-CA2A-5A51620DD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240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Suhyeon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2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EoMT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Apple Neural Engine (2)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71364" y="1666695"/>
            <a:ext cx="2023092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  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3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4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1D89-421D-20CC-6D5F-47FC8C6A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40BEB-8E46-868C-99E7-95D8BC5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E4903-A5AB-F7E3-2412-5136BFF4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DA4B2-EC6E-F008-6710-245906C12FE5}"/>
              </a:ext>
            </a:extLst>
          </p:cNvPr>
          <p:cNvSpPr txBox="1"/>
          <p:nvPr/>
        </p:nvSpPr>
        <p:spPr>
          <a:xfrm>
            <a:off x="898782" y="1812049"/>
            <a:ext cx="9666514" cy="4426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600" dirty="0"/>
          </a:p>
          <a:p>
            <a:r>
              <a:rPr lang="ko-KR" altLang="en-US" sz="2000" b="1" dirty="0"/>
              <a:t>목표 </a:t>
            </a:r>
            <a:r>
              <a:rPr lang="en-US" altLang="ko-KR" sz="2000" b="1" dirty="0"/>
              <a:t>(</a:t>
            </a:r>
            <a:r>
              <a:rPr lang="en-US" altLang="ko-KR" b="1" dirty="0"/>
              <a:t>~2</a:t>
            </a:r>
            <a:r>
              <a:rPr lang="ko-KR" altLang="en-US" b="1" dirty="0"/>
              <a:t>월</a:t>
            </a:r>
            <a:r>
              <a:rPr lang="en-US" altLang="ko-KR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iOS </a:t>
            </a:r>
            <a:r>
              <a:rPr lang="ko-KR" altLang="en-US" dirty="0"/>
              <a:t>환경에서 </a:t>
            </a:r>
            <a:r>
              <a:rPr lang="en-US" altLang="ko-KR" dirty="0"/>
              <a:t>panoptic segmentation</a:t>
            </a:r>
            <a:r>
              <a:rPr lang="ko-KR" altLang="en-US" dirty="0"/>
              <a:t>이 가능한 </a:t>
            </a:r>
            <a:r>
              <a:rPr lang="en-US" altLang="ko-KR" dirty="0" err="1"/>
              <a:t>EoMT</a:t>
            </a:r>
            <a:r>
              <a:rPr lang="en-US" altLang="ko-KR" dirty="0"/>
              <a:t> </a:t>
            </a:r>
            <a:r>
              <a:rPr lang="ko-KR" altLang="en-US" dirty="0"/>
              <a:t>모델 최적화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Panoptic segmentation:</a:t>
            </a:r>
            <a:r>
              <a:rPr lang="ko-KR" altLang="en-US" sz="1400" dirty="0"/>
              <a:t> 어떤 사물인지</a:t>
            </a:r>
            <a:r>
              <a:rPr lang="en-US" altLang="ko-KR" sz="1400" dirty="0"/>
              <a:t>, </a:t>
            </a:r>
            <a:r>
              <a:rPr lang="ko-KR" altLang="en-US" sz="1400" dirty="0"/>
              <a:t>개별 객체인지를 동시에 구분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진행사항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ANE(Apple Neural Engine) transformer </a:t>
            </a:r>
            <a:r>
              <a:rPr lang="ko-KR" altLang="en-US" dirty="0"/>
              <a:t>분석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Apple ML Research “Deploying Transformers on the Apple Neural Engine” – June 6, 2022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FP16</a:t>
            </a:r>
            <a:r>
              <a:rPr lang="ko-KR" altLang="en-US" dirty="0"/>
              <a:t>과 </a:t>
            </a:r>
            <a:r>
              <a:rPr lang="en-US" altLang="ko-KR" dirty="0"/>
              <a:t>FP32 </a:t>
            </a:r>
            <a:r>
              <a:rPr lang="ko-KR" altLang="en-US" dirty="0"/>
              <a:t>모델의 결과 차이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7367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A358-86C2-C65C-130A-37B42C55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A901E-0722-66D4-1063-4C1A9721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ANE transformers – </a:t>
            </a:r>
            <a:r>
              <a:rPr lang="ko-KR" altLang="en-US" dirty="0"/>
              <a:t>원리</a:t>
            </a:r>
            <a:r>
              <a:rPr lang="en-US" altLang="ko-KR" dirty="0"/>
              <a:t> 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A921F-E2D1-2908-5D59-30C686B3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F446F-E08D-B3A3-A1DC-CE08A8A549E3}"/>
              </a:ext>
            </a:extLst>
          </p:cNvPr>
          <p:cNvSpPr txBox="1"/>
          <p:nvPr/>
        </p:nvSpPr>
        <p:spPr>
          <a:xfrm>
            <a:off x="1083543" y="1268760"/>
            <a:ext cx="7834196" cy="4617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2000" b="1" dirty="0"/>
              <a:t>Picking the Right Data format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ANE</a:t>
            </a:r>
            <a:r>
              <a:rPr lang="ko-KR" altLang="en-US" sz="1600" dirty="0"/>
              <a:t>의 가장 적합한 데이터 포맷은 </a:t>
            </a:r>
            <a:r>
              <a:rPr lang="en-US" altLang="ko-KR" sz="1600" dirty="0"/>
              <a:t>4</a:t>
            </a:r>
            <a:r>
              <a:rPr lang="ko-KR" altLang="en-US" sz="1600" dirty="0"/>
              <a:t>차원이면서 채널이 우선인 포맷</a:t>
            </a:r>
            <a:r>
              <a:rPr lang="en-US" altLang="ko-KR" sz="1600" dirty="0"/>
              <a:t>:</a:t>
            </a:r>
            <a:r>
              <a:rPr lang="en-US" altLang="ko-KR" sz="1600" b="1" dirty="0"/>
              <a:t> (B, C, H, W)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하지만 일반 </a:t>
            </a:r>
            <a:r>
              <a:rPr lang="en-US" altLang="ko-KR" sz="1600" dirty="0" err="1"/>
              <a:t>PyTorch</a:t>
            </a:r>
            <a:r>
              <a:rPr lang="en-US" altLang="ko-KR" sz="1600" dirty="0"/>
              <a:t> </a:t>
            </a:r>
            <a:r>
              <a:rPr lang="ko-KR" altLang="en-US" sz="1600" dirty="0"/>
              <a:t>구현은 </a:t>
            </a:r>
            <a:r>
              <a:rPr lang="en-US" altLang="ko-KR" sz="1600" dirty="0"/>
              <a:t>3</a:t>
            </a:r>
            <a:r>
              <a:rPr lang="ko-KR" altLang="en-US" sz="1600" dirty="0"/>
              <a:t>차원이면서 채널이</a:t>
            </a:r>
            <a:r>
              <a:rPr lang="en-US" altLang="ko-KR" sz="1600" dirty="0"/>
              <a:t> </a:t>
            </a:r>
            <a:r>
              <a:rPr lang="ko-KR" altLang="en-US" sz="1600" dirty="0"/>
              <a:t>나중인 포맷 사용</a:t>
            </a:r>
            <a:r>
              <a:rPr lang="en-US" altLang="ko-KR" sz="1600" dirty="0"/>
              <a:t>: </a:t>
            </a:r>
            <a:r>
              <a:rPr lang="en-US" altLang="ko-KR" sz="1600" b="1" dirty="0"/>
              <a:t>(B, S, C)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B = </a:t>
            </a:r>
            <a:r>
              <a:rPr lang="ko-KR" altLang="en-US" sz="1600" dirty="0"/>
              <a:t>배치</a:t>
            </a:r>
            <a:r>
              <a:rPr lang="en-US" altLang="ko-KR" sz="1600" dirty="0"/>
              <a:t>, C = </a:t>
            </a:r>
            <a:r>
              <a:rPr lang="ko-KR" altLang="en-US" sz="1600" dirty="0"/>
              <a:t>채널</a:t>
            </a:r>
            <a:r>
              <a:rPr lang="en-US" altLang="ko-KR" sz="1600" dirty="0"/>
              <a:t>, S = </a:t>
            </a:r>
            <a:r>
              <a:rPr lang="ko-KR" altLang="en-US" sz="1600" dirty="0"/>
              <a:t>시퀀스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따라서</a:t>
            </a:r>
            <a:r>
              <a:rPr lang="en-US" altLang="ko-KR" sz="1600" dirty="0"/>
              <a:t> </a:t>
            </a:r>
            <a:r>
              <a:rPr lang="en-US" altLang="ko-KR" dirty="0" err="1"/>
              <a:t>nn.Linear</a:t>
            </a:r>
            <a:r>
              <a:rPr lang="ko-KR" altLang="en-US" sz="1600" dirty="0"/>
              <a:t> 레이어를 모두 </a:t>
            </a:r>
            <a:r>
              <a:rPr lang="en-US" altLang="ko-KR" dirty="0"/>
              <a:t>nn.Conv2d</a:t>
            </a:r>
            <a:r>
              <a:rPr lang="ko-KR" altLang="en-US" sz="1600" dirty="0"/>
              <a:t> 레이어로 교체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(B, S, C) → (B, C, 1, S) 	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/>
              <a:t>또한 마지막 차원에 대한 </a:t>
            </a:r>
            <a:r>
              <a:rPr lang="en-US" altLang="ko-KR" sz="1600" b="1" dirty="0"/>
              <a:t>64</a:t>
            </a:r>
            <a:r>
              <a:rPr lang="ko-KR" altLang="en-US" sz="1600" b="1" dirty="0"/>
              <a:t>바이트 정렬 제약 존재 </a:t>
            </a:r>
            <a:endParaRPr lang="en-US" altLang="ko-KR" sz="1600" b="1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그래서 </a:t>
            </a:r>
            <a:r>
              <a:rPr lang="en-US" altLang="ko-KR" sz="1600" dirty="0"/>
              <a:t>(B, C, S, 1)</a:t>
            </a:r>
            <a:r>
              <a:rPr lang="ko-KR" altLang="en-US" sz="1600" dirty="0"/>
              <a:t>은 사용 </a:t>
            </a:r>
            <a:r>
              <a:rPr lang="en-US" altLang="ko-KR" sz="1600" dirty="0"/>
              <a:t>x</a:t>
            </a:r>
          </a:p>
          <a:p>
            <a:pPr lvl="1"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endParaRPr lang="en-US" altLang="ko-K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343DF-F19A-4250-F9F6-BE52CDB35130}"/>
              </a:ext>
            </a:extLst>
          </p:cNvPr>
          <p:cNvSpPr txBox="1"/>
          <p:nvPr/>
        </p:nvSpPr>
        <p:spPr>
          <a:xfrm>
            <a:off x="1083543" y="6400297"/>
            <a:ext cx="70532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Apple ML Research, "Deploying Transformers on the ANE", 2022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3792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98BB-D429-52AF-485F-A13B46B8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02078-9474-D5FD-7DC2-029D22510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ANE transformers – </a:t>
            </a:r>
            <a:r>
              <a:rPr lang="ko-KR" altLang="en-US" dirty="0"/>
              <a:t>원리</a:t>
            </a:r>
            <a:r>
              <a:rPr lang="en-US" altLang="ko-KR" dirty="0"/>
              <a:t> 2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FD4893-35FB-FE87-83A4-F1A783B8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DFE200-A932-1CD6-33E1-EE27C449B9C2}"/>
              </a:ext>
            </a:extLst>
          </p:cNvPr>
          <p:cNvSpPr txBox="1"/>
          <p:nvPr/>
        </p:nvSpPr>
        <p:spPr>
          <a:xfrm>
            <a:off x="1083543" y="1268760"/>
            <a:ext cx="8048998" cy="1985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2. Chunking Large Intermediate Tensors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Multi Head Attention</a:t>
            </a:r>
            <a:r>
              <a:rPr lang="ko-KR" altLang="en-US" sz="1600" dirty="0"/>
              <a:t>에서 </a:t>
            </a:r>
            <a:r>
              <a:rPr lang="en-US" altLang="ko-KR" sz="1600" dirty="0"/>
              <a:t>query, key, value </a:t>
            </a:r>
            <a:r>
              <a:rPr lang="ko-KR" altLang="en-US" sz="1600" b="1" dirty="0" err="1"/>
              <a:t>텐서를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head</a:t>
            </a:r>
            <a:r>
              <a:rPr lang="ko-KR" altLang="en-US" sz="1600" b="1" dirty="0"/>
              <a:t> 단위로 분리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각각이 더 작은 데이터 단위를 처리하는 단일 헤드 </a:t>
            </a:r>
            <a:r>
              <a:rPr lang="ko-KR" altLang="en-US" sz="1600" dirty="0" err="1"/>
              <a:t>어텐션</a:t>
            </a:r>
            <a:r>
              <a:rPr lang="ko-KR" altLang="en-US" sz="1600" dirty="0"/>
              <a:t> 함수들의 리스트로 구성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단위가 작을수록 </a:t>
            </a:r>
            <a:r>
              <a:rPr lang="en-US" altLang="ko-KR" sz="1600" b="1" dirty="0"/>
              <a:t>L2 </a:t>
            </a:r>
            <a:r>
              <a:rPr lang="ko-KR" altLang="en-US" sz="1600" b="1" dirty="0"/>
              <a:t>캐시 적중률이 증가</a:t>
            </a:r>
            <a:r>
              <a:rPr lang="ko-KR" altLang="en-US" sz="1600" dirty="0"/>
              <a:t>하고 컴파일 시 멀티코어 활용도도 증가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16761-2924-B0C3-4DC9-42090B96C020}"/>
              </a:ext>
            </a:extLst>
          </p:cNvPr>
          <p:cNvSpPr txBox="1"/>
          <p:nvPr/>
        </p:nvSpPr>
        <p:spPr>
          <a:xfrm>
            <a:off x="1083543" y="6400297"/>
            <a:ext cx="70532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Apple ML Research, "Deploying Transformers on the ANE", 2022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80351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B61A0-F2DE-FF50-2632-F70BD7E59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8884E6-8E06-DC53-76D2-12CB984D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ANE transformers – </a:t>
            </a:r>
            <a:r>
              <a:rPr lang="ko-KR" altLang="en-US" dirty="0"/>
              <a:t>원리</a:t>
            </a:r>
            <a:r>
              <a:rPr lang="en-US" altLang="ko-KR" dirty="0"/>
              <a:t> 3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1E7F9B-BC18-9465-B16D-B6F22A851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FAB4BB-7DB4-EB1E-6764-661A23F6D191}"/>
              </a:ext>
            </a:extLst>
          </p:cNvPr>
          <p:cNvSpPr txBox="1"/>
          <p:nvPr/>
        </p:nvSpPr>
        <p:spPr>
          <a:xfrm>
            <a:off x="1083543" y="1268760"/>
            <a:ext cx="8602035" cy="383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3. Minimizing Memory Copies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ANE </a:t>
            </a:r>
            <a:r>
              <a:rPr lang="ko-KR" altLang="en-US" sz="1600" dirty="0"/>
              <a:t>버퍼의 특성상 </a:t>
            </a:r>
            <a:r>
              <a:rPr lang="en-US" altLang="ko-KR" sz="1600" b="1" dirty="0"/>
              <a:t>reshape</a:t>
            </a:r>
            <a:r>
              <a:rPr lang="ko-KR" altLang="en-US" sz="1600" b="1" dirty="0"/>
              <a:t>이나 </a:t>
            </a:r>
            <a:r>
              <a:rPr lang="en-US" altLang="ko-KR" sz="1600" b="1" dirty="0"/>
              <a:t>transpose </a:t>
            </a:r>
            <a:r>
              <a:rPr lang="ko-KR" altLang="en-US" sz="1600" b="1" dirty="0"/>
              <a:t>연산은 메모리 복사를 유발</a:t>
            </a:r>
            <a:endParaRPr lang="en-US" altLang="ko-KR" sz="16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마지막 차원의 </a:t>
            </a:r>
            <a:r>
              <a:rPr lang="en-US" altLang="ko-KR" sz="1600" dirty="0"/>
              <a:t>64</a:t>
            </a:r>
            <a:r>
              <a:rPr lang="ko-KR" altLang="en-US" sz="1600" dirty="0"/>
              <a:t>바이트 정렬 제약으로 차원의 순서가 바뀌면 경계를 재계산해 복사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따라서 </a:t>
            </a:r>
            <a:r>
              <a:rPr lang="en-US" altLang="ko-KR" sz="1600" dirty="0"/>
              <a:t>reshape</a:t>
            </a:r>
            <a:r>
              <a:rPr lang="ko-KR" altLang="en-US" sz="1600" dirty="0"/>
              <a:t>을 완전히 제거하고 </a:t>
            </a:r>
            <a:r>
              <a:rPr lang="en-US" altLang="ko-KR" sz="1600" dirty="0"/>
              <a:t>key </a:t>
            </a:r>
            <a:r>
              <a:rPr lang="ko-KR" altLang="en-US" sz="1600" dirty="0" err="1"/>
              <a:t>텐서에</a:t>
            </a:r>
            <a:r>
              <a:rPr lang="ko-KR" altLang="en-US" sz="1600" dirty="0"/>
              <a:t> 대한 </a:t>
            </a:r>
            <a:r>
              <a:rPr lang="en-US" altLang="ko-KR" sz="1600" dirty="0"/>
              <a:t>transpose 1</a:t>
            </a:r>
            <a:r>
              <a:rPr lang="ko-KR" altLang="en-US" sz="1600" dirty="0"/>
              <a:t>회만 허용</a:t>
            </a:r>
            <a:r>
              <a:rPr lang="en-US" altLang="ko-KR" sz="16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scaled dot-product attention</a:t>
            </a:r>
            <a:r>
              <a:rPr lang="ko-KR" altLang="en-US" sz="1600" dirty="0"/>
              <a:t>은 </a:t>
            </a:r>
            <a:r>
              <a:rPr lang="en-US" altLang="ko-KR" sz="1600" b="1" dirty="0" err="1"/>
              <a:t>einsum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공식</a:t>
            </a:r>
            <a:r>
              <a:rPr lang="ko-KR" altLang="en-US" sz="1600" dirty="0"/>
              <a:t> 활용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/>
              <a:t>bchq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bkhc</a:t>
            </a:r>
            <a:r>
              <a:rPr lang="en-US" altLang="ko-KR" sz="1600" dirty="0"/>
              <a:t> </a:t>
            </a:r>
            <a:r>
              <a:rPr lang="en-US" altLang="ko-KR" sz="1600" b="1" dirty="0"/>
              <a:t>→ </a:t>
            </a:r>
            <a:r>
              <a:rPr lang="en-US" altLang="ko-KR" sz="1600" dirty="0" err="1"/>
              <a:t>bkhq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중간에 </a:t>
            </a:r>
            <a:r>
              <a:rPr lang="en-US" altLang="ko-KR" sz="1600" dirty="0"/>
              <a:t>transpose</a:t>
            </a:r>
            <a:r>
              <a:rPr lang="ko-KR" altLang="en-US" sz="1600" dirty="0"/>
              <a:t>나 </a:t>
            </a:r>
            <a:r>
              <a:rPr lang="en-US" altLang="ko-KR" sz="1600" dirty="0"/>
              <a:t>reshape </a:t>
            </a:r>
            <a:r>
              <a:rPr lang="ko-KR" altLang="en-US" sz="1600" dirty="0"/>
              <a:t>없이 </a:t>
            </a:r>
            <a:r>
              <a:rPr lang="ko-KR" altLang="en-US" sz="1600" b="1" dirty="0"/>
              <a:t>하드웨어에 직접 </a:t>
            </a:r>
            <a:r>
              <a:rPr lang="ko-KR" altLang="en-US" sz="1600" b="1" dirty="0" err="1"/>
              <a:t>매핑되는</a:t>
            </a:r>
            <a:r>
              <a:rPr lang="ko-KR" altLang="en-US" sz="1600" b="1" dirty="0"/>
              <a:t> 방식</a:t>
            </a:r>
            <a:r>
              <a:rPr lang="ko-KR" altLang="en-US" sz="1600" dirty="0"/>
              <a:t>으로 처리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D8E98C-A3FF-FCBC-4C66-84269AD80C3C}"/>
              </a:ext>
            </a:extLst>
          </p:cNvPr>
          <p:cNvSpPr txBox="1"/>
          <p:nvPr/>
        </p:nvSpPr>
        <p:spPr>
          <a:xfrm>
            <a:off x="1083543" y="6400297"/>
            <a:ext cx="70532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Apple ML Research, "Deploying Transformers on the ANE", 2022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0969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21D5D-2B4A-4410-70BA-E50F699A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7C96F-D6AE-F600-B5E6-DB58D362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ANE transformers – </a:t>
            </a:r>
            <a:r>
              <a:rPr lang="ko-KR" altLang="en-US" dirty="0"/>
              <a:t>원리</a:t>
            </a:r>
            <a:r>
              <a:rPr lang="en-US" altLang="ko-KR" dirty="0"/>
              <a:t> 4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F423AD-8DF5-E1DC-B8AF-DEBC1BF40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20C05F-1D28-D86B-FFF2-81B1D2B9274D}"/>
              </a:ext>
            </a:extLst>
          </p:cNvPr>
          <p:cNvSpPr txBox="1"/>
          <p:nvPr/>
        </p:nvSpPr>
        <p:spPr>
          <a:xfrm>
            <a:off x="1083543" y="1268760"/>
            <a:ext cx="8283037" cy="3462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4. Handling Bandwidth-Boundness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시퀀스 길이가 짧을 때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큰 파라미터 </a:t>
            </a:r>
            <a:r>
              <a:rPr lang="ko-KR" altLang="en-US" sz="1600" dirty="0" err="1"/>
              <a:t>텐서를</a:t>
            </a:r>
            <a:r>
              <a:rPr lang="ko-KR" altLang="en-US" sz="1600" dirty="0"/>
              <a:t> 메모리에서 불러오지만 실제 연산에 쓰이는 입력은 적기 때문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해결법 </a:t>
            </a:r>
            <a:r>
              <a:rPr lang="en-US" altLang="ko-KR" sz="1600" dirty="0"/>
              <a:t>2</a:t>
            </a:r>
            <a:r>
              <a:rPr lang="ko-KR" altLang="en-US" sz="1600" dirty="0"/>
              <a:t>가지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/>
              <a:t>배치 크기 증가</a:t>
            </a:r>
            <a:r>
              <a:rPr lang="en-US" altLang="ko-KR" sz="1600" b="1" dirty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/>
              <a:t>파라미터 </a:t>
            </a:r>
            <a:r>
              <a:rPr lang="ko-KR" altLang="en-US" sz="1600" b="1" dirty="0" err="1"/>
              <a:t>텐서</a:t>
            </a:r>
            <a:r>
              <a:rPr lang="ko-KR" altLang="en-US" sz="1600" b="1" dirty="0"/>
              <a:t> 크기 감소</a:t>
            </a:r>
            <a:endParaRPr lang="en-US" altLang="ko-KR" sz="1600" b="1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양자화</a:t>
            </a:r>
            <a:r>
              <a:rPr lang="en-US" altLang="ko-KR" sz="1600" dirty="0"/>
              <a:t>(quantization) </a:t>
            </a:r>
            <a:r>
              <a:rPr lang="ko-KR" altLang="en-US" sz="1600" dirty="0"/>
              <a:t>및 가지치기</a:t>
            </a:r>
            <a:r>
              <a:rPr lang="en-US" altLang="ko-KR" sz="1600" dirty="0"/>
              <a:t>(pruning)</a:t>
            </a:r>
            <a:endParaRPr lang="ko-KR" alt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3F86F-8AAA-EC60-6C83-9FB0A1527176}"/>
              </a:ext>
            </a:extLst>
          </p:cNvPr>
          <p:cNvSpPr txBox="1"/>
          <p:nvPr/>
        </p:nvSpPr>
        <p:spPr>
          <a:xfrm>
            <a:off x="1083543" y="6400297"/>
            <a:ext cx="70532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Apple ML Research, "Deploying Transformers on the ANE", 2022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761044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7C888-38F4-D3BF-338F-AF6EED2B4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8FEC5B-007E-2589-E03F-ACC4B6D28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ANE transformers – </a:t>
            </a:r>
            <a:r>
              <a:rPr lang="ko-KR" altLang="en-US" dirty="0"/>
              <a:t>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102F09-7B03-F8AE-0AAA-EFDD9DFE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07726E-7D33-CA5F-29BB-8DDF4F567824}"/>
              </a:ext>
            </a:extLst>
          </p:cNvPr>
          <p:cNvSpPr txBox="1"/>
          <p:nvPr/>
        </p:nvSpPr>
        <p:spPr>
          <a:xfrm>
            <a:off x="1083543" y="1268760"/>
            <a:ext cx="7409401" cy="15236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Hugging Face</a:t>
            </a:r>
            <a:r>
              <a:rPr lang="ko-KR" altLang="en-US" sz="1600" dirty="0"/>
              <a:t>의 </a:t>
            </a:r>
            <a:r>
              <a:rPr lang="en-US" altLang="ko-KR" sz="1600" dirty="0" err="1"/>
              <a:t>distilbert</a:t>
            </a:r>
            <a:r>
              <a:rPr lang="en-US" altLang="ko-KR" sz="1600" dirty="0"/>
              <a:t> </a:t>
            </a:r>
            <a:r>
              <a:rPr lang="ko-KR" altLang="en-US" sz="1600" dirty="0"/>
              <a:t>모델에 적용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iPhone 13</a:t>
            </a:r>
            <a:r>
              <a:rPr lang="ko-KR" altLang="en-US" sz="1600" dirty="0"/>
              <a:t>에서 </a:t>
            </a:r>
            <a:r>
              <a:rPr lang="ko-KR" altLang="en-US" sz="1600" b="1" dirty="0"/>
              <a:t>최대 </a:t>
            </a:r>
            <a:r>
              <a:rPr lang="en-US" altLang="ko-KR" sz="1600" b="1" dirty="0"/>
              <a:t>10</a:t>
            </a:r>
            <a:r>
              <a:rPr lang="ko-KR" altLang="en-US" sz="1600" b="1" dirty="0"/>
              <a:t>배 빠른 추론 속도</a:t>
            </a:r>
            <a:r>
              <a:rPr lang="ko-KR" altLang="en-US" sz="1600" dirty="0"/>
              <a:t>와 </a:t>
            </a:r>
            <a:r>
              <a:rPr lang="en-US" altLang="ko-KR" sz="1600" b="1" dirty="0"/>
              <a:t>14</a:t>
            </a:r>
            <a:r>
              <a:rPr lang="ko-KR" altLang="en-US" sz="1600" b="1" dirty="0"/>
              <a:t>배 적은 메모리 사용량</a:t>
            </a:r>
            <a:r>
              <a:rPr lang="ko-KR" altLang="en-US" sz="1600" dirty="0"/>
              <a:t>을 달성</a:t>
            </a:r>
            <a:r>
              <a:rPr lang="en-US" altLang="ko-KR" sz="16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시퀀스 길이 </a:t>
            </a:r>
            <a:r>
              <a:rPr lang="en-US" altLang="ko-KR" sz="1600" dirty="0"/>
              <a:t>128, </a:t>
            </a:r>
            <a:r>
              <a:rPr lang="ko-KR" altLang="en-US" sz="1600" dirty="0"/>
              <a:t>배치 </a:t>
            </a:r>
            <a:r>
              <a:rPr lang="en-US" altLang="ko-KR" sz="1600" dirty="0"/>
              <a:t>1 </a:t>
            </a:r>
            <a:r>
              <a:rPr lang="ko-KR" altLang="en-US" sz="1600" dirty="0"/>
              <a:t>기준으로 평균 </a:t>
            </a:r>
            <a:r>
              <a:rPr lang="en-US" altLang="ko-KR" sz="1600" dirty="0"/>
              <a:t>latency 3.47ms</a:t>
            </a:r>
            <a:r>
              <a:rPr lang="ko-KR" altLang="en-US" sz="1600" dirty="0"/>
              <a:t>를 기록했는데</a:t>
            </a:r>
            <a:r>
              <a:rPr lang="en-US" altLang="ko-KR" sz="1600" dirty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이는 </a:t>
            </a:r>
            <a:r>
              <a:rPr lang="en-US" altLang="ko-KR" sz="1600" dirty="0"/>
              <a:t>AWS</a:t>
            </a:r>
            <a:r>
              <a:rPr lang="ko-KR" altLang="en-US" sz="1600" dirty="0"/>
              <a:t>의 </a:t>
            </a:r>
            <a:r>
              <a:rPr lang="en-US" altLang="ko-KR" sz="1600" dirty="0"/>
              <a:t>ML </a:t>
            </a:r>
            <a:r>
              <a:rPr lang="ko-KR" altLang="en-US" sz="1600" dirty="0"/>
              <a:t>전용 서버 </a:t>
            </a:r>
            <a:r>
              <a:rPr lang="en-US" altLang="ko-KR" sz="1600" dirty="0"/>
              <a:t>ASIC</a:t>
            </a:r>
            <a:r>
              <a:rPr lang="ko-KR" altLang="en-US" sz="1600" dirty="0"/>
              <a:t>에서의 </a:t>
            </a:r>
            <a:r>
              <a:rPr lang="en-US" altLang="ko-KR" sz="1600" dirty="0"/>
              <a:t>5~6ms</a:t>
            </a:r>
            <a:r>
              <a:rPr lang="ko-KR" altLang="en-US" sz="1600" dirty="0"/>
              <a:t>와 비교해도 우수한 수치</a:t>
            </a: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4A3A7-DCDE-939E-0955-FD526CBB48CC}"/>
              </a:ext>
            </a:extLst>
          </p:cNvPr>
          <p:cNvSpPr txBox="1"/>
          <p:nvPr/>
        </p:nvSpPr>
        <p:spPr>
          <a:xfrm>
            <a:off x="1083543" y="6400297"/>
            <a:ext cx="70532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Apple ML Research, "Deploying Transformers on the ANE", 2022</a:t>
            </a:r>
            <a:endParaRPr lang="ko-KR" altLang="en-US" sz="1100" dirty="0"/>
          </a:p>
        </p:txBody>
      </p:sp>
      <p:pic>
        <p:nvPicPr>
          <p:cNvPr id="6" name="그림 5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E073F5-23B2-07C4-4981-369D674FF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483" y="3217400"/>
            <a:ext cx="4861745" cy="275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42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AACDC-02B1-E855-F986-E29247B0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7D9449-9D19-E2A9-D5FD-354248E4F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EoMT</a:t>
            </a:r>
            <a:r>
              <a:rPr lang="en-US" altLang="ko-KR" dirty="0"/>
              <a:t> ANE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49F3EE-F697-83CE-D594-070D7DCF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E38B0C-2DD8-12A5-E386-42031AC8E23B}"/>
              </a:ext>
            </a:extLst>
          </p:cNvPr>
          <p:cNvSpPr txBox="1"/>
          <p:nvPr/>
        </p:nvSpPr>
        <p:spPr>
          <a:xfrm>
            <a:off x="1083543" y="1268760"/>
            <a:ext cx="7087197" cy="15236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문제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FP32</a:t>
            </a:r>
            <a:r>
              <a:rPr lang="ko-KR" altLang="en-US" sz="1600" dirty="0"/>
              <a:t> 모델에서는 정상적인 </a:t>
            </a:r>
            <a:r>
              <a:rPr lang="en-US" altLang="ko-KR" sz="1600" dirty="0"/>
              <a:t>Mask </a:t>
            </a:r>
            <a:r>
              <a:rPr lang="ko-KR" altLang="en-US" sz="1600" dirty="0"/>
              <a:t>위치에 놓이는데 </a:t>
            </a:r>
            <a:r>
              <a:rPr lang="en-US" altLang="ko-KR" sz="1600" dirty="0"/>
              <a:t>FP16</a:t>
            </a:r>
            <a:r>
              <a:rPr lang="ko-KR" altLang="en-US" sz="1600" dirty="0"/>
              <a:t>에서는 </a:t>
            </a:r>
            <a:r>
              <a:rPr lang="en-US" altLang="ko-KR" sz="1600" dirty="0"/>
              <a:t>shift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이유</a:t>
            </a:r>
            <a:r>
              <a:rPr lang="en-US" altLang="ko-KR" sz="1600" dirty="0"/>
              <a:t>: ANE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Computing unit</a:t>
            </a:r>
            <a:r>
              <a:rPr lang="ko-KR" altLang="en-US" sz="1600" dirty="0"/>
              <a:t>을 </a:t>
            </a:r>
            <a:r>
              <a:rPr lang="en-US" altLang="ko-KR" sz="1600" dirty="0" err="1"/>
              <a:t>cpu</a:t>
            </a:r>
            <a:r>
              <a:rPr lang="en-US" altLang="ko-KR" sz="1600" dirty="0"/>
              <a:t> and </a:t>
            </a:r>
            <a:r>
              <a:rPr lang="en-US" altLang="ko-KR" sz="1600" dirty="0" err="1"/>
              <a:t>gpu</a:t>
            </a:r>
            <a:r>
              <a:rPr lang="en-US" altLang="ko-KR" sz="1600" dirty="0"/>
              <a:t> only</a:t>
            </a:r>
            <a:r>
              <a:rPr lang="ko-KR" altLang="en-US" sz="1600" dirty="0"/>
              <a:t>로 설정 시 정상적인 마스크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2279A86-C3E0-4915-6BF3-53156716D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6687" y="2901502"/>
            <a:ext cx="3002339" cy="300233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3067651-F10C-DA1E-EBEB-42775EB930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98" y="2901503"/>
            <a:ext cx="3002339" cy="300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162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8B523-9858-F43D-4DF6-DC3F3892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4EA1E-572C-4719-E33F-18D77646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EoMT</a:t>
            </a:r>
            <a:r>
              <a:rPr lang="en-US" altLang="ko-KR" dirty="0"/>
              <a:t> ANE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A816EF-5F22-9841-A354-CDFC829B5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5641F-1DF3-55A6-CF36-D6C67691180E}"/>
              </a:ext>
            </a:extLst>
          </p:cNvPr>
          <p:cNvSpPr txBox="1"/>
          <p:nvPr/>
        </p:nvSpPr>
        <p:spPr>
          <a:xfrm>
            <a:off x="1083543" y="1268760"/>
            <a:ext cx="7087197" cy="22626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문제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FP32</a:t>
            </a:r>
            <a:r>
              <a:rPr lang="ko-KR" altLang="en-US" sz="1600" dirty="0"/>
              <a:t> 모델에서는 정상적인 </a:t>
            </a:r>
            <a:r>
              <a:rPr lang="en-US" altLang="ko-KR" sz="1600" dirty="0"/>
              <a:t>Mask </a:t>
            </a:r>
            <a:r>
              <a:rPr lang="ko-KR" altLang="en-US" sz="1600" dirty="0"/>
              <a:t>위치에 놓이는데 </a:t>
            </a:r>
            <a:r>
              <a:rPr lang="en-US" altLang="ko-KR" sz="1600" dirty="0"/>
              <a:t>FP16</a:t>
            </a:r>
            <a:r>
              <a:rPr lang="ko-KR" altLang="en-US" sz="1600" dirty="0"/>
              <a:t>에서는 </a:t>
            </a:r>
            <a:r>
              <a:rPr lang="en-US" altLang="ko-KR" sz="1600" dirty="0"/>
              <a:t>shift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이유</a:t>
            </a:r>
            <a:r>
              <a:rPr lang="en-US" altLang="ko-KR" sz="1600" dirty="0"/>
              <a:t>: ANE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Computing unit</a:t>
            </a:r>
            <a:r>
              <a:rPr lang="ko-KR" altLang="en-US" sz="1600" dirty="0"/>
              <a:t>을 </a:t>
            </a:r>
            <a:r>
              <a:rPr lang="en-US" altLang="ko-KR" sz="1600" dirty="0" err="1"/>
              <a:t>cpu</a:t>
            </a:r>
            <a:r>
              <a:rPr lang="en-US" altLang="ko-KR" sz="1600" dirty="0"/>
              <a:t> and </a:t>
            </a:r>
            <a:r>
              <a:rPr lang="en-US" altLang="ko-KR" sz="1600" dirty="0" err="1"/>
              <a:t>gpu</a:t>
            </a:r>
            <a:r>
              <a:rPr lang="en-US" altLang="ko-KR" sz="1600" dirty="0"/>
              <a:t> only</a:t>
            </a:r>
            <a:r>
              <a:rPr lang="ko-KR" altLang="en-US" sz="1600" dirty="0"/>
              <a:t>로 설정 시 정상적인 마스크</a:t>
            </a:r>
            <a:endParaRPr lang="en-US" altLang="ko-KR" sz="1600" dirty="0"/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Accuracy </a:t>
            </a:r>
            <a:r>
              <a:rPr lang="ko-KR" altLang="en-US" sz="1600" dirty="0"/>
              <a:t>차이 거의 </a:t>
            </a:r>
            <a:r>
              <a:rPr lang="en-US" altLang="ko-KR" sz="1600" dirty="0"/>
              <a:t>x.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Performance Report – (median)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B0F22F1-AEB4-5F3F-7BDE-8721BF1D3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970580"/>
              </p:ext>
            </p:extLst>
          </p:nvPr>
        </p:nvGraphicFramePr>
        <p:xfrm>
          <a:off x="884421" y="3582788"/>
          <a:ext cx="9110690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2138">
                  <a:extLst>
                    <a:ext uri="{9D8B030D-6E8A-4147-A177-3AD203B41FA5}">
                      <a16:colId xmlns:a16="http://schemas.microsoft.com/office/drawing/2014/main" val="3490613576"/>
                    </a:ext>
                  </a:extLst>
                </a:gridCol>
                <a:gridCol w="1822138">
                  <a:extLst>
                    <a:ext uri="{9D8B030D-6E8A-4147-A177-3AD203B41FA5}">
                      <a16:colId xmlns:a16="http://schemas.microsoft.com/office/drawing/2014/main" val="2798766547"/>
                    </a:ext>
                  </a:extLst>
                </a:gridCol>
                <a:gridCol w="1822138">
                  <a:extLst>
                    <a:ext uri="{9D8B030D-6E8A-4147-A177-3AD203B41FA5}">
                      <a16:colId xmlns:a16="http://schemas.microsoft.com/office/drawing/2014/main" val="520335530"/>
                    </a:ext>
                  </a:extLst>
                </a:gridCol>
                <a:gridCol w="1822138">
                  <a:extLst>
                    <a:ext uri="{9D8B030D-6E8A-4147-A177-3AD203B41FA5}">
                      <a16:colId xmlns:a16="http://schemas.microsoft.com/office/drawing/2014/main" val="2549239283"/>
                    </a:ext>
                  </a:extLst>
                </a:gridCol>
                <a:gridCol w="1822138">
                  <a:extLst>
                    <a:ext uri="{9D8B030D-6E8A-4147-A177-3AD203B41FA5}">
                      <a16:colId xmlns:a16="http://schemas.microsoft.com/office/drawing/2014/main" val="3897733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Compute Unit Mapping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Prediction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Load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Compilation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165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FP32 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- CPU and ANE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CPU:336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220.34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16.73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65.63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321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FP32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- CPU and GPU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CPU:2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GPU: 334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113.91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31.21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61.85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9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FP16 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- CPU and ANE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CPU:2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ANE: 330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62.05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21.50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61.33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067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FP16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- CPU and GPU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CPU:2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GPU: 334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47.22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26.96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57.35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279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728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5708</TotalTime>
  <Words>617</Words>
  <Application>Microsoft Office PowerPoint</Application>
  <PresentationFormat>와이드스크린</PresentationFormat>
  <Paragraphs>116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EoMT Apple Neural Engine (2)</vt:lpstr>
      <vt:lpstr>목표 및 진행사항</vt:lpstr>
      <vt:lpstr>ANE transformers – 원리 1</vt:lpstr>
      <vt:lpstr>ANE transformers – 원리 2</vt:lpstr>
      <vt:lpstr>ANE transformers – 원리 3</vt:lpstr>
      <vt:lpstr>ANE transformers – 원리 4</vt:lpstr>
      <vt:lpstr>ANE transformers – 결과</vt:lpstr>
      <vt:lpstr>EoMT ANE</vt:lpstr>
      <vt:lpstr>EoMT ANE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Suhyeon</cp:lastModifiedBy>
  <cp:revision>1526</cp:revision>
  <dcterms:created xsi:type="dcterms:W3CDTF">2023-03-06T16:32:37Z</dcterms:created>
  <dcterms:modified xsi:type="dcterms:W3CDTF">2026-03-04T07:44:30Z</dcterms:modified>
</cp:coreProperties>
</file>