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27"/>
  </p:notesMasterIdLst>
  <p:sldIdLst>
    <p:sldId id="256" r:id="rId2"/>
    <p:sldId id="353" r:id="rId3"/>
    <p:sldId id="359" r:id="rId4"/>
    <p:sldId id="360" r:id="rId5"/>
    <p:sldId id="363" r:id="rId6"/>
    <p:sldId id="294" r:id="rId7"/>
    <p:sldId id="364" r:id="rId8"/>
    <p:sldId id="365" r:id="rId9"/>
    <p:sldId id="344" r:id="rId10"/>
    <p:sldId id="341" r:id="rId11"/>
    <p:sldId id="346" r:id="rId12"/>
    <p:sldId id="319" r:id="rId13"/>
    <p:sldId id="345" r:id="rId14"/>
    <p:sldId id="351" r:id="rId15"/>
    <p:sldId id="348" r:id="rId16"/>
    <p:sldId id="367" r:id="rId17"/>
    <p:sldId id="296" r:id="rId18"/>
    <p:sldId id="369" r:id="rId19"/>
    <p:sldId id="354" r:id="rId20"/>
    <p:sldId id="357" r:id="rId21"/>
    <p:sldId id="355" r:id="rId22"/>
    <p:sldId id="370" r:id="rId23"/>
    <p:sldId id="356" r:id="rId24"/>
    <p:sldId id="358" r:id="rId25"/>
    <p:sldId id="371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CC00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86" d="100"/>
          <a:sy n="86" d="100"/>
        </p:scale>
        <p:origin x="102" y="11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26F9-AFFE-65CF-9ACE-9724788B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2BC1EA-923A-FC89-24AF-00164FEB3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970629-1654-4B55-B89A-597970E93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C6E0E-E78F-1915-F461-E8FE070E5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157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83D1-22F0-A769-B4A8-B00CCB80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52718-0C11-76A2-5A11-B4ED88933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1F9D4D-64C2-272E-56B9-CD7FEFD5A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A695F4-F15A-160A-B5D8-A2F8C540E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48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8EAEB-08A4-6529-C5A0-9745AD39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9564BC-BB41-F7E0-05E1-2CD2D8508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557CA-8229-1B34-E0A8-E1C9FD054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45BF-BF9F-9F77-B8EA-52A8CDC6A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889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B458-5653-EEB1-A686-EE8BD2B3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F4376A-5399-519A-EEBC-C39D93235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50515D-1CF8-571F-CFF7-7711CC9C3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6C9FA1-8515-0FF7-1812-73706C881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54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797F-E465-1A34-0571-311895CF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8F3286-9757-A623-9A1E-4A125D387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AD50A-9A8D-BE15-6B17-CF1535B07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E28B3-61CE-3CFE-F792-1BEBB267E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643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F4D6-F4C2-3054-A06D-2904DD54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A7C411-B56C-7264-3ADC-C9CD408B1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A4FE8-48AB-6DB7-C571-CD4EE92C5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A5D7A-0FFC-557E-C726-1C2980978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721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202D-2780-8D0A-C637-1E7E9082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C592C2-0CAA-5E15-57D2-81F396F34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3865BF-E768-BF2C-D2BA-C8AA95734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BA69E7-DE93-7D5F-AFDC-13AC6614D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80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FDF-802C-9026-6E65-57D12721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7A5A32-AA47-5FD2-8AA9-BBF5B01C5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C93D67-AC14-2A3F-A5C8-95DE9BE6D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CEB820-D211-2632-8941-BDDA7051A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345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7210A-62C5-BBF8-24F4-2AE98292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C4D81-1CA1-689D-CB4D-5AE70F7B9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3A3693-B74B-4D01-E5B2-504E5425C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Q. </a:t>
            </a:r>
            <a:r>
              <a:rPr lang="ko-KR" altLang="en-US" dirty="0"/>
              <a:t>어디에서 사용하는지 알려줘</a:t>
            </a:r>
            <a:r>
              <a:rPr lang="en-US" altLang="ko-KR" dirty="0"/>
              <a:t>. </a:t>
            </a:r>
            <a:r>
              <a:rPr lang="ko-KR" altLang="en-US" dirty="0"/>
              <a:t>실제로 왜 이렇게 사용하는지</a:t>
            </a:r>
            <a:r>
              <a:rPr lang="en-US" altLang="ko-KR" dirty="0"/>
              <a:t>. </a:t>
            </a:r>
            <a:r>
              <a:rPr lang="ko-KR" altLang="en-US" dirty="0"/>
              <a:t>회로 상에서나 뭐 등등에서 비용은 </a:t>
            </a:r>
            <a:r>
              <a:rPr lang="ko-KR" altLang="en-US" dirty="0" err="1"/>
              <a:t>어느정도인지</a:t>
            </a:r>
            <a:r>
              <a:rPr lang="ko-KR" altLang="en-US" dirty="0"/>
              <a:t> 알려줬으면 해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B442F-7F36-C6D0-D8A2-EC1B98873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529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DC64-C5F5-4932-0FBD-DD05D98B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64AF32-66C2-6C84-7D78-00045519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78A82B-9505-3F99-41AA-CEEB4799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0FE104-29D3-B8CC-EAB8-2DC168A9E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100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E7BC-B154-2E15-2608-57096088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8DD951-0F82-E78F-0DDF-A3EAA55B5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3E264D-76FA-92B4-47F8-328A427A7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ZK </a:t>
            </a:r>
            <a:r>
              <a:rPr lang="ko-KR" altLang="en-US" dirty="0"/>
              <a:t>회로 안에서 비트를 자르고 다시 합치는 연산이 </a:t>
            </a:r>
            <a:r>
              <a:rPr lang="en-US" altLang="ko-KR" dirty="0"/>
              <a:t>constraints</a:t>
            </a:r>
            <a:r>
              <a:rPr lang="ko-KR" altLang="en-US" dirty="0"/>
              <a:t>를 소모 </a:t>
            </a:r>
            <a:r>
              <a:rPr lang="en-US" altLang="ko-KR" dirty="0"/>
              <a:t>-&gt; </a:t>
            </a:r>
            <a:r>
              <a:rPr lang="ko-KR" altLang="en-US" dirty="0"/>
              <a:t>밖에서 </a:t>
            </a:r>
            <a:r>
              <a:rPr lang="en-US" altLang="ko-KR" dirty="0"/>
              <a:t>0</a:t>
            </a:r>
            <a:r>
              <a:rPr lang="ko-KR" altLang="en-US" dirty="0"/>
              <a:t>으로 채워서 쓰는 것이 빠르고 유용하기에 </a:t>
            </a:r>
            <a:r>
              <a:rPr lang="en-US" altLang="ko-KR" dirty="0"/>
              <a:t>0-padding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ko-KR" altLang="en-US" b="1" dirty="0"/>
              <a:t>기존 </a:t>
            </a:r>
            <a:r>
              <a:rPr lang="en-US" altLang="ko-KR" b="1" dirty="0"/>
              <a:t>Poseidon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/>
              <a:t>BN254</a:t>
            </a:r>
            <a:r>
              <a:rPr lang="ko-KR" altLang="en-US" sz="1200" dirty="0"/>
              <a:t> 곡선 사용 → </a:t>
            </a:r>
            <a:r>
              <a:rPr lang="en-US" altLang="ko-KR" sz="1200" dirty="0"/>
              <a:t>Field </a:t>
            </a:r>
            <a:r>
              <a:rPr lang="ko-KR" altLang="en-US" sz="1200" dirty="0"/>
              <a:t>하나 당 </a:t>
            </a:r>
            <a:r>
              <a:rPr lang="en-US" altLang="ko-KR" sz="1200" dirty="0"/>
              <a:t>254-bit </a:t>
            </a:r>
            <a:r>
              <a:rPr lang="ko-KR" altLang="en-US" sz="1200" dirty="0"/>
              <a:t>수준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기존</a:t>
            </a:r>
            <a:r>
              <a:rPr lang="en-US" altLang="ko-KR" sz="1200" dirty="0"/>
              <a:t> </a:t>
            </a:r>
            <a:r>
              <a:rPr lang="ko-KR" altLang="en-US" sz="1200" dirty="0"/>
              <a:t>해시함수</a:t>
            </a:r>
            <a:r>
              <a:rPr lang="en-US" altLang="ko-KR" sz="1200" dirty="0"/>
              <a:t>(SHA3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은 </a:t>
            </a:r>
            <a:r>
              <a:rPr lang="ko-KR" altLang="en-US" sz="1200" dirty="0" err="1"/>
              <a:t>해시값은</a:t>
            </a:r>
            <a:r>
              <a:rPr lang="ko-KR" altLang="en-US" sz="1200" dirty="0"/>
              <a:t> 정해진 위치에서만 꺼낸다는 규칙 존재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en-US" altLang="ko-KR" sz="1200" dirty="0" err="1"/>
              <a:t>Circol</a:t>
            </a:r>
            <a:r>
              <a:rPr lang="en-US" altLang="ko-KR" sz="1200" dirty="0"/>
              <a:t>-lib, Poseidon-</a:t>
            </a:r>
            <a:r>
              <a:rPr lang="en-US" altLang="ko-KR" sz="1200" dirty="0" err="1"/>
              <a:t>rs</a:t>
            </a:r>
            <a:r>
              <a:rPr lang="en-US" altLang="ko-KR" sz="1200" dirty="0"/>
              <a:t> </a:t>
            </a:r>
            <a:r>
              <a:rPr lang="ko-KR" altLang="en-US" sz="1200" dirty="0"/>
              <a:t>등 라이브러리에서도 </a:t>
            </a:r>
            <a:r>
              <a:rPr lang="en-US" altLang="ko-KR" sz="1200" dirty="0"/>
              <a:t>S0</a:t>
            </a:r>
            <a:r>
              <a:rPr lang="ko-KR" altLang="en-US" sz="1200" dirty="0"/>
              <a:t>만 반환하도록 설계됨</a:t>
            </a:r>
            <a:endParaRPr lang="en-US" altLang="ko-KR" sz="1200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BDE60-4890-7D38-348E-E07D34380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944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A5EC-399F-095E-F152-FB3D8D7D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301B00-FAE2-A863-1DE4-38E63C8D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5861C-8B92-45CD-DCC8-7FDAE826A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30D6F-9166-6AC1-40BB-4178633B7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33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3749-7508-A015-D7B0-92946373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0A05B9-5088-E653-5A35-0E4862730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E17428-B3C0-1D7B-4632-771587CEF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AF191-2B20-6F44-E0ED-08CB18D51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793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*Poseidon</a:t>
            </a:r>
            <a:r>
              <a:rPr lang="ko-KR" altLang="en-US" dirty="0"/>
              <a:t>에서는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libsnark</a:t>
            </a:r>
            <a:r>
              <a:rPr lang="en-US" altLang="ko-KR" dirty="0"/>
              <a:t>(C++ 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  <a:r>
              <a:rPr lang="ko-KR" altLang="en-US" dirty="0"/>
              <a:t>환경에서 회로를 구성하여 제약 조건 수를 </a:t>
            </a:r>
            <a:r>
              <a:rPr lang="ko-KR" altLang="en-US" dirty="0" err="1"/>
              <a:t>카운팅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C161-B7A1-6698-6470-73F057FA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6CD3F6-7C1C-FE1C-AC6A-8F07F6659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EC3FF-D4FB-DA7C-5679-760737FFF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 err="1"/>
              <a:t>zkp</a:t>
            </a:r>
            <a:r>
              <a:rPr lang="en-US" altLang="ko-KR" dirty="0"/>
              <a:t> </a:t>
            </a:r>
            <a:r>
              <a:rPr lang="ko-KR" altLang="en-US" dirty="0"/>
              <a:t>회로에 특화된 이유 </a:t>
            </a:r>
            <a:r>
              <a:rPr lang="en-US" altLang="ko-KR" dirty="0"/>
              <a:t>= SHA2</a:t>
            </a:r>
            <a:r>
              <a:rPr lang="ko-KR" altLang="en-US" dirty="0"/>
              <a:t>는 비트 연산이 많아서 산술 회로로 변경하면 곱셈 비용이 많이 발생하지만 </a:t>
            </a:r>
            <a:r>
              <a:rPr lang="en-US" altLang="ko-KR" dirty="0"/>
              <a:t>Poseidon</a:t>
            </a:r>
            <a:r>
              <a:rPr lang="ko-KR" altLang="en-US" dirty="0"/>
              <a:t>은 곱셈 횟수를 최소화 했기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FD56B-9997-21C5-0E7E-938F4DBD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038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*Poseidon</a:t>
            </a:r>
            <a:r>
              <a:rPr lang="ko-KR" altLang="en-US" dirty="0"/>
              <a:t>에서는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libsnark</a:t>
            </a:r>
            <a:r>
              <a:rPr lang="en-US" altLang="ko-KR" dirty="0"/>
              <a:t>(C++ 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  <a:r>
              <a:rPr lang="ko-KR" altLang="en-US" dirty="0"/>
              <a:t>환경에서 회로를 구성하여 제약 조건 수를 </a:t>
            </a:r>
            <a:r>
              <a:rPr lang="ko-KR" altLang="en-US" dirty="0" err="1"/>
              <a:t>카운팅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B839-968D-1B6C-C75B-F36C7FB8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52D54E-0FA0-6A12-BD9D-7EA18038F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90B92-B682-51A6-ED33-C30C2E085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E6B37-96EC-BE38-684C-BCFCE482C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898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04FB-967D-C496-60E9-F8700EA1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754A0F-59F6-459D-5F40-0262061C1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C4596F-A672-A95D-6AAD-1172F6FE4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SNARK</a:t>
            </a:r>
            <a:r>
              <a:rPr lang="ko-KR" altLang="en-US" dirty="0"/>
              <a:t>는 수백 바이트 크기 수준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E4799C-3DC0-DA6A-79E2-203F96415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621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D891-8925-824F-BEC9-F9FAE485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94E13B-0E92-3B7F-B412-D55FF43FD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31FB8-6D8C-5AE3-70D4-65E77F79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77FDD-9341-9A31-097C-039808E4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231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D891-8925-824F-BEC9-F9FAE485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94E13B-0E92-3B7F-B412-D55FF43FD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31FB8-6D8C-5AE3-70D4-65E77F79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77FDD-9341-9A31-097C-039808E4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231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240C-593A-3177-2327-13895E98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107CEB-D039-7BF8-9795-E4874DC27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345F01-DDF3-AA5E-7D4B-7D20A4066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01D06-B2BB-0728-DEE9-6F6936C7B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46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4F0E-06E2-2E2B-630E-BC83F7AA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9ECC8F-DBBA-21D2-D150-13E2248D8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8C5B-832B-2A66-7522-CF15417D4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9EE9F-A93A-9A2E-5BF6-2990325BB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16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4F0E-06E2-2E2B-630E-BC83F7AA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9ECC8F-DBBA-21D2-D150-13E2248D8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8C5B-832B-2A66-7522-CF15417D4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9EE9F-A93A-9A2E-5BF6-2990325BB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16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0.png"/><Relationship Id="rId18" Type="http://schemas.openxmlformats.org/officeDocument/2006/relationships/image" Target="../media/image111.png"/><Relationship Id="rId26" Type="http://schemas.openxmlformats.org/officeDocument/2006/relationships/image" Target="../media/image19.png"/><Relationship Id="rId21" Type="http://schemas.openxmlformats.org/officeDocument/2006/relationships/image" Target="../media/image14.png"/><Relationship Id="rId7" Type="http://schemas.openxmlformats.org/officeDocument/2006/relationships/image" Target="../media/image43.png"/><Relationship Id="rId12" Type="http://schemas.openxmlformats.org/officeDocument/2006/relationships/image" Target="../media/image56.png"/><Relationship Id="rId17" Type="http://schemas.openxmlformats.org/officeDocument/2006/relationships/image" Target="../media/image101.png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1.png"/><Relationship Id="rId20" Type="http://schemas.openxmlformats.org/officeDocument/2006/relationships/image" Target="../media/image13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10.png"/><Relationship Id="rId24" Type="http://schemas.openxmlformats.org/officeDocument/2006/relationships/image" Target="../media/image17.png"/><Relationship Id="rId5" Type="http://schemas.openxmlformats.org/officeDocument/2006/relationships/image" Target="../media/image41.png"/><Relationship Id="rId15" Type="http://schemas.openxmlformats.org/officeDocument/2006/relationships/image" Target="../media/image81.png"/><Relationship Id="rId23" Type="http://schemas.openxmlformats.org/officeDocument/2006/relationships/image" Target="../media/image16.png"/><Relationship Id="rId28" Type="http://schemas.openxmlformats.org/officeDocument/2006/relationships/image" Target="../media/image21.png"/><Relationship Id="rId10" Type="http://schemas.openxmlformats.org/officeDocument/2006/relationships/image" Target="../media/image45.png"/><Relationship Id="rId19" Type="http://schemas.openxmlformats.org/officeDocument/2006/relationships/image" Target="../media/image12.png"/><Relationship Id="rId4" Type="http://schemas.openxmlformats.org/officeDocument/2006/relationships/image" Target="../media/image40.png"/><Relationship Id="rId9" Type="http://schemas.openxmlformats.org/officeDocument/2006/relationships/image" Target="../media/image310.png"/><Relationship Id="rId14" Type="http://schemas.openxmlformats.org/officeDocument/2006/relationships/image" Target="../media/image71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24.png"/><Relationship Id="rId5" Type="http://schemas.openxmlformats.org/officeDocument/2006/relationships/image" Target="../media/image41.png"/><Relationship Id="rId10" Type="http://schemas.openxmlformats.org/officeDocument/2006/relationships/image" Target="../media/image23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5.png"/><Relationship Id="rId7" Type="http://schemas.openxmlformats.org/officeDocument/2006/relationships/image" Target="../media/image4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27.png"/><Relationship Id="rId5" Type="http://schemas.openxmlformats.org/officeDocument/2006/relationships/image" Target="../media/image41.png"/><Relationship Id="rId10" Type="http://schemas.openxmlformats.org/officeDocument/2006/relationships/image" Target="../media/image2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43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31.png"/><Relationship Id="rId5" Type="http://schemas.openxmlformats.org/officeDocument/2006/relationships/image" Target="../media/image41.png"/><Relationship Id="rId10" Type="http://schemas.openxmlformats.org/officeDocument/2006/relationships/image" Target="../media/image30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6.png"/><Relationship Id="rId10" Type="http://schemas.openxmlformats.org/officeDocument/2006/relationships/image" Target="../media/image44.png"/><Relationship Id="rId4" Type="http://schemas.openxmlformats.org/officeDocument/2006/relationships/image" Target="../media/image35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3" Type="http://schemas.openxmlformats.org/officeDocument/2006/relationships/image" Target="../media/image70.png"/><Relationship Id="rId21" Type="http://schemas.openxmlformats.org/officeDocument/2006/relationships/image" Target="../media/image39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00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47.png"/><Relationship Id="rId10" Type="http://schemas.openxmlformats.org/officeDocument/2006/relationships/image" Target="../media/image140.png"/><Relationship Id="rId19" Type="http://schemas.openxmlformats.org/officeDocument/2006/relationships/image" Target="../media/image37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정리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19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배경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48DFB-FAD8-5ADE-4AA0-66D7148B6810}"/>
              </a:ext>
            </a:extLst>
          </p:cNvPr>
          <p:cNvSpPr txBox="1"/>
          <p:nvPr/>
        </p:nvSpPr>
        <p:spPr>
          <a:xfrm>
            <a:off x="714102" y="1509734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</a:t>
            </a:r>
            <a:r>
              <a:rPr lang="ko-KR" altLang="en-US" b="1" dirty="0"/>
              <a:t> 연구 배경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계산 무결성의 시스템 발전으로 인하여 다수의 계산 작업을 짧은 시간 내에 검증할 수 있게 되었고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증명에서도 활용이 가능해짐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기존의 </a:t>
            </a:r>
            <a:r>
              <a:rPr lang="en-US" altLang="ko-KR" sz="1400" dirty="0"/>
              <a:t>Schnorr proofs</a:t>
            </a:r>
            <a:r>
              <a:rPr lang="ko-KR" altLang="en-US" sz="1400" dirty="0"/>
              <a:t>는 복잡하고 오류가 많으며</a:t>
            </a:r>
            <a:r>
              <a:rPr lang="en-US" altLang="ko-KR" sz="1400" dirty="0"/>
              <a:t>, </a:t>
            </a:r>
            <a:r>
              <a:rPr lang="ko-KR" altLang="en-US" sz="1400" dirty="0"/>
              <a:t>사전 </a:t>
            </a:r>
            <a:r>
              <a:rPr lang="en-US" altLang="ko-KR" sz="1400" dirty="0"/>
              <a:t>setup </a:t>
            </a:r>
            <a:r>
              <a:rPr lang="ko-KR" altLang="en-US" sz="1400" dirty="0"/>
              <a:t>단계가 필요하고 느리다는 단점이 있음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ko-KR" altLang="en-US" sz="1400" dirty="0"/>
              <a:t>⇒ </a:t>
            </a:r>
            <a:r>
              <a:rPr lang="en-US" altLang="ko-KR" sz="1400" dirty="0"/>
              <a:t>(1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</a:t>
            </a:r>
            <a:r>
              <a:rPr lang="ko-KR" altLang="en-US" sz="1400" dirty="0"/>
              <a:t>암호학적 해시함수를 사용하여 비밀 도출을 표현하고 </a:t>
            </a:r>
            <a:r>
              <a:rPr lang="en-US" altLang="ko-KR" sz="1400" dirty="0"/>
              <a:t>Merkle tree</a:t>
            </a:r>
            <a:r>
              <a:rPr lang="ko-KR" altLang="en-US" sz="1400" dirty="0"/>
              <a:t>에서의 </a:t>
            </a:r>
            <a:r>
              <a:rPr lang="en-US" altLang="ko-KR" sz="1400" dirty="0"/>
              <a:t>membership </a:t>
            </a:r>
            <a:r>
              <a:rPr lang="ko-KR" altLang="en-US" sz="1400" dirty="0"/>
              <a:t>증명에 사용하자</a:t>
            </a:r>
            <a:r>
              <a:rPr lang="en-US" altLang="ko-KR" sz="1400" dirty="0"/>
              <a:t>!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계산 무결성 시스템 필요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임의의 산술 회로에 적용 </a:t>
            </a:r>
            <a:r>
              <a:rPr lang="en-US" altLang="ko-KR" sz="1400" dirty="0"/>
              <a:t>O</a:t>
            </a: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기존 해시함수는 </a:t>
            </a:r>
            <a:r>
              <a:rPr lang="en-US" altLang="ko-KR" sz="1400" dirty="0"/>
              <a:t>SNARK </a:t>
            </a:r>
            <a:r>
              <a:rPr lang="ko-KR" altLang="en-US" sz="1400" dirty="0"/>
              <a:t>환경에 친화적이지 않아서 비용이 많이 소모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(2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R1CS </a:t>
            </a:r>
            <a:r>
              <a:rPr lang="ko-KR" altLang="en-US" sz="1400" dirty="0"/>
              <a:t>제약 조건 최소화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증명 생성 비용은 </a:t>
            </a:r>
            <a:r>
              <a:rPr lang="en-US" altLang="ko-KR" sz="1400" dirty="0"/>
              <a:t>state</a:t>
            </a:r>
            <a:r>
              <a:rPr lang="ko-KR" altLang="en-US" sz="1400" dirty="0"/>
              <a:t>의 구성 원소 개수</a:t>
            </a:r>
            <a:r>
              <a:rPr lang="en-US" altLang="ko-KR" sz="1400" dirty="0"/>
              <a:t>, </a:t>
            </a:r>
            <a:r>
              <a:rPr lang="ko-KR" altLang="en-US" sz="1400" dirty="0"/>
              <a:t>다항식 차수</a:t>
            </a:r>
            <a:r>
              <a:rPr lang="en-US" altLang="ko-KR" sz="1400" dirty="0"/>
              <a:t>, </a:t>
            </a:r>
            <a:r>
              <a:rPr lang="ko-KR" altLang="en-US" sz="1400" dirty="0"/>
              <a:t>변환 횟수의 곱에 정비례</a:t>
            </a:r>
            <a:endParaRPr lang="en-US" altLang="ko-KR" sz="1400" dirty="0"/>
          </a:p>
          <a:p>
            <a:r>
              <a:rPr lang="ko-KR" altLang="en-US" sz="1400" dirty="0"/>
              <a:t>⇒ </a:t>
            </a:r>
            <a:r>
              <a:rPr lang="en-US" altLang="ko-KR" sz="1400" dirty="0"/>
              <a:t>(3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시간의 최소화</a:t>
            </a: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2879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10B54-6CBE-F9F2-AFB1-AF4CFAC5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6FBD0-B424-BB42-A689-BD06100A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IDEA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FEF428-6648-3AF3-DF2A-A2B89457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542B3-10EF-600A-8AE0-9457D8D69AF6}"/>
              </a:ext>
            </a:extLst>
          </p:cNvPr>
          <p:cNvSpPr txBox="1"/>
          <p:nvPr/>
        </p:nvSpPr>
        <p:spPr>
          <a:xfrm>
            <a:off x="714102" y="1509734"/>
            <a:ext cx="1076379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목표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암호학적 해시함수를 사용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R1CS </a:t>
            </a:r>
            <a:r>
              <a:rPr lang="ko-KR" altLang="en-US" sz="1400" dirty="0"/>
              <a:t>제약 조건 최소화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최소화</a:t>
            </a:r>
            <a:endParaRPr lang="en-US" altLang="ko-KR" sz="1400" dirty="0"/>
          </a:p>
          <a:p>
            <a:endParaRPr lang="en-US" altLang="ko-KR" b="1" dirty="0"/>
          </a:p>
          <a:p>
            <a:r>
              <a:rPr lang="en-US" altLang="ko-KR" b="1" dirty="0"/>
              <a:t>Poseidon</a:t>
            </a:r>
            <a:r>
              <a:rPr lang="ko-KR" altLang="en-US" b="1" dirty="0"/>
              <a:t> </a:t>
            </a:r>
            <a:r>
              <a:rPr lang="en-US" altLang="ko-KR" b="1" dirty="0"/>
              <a:t>IDEA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FontTx/>
              <a:buAutoNum type="arabicPeriod"/>
            </a:pPr>
            <a:r>
              <a:rPr lang="en-US" altLang="ko-KR" sz="1400" dirty="0"/>
              <a:t>SPN </a:t>
            </a:r>
            <a:r>
              <a:rPr lang="ko-KR" altLang="en-US" sz="1400" dirty="0"/>
              <a:t>설계 활용</a:t>
            </a:r>
            <a:r>
              <a:rPr lang="en-US" altLang="ko-KR" sz="1400" dirty="0"/>
              <a:t> + HADES </a:t>
            </a:r>
            <a:r>
              <a:rPr lang="ko-KR" altLang="en-US" sz="1400" dirty="0"/>
              <a:t>구조 전략 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Sponge </a:t>
            </a:r>
            <a:r>
              <a:rPr lang="ko-KR" altLang="en-US" sz="1400" dirty="0"/>
              <a:t>구조 사용</a:t>
            </a:r>
            <a:endParaRPr lang="en-US" altLang="ko-KR" sz="1400" dirty="0"/>
          </a:p>
          <a:p>
            <a:pPr marL="342900" indent="-342900">
              <a:buFontTx/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4953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2E927-9A22-BA70-734B-0ED35532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91B75-533D-D849-EE27-39CB1856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SPN </a:t>
            </a:r>
            <a:r>
              <a:rPr lang="ko-KR" altLang="en-US" dirty="0"/>
              <a:t>설계</a:t>
            </a:r>
            <a:r>
              <a:rPr lang="en-US" altLang="ko-KR" dirty="0"/>
              <a:t>, HADES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FC9774-5B7C-DF30-D8F6-4100DB1E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6DC04-3CD6-B293-6151-9AE2809AEEBD}"/>
              </a:ext>
            </a:extLst>
          </p:cNvPr>
          <p:cNvSpPr txBox="1"/>
          <p:nvPr/>
        </p:nvSpPr>
        <p:spPr>
          <a:xfrm>
            <a:off x="799372" y="1819543"/>
            <a:ext cx="1076379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SPN(Substitution-Permutation Network)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치환</a:t>
            </a:r>
            <a:r>
              <a:rPr lang="en-US" altLang="ko-KR" sz="1400" dirty="0"/>
              <a:t>(Substitution)</a:t>
            </a:r>
            <a:r>
              <a:rPr lang="ko-KR" altLang="en-US" sz="1400" dirty="0"/>
              <a:t>과 순열</a:t>
            </a:r>
            <a:r>
              <a:rPr lang="en-US" altLang="ko-KR" sz="1400" dirty="0"/>
              <a:t>(Permutation)</a:t>
            </a:r>
            <a:r>
              <a:rPr lang="ko-KR" altLang="en-US" sz="1400" dirty="0"/>
              <a:t>을 반복적으로 적용하여 </a:t>
            </a:r>
            <a:r>
              <a:rPr lang="ko-KR" altLang="en-US" sz="1400" dirty="0" err="1"/>
              <a:t>평문을</a:t>
            </a:r>
            <a:r>
              <a:rPr lang="ko-KR" altLang="en-US" sz="1400" dirty="0"/>
              <a:t> 암호문으로 변환하는 구조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작은 블록을 </a:t>
            </a:r>
            <a:r>
              <a:rPr lang="en-US" altLang="ko-KR" sz="1400" dirty="0"/>
              <a:t>S-BOX</a:t>
            </a:r>
            <a:r>
              <a:rPr lang="ko-KR" altLang="en-US" sz="1400" dirty="0"/>
              <a:t>로 치환하고 그 결과 값을 </a:t>
            </a:r>
            <a:r>
              <a:rPr lang="en-US" altLang="ko-KR" sz="1400" dirty="0"/>
              <a:t>Permutation </a:t>
            </a:r>
            <a:r>
              <a:rPr lang="ko-KR" altLang="en-US" sz="1400" dirty="0"/>
              <a:t>연산을 진행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Ex) AES</a:t>
            </a:r>
          </a:p>
          <a:p>
            <a:endParaRPr lang="en-US" altLang="ko-KR" sz="1400" dirty="0"/>
          </a:p>
          <a:p>
            <a:r>
              <a:rPr lang="en-US" altLang="ko-KR" sz="1600" b="1" dirty="0"/>
              <a:t>HADES </a:t>
            </a:r>
            <a:r>
              <a:rPr lang="ko-KR" altLang="en-US" sz="1600" b="1" dirty="0"/>
              <a:t>구조</a:t>
            </a:r>
            <a:endParaRPr lang="en-US" altLang="ko-KR" sz="16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일반적인 </a:t>
            </a:r>
            <a:r>
              <a:rPr lang="en-US" altLang="ko-KR" sz="1400" dirty="0"/>
              <a:t>SPN </a:t>
            </a:r>
            <a:r>
              <a:rPr lang="ko-KR" altLang="en-US" sz="1400" dirty="0"/>
              <a:t>구조는 여러 라운드로 구성</a:t>
            </a:r>
            <a:r>
              <a:rPr lang="en-US" altLang="ko-KR" sz="1400" dirty="0"/>
              <a:t>, </a:t>
            </a:r>
            <a:r>
              <a:rPr lang="ko-KR" altLang="en-US" sz="1400" dirty="0"/>
              <a:t>모든 라운드가 동일한 </a:t>
            </a:r>
            <a:r>
              <a:rPr lang="en-US" altLang="ko-KR" sz="1400" dirty="0"/>
              <a:t>SPN </a:t>
            </a:r>
            <a:r>
              <a:rPr lang="ko-KR" altLang="en-US" sz="1400" dirty="0"/>
              <a:t>구조를 적용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HADES </a:t>
            </a:r>
            <a:r>
              <a:rPr lang="ko-KR" altLang="en-US" sz="1400" dirty="0"/>
              <a:t>구조는 </a:t>
            </a:r>
            <a:r>
              <a:rPr lang="en-US" altLang="ko-KR" sz="1400" dirty="0"/>
              <a:t>Round </a:t>
            </a:r>
            <a:r>
              <a:rPr lang="ko-KR" altLang="en-US" sz="1400" dirty="0"/>
              <a:t>마다 일부 구조가 다르게 구성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Ex) POSEIDON</a:t>
            </a:r>
            <a:r>
              <a:rPr lang="ko-KR" altLang="en-US" sz="1400" dirty="0"/>
              <a:t>의 </a:t>
            </a:r>
            <a:r>
              <a:rPr lang="en-US" altLang="ko-KR" sz="1400" dirty="0"/>
              <a:t>HADES </a:t>
            </a:r>
            <a:r>
              <a:rPr lang="ko-KR" altLang="en-US" sz="1400" dirty="0"/>
              <a:t>구조</a:t>
            </a:r>
            <a:r>
              <a:rPr lang="en-US" altLang="ko-KR" sz="1400" dirty="0"/>
              <a:t>(Full Round, Partial Round)</a:t>
            </a:r>
          </a:p>
          <a:p>
            <a:pPr lvl="1"/>
            <a:endParaRPr lang="en-US" altLang="ko-KR" sz="1400" dirty="0"/>
          </a:p>
        </p:txBody>
      </p:sp>
      <p:pic>
        <p:nvPicPr>
          <p:cNvPr id="5" name="그림 4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8D3026-6E55-D5F1-B084-72EF15081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18" y="3081131"/>
            <a:ext cx="4331622" cy="3016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60C38-1F40-38BF-E40B-28D4C1B55848}"/>
              </a:ext>
            </a:extLst>
          </p:cNvPr>
          <p:cNvSpPr txBox="1"/>
          <p:nvPr/>
        </p:nvSpPr>
        <p:spPr>
          <a:xfrm>
            <a:off x="8468140" y="6225545"/>
            <a:ext cx="3170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한 라운드에 적용되는 </a:t>
            </a:r>
            <a:r>
              <a:rPr lang="en-US" altLang="ko-KR" sz="1100" dirty="0"/>
              <a:t>SPN</a:t>
            </a:r>
            <a:r>
              <a:rPr lang="ko-KR" altLang="en-US" sz="1100" dirty="0"/>
              <a:t> 구조 예시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96586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C8DC-4E02-285E-2520-FB8FF7E6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54A5C-4B33-BFC9-15D2-8A6667A2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A08B6-270F-52E2-C6FD-1A9EB9FC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E18BDD-51FA-132E-CB3E-E16D1A01F04C}"/>
              </a:ext>
            </a:extLst>
          </p:cNvPr>
          <p:cNvSpPr txBox="1"/>
          <p:nvPr/>
        </p:nvSpPr>
        <p:spPr>
          <a:xfrm>
            <a:off x="584895" y="2000991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𝐏𝐎𝐒𝐄𝐈𝐃𝐎𝐍𝛑 </a:t>
            </a:r>
            <a:endParaRPr lang="en-US" altLang="ko-KR" sz="1400" dirty="0">
              <a:latin typeface="+mj-lt"/>
            </a:endParaRP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한 라운드 당 </a:t>
            </a:r>
            <a:r>
              <a:rPr lang="en-US" altLang="ko-KR" sz="1400" dirty="0"/>
              <a:t>3</a:t>
            </a:r>
            <a:r>
              <a:rPr lang="ko-KR" altLang="en-US" sz="1400" dirty="0"/>
              <a:t>단계의 연속된 함수</a:t>
            </a:r>
            <a:r>
              <a:rPr lang="en-US" altLang="ko-KR" sz="1400" dirty="0"/>
              <a:t>(ARC, SB, M)</a:t>
            </a:r>
            <a:r>
              <a:rPr lang="ko-KR" altLang="en-US" sz="1400" dirty="0"/>
              <a:t>로 구성된 고정키 </a:t>
            </a:r>
            <a:r>
              <a:rPr lang="en-US" altLang="ko-KR" sz="1400" dirty="0"/>
              <a:t>permutation </a:t>
            </a:r>
            <a:r>
              <a:rPr lang="ko-KR" altLang="en-US" sz="1400" dirty="0"/>
              <a:t>연산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Input Absorb </a:t>
            </a:r>
            <a:r>
              <a:rPr lang="ko-KR" altLang="en-US" sz="1400" dirty="0"/>
              <a:t>및 </a:t>
            </a:r>
            <a:r>
              <a:rPr lang="en-US" altLang="ko-KR" sz="1400" dirty="0"/>
              <a:t>Output Squeezing </a:t>
            </a:r>
            <a:r>
              <a:rPr lang="ko-KR" altLang="en-US" sz="1400" dirty="0"/>
              <a:t>단계 사이에 </a:t>
            </a:r>
            <a:r>
              <a:rPr lang="en-US" altLang="ko-KR" sz="1400" dirty="0"/>
              <a:t>Permutation</a:t>
            </a:r>
            <a:r>
              <a:rPr lang="ko-KR" altLang="en-US" sz="1400" dirty="0"/>
              <a:t> 연산</a:t>
            </a:r>
            <a:r>
              <a:rPr lang="en-US" altLang="ko-KR" sz="1400" dirty="0"/>
              <a:t>(</a:t>
            </a:r>
            <a:r>
              <a:rPr lang="ko-KR" altLang="en-US" sz="1400" dirty="0"/>
              <a:t>𝐏𝐎𝐒𝐄𝐈𝐃𝐎𝐍𝛑</a:t>
            </a:r>
            <a:r>
              <a:rPr lang="en-US" altLang="ko-KR" sz="1400" dirty="0"/>
              <a:t>)</a:t>
            </a:r>
            <a:r>
              <a:rPr lang="ko-KR" altLang="en-US" sz="1400" dirty="0"/>
              <a:t> 적용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모든 </a:t>
            </a:r>
            <a:r>
              <a:rPr lang="en-US" altLang="ko-KR" sz="1400" dirty="0"/>
              <a:t>Round</a:t>
            </a:r>
            <a:r>
              <a:rPr lang="ko-KR" altLang="en-US" sz="1400" dirty="0"/>
              <a:t>는 </a:t>
            </a:r>
            <a:r>
              <a:rPr lang="en-US" altLang="ko-KR" sz="1400" dirty="0"/>
              <a:t>ARC, SB, M</a:t>
            </a:r>
            <a:r>
              <a:rPr lang="ko-KR" altLang="en-US" sz="1400" dirty="0"/>
              <a:t> 함수를 연속적으로 적용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전체 </a:t>
            </a:r>
            <a:r>
              <a:rPr lang="en-US" altLang="ko-KR" sz="1400" dirty="0"/>
              <a:t>Rounds = Full Rounds + Partial Rounds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Full 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</a:t>
            </a:r>
            <a:r>
              <a:rPr lang="ko-KR" altLang="en-US" sz="1400" dirty="0"/>
              <a:t> </a:t>
            </a:r>
            <a:r>
              <a:rPr lang="en-US" altLang="ko-KR" sz="1400" dirty="0"/>
              <a:t>Round</a:t>
            </a:r>
            <a:r>
              <a:rPr lang="ko-KR" altLang="en-US" sz="1400" dirty="0"/>
              <a:t>의 절반은 초반 </a:t>
            </a:r>
            <a:r>
              <a:rPr lang="en-US" altLang="ko-KR" sz="1400" dirty="0"/>
              <a:t>Round, </a:t>
            </a:r>
            <a:r>
              <a:rPr lang="ko-KR" altLang="en-US" sz="1400" dirty="0"/>
              <a:t>나머지 절반은 마지막 </a:t>
            </a:r>
            <a:r>
              <a:rPr lang="en-US" altLang="ko-KR" sz="1400" dirty="0"/>
              <a:t>Round</a:t>
            </a:r>
            <a:r>
              <a:rPr lang="ko-KR" altLang="en-US" sz="1400" dirty="0"/>
              <a:t>에 적용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모든 </a:t>
            </a:r>
            <a:r>
              <a:rPr lang="en-US" altLang="ko-KR" sz="1400" dirty="0"/>
              <a:t>state</a:t>
            </a:r>
            <a:r>
              <a:rPr lang="ko-KR" altLang="en-US" sz="1400" dirty="0"/>
              <a:t>에 대해서 </a:t>
            </a:r>
            <a:r>
              <a:rPr lang="en-US" altLang="ko-KR" sz="1400" dirty="0"/>
              <a:t>S-Box </a:t>
            </a:r>
            <a:r>
              <a:rPr lang="ko-KR" altLang="en-US" sz="1400" dirty="0"/>
              <a:t>연산을 취함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Partial Round : </a:t>
            </a:r>
            <a:r>
              <a:rPr lang="ko-KR" altLang="en-US" sz="1400" dirty="0"/>
              <a:t>가장 마지막 </a:t>
            </a:r>
            <a:r>
              <a:rPr lang="en-US" altLang="ko-KR" sz="1400" dirty="0"/>
              <a:t>state</a:t>
            </a:r>
            <a:r>
              <a:rPr lang="ko-KR" altLang="en-US" sz="1400" dirty="0"/>
              <a:t>에 대해서만 </a:t>
            </a:r>
            <a:r>
              <a:rPr lang="en-US" altLang="ko-KR" sz="1400" dirty="0"/>
              <a:t>S-Box(SB) </a:t>
            </a:r>
            <a:r>
              <a:rPr lang="ko-KR" altLang="en-US" sz="1400" dirty="0"/>
              <a:t>연산을 취함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Full Round</a:t>
            </a:r>
            <a:r>
              <a:rPr lang="ko-KR" altLang="en-US" sz="1400" dirty="0"/>
              <a:t>는 통계적 안정성을 위해서 최소 조건이 존재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Partial Round</a:t>
            </a:r>
            <a:r>
              <a:rPr lang="ko-KR" altLang="en-US" sz="1400" dirty="0"/>
              <a:t>는 계산 비용 감소 등 효율성 충족을 위해 사용</a:t>
            </a:r>
            <a:r>
              <a:rPr lang="en-US" altLang="ko-KR" sz="1400" dirty="0"/>
              <a:t>, </a:t>
            </a:r>
            <a:r>
              <a:rPr lang="ko-KR" altLang="en-US" sz="1400" dirty="0"/>
              <a:t>대수적 공격에 대한 저항성이 </a:t>
            </a:r>
            <a:r>
              <a:rPr lang="en-US" altLang="ko-KR" sz="1400" dirty="0"/>
              <a:t>full round</a:t>
            </a:r>
            <a:r>
              <a:rPr lang="ko-KR" altLang="en-US" sz="1400" dirty="0"/>
              <a:t>와 유사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</a:t>
            </a:r>
            <a:r>
              <a:rPr lang="ko-KR" altLang="en-US" sz="1400" dirty="0"/>
              <a:t>전체 함수의 차수 증가를 위해 사용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전체 </a:t>
            </a:r>
            <a:r>
              <a:rPr lang="en-US" altLang="ko-KR" sz="1400" dirty="0"/>
              <a:t>Round </a:t>
            </a:r>
            <a:r>
              <a:rPr lang="ko-KR" altLang="en-US" sz="1400" dirty="0"/>
              <a:t>수는 </a:t>
            </a:r>
            <a:r>
              <a:rPr lang="en-US" altLang="ko-KR" sz="1400" dirty="0"/>
              <a:t>Security Margin</a:t>
            </a:r>
            <a:r>
              <a:rPr lang="ko-KR" altLang="en-US" sz="1400" dirty="0"/>
              <a:t>을 고려하여 선택 가능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Permutation</a:t>
            </a:r>
            <a:r>
              <a:rPr lang="ko-KR" altLang="en-US" sz="1400" dirty="0"/>
              <a:t>이 랜덤하게 선택된 무작위 함수처럼 동작할 경우</a:t>
            </a:r>
            <a:r>
              <a:rPr lang="en-US" altLang="ko-KR" sz="1400" dirty="0"/>
              <a:t>, sponge </a:t>
            </a:r>
            <a:r>
              <a:rPr lang="ko-KR" altLang="en-US" sz="1400" dirty="0"/>
              <a:t>함수는 </a:t>
            </a:r>
            <a:r>
              <a:rPr lang="en-US" altLang="ko-KR" sz="1400" dirty="0"/>
              <a:t>random oracle</a:t>
            </a:r>
            <a:r>
              <a:rPr lang="ko-KR" altLang="en-US" sz="1400" dirty="0"/>
              <a:t>과 구분 불가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409A64-E807-F2FF-4970-4015CB1BC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154" y="2392588"/>
            <a:ext cx="2591586" cy="2506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4BCFF-7535-59F9-EF3C-51604C800B16}"/>
                  </a:ext>
                </a:extLst>
              </p:cNvPr>
              <p:cNvSpPr txBox="1"/>
              <p:nvPr/>
            </p:nvSpPr>
            <p:spPr>
              <a:xfrm>
                <a:off x="9940256" y="4899581"/>
                <a:ext cx="13817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𝑃𝑂𝑆𝐸𝐼𝐷𝑂𝑁</m:t>
                        </m:r>
                      </m:e>
                      <m:sup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구</m:t>
                    </m:r>
                  </m:oMath>
                </a14:m>
                <a:r>
                  <a:rPr lang="ko-KR" altLang="en-US" sz="1100" dirty="0"/>
                  <a:t>조</a:t>
                </a:r>
                <a:endParaRPr lang="en-US" altLang="ko-KR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4BCFF-7535-59F9-EF3C-51604C800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0256" y="4899581"/>
                <a:ext cx="1381794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08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E85C0-2626-3CC3-BDFD-4C58BDD2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9D84F9C-2660-DD8A-F984-24A67616EC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70552" y="176443"/>
                <a:ext cx="12021437" cy="71255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𝐏𝐎𝐒𝐄𝐈𝐃𝐎𝐍</m:t>
                        </m:r>
                      </m:e>
                      <m:sup>
                        <m:r>
                          <a:rPr lang="ko-KR" altLang="en-US" b="1" i="0">
                            <a:latin typeface="Cambria Math" panose="02040503050406030204" pitchFamily="18" charset="0"/>
                          </a:rPr>
                          <m:t>𝛑</m:t>
                        </m:r>
                      </m:sup>
                    </m:sSup>
                  </m:oMath>
                </a14:m>
                <a:r>
                  <a:rPr lang="ko-KR" altLang="en-US" dirty="0"/>
                  <a:t> 구성 함수</a:t>
                </a: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9D84F9C-2660-DD8A-F984-24A67616E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0552" y="176443"/>
                <a:ext cx="12021437" cy="712557"/>
              </a:xfrm>
              <a:blipFill>
                <a:blip r:embed="rId3"/>
                <a:stretch>
                  <a:fillRect t="-26496"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1BD2E-EA46-380C-7FAD-2757A0F9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E8E01-6335-DAF8-B6C5-2AE23C39CB10}"/>
                  </a:ext>
                </a:extLst>
              </p:cNvPr>
              <p:cNvSpPr txBox="1"/>
              <p:nvPr/>
            </p:nvSpPr>
            <p:spPr>
              <a:xfrm>
                <a:off x="900608" y="1746238"/>
                <a:ext cx="6427447" cy="3512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ARC(Add Round Constants)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 내의 모든 </a:t>
                </a:r>
                <a:r>
                  <a:rPr lang="en-US" altLang="ko-KR" sz="1400" dirty="0"/>
                  <a:t>word</a:t>
                </a:r>
                <a:r>
                  <a:rPr lang="ko-KR" altLang="en-US" sz="1400" dirty="0"/>
                  <a:t>에 라운드 별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를 더함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라운드 별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는 </a:t>
                </a:r>
                <a:r>
                  <a:rPr lang="en-US" altLang="ko-KR" sz="1400" dirty="0"/>
                  <a:t>constant table</a:t>
                </a:r>
                <a:r>
                  <a:rPr lang="ko-KR" altLang="en-US" sz="1400" dirty="0"/>
                  <a:t>에 정의 되어있음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매 라운드마다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가 다름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b="1" dirty="0"/>
                  <a:t>S(Sub Words)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Word </a:t>
                </a:r>
                <a:r>
                  <a:rPr lang="ko-KR" altLang="en-US" sz="1400" dirty="0"/>
                  <a:t>단위로 </a:t>
                </a:r>
                <a:r>
                  <a:rPr lang="en-US" altLang="ko-KR" sz="1400" dirty="0"/>
                  <a:t>table</a:t>
                </a:r>
                <a:r>
                  <a:rPr lang="ko-KR" altLang="en-US" sz="1400" dirty="0"/>
                  <a:t>에 해당하는 값으로 </a:t>
                </a:r>
                <a:r>
                  <a:rPr lang="en-US" altLang="ko-KR" sz="1400" dirty="0"/>
                  <a:t>substitution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비선형성 부여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일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반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적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으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400" dirty="0"/>
                  <a:t>를 사용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ex) AES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S-box</a:t>
                </a:r>
              </a:p>
              <a:p>
                <a:endParaRPr lang="en-US" altLang="ko-KR" sz="1400" dirty="0"/>
              </a:p>
              <a:p>
                <a:r>
                  <a:rPr lang="en-US" altLang="ko-KR" b="1" dirty="0"/>
                  <a:t>M(Mix Layer)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State </a:t>
                </a:r>
                <a:r>
                  <a:rPr lang="ko-KR" altLang="en-US" sz="1400" dirty="0"/>
                  <a:t>벡터 전체에 </a:t>
                </a:r>
                <a:r>
                  <a:rPr lang="en-US" altLang="ko-KR" sz="1400" dirty="0"/>
                  <a:t>t x t MDS </a:t>
                </a:r>
                <a:r>
                  <a:rPr lang="ko-KR" altLang="en-US" sz="1400" dirty="0"/>
                  <a:t>행렬을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곱함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Linear layer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Cauchy </a:t>
                </a:r>
                <a:r>
                  <a:rPr lang="ko-KR" altLang="en-US" sz="1400" dirty="0"/>
                  <a:t>행렬이라는 방법을 이용하여 </a:t>
                </a:r>
                <a:r>
                  <a:rPr lang="en-US" altLang="ko-KR" sz="1400" dirty="0"/>
                  <a:t>MDS </a:t>
                </a:r>
                <a:r>
                  <a:rPr lang="ko-KR" altLang="en-US" sz="1400" dirty="0" err="1"/>
                  <a:t>행렬값</a:t>
                </a:r>
                <a:r>
                  <a:rPr lang="ko-KR" altLang="en-US" sz="1400" dirty="0"/>
                  <a:t> 결정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E8E01-6335-DAF8-B6C5-2AE23C39C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08" y="1746238"/>
                <a:ext cx="6427447" cy="3512693"/>
              </a:xfrm>
              <a:prstGeom prst="rect">
                <a:avLst/>
              </a:prstGeom>
              <a:blipFill>
                <a:blip r:embed="rId4"/>
                <a:stretch>
                  <a:fillRect l="-854" t="-867" b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7C49947-83D5-AA4F-C74C-AF9D0F95B7E2}"/>
              </a:ext>
            </a:extLst>
          </p:cNvPr>
          <p:cNvSpPr txBox="1"/>
          <p:nvPr/>
        </p:nvSpPr>
        <p:spPr>
          <a:xfrm>
            <a:off x="8752946" y="5383488"/>
            <a:ext cx="175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MDS matrix </a:t>
            </a:r>
            <a:r>
              <a:rPr lang="ko-KR" altLang="en-US" sz="1200" dirty="0"/>
              <a:t>예시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376F51-B85E-B1B8-DC89-2CE95CE16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269" y="3494391"/>
            <a:ext cx="3674123" cy="18228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D0122A-436E-16B9-F49F-3D166B79405A}"/>
              </a:ext>
            </a:extLst>
          </p:cNvPr>
          <p:cNvSpPr txBox="1"/>
          <p:nvPr/>
        </p:nvSpPr>
        <p:spPr>
          <a:xfrm>
            <a:off x="8469086" y="2886313"/>
            <a:ext cx="1991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Round constant </a:t>
            </a:r>
            <a:r>
              <a:rPr lang="ko-KR" altLang="en-US" sz="1200" dirty="0"/>
              <a:t>예시</a:t>
            </a:r>
            <a:r>
              <a:rPr lang="en-US" altLang="ko-KR" sz="1200" dirty="0"/>
              <a:t>(</a:t>
            </a:r>
            <a:r>
              <a:rPr lang="ko-KR" altLang="en-US" sz="1200" dirty="0"/>
              <a:t>일부</a:t>
            </a:r>
            <a:r>
              <a:rPr lang="en-US" altLang="ko-KR" sz="1200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AB40B9-1182-C57E-BC76-6026A7D07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055" y="1473425"/>
            <a:ext cx="3726589" cy="136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7B69-D97A-23CA-E092-00F51186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326DB-01BC-FF18-2094-502440DC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SPONGE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824231-BFDE-BE4B-89E0-C455982E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8CE27-1CF4-42C9-7A7A-249740CD3D5C}"/>
                  </a:ext>
                </a:extLst>
              </p:cNvPr>
              <p:cNvSpPr txBox="1"/>
              <p:nvPr/>
            </p:nvSpPr>
            <p:spPr>
              <a:xfrm>
                <a:off x="799372" y="1819543"/>
                <a:ext cx="10763796" cy="4316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SPONGE </a:t>
                </a:r>
                <a:r>
                  <a:rPr lang="ko-KR" altLang="en-US" b="1" dirty="0"/>
                  <a:t>구조란</a:t>
                </a:r>
                <a:r>
                  <a:rPr lang="en-US" altLang="ko-KR" b="1" dirty="0"/>
                  <a:t>?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임의의 길이를 가진 입력 데이터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메시지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를 받아 고정된 크기 또는 임의의 길이의 </a:t>
                </a:r>
                <a:r>
                  <a:rPr lang="ko-KR" altLang="en-US" sz="1400" dirty="0" err="1"/>
                  <a:t>해시값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출력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을 생성하는 암호학적 구조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고정되고 공개된 </a:t>
                </a:r>
                <a:r>
                  <a:rPr lang="ko-KR" altLang="en-US" sz="1400" dirty="0" err="1"/>
                  <a:t>키값</a:t>
                </a:r>
                <a:r>
                  <a:rPr lang="en-US" altLang="ko-KR" sz="1400" dirty="0"/>
                  <a:t>(constants matrix, MDS </a:t>
                </a:r>
                <a:r>
                  <a:rPr lang="ko-KR" altLang="en-US" sz="1400" dirty="0"/>
                  <a:t>행렬 값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 사용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전체 구조는 </a:t>
                </a:r>
                <a:r>
                  <a:rPr lang="en-US" altLang="ko-KR" sz="1400" dirty="0"/>
                  <a:t>rate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capacity</a:t>
                </a:r>
                <a:r>
                  <a:rPr lang="ko-KR" altLang="en-US" sz="1400" dirty="0"/>
                  <a:t>로 나뉨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Rate : </a:t>
                </a:r>
                <a:r>
                  <a:rPr lang="ko-KR" altLang="en-US" sz="1400" dirty="0"/>
                  <a:t>입력을 받고 출력을 내보내는 영역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처리량과 직결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Capacity : </a:t>
                </a:r>
                <a:r>
                  <a:rPr lang="ko-KR" altLang="en-US" sz="1400" dirty="0"/>
                  <a:t>외부 입력을 직접적으로 받지 않고 함수로만 접근 가능한 영역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보안 수준에 핵심적인 역할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P : Permutation </a:t>
                </a:r>
                <a:r>
                  <a:rPr lang="ko-KR" altLang="en-US" sz="1400" dirty="0"/>
                  <a:t>연산</a:t>
                </a:r>
                <a:r>
                  <a:rPr lang="en-US" altLang="ko-KR" sz="1400" dirty="0"/>
                  <a:t>(POSEIDON</a:t>
                </a:r>
                <a:r>
                  <a:rPr lang="el-GR" altLang="ko-KR" sz="1400" dirty="0"/>
                  <a:t>π</a:t>
                </a:r>
                <a:r>
                  <a:rPr lang="en-US" altLang="ko-KR" sz="14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무작위로 선택된 순열로 모델링 하는 경우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1400" dirty="0"/>
                  <a:t>-bit(c : capacity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bit </a:t>
                </a:r>
                <a:r>
                  <a:rPr lang="ko-KR" altLang="en-US" sz="1400" dirty="0"/>
                  <a:t>크기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의 충돌 저항성 및 역상 저항성 제공 가능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r>
                  <a:rPr lang="en-US" altLang="ko-KR" b="1" dirty="0"/>
                  <a:t>SPONGE </a:t>
                </a:r>
                <a:r>
                  <a:rPr lang="ko-KR" altLang="en-US" b="1" dirty="0"/>
                  <a:t>구조 동작 순서</a:t>
                </a:r>
                <a:r>
                  <a:rPr lang="en-US" altLang="ko-KR" b="1" dirty="0"/>
                  <a:t>(POSEIDON-128)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1. </a:t>
                </a:r>
                <a:r>
                  <a:rPr lang="ko-KR" altLang="en-US" sz="1400" dirty="0"/>
                  <a:t>초기 </a:t>
                </a:r>
                <a:r>
                  <a:rPr lang="en-US" altLang="ko-KR" sz="1400" dirty="0"/>
                  <a:t>state 0</a:t>
                </a:r>
                <a:r>
                  <a:rPr lang="ko-KR" altLang="en-US" sz="1400" dirty="0"/>
                  <a:t>으로 초기화</a:t>
                </a:r>
                <a:endParaRPr lang="en-US" altLang="ko-KR" sz="1400" dirty="0"/>
              </a:p>
              <a:p>
                <a:r>
                  <a:rPr lang="en-US" altLang="ko-KR" sz="1400" dirty="0"/>
                  <a:t>2. </a:t>
                </a:r>
                <a:r>
                  <a:rPr lang="ko-KR" altLang="en-US" sz="1400" dirty="0"/>
                  <a:t>메시지를 </a:t>
                </a:r>
                <a:r>
                  <a:rPr lang="en-US" altLang="ko-KR" sz="1400" dirty="0"/>
                  <a:t>256-bit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chunk</a:t>
                </a:r>
                <a:r>
                  <a:rPr lang="ko-KR" altLang="en-US" sz="1400" dirty="0"/>
                  <a:t>로 자름</a:t>
                </a:r>
                <a:endParaRPr lang="en-US" altLang="ko-KR" sz="1400" dirty="0"/>
              </a:p>
              <a:p>
                <a:r>
                  <a:rPr lang="en-US" altLang="ko-KR" sz="1400" dirty="0"/>
                  <a:t>3. Chunk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rate</a:t>
                </a:r>
                <a:r>
                  <a:rPr lang="ko-KR" altLang="en-US" sz="1400" dirty="0"/>
                  <a:t> 부분의 값을 </a:t>
                </a:r>
                <a:r>
                  <a:rPr lang="en-US" altLang="ko-KR" sz="1400" dirty="0"/>
                  <a:t>XOR</a:t>
                </a:r>
                <a:r>
                  <a:rPr lang="ko-KR" altLang="en-US" sz="1400" dirty="0"/>
                  <a:t> 연산을 통해 흡수</a:t>
                </a:r>
                <a:endParaRPr lang="en-US" altLang="ko-KR" sz="1400" dirty="0"/>
              </a:p>
              <a:p>
                <a:r>
                  <a:rPr lang="en-US" altLang="ko-KR" sz="1400" dirty="0"/>
                  <a:t>4. Permutation </a:t>
                </a:r>
                <a:r>
                  <a:rPr lang="ko-KR" altLang="en-US" sz="1400" dirty="0"/>
                  <a:t>연산 진행</a:t>
                </a:r>
                <a:endParaRPr lang="en-US" altLang="ko-KR" sz="1400" dirty="0"/>
              </a:p>
              <a:p>
                <a:r>
                  <a:rPr lang="en-US" altLang="ko-KR" sz="1400" dirty="0"/>
                  <a:t>5. 3~4</a:t>
                </a:r>
                <a:r>
                  <a:rPr lang="ko-KR" altLang="en-US" sz="1400" dirty="0"/>
                  <a:t>번을 모든 </a:t>
                </a:r>
                <a:r>
                  <a:rPr lang="en-US" altLang="ko-KR" sz="1400" dirty="0"/>
                  <a:t>chunk</a:t>
                </a:r>
                <a:r>
                  <a:rPr lang="ko-KR" altLang="en-US" sz="1400" dirty="0"/>
                  <a:t>가 흡수될 때 까지 반복</a:t>
                </a:r>
                <a:endParaRPr lang="en-US" altLang="ko-KR" sz="1400" dirty="0"/>
              </a:p>
              <a:p>
                <a:r>
                  <a:rPr lang="en-US" altLang="ko-KR" sz="1400" dirty="0"/>
                  <a:t>6. </a:t>
                </a:r>
                <a:r>
                  <a:rPr lang="ko-KR" altLang="en-US" sz="1400" dirty="0"/>
                  <a:t>결과값을 추출</a:t>
                </a:r>
                <a:endParaRPr lang="en-US" altLang="ko-KR" sz="1400" dirty="0"/>
              </a:p>
              <a:p>
                <a:r>
                  <a:rPr lang="en-US" altLang="ko-KR" sz="1400" dirty="0"/>
                  <a:t>(</a:t>
                </a:r>
                <a:r>
                  <a:rPr lang="ko-KR" altLang="en-US" sz="1400" dirty="0"/>
                  <a:t>필요시</a:t>
                </a:r>
                <a:r>
                  <a:rPr lang="en-US" altLang="ko-KR" sz="1400" dirty="0"/>
                  <a:t>) 7. Permutation </a:t>
                </a:r>
                <a:r>
                  <a:rPr lang="ko-KR" altLang="en-US" sz="1400" dirty="0"/>
                  <a:t>연산 후 추가 </a:t>
                </a:r>
                <a:r>
                  <a:rPr lang="en-US" altLang="ko-KR" sz="1400" dirty="0"/>
                  <a:t>Output </a:t>
                </a:r>
                <a:r>
                  <a:rPr lang="ko-KR" altLang="en-US" sz="1400" dirty="0"/>
                  <a:t>추출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8CE27-1CF4-42C9-7A7A-249740CD3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72" y="1819543"/>
                <a:ext cx="10763796" cy="4316887"/>
              </a:xfrm>
              <a:prstGeom prst="rect">
                <a:avLst/>
              </a:prstGeom>
              <a:blipFill>
                <a:blip r:embed="rId3"/>
                <a:stretch>
                  <a:fillRect l="-453" t="-705" b="-5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4A57AB58-49B2-D9F3-BC3A-EC1169112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065" y="4264289"/>
            <a:ext cx="4459250" cy="1684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CDB93-72D1-B9D6-1EF8-55AC71C8AC5C}"/>
              </a:ext>
            </a:extLst>
          </p:cNvPr>
          <p:cNvSpPr txBox="1"/>
          <p:nvPr/>
        </p:nvSpPr>
        <p:spPr>
          <a:xfrm>
            <a:off x="9174840" y="5917348"/>
            <a:ext cx="1133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sponge</a:t>
            </a:r>
            <a:r>
              <a:rPr lang="ko-KR" altLang="en-US" sz="1100" dirty="0"/>
              <a:t>구조</a:t>
            </a:r>
            <a:r>
              <a:rPr lang="en-US" altLang="ko-KR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354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55FB-ABEF-490B-2F56-EBE3CC3C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E0D89-B4D3-2F70-C94D-FE97BF4F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712557"/>
          </a:xfrm>
        </p:spPr>
        <p:txBody>
          <a:bodyPr>
            <a:normAutofit/>
          </a:bodyPr>
          <a:lstStyle/>
          <a:p>
            <a:r>
              <a:rPr lang="en-US" altLang="ko-KR" dirty="0"/>
              <a:t>Sponge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ko-KR" altLang="en-US" dirty="0"/>
              <a:t>동작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D0D43-7AA0-797C-F520-CD205DEA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3D105-40BB-0D18-0E00-C01F9174B132}"/>
              </a:ext>
            </a:extLst>
          </p:cNvPr>
          <p:cNvSpPr txBox="1"/>
          <p:nvPr/>
        </p:nvSpPr>
        <p:spPr>
          <a:xfrm>
            <a:off x="975373" y="1235809"/>
            <a:ext cx="6698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Sponge </a:t>
            </a:r>
            <a:r>
              <a:rPr lang="ko-KR" altLang="en-US" b="1" dirty="0"/>
              <a:t>구조 동작 예시</a:t>
            </a:r>
            <a:endParaRPr lang="en-US" altLang="ko-KR" sz="1400" dirty="0"/>
          </a:p>
          <a:p>
            <a:r>
              <a:rPr lang="ko-KR" altLang="en-US" sz="1400" dirty="0"/>
              <a:t>한 </a:t>
            </a:r>
            <a:r>
              <a:rPr lang="en-US" altLang="ko-KR" sz="1400" dirty="0"/>
              <a:t>Field </a:t>
            </a:r>
            <a:r>
              <a:rPr lang="ko-KR" altLang="en-US" sz="1400" dirty="0"/>
              <a:t>당 약 </a:t>
            </a:r>
            <a:r>
              <a:rPr lang="en-US" altLang="ko-KR" sz="1400" dirty="0"/>
              <a:t>254-bit</a:t>
            </a:r>
          </a:p>
          <a:p>
            <a:r>
              <a:rPr lang="en-US" altLang="ko-KR" sz="1400" dirty="0"/>
              <a:t>- Input : [ 5, 7, 9, 4, 2 ]</a:t>
            </a:r>
          </a:p>
          <a:p>
            <a:r>
              <a:rPr lang="en-US" altLang="ko-KR" sz="1400" dirty="0"/>
              <a:t>*permutation</a:t>
            </a:r>
            <a:r>
              <a:rPr lang="ko-KR" altLang="en-US" sz="1400" dirty="0"/>
              <a:t> 값은  임의로 설정</a:t>
            </a:r>
            <a:r>
              <a:rPr lang="en-US" altLang="ko-KR" sz="1400" dirty="0"/>
              <a:t>(</a:t>
            </a:r>
            <a:r>
              <a:rPr lang="ko-KR" altLang="en-US" sz="1400" dirty="0"/>
              <a:t>실제로는 연산</a:t>
            </a:r>
            <a:r>
              <a:rPr lang="en-US" altLang="ko-KR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140B8-8652-1CB2-F27A-DAFCDDF82E83}"/>
              </a:ext>
            </a:extLst>
          </p:cNvPr>
          <p:cNvSpPr txBox="1"/>
          <p:nvPr/>
        </p:nvSpPr>
        <p:spPr>
          <a:xfrm>
            <a:off x="5717838" y="4344260"/>
            <a:ext cx="1418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Absorbing </a:t>
            </a:r>
            <a:r>
              <a:rPr lang="ko-KR" altLang="en-US" sz="1400" dirty="0"/>
              <a:t>예시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B4380F-7537-790A-9C6E-5B2F441A67A3}"/>
              </a:ext>
            </a:extLst>
          </p:cNvPr>
          <p:cNvGraphicFramePr>
            <a:graphicFrameLocks noGrp="1"/>
          </p:cNvGraphicFramePr>
          <p:nvPr/>
        </p:nvGraphicFramePr>
        <p:xfrm>
          <a:off x="2161267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9B27E6D4-4CE8-6388-A660-B5D2C9E839F6}"/>
              </a:ext>
            </a:extLst>
          </p:cNvPr>
          <p:cNvSpPr/>
          <p:nvPr/>
        </p:nvSpPr>
        <p:spPr>
          <a:xfrm>
            <a:off x="1935842" y="2864403"/>
            <a:ext cx="136525" cy="88371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8026D-3DD5-A292-9FE8-2AEF96DE9E1D}"/>
              </a:ext>
            </a:extLst>
          </p:cNvPr>
          <p:cNvSpPr txBox="1"/>
          <p:nvPr/>
        </p:nvSpPr>
        <p:spPr>
          <a:xfrm>
            <a:off x="975373" y="3152369"/>
            <a:ext cx="871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3B38605C-4C64-DBA7-B085-24AC9BBD9E47}"/>
              </a:ext>
            </a:extLst>
          </p:cNvPr>
          <p:cNvSpPr/>
          <p:nvPr/>
        </p:nvSpPr>
        <p:spPr>
          <a:xfrm>
            <a:off x="1942192" y="3824098"/>
            <a:ext cx="136525" cy="421439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F7C63-B919-082C-0CC9-D8338FBEAB83}"/>
              </a:ext>
            </a:extLst>
          </p:cNvPr>
          <p:cNvSpPr txBox="1"/>
          <p:nvPr/>
        </p:nvSpPr>
        <p:spPr>
          <a:xfrm>
            <a:off x="824593" y="3824098"/>
            <a:ext cx="10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A49BC5E-1C15-9A20-8446-EFB377CBFF64}"/>
              </a:ext>
            </a:extLst>
          </p:cNvPr>
          <p:cNvSpPr/>
          <p:nvPr/>
        </p:nvSpPr>
        <p:spPr>
          <a:xfrm>
            <a:off x="2910980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F571384-A945-11D8-9E75-741F313B4D29}"/>
              </a:ext>
            </a:extLst>
          </p:cNvPr>
          <p:cNvGraphicFramePr>
            <a:graphicFrameLocks noGrp="1"/>
          </p:cNvGraphicFramePr>
          <p:nvPr/>
        </p:nvGraphicFramePr>
        <p:xfrm>
          <a:off x="3508293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E6E4334-21F9-02FD-DE06-DD684022DCEE}"/>
              </a:ext>
            </a:extLst>
          </p:cNvPr>
          <p:cNvSpPr/>
          <p:nvPr/>
        </p:nvSpPr>
        <p:spPr>
          <a:xfrm>
            <a:off x="4258006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C220B5-196C-875C-46F6-4ACDA51EB469}"/>
              </a:ext>
            </a:extLst>
          </p:cNvPr>
          <p:cNvSpPr txBox="1"/>
          <p:nvPr/>
        </p:nvSpPr>
        <p:spPr>
          <a:xfrm>
            <a:off x="2809495" y="2513522"/>
            <a:ext cx="700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[ 5, 7 ]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A69C91B-89AF-359B-C684-39999DA86154}"/>
              </a:ext>
            </a:extLst>
          </p:cNvPr>
          <p:cNvCxnSpPr>
            <a:cxnSpLocks/>
          </p:cNvCxnSpPr>
          <p:nvPr/>
        </p:nvCxnSpPr>
        <p:spPr>
          <a:xfrm>
            <a:off x="3121175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순서도: 논리합 21">
            <a:extLst>
              <a:ext uri="{FF2B5EF4-FFF2-40B4-BE49-F238E27FC236}">
                <a16:creationId xmlns:a16="http://schemas.microsoft.com/office/drawing/2014/main" id="{8EBD7D4B-CEFA-AFDA-848A-2A09A1C6387F}"/>
              </a:ext>
            </a:extLst>
          </p:cNvPr>
          <p:cNvSpPr/>
          <p:nvPr/>
        </p:nvSpPr>
        <p:spPr>
          <a:xfrm>
            <a:off x="3160336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B483E0D-B1BC-BAF1-C78B-47CEA61F710C}"/>
              </a:ext>
            </a:extLst>
          </p:cNvPr>
          <p:cNvGraphicFramePr>
            <a:graphicFrameLocks noGrp="1"/>
          </p:cNvGraphicFramePr>
          <p:nvPr/>
        </p:nvGraphicFramePr>
        <p:xfrm>
          <a:off x="4855319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C56344E-F04D-3419-06B2-AF63EFAC030A}"/>
              </a:ext>
            </a:extLst>
          </p:cNvPr>
          <p:cNvSpPr/>
          <p:nvPr/>
        </p:nvSpPr>
        <p:spPr>
          <a:xfrm>
            <a:off x="5605032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3B197-CB5A-63FC-4437-4C83CF18FF50}"/>
              </a:ext>
            </a:extLst>
          </p:cNvPr>
          <p:cNvSpPr txBox="1"/>
          <p:nvPr/>
        </p:nvSpPr>
        <p:spPr>
          <a:xfrm>
            <a:off x="3916247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CC68F-52EA-2A4A-C87D-3B33AF20B710}"/>
              </a:ext>
            </a:extLst>
          </p:cNvPr>
          <p:cNvGraphicFramePr>
            <a:graphicFrameLocks noGrp="1"/>
          </p:cNvGraphicFramePr>
          <p:nvPr/>
        </p:nvGraphicFramePr>
        <p:xfrm>
          <a:off x="6202345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B82BD31-8A94-CE78-1E28-4AD60CD6DFA4}"/>
              </a:ext>
            </a:extLst>
          </p:cNvPr>
          <p:cNvSpPr/>
          <p:nvPr/>
        </p:nvSpPr>
        <p:spPr>
          <a:xfrm>
            <a:off x="6952058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DDC0B9-F118-E0F4-6AA8-A2427E8A8E48}"/>
              </a:ext>
            </a:extLst>
          </p:cNvPr>
          <p:cNvSpPr txBox="1"/>
          <p:nvPr/>
        </p:nvSpPr>
        <p:spPr>
          <a:xfrm>
            <a:off x="5499162" y="2513522"/>
            <a:ext cx="7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[ 9, 4 ]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A7CAD48-2FBB-4748-FFFC-303BDD79068F}"/>
              </a:ext>
            </a:extLst>
          </p:cNvPr>
          <p:cNvCxnSpPr>
            <a:cxnSpLocks/>
          </p:cNvCxnSpPr>
          <p:nvPr/>
        </p:nvCxnSpPr>
        <p:spPr>
          <a:xfrm>
            <a:off x="5810842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논리합 30">
            <a:extLst>
              <a:ext uri="{FF2B5EF4-FFF2-40B4-BE49-F238E27FC236}">
                <a16:creationId xmlns:a16="http://schemas.microsoft.com/office/drawing/2014/main" id="{178A6C90-5D0B-ABD6-87DD-0BF4006AE355}"/>
              </a:ext>
            </a:extLst>
          </p:cNvPr>
          <p:cNvSpPr/>
          <p:nvPr/>
        </p:nvSpPr>
        <p:spPr>
          <a:xfrm>
            <a:off x="5850003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6D9A47BC-0CFB-1DE3-13B4-AF339AF281C6}"/>
              </a:ext>
            </a:extLst>
          </p:cNvPr>
          <p:cNvGraphicFramePr>
            <a:graphicFrameLocks noGrp="1"/>
          </p:cNvGraphicFramePr>
          <p:nvPr/>
        </p:nvGraphicFramePr>
        <p:xfrm>
          <a:off x="7549371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8C24AEA-B741-EFB9-9D3E-03FEFE198630}"/>
              </a:ext>
            </a:extLst>
          </p:cNvPr>
          <p:cNvSpPr txBox="1"/>
          <p:nvPr/>
        </p:nvSpPr>
        <p:spPr>
          <a:xfrm>
            <a:off x="6637664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1F782C2D-DA36-026D-0534-A9A5523903AB}"/>
              </a:ext>
            </a:extLst>
          </p:cNvPr>
          <p:cNvSpPr/>
          <p:nvPr/>
        </p:nvSpPr>
        <p:spPr>
          <a:xfrm>
            <a:off x="8299084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69334D3-20F5-0DCD-EA6F-A337B93DBA6D}"/>
              </a:ext>
            </a:extLst>
          </p:cNvPr>
          <p:cNvGraphicFramePr>
            <a:graphicFrameLocks noGrp="1"/>
          </p:cNvGraphicFramePr>
          <p:nvPr/>
        </p:nvGraphicFramePr>
        <p:xfrm>
          <a:off x="8896397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A73ACD3-75DB-3982-79B7-53BB020E1475}"/>
              </a:ext>
            </a:extLst>
          </p:cNvPr>
          <p:cNvSpPr/>
          <p:nvPr/>
        </p:nvSpPr>
        <p:spPr>
          <a:xfrm>
            <a:off x="9646110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46B29D-73BF-7A95-76FF-BFEC7803AD9D}"/>
              </a:ext>
            </a:extLst>
          </p:cNvPr>
          <p:cNvSpPr txBox="1"/>
          <p:nvPr/>
        </p:nvSpPr>
        <p:spPr>
          <a:xfrm>
            <a:off x="8188975" y="2513522"/>
            <a:ext cx="7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[ 2, 0 ]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8A9B96F-5E5D-941E-1F3C-D6DAB204AC20}"/>
              </a:ext>
            </a:extLst>
          </p:cNvPr>
          <p:cNvCxnSpPr>
            <a:cxnSpLocks/>
          </p:cNvCxnSpPr>
          <p:nvPr/>
        </p:nvCxnSpPr>
        <p:spPr>
          <a:xfrm>
            <a:off x="8500655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논리합 39">
            <a:extLst>
              <a:ext uri="{FF2B5EF4-FFF2-40B4-BE49-F238E27FC236}">
                <a16:creationId xmlns:a16="http://schemas.microsoft.com/office/drawing/2014/main" id="{58DAB4FE-50A0-943D-1797-F4FEF9400D30}"/>
              </a:ext>
            </a:extLst>
          </p:cNvPr>
          <p:cNvSpPr/>
          <p:nvPr/>
        </p:nvSpPr>
        <p:spPr>
          <a:xfrm>
            <a:off x="8539816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A86E6DE9-D4C8-E211-D064-1B342286EEF4}"/>
              </a:ext>
            </a:extLst>
          </p:cNvPr>
          <p:cNvGraphicFramePr>
            <a:graphicFrameLocks noGrp="1"/>
          </p:cNvGraphicFramePr>
          <p:nvPr/>
        </p:nvGraphicFramePr>
        <p:xfrm>
          <a:off x="10243428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30BD97E3-2796-2D63-8EF2-FE879F59D71E}"/>
              </a:ext>
            </a:extLst>
          </p:cNvPr>
          <p:cNvSpPr txBox="1"/>
          <p:nvPr/>
        </p:nvSpPr>
        <p:spPr>
          <a:xfrm>
            <a:off x="9284842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844921-133B-60F1-81DB-62626550D8BF}"/>
              </a:ext>
            </a:extLst>
          </p:cNvPr>
          <p:cNvSpPr txBox="1"/>
          <p:nvPr/>
        </p:nvSpPr>
        <p:spPr>
          <a:xfrm>
            <a:off x="5717838" y="6517069"/>
            <a:ext cx="1510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Squeezing </a:t>
            </a:r>
            <a:r>
              <a:rPr lang="ko-KR" altLang="en-US" sz="1400" dirty="0"/>
              <a:t>예시</a:t>
            </a:r>
            <a:endParaRPr lang="en-US" altLang="ko-KR" sz="1400" dirty="0"/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59C4E22B-7BF5-E9CB-940C-4470A2FC31B7}"/>
              </a:ext>
            </a:extLst>
          </p:cNvPr>
          <p:cNvGraphicFramePr>
            <a:graphicFrameLocks noGrp="1"/>
          </p:cNvGraphicFramePr>
          <p:nvPr/>
        </p:nvGraphicFramePr>
        <p:xfrm>
          <a:off x="2161267" y="5118706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78" name="왼쪽 중괄호 77">
            <a:extLst>
              <a:ext uri="{FF2B5EF4-FFF2-40B4-BE49-F238E27FC236}">
                <a16:creationId xmlns:a16="http://schemas.microsoft.com/office/drawing/2014/main" id="{4DBF0AA4-1DE7-73EC-B959-A8B30F5F0BB7}"/>
              </a:ext>
            </a:extLst>
          </p:cNvPr>
          <p:cNvSpPr/>
          <p:nvPr/>
        </p:nvSpPr>
        <p:spPr>
          <a:xfrm>
            <a:off x="1935842" y="5124297"/>
            <a:ext cx="136525" cy="88371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DC7449-74E4-6807-7695-203976B2BE2E}"/>
              </a:ext>
            </a:extLst>
          </p:cNvPr>
          <p:cNvSpPr txBox="1"/>
          <p:nvPr/>
        </p:nvSpPr>
        <p:spPr>
          <a:xfrm>
            <a:off x="975373" y="5412263"/>
            <a:ext cx="871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80" name="왼쪽 중괄호 79">
            <a:extLst>
              <a:ext uri="{FF2B5EF4-FFF2-40B4-BE49-F238E27FC236}">
                <a16:creationId xmlns:a16="http://schemas.microsoft.com/office/drawing/2014/main" id="{38490FF3-AA36-3278-76A2-6B4356B7FF4E}"/>
              </a:ext>
            </a:extLst>
          </p:cNvPr>
          <p:cNvSpPr/>
          <p:nvPr/>
        </p:nvSpPr>
        <p:spPr>
          <a:xfrm>
            <a:off x="1942192" y="6083992"/>
            <a:ext cx="136525" cy="421439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1637ED-A7D6-9A98-F822-CF47A08D1769}"/>
              </a:ext>
            </a:extLst>
          </p:cNvPr>
          <p:cNvSpPr txBox="1"/>
          <p:nvPr/>
        </p:nvSpPr>
        <p:spPr>
          <a:xfrm>
            <a:off x="824593" y="6083992"/>
            <a:ext cx="10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DBA4899D-87FB-287D-7F0F-9061630E13E7}"/>
              </a:ext>
            </a:extLst>
          </p:cNvPr>
          <p:cNvSpPr/>
          <p:nvPr/>
        </p:nvSpPr>
        <p:spPr>
          <a:xfrm>
            <a:off x="2910980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10A9ECFE-2CC5-2F1D-E1F5-B091C5B659A1}"/>
              </a:ext>
            </a:extLst>
          </p:cNvPr>
          <p:cNvGraphicFramePr>
            <a:graphicFrameLocks noGrp="1"/>
          </p:cNvGraphicFramePr>
          <p:nvPr/>
        </p:nvGraphicFramePr>
        <p:xfrm>
          <a:off x="3508293" y="5118706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84" name="화살표: 오른쪽 83">
            <a:extLst>
              <a:ext uri="{FF2B5EF4-FFF2-40B4-BE49-F238E27FC236}">
                <a16:creationId xmlns:a16="http://schemas.microsoft.com/office/drawing/2014/main" id="{E91EDC1A-E5FF-6CE4-8F17-A72C5164CAC7}"/>
              </a:ext>
            </a:extLst>
          </p:cNvPr>
          <p:cNvSpPr/>
          <p:nvPr/>
        </p:nvSpPr>
        <p:spPr>
          <a:xfrm>
            <a:off x="4258006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100317-5121-553D-EDAC-A43322A7EF45}"/>
              </a:ext>
            </a:extLst>
          </p:cNvPr>
          <p:cNvSpPr txBox="1"/>
          <p:nvPr/>
        </p:nvSpPr>
        <p:spPr>
          <a:xfrm>
            <a:off x="2634343" y="4795187"/>
            <a:ext cx="947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[ 77, 88 ]</a:t>
            </a: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14159B10-4F10-4DC6-7BDD-06E056D4F12E}"/>
              </a:ext>
            </a:extLst>
          </p:cNvPr>
          <p:cNvGraphicFramePr>
            <a:graphicFrameLocks noGrp="1"/>
          </p:cNvGraphicFramePr>
          <p:nvPr/>
        </p:nvGraphicFramePr>
        <p:xfrm>
          <a:off x="4855319" y="5118706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69AA7957-0EBB-3503-A199-4B1203678C3C}"/>
              </a:ext>
            </a:extLst>
          </p:cNvPr>
          <p:cNvSpPr/>
          <p:nvPr/>
        </p:nvSpPr>
        <p:spPr>
          <a:xfrm>
            <a:off x="5605032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914B1BB-FC74-A007-4F85-4A001D708AC2}"/>
              </a:ext>
            </a:extLst>
          </p:cNvPr>
          <p:cNvSpPr txBox="1"/>
          <p:nvPr/>
        </p:nvSpPr>
        <p:spPr>
          <a:xfrm>
            <a:off x="3916247" y="4795186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08EFD77B-378D-7FD3-D282-D659D05FFD17}"/>
              </a:ext>
            </a:extLst>
          </p:cNvPr>
          <p:cNvSpPr/>
          <p:nvPr/>
        </p:nvSpPr>
        <p:spPr>
          <a:xfrm>
            <a:off x="6952058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3ED636D-0E4F-B80C-C6C1-3FC3D49F592F}"/>
              </a:ext>
            </a:extLst>
          </p:cNvPr>
          <p:cNvSpPr txBox="1"/>
          <p:nvPr/>
        </p:nvSpPr>
        <p:spPr>
          <a:xfrm>
            <a:off x="5277059" y="4795187"/>
            <a:ext cx="1039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[ 111, 222 ]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466F7DA5-BC82-7ACA-34A5-F6F48CA07CC6}"/>
              </a:ext>
            </a:extLst>
          </p:cNvPr>
          <p:cNvCxnSpPr>
            <a:cxnSpLocks/>
          </p:cNvCxnSpPr>
          <p:nvPr/>
        </p:nvCxnSpPr>
        <p:spPr>
          <a:xfrm flipV="1">
            <a:off x="5810842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CBAC4EC-EFBF-E432-EB33-8FD821F90AA8}"/>
              </a:ext>
            </a:extLst>
          </p:cNvPr>
          <p:cNvSpPr txBox="1"/>
          <p:nvPr/>
        </p:nvSpPr>
        <p:spPr>
          <a:xfrm>
            <a:off x="6637664" y="4795186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36D54057-6856-A009-F8FE-FC380C52D74F}"/>
              </a:ext>
            </a:extLst>
          </p:cNvPr>
          <p:cNvSpPr/>
          <p:nvPr/>
        </p:nvSpPr>
        <p:spPr>
          <a:xfrm>
            <a:off x="8299084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CB5386E-9368-D16B-3F27-2DE3564140E1}"/>
              </a:ext>
            </a:extLst>
          </p:cNvPr>
          <p:cNvSpPr txBox="1"/>
          <p:nvPr/>
        </p:nvSpPr>
        <p:spPr>
          <a:xfrm>
            <a:off x="7931800" y="4795187"/>
            <a:ext cx="112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[ 444,  555 ]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50D6B7D6-9556-1F07-5812-E248625B985E}"/>
              </a:ext>
            </a:extLst>
          </p:cNvPr>
          <p:cNvCxnSpPr>
            <a:cxnSpLocks/>
          </p:cNvCxnSpPr>
          <p:nvPr/>
        </p:nvCxnSpPr>
        <p:spPr>
          <a:xfrm flipV="1">
            <a:off x="8500655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95C3DDA-3059-9FC4-00B6-A8F7F18C43A9}"/>
              </a:ext>
            </a:extLst>
          </p:cNvPr>
          <p:cNvCxnSpPr>
            <a:cxnSpLocks/>
          </p:cNvCxnSpPr>
          <p:nvPr/>
        </p:nvCxnSpPr>
        <p:spPr>
          <a:xfrm flipV="1">
            <a:off x="3102125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57372045-A0AE-9859-292F-F321FDE58747}"/>
              </a:ext>
            </a:extLst>
          </p:cNvPr>
          <p:cNvGraphicFramePr>
            <a:graphicFrameLocks noGrp="1"/>
          </p:cNvGraphicFramePr>
          <p:nvPr/>
        </p:nvGraphicFramePr>
        <p:xfrm>
          <a:off x="7455920" y="510749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E94056AD-868F-B76F-E366-04357DD6D746}"/>
              </a:ext>
            </a:extLst>
          </p:cNvPr>
          <p:cNvGraphicFramePr>
            <a:graphicFrameLocks noGrp="1"/>
          </p:cNvGraphicFramePr>
          <p:nvPr/>
        </p:nvGraphicFramePr>
        <p:xfrm>
          <a:off x="6103370" y="512654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156B1E66-B3E3-AF45-EF2E-CE4B3230EDBD}"/>
              </a:ext>
            </a:extLst>
          </p:cNvPr>
          <p:cNvGraphicFramePr>
            <a:graphicFrameLocks noGrp="1"/>
          </p:cNvGraphicFramePr>
          <p:nvPr/>
        </p:nvGraphicFramePr>
        <p:xfrm>
          <a:off x="8932295" y="510749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BF14F5EF-2783-3B7B-456B-5C41EA5E83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18259" y="2194255"/>
            <a:ext cx="740822" cy="324588"/>
          </a:xfrm>
          <a:prstGeom prst="bentConnector3">
            <a:avLst>
              <a:gd name="adj1" fmla="val 1002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22D1923-1DFE-4D85-93B3-60FE0B2E9023}"/>
              </a:ext>
            </a:extLst>
          </p:cNvPr>
          <p:cNvSpPr txBox="1"/>
          <p:nvPr/>
        </p:nvSpPr>
        <p:spPr>
          <a:xfrm>
            <a:off x="9321962" y="2028492"/>
            <a:ext cx="1368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0</a:t>
            </a:r>
            <a:r>
              <a:rPr lang="ko-KR" altLang="en-US" sz="1400" dirty="0">
                <a:solidFill>
                  <a:srgbClr val="FF0000"/>
                </a:solidFill>
              </a:rPr>
              <a:t>으로 </a:t>
            </a:r>
            <a:r>
              <a:rPr lang="en-US" altLang="ko-KR" sz="1400" dirty="0">
                <a:solidFill>
                  <a:srgbClr val="FF0000"/>
                </a:solidFill>
              </a:rPr>
              <a:t>padding</a:t>
            </a:r>
          </a:p>
        </p:txBody>
      </p:sp>
    </p:spTree>
    <p:extLst>
      <p:ext uri="{BB962C8B-B14F-4D97-AF65-F5344CB8AC3E}">
        <p14:creationId xmlns:p14="http://schemas.microsoft.com/office/powerpoint/2010/main" val="94257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EE98-1C59-626C-C5B5-53791151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C7CD4-BBBE-DE96-74CC-D7655F3A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256-bit </a:t>
            </a:r>
            <a:r>
              <a:rPr lang="ko-KR" altLang="en-US" dirty="0"/>
              <a:t>표준 인터페이스 정렬 아키텍처 후보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AA11D7-FE84-87BC-4341-CA953D10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8F77C-1215-A046-DC0F-C8F75D56B89E}"/>
              </a:ext>
            </a:extLst>
          </p:cNvPr>
          <p:cNvSpPr txBox="1"/>
          <p:nvPr/>
        </p:nvSpPr>
        <p:spPr>
          <a:xfrm>
            <a:off x="1006789" y="1487467"/>
            <a:ext cx="1050272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 </a:t>
            </a:r>
            <a:r>
              <a:rPr lang="ko-KR" altLang="en-US" b="1" dirty="0"/>
              <a:t>표준 인터페이스 정렬 아키텍처 후보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Zero-padding(</a:t>
            </a:r>
            <a:r>
              <a:rPr lang="ko-KR" altLang="en-US" sz="1600" dirty="0"/>
              <a:t>단순 확장</a:t>
            </a:r>
            <a:r>
              <a:rPr lang="en-US" altLang="ko-KR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Squeezing-based </a:t>
            </a:r>
            <a:r>
              <a:rPr lang="ko-KR" altLang="en-US" sz="1600" dirty="0"/>
              <a:t>방법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Dual BN254 </a:t>
            </a:r>
            <a:r>
              <a:rPr lang="en-US" altLang="ko-KR" sz="1600" dirty="0" err="1"/>
              <a:t>Concat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Multi-Goldilocks</a:t>
            </a:r>
          </a:p>
        </p:txBody>
      </p:sp>
    </p:spTree>
    <p:extLst>
      <p:ext uri="{BB962C8B-B14F-4D97-AF65-F5344CB8AC3E}">
        <p14:creationId xmlns:p14="http://schemas.microsoft.com/office/powerpoint/2010/main" val="202557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E376-0AB5-C805-8890-2F6499C1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C20D5-72F2-9BC4-E8E7-DF220CAC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DCBCF-9CD4-3FE6-BAEA-E8660029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491" name="화살표: 오른쪽 490">
            <a:extLst>
              <a:ext uri="{FF2B5EF4-FFF2-40B4-BE49-F238E27FC236}">
                <a16:creationId xmlns:a16="http://schemas.microsoft.com/office/drawing/2014/main" id="{F50787B7-E292-4C9E-A603-A0498FE13EC6}"/>
              </a:ext>
            </a:extLst>
          </p:cNvPr>
          <p:cNvSpPr/>
          <p:nvPr/>
        </p:nvSpPr>
        <p:spPr>
          <a:xfrm>
            <a:off x="3596983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87D45C0E-ACB3-1B40-09C0-45856925189D}"/>
              </a:ext>
            </a:extLst>
          </p:cNvPr>
          <p:cNvSpPr txBox="1"/>
          <p:nvPr/>
        </p:nvSpPr>
        <p:spPr>
          <a:xfrm>
            <a:off x="1994897" y="6325870"/>
            <a:ext cx="225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Poseidon-128</a:t>
            </a:r>
            <a:r>
              <a:rPr lang="ko-KR" altLang="en-US" sz="1200" dirty="0"/>
              <a:t>의 </a:t>
            </a:r>
            <a:r>
              <a:rPr lang="en-US" altLang="ko-KR" sz="1200" dirty="0"/>
              <a:t>sponge</a:t>
            </a:r>
            <a:r>
              <a:rPr lang="ko-KR" altLang="en-US" sz="1200" dirty="0"/>
              <a:t> 구조</a:t>
            </a:r>
            <a:endParaRPr lang="en-US" altLang="ko-KR" sz="1200" dirty="0"/>
          </a:p>
          <a:p>
            <a:pPr algn="ctr"/>
            <a:r>
              <a:rPr lang="en-US" altLang="ko-KR" sz="1200" dirty="0"/>
              <a:t>(BN254 </a:t>
            </a:r>
            <a:r>
              <a:rPr lang="ko-KR" altLang="en-US" sz="1200" dirty="0"/>
              <a:t>사용</a:t>
            </a:r>
            <a:r>
              <a:rPr lang="en-US" altLang="ko-KR" sz="1200" dirty="0"/>
              <a:t>)</a:t>
            </a:r>
          </a:p>
        </p:txBody>
      </p:sp>
      <p:grpSp>
        <p:nvGrpSpPr>
          <p:cNvPr id="494" name="그룹 493">
            <a:extLst>
              <a:ext uri="{FF2B5EF4-FFF2-40B4-BE49-F238E27FC236}">
                <a16:creationId xmlns:a16="http://schemas.microsoft.com/office/drawing/2014/main" id="{C8133910-D678-094B-2E24-543C97C792EA}"/>
              </a:ext>
            </a:extLst>
          </p:cNvPr>
          <p:cNvGrpSpPr/>
          <p:nvPr/>
        </p:nvGrpSpPr>
        <p:grpSpPr>
          <a:xfrm>
            <a:off x="700646" y="4719616"/>
            <a:ext cx="2375725" cy="1354121"/>
            <a:chOff x="170552" y="2895376"/>
            <a:chExt cx="2375725" cy="1354121"/>
          </a:xfrm>
        </p:grpSpPr>
        <p:sp>
          <p:nvSpPr>
            <p:cNvPr id="506" name="왼쪽 중괄호 505">
              <a:extLst>
                <a:ext uri="{FF2B5EF4-FFF2-40B4-BE49-F238E27FC236}">
                  <a16:creationId xmlns:a16="http://schemas.microsoft.com/office/drawing/2014/main" id="{A8454898-BA4F-D367-D560-5D7E1E431773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EB95BBAE-A0A5-A341-AF69-0B488AB9D86A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508" name="왼쪽 중괄호 507">
              <a:extLst>
                <a:ext uri="{FF2B5EF4-FFF2-40B4-BE49-F238E27FC236}">
                  <a16:creationId xmlns:a16="http://schemas.microsoft.com/office/drawing/2014/main" id="{6D007EFF-98EF-33BA-1574-87A4A6938464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39C62284-5A3C-74AD-7E88-C8317ACE1700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510" name="그룹 509">
              <a:extLst>
                <a:ext uri="{FF2B5EF4-FFF2-40B4-BE49-F238E27FC236}">
                  <a16:creationId xmlns:a16="http://schemas.microsoft.com/office/drawing/2014/main" id="{FA9CD46F-DE95-B3C8-0FDA-119267F122F7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1" name="직사각형 510">
                    <a:extLst>
                      <a:ext uri="{FF2B5EF4-FFF2-40B4-BE49-F238E27FC236}">
                        <a16:creationId xmlns:a16="http://schemas.microsoft.com/office/drawing/2014/main" id="{B11859C7-EFB1-C45B-835A-34345DB5B78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직사각형 65">
                    <a:extLst>
                      <a:ext uri="{FF2B5EF4-FFF2-40B4-BE49-F238E27FC236}">
                        <a16:creationId xmlns:a16="http://schemas.microsoft.com/office/drawing/2014/main" id="{5051B7A1-F9BF-1A76-7E1C-0E7E03DF349D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AAECA152-B07F-50E7-E808-C4675535C7E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D418B043-ADAD-49F5-8C2F-7804D23CFEBD}"/>
              </a:ext>
            </a:extLst>
          </p:cNvPr>
          <p:cNvGrpSpPr/>
          <p:nvPr/>
        </p:nvGrpSpPr>
        <p:grpSpPr>
          <a:xfrm>
            <a:off x="4347173" y="4719616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직사각형 500">
                  <a:extLst>
                    <a:ext uri="{FF2B5EF4-FFF2-40B4-BE49-F238E27FC236}">
                      <a16:creationId xmlns:a16="http://schemas.microsoft.com/office/drawing/2014/main" id="{BF73EA44-06FB-B18F-C0DE-154CA1B1B57D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직사각형 501">
                  <a:extLst>
                    <a:ext uri="{FF2B5EF4-FFF2-40B4-BE49-F238E27FC236}">
                      <a16:creationId xmlns:a16="http://schemas.microsoft.com/office/drawing/2014/main" id="{24298E52-4C48-EEFD-D40A-ECED5A908DEF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5FEA8AD-17AB-5497-1BB6-43BF08D472F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5FEA8AD-17AB-5497-1BB6-43BF08D472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오른쪽 중괄호 67">
            <a:extLst>
              <a:ext uri="{FF2B5EF4-FFF2-40B4-BE49-F238E27FC236}">
                <a16:creationId xmlns:a16="http://schemas.microsoft.com/office/drawing/2014/main" id="{2644DCA5-A2B9-62EF-8D35-2EE63B4E3078}"/>
              </a:ext>
            </a:extLst>
          </p:cNvPr>
          <p:cNvSpPr/>
          <p:nvPr/>
        </p:nvSpPr>
        <p:spPr>
          <a:xfrm rot="5400000">
            <a:off x="5684051" y="-1640025"/>
            <a:ext cx="1164982" cy="11488057"/>
          </a:xfrm>
          <a:prstGeom prst="rightBrace">
            <a:avLst>
              <a:gd name="adj1" fmla="val 8333"/>
              <a:gd name="adj2" fmla="val 7236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2E672748-ECC2-36F2-ECAF-7F2E39534A71}"/>
              </a:ext>
            </a:extLst>
          </p:cNvPr>
          <p:cNvCxnSpPr>
            <a:cxnSpLocks/>
          </p:cNvCxnSpPr>
          <p:nvPr/>
        </p:nvCxnSpPr>
        <p:spPr>
          <a:xfrm>
            <a:off x="3870524" y="2345914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2EAFFEC2-AC2E-1110-9141-6A6E350FDEA0}"/>
              </a:ext>
            </a:extLst>
          </p:cNvPr>
          <p:cNvSpPr txBox="1"/>
          <p:nvPr/>
        </p:nvSpPr>
        <p:spPr>
          <a:xfrm>
            <a:off x="1299539" y="3288839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03AB3E66-4661-CE5E-0159-9A78B4B9B255}"/>
              </a:ext>
            </a:extLst>
          </p:cNvPr>
          <p:cNvGrpSpPr/>
          <p:nvPr/>
        </p:nvGrpSpPr>
        <p:grpSpPr>
          <a:xfrm>
            <a:off x="4476427" y="1770588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직사각형 431">
                  <a:extLst>
                    <a:ext uri="{FF2B5EF4-FFF2-40B4-BE49-F238E27FC236}">
                      <a16:creationId xmlns:a16="http://schemas.microsoft.com/office/drawing/2014/main" id="{989A6EF6-E59F-1565-741D-DFCD17A5A351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직사각형 432">
                  <a:extLst>
                    <a:ext uri="{FF2B5EF4-FFF2-40B4-BE49-F238E27FC236}">
                      <a16:creationId xmlns:a16="http://schemas.microsoft.com/office/drawing/2014/main" id="{BC8334B6-4EF1-8E06-3B40-D6F03291F800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4" name="직사각형 433">
                  <a:extLst>
                    <a:ext uri="{FF2B5EF4-FFF2-40B4-BE49-F238E27FC236}">
                      <a16:creationId xmlns:a16="http://schemas.microsoft.com/office/drawing/2014/main" id="{D9B9454D-5EA7-4948-0DFB-7C93A3EED91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2F14D3EB-1823-C7A2-3D07-BA922C142E9B}"/>
              </a:ext>
            </a:extLst>
          </p:cNvPr>
          <p:cNvGrpSpPr/>
          <p:nvPr/>
        </p:nvGrpSpPr>
        <p:grpSpPr>
          <a:xfrm>
            <a:off x="5596570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2434A0AC-1ABD-2C36-360A-B33535CCBE14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D0DBD3C5-C681-B0D7-D3CE-56AE86EBB801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3CD3E8BC-0DC0-AC6C-FFD5-6466F7B3B998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BBE76A2F-D4F4-5B74-E34B-FF30DDD74D2B}"/>
              </a:ext>
            </a:extLst>
          </p:cNvPr>
          <p:cNvGrpSpPr/>
          <p:nvPr/>
        </p:nvGrpSpPr>
        <p:grpSpPr>
          <a:xfrm>
            <a:off x="6752496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직사각형 421">
                  <a:extLst>
                    <a:ext uri="{FF2B5EF4-FFF2-40B4-BE49-F238E27FC236}">
                      <a16:creationId xmlns:a16="http://schemas.microsoft.com/office/drawing/2014/main" id="{52E1C48B-68A0-B350-2126-053EA35CD72C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431A80E7-AE31-E3F6-B299-06D13F81A41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4" name="직사각형 423">
                  <a:extLst>
                    <a:ext uri="{FF2B5EF4-FFF2-40B4-BE49-F238E27FC236}">
                      <a16:creationId xmlns:a16="http://schemas.microsoft.com/office/drawing/2014/main" id="{E46A9964-8D6F-11B8-9E17-49406BA830B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448337-ABD5-FD5C-3B71-90FD94F8278F}"/>
              </a:ext>
            </a:extLst>
          </p:cNvPr>
          <p:cNvGrpSpPr/>
          <p:nvPr/>
        </p:nvGrpSpPr>
        <p:grpSpPr>
          <a:xfrm>
            <a:off x="6075552" y="2677891"/>
            <a:ext cx="643311" cy="260571"/>
            <a:chOff x="5574293" y="4874701"/>
            <a:chExt cx="1423401" cy="431074"/>
          </a:xfrm>
        </p:grpSpPr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A87A2E34-8AB9-826A-4435-82D66790B4EF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61BA396E-9E60-56EA-8E61-F8A39AE683FE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98D88F1E-6E50-FD8C-6B29-98707373F8CC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3" name="화살표: 오른쪽 412">
              <a:extLst>
                <a:ext uri="{FF2B5EF4-FFF2-40B4-BE49-F238E27FC236}">
                  <a16:creationId xmlns:a16="http://schemas.microsoft.com/office/drawing/2014/main" id="{90A24866-9FA4-2FB2-DACA-15C265BD2291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" name="화살표: 오른쪽 413">
              <a:extLst>
                <a:ext uri="{FF2B5EF4-FFF2-40B4-BE49-F238E27FC236}">
                  <a16:creationId xmlns:a16="http://schemas.microsoft.com/office/drawing/2014/main" id="{A9D118F6-DF07-EB16-EBC5-E69EE533F2F1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5" name="곱하기 기호 404">
            <a:extLst>
              <a:ext uri="{FF2B5EF4-FFF2-40B4-BE49-F238E27FC236}">
                <a16:creationId xmlns:a16="http://schemas.microsoft.com/office/drawing/2014/main" id="{DAF6FEA0-C744-F067-857F-A771210ACB73}"/>
              </a:ext>
            </a:extLst>
          </p:cNvPr>
          <p:cNvSpPr/>
          <p:nvPr/>
        </p:nvSpPr>
        <p:spPr>
          <a:xfrm>
            <a:off x="7260750" y="2345068"/>
            <a:ext cx="142592" cy="144079"/>
          </a:xfrm>
          <a:prstGeom prst="mathMultiply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79E7DBEC-D900-882B-2767-AF0DB0E296F3}"/>
              </a:ext>
            </a:extLst>
          </p:cNvPr>
          <p:cNvSpPr/>
          <p:nvPr/>
        </p:nvSpPr>
        <p:spPr>
          <a:xfrm>
            <a:off x="7445497" y="2345418"/>
            <a:ext cx="151659" cy="155755"/>
          </a:xfrm>
          <a:prstGeom prst="rect">
            <a:avLst/>
          </a:prstGeom>
          <a:solidFill>
            <a:srgbClr val="CC99FF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7" name="직선 연결선 406">
            <a:extLst>
              <a:ext uri="{FF2B5EF4-FFF2-40B4-BE49-F238E27FC236}">
                <a16:creationId xmlns:a16="http://schemas.microsoft.com/office/drawing/2014/main" id="{7A7380EE-D025-9D86-FD5B-1CAEE52EE315}"/>
              </a:ext>
            </a:extLst>
          </p:cNvPr>
          <p:cNvCxnSpPr>
            <a:cxnSpLocks/>
          </p:cNvCxnSpPr>
          <p:nvPr/>
        </p:nvCxnSpPr>
        <p:spPr>
          <a:xfrm>
            <a:off x="7494484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>
            <a:extLst>
              <a:ext uri="{FF2B5EF4-FFF2-40B4-BE49-F238E27FC236}">
                <a16:creationId xmlns:a16="http://schemas.microsoft.com/office/drawing/2014/main" id="{B08A6174-2EC0-7029-F98A-D61E19A9F125}"/>
              </a:ext>
            </a:extLst>
          </p:cNvPr>
          <p:cNvCxnSpPr>
            <a:cxnSpLocks/>
          </p:cNvCxnSpPr>
          <p:nvPr/>
        </p:nvCxnSpPr>
        <p:spPr>
          <a:xfrm flipH="1">
            <a:off x="7453342" y="2450139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DE1E77BC-268A-BD79-82FB-7A1AB5660F39}"/>
              </a:ext>
            </a:extLst>
          </p:cNvPr>
          <p:cNvSpPr txBox="1"/>
          <p:nvPr/>
        </p:nvSpPr>
        <p:spPr>
          <a:xfrm>
            <a:off x="7063003" y="2581725"/>
            <a:ext cx="963397" cy="22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3x3</a:t>
            </a:r>
            <a:r>
              <a:rPr lang="ko-KR" altLang="en-US" sz="1000" dirty="0"/>
              <a:t> </a:t>
            </a:r>
            <a:r>
              <a:rPr lang="en-US" altLang="ko-KR" sz="1000" dirty="0"/>
              <a:t>MDS</a:t>
            </a:r>
            <a:r>
              <a:rPr lang="ko-KR" altLang="en-US" sz="1000" dirty="0"/>
              <a:t>행렬</a:t>
            </a:r>
            <a:endParaRPr lang="en-US" altLang="ko-KR" sz="1000" dirty="0"/>
          </a:p>
        </p:txBody>
      </p:sp>
      <p:cxnSp>
        <p:nvCxnSpPr>
          <p:cNvPr id="410" name="직선 연결선 409">
            <a:extLst>
              <a:ext uri="{FF2B5EF4-FFF2-40B4-BE49-F238E27FC236}">
                <a16:creationId xmlns:a16="http://schemas.microsoft.com/office/drawing/2014/main" id="{6A6D0E88-847E-1A87-F297-C3FA9BC5CA62}"/>
              </a:ext>
            </a:extLst>
          </p:cNvPr>
          <p:cNvCxnSpPr>
            <a:cxnSpLocks/>
          </p:cNvCxnSpPr>
          <p:nvPr/>
        </p:nvCxnSpPr>
        <p:spPr>
          <a:xfrm flipH="1">
            <a:off x="7452954" y="2405442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A4F0739E-2719-1055-C697-83582DC4E60E}"/>
              </a:ext>
            </a:extLst>
          </p:cNvPr>
          <p:cNvCxnSpPr>
            <a:cxnSpLocks/>
          </p:cNvCxnSpPr>
          <p:nvPr/>
        </p:nvCxnSpPr>
        <p:spPr>
          <a:xfrm>
            <a:off x="7544702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화살표: 오른쪽 576">
            <a:extLst>
              <a:ext uri="{FF2B5EF4-FFF2-40B4-BE49-F238E27FC236}">
                <a16:creationId xmlns:a16="http://schemas.microsoft.com/office/drawing/2014/main" id="{68D6DA8D-0CC0-9524-A921-E137C803D8B0}"/>
              </a:ext>
            </a:extLst>
          </p:cNvPr>
          <p:cNvSpPr/>
          <p:nvPr/>
        </p:nvSpPr>
        <p:spPr>
          <a:xfrm>
            <a:off x="6132262" y="1898426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9" name="화살표: 오른쪽 578">
            <a:extLst>
              <a:ext uri="{FF2B5EF4-FFF2-40B4-BE49-F238E27FC236}">
                <a16:creationId xmlns:a16="http://schemas.microsoft.com/office/drawing/2014/main" id="{E8D4BDE4-411C-F209-A247-0723B491E2C4}"/>
              </a:ext>
            </a:extLst>
          </p:cNvPr>
          <p:cNvSpPr/>
          <p:nvPr/>
        </p:nvSpPr>
        <p:spPr>
          <a:xfrm>
            <a:off x="6127605" y="2304728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9F56E818-7594-93AD-CB4B-8A6C29BA9367}"/>
              </a:ext>
            </a:extLst>
          </p:cNvPr>
          <p:cNvSpPr txBox="1"/>
          <p:nvPr/>
        </p:nvSpPr>
        <p:spPr>
          <a:xfrm>
            <a:off x="9897439" y="3239171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5121C41-751F-4112-F6D3-57D0B8997BAA}"/>
              </a:ext>
            </a:extLst>
          </p:cNvPr>
          <p:cNvSpPr txBox="1"/>
          <p:nvPr/>
        </p:nvSpPr>
        <p:spPr>
          <a:xfrm>
            <a:off x="5508207" y="3280721"/>
            <a:ext cx="1486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56</a:t>
            </a:r>
            <a:r>
              <a:rPr lang="ko-KR" altLang="en-US" sz="1100" dirty="0"/>
              <a:t>번의 </a:t>
            </a:r>
            <a:r>
              <a:rPr lang="en-US" altLang="ko-KR" sz="1100" dirty="0"/>
              <a:t>partial round</a:t>
            </a:r>
          </a:p>
        </p:txBody>
      </p:sp>
      <p:sp>
        <p:nvSpPr>
          <p:cNvPr id="583" name="화살표: 오른쪽 582">
            <a:extLst>
              <a:ext uri="{FF2B5EF4-FFF2-40B4-BE49-F238E27FC236}">
                <a16:creationId xmlns:a16="http://schemas.microsoft.com/office/drawing/2014/main" id="{9749F7D3-C0DE-7C8F-A08A-EC50BD211202}"/>
              </a:ext>
            </a:extLst>
          </p:cNvPr>
          <p:cNvSpPr/>
          <p:nvPr/>
        </p:nvSpPr>
        <p:spPr>
          <a:xfrm>
            <a:off x="4140994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화살표: 오른쪽 583">
            <a:extLst>
              <a:ext uri="{FF2B5EF4-FFF2-40B4-BE49-F238E27FC236}">
                <a16:creationId xmlns:a16="http://schemas.microsoft.com/office/drawing/2014/main" id="{5B155B3E-3A5F-3261-6B80-7C82238E1954}"/>
              </a:ext>
            </a:extLst>
          </p:cNvPr>
          <p:cNvSpPr/>
          <p:nvPr/>
        </p:nvSpPr>
        <p:spPr>
          <a:xfrm>
            <a:off x="7823728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5" name="화살표: 오른쪽 584">
            <a:extLst>
              <a:ext uri="{FF2B5EF4-FFF2-40B4-BE49-F238E27FC236}">
                <a16:creationId xmlns:a16="http://schemas.microsoft.com/office/drawing/2014/main" id="{39ABD13E-9571-678A-111B-EA6FFBC4C4CB}"/>
              </a:ext>
            </a:extLst>
          </p:cNvPr>
          <p:cNvSpPr/>
          <p:nvPr/>
        </p:nvSpPr>
        <p:spPr>
          <a:xfrm>
            <a:off x="8367739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0DA764A8-E8F4-D222-E20A-CD48AC4BA9A7}"/>
              </a:ext>
            </a:extLst>
          </p:cNvPr>
          <p:cNvSpPr txBox="1"/>
          <p:nvPr/>
        </p:nvSpPr>
        <p:spPr>
          <a:xfrm>
            <a:off x="3880188" y="2301990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9B7AE052-CC43-D951-F8E4-70B68C242F89}"/>
              </a:ext>
            </a:extLst>
          </p:cNvPr>
          <p:cNvSpPr txBox="1"/>
          <p:nvPr/>
        </p:nvSpPr>
        <p:spPr>
          <a:xfrm>
            <a:off x="8126327" y="2274637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grpSp>
        <p:nvGrpSpPr>
          <p:cNvPr id="541" name="그룹 540">
            <a:extLst>
              <a:ext uri="{FF2B5EF4-FFF2-40B4-BE49-F238E27FC236}">
                <a16:creationId xmlns:a16="http://schemas.microsoft.com/office/drawing/2014/main" id="{36C1480B-A87F-C035-E3D1-6B5BDA23A7C5}"/>
              </a:ext>
            </a:extLst>
          </p:cNvPr>
          <p:cNvGrpSpPr/>
          <p:nvPr/>
        </p:nvGrpSpPr>
        <p:grpSpPr>
          <a:xfrm>
            <a:off x="101277" y="1771080"/>
            <a:ext cx="3549973" cy="1217083"/>
            <a:chOff x="101277" y="1771080"/>
            <a:chExt cx="3549973" cy="1217083"/>
          </a:xfrm>
        </p:grpSpPr>
        <p:sp>
          <p:nvSpPr>
            <p:cNvPr id="468" name="사다리꼴 467">
              <a:extLst>
                <a:ext uri="{FF2B5EF4-FFF2-40B4-BE49-F238E27FC236}">
                  <a16:creationId xmlns:a16="http://schemas.microsoft.com/office/drawing/2014/main" id="{33286190-2B5E-63C4-A23F-CEAF5069B415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2773ABF-FD13-AB0F-DC42-45E1357DB801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509C02C-5AE0-BAAB-55EA-20C750C8584F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105" name="화살표: 오른쪽 104">
                <a:extLst>
                  <a:ext uri="{FF2B5EF4-FFF2-40B4-BE49-F238E27FC236}">
                    <a16:creationId xmlns:a16="http://schemas.microsoft.com/office/drawing/2014/main" id="{DAFF45A8-52CA-C3A7-19D6-E8BC27EFF9B1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화살표: 오른쪽 121">
                <a:extLst>
                  <a:ext uri="{FF2B5EF4-FFF2-40B4-BE49-F238E27FC236}">
                    <a16:creationId xmlns:a16="http://schemas.microsoft.com/office/drawing/2014/main" id="{142473AB-A43E-2790-B326-70546A53D209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FBE3978-D330-E37A-BAD6-D1CB58226CCF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6D6739A1-9861-B2D8-3FE2-C92EBE3F2467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4" name="곱하기 기호 223">
              <a:extLst>
                <a:ext uri="{FF2B5EF4-FFF2-40B4-BE49-F238E27FC236}">
                  <a16:creationId xmlns:a16="http://schemas.microsoft.com/office/drawing/2014/main" id="{BB5ECA58-B8A6-7441-9961-2E6104D08811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1A856775-5E5E-3C3C-66A6-1F61A12C8BEE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B8EDDE38-3613-DC9E-3506-B3CA266EEDF8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09841F28-2177-07C1-D2B0-A33315061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914CA12-45B8-71B9-51BF-36D00E3FF47E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0AF530B6-A9E9-B916-FC07-E4C866B4C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4545A55-F47F-B764-0EDA-FF496E41B2F9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3" name="화살표: 오른쪽 2">
                <a:extLst>
                  <a:ext uri="{FF2B5EF4-FFF2-40B4-BE49-F238E27FC236}">
                    <a16:creationId xmlns:a16="http://schemas.microsoft.com/office/drawing/2014/main" id="{71A7431E-0616-1A80-EB45-A92D26403A36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화살표: 오른쪽 4">
                <a:extLst>
                  <a:ext uri="{FF2B5EF4-FFF2-40B4-BE49-F238E27FC236}">
                    <a16:creationId xmlns:a16="http://schemas.microsoft.com/office/drawing/2014/main" id="{C4BB5462-FFB9-95A1-4844-7E09A751A376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BE3627F-EE7F-8331-0830-F128E840E6C5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CB6B0CA1-8672-FEF2-CD59-BB33C5F445B1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106" name="화살표: 오른쪽 105">
                  <a:extLst>
                    <a:ext uri="{FF2B5EF4-FFF2-40B4-BE49-F238E27FC236}">
                      <a16:creationId xmlns:a16="http://schemas.microsoft.com/office/drawing/2014/main" id="{256B3AE7-2E3E-C154-CB8A-5A4B3A178B23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화살표: 오른쪽 122">
                  <a:extLst>
                    <a:ext uri="{FF2B5EF4-FFF2-40B4-BE49-F238E27FC236}">
                      <a16:creationId xmlns:a16="http://schemas.microsoft.com/office/drawing/2014/main" id="{812EE2D0-F94D-279E-1FA0-FEDD4FF6FA63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사다리꼴 8">
                <a:extLst>
                  <a:ext uri="{FF2B5EF4-FFF2-40B4-BE49-F238E27FC236}">
                    <a16:creationId xmlns:a16="http://schemas.microsoft.com/office/drawing/2014/main" id="{0C1C5E04-0E64-89C9-6C6D-DCCCF3017445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64C3F3A5-B296-3210-49A8-3602730783D2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2B40EF5-8956-9C98-58CE-4190BCB4B865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9F542B8F-7587-8BC0-28E7-14CFD550B65F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4561F449-B2EE-CECD-0015-EBCD6F255863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14" name="직사각형 213">
                    <a:extLst>
                      <a:ext uri="{FF2B5EF4-FFF2-40B4-BE49-F238E27FC236}">
                        <a16:creationId xmlns:a16="http://schemas.microsoft.com/office/drawing/2014/main" id="{5E546731-F9B6-0E84-03A5-16EF561A99F6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5" name="직사각형 214">
                    <a:extLst>
                      <a:ext uri="{FF2B5EF4-FFF2-40B4-BE49-F238E27FC236}">
                        <a16:creationId xmlns:a16="http://schemas.microsoft.com/office/drawing/2014/main" id="{0BE4C30E-C59F-BEC1-6BD6-3C456FDE761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2" name="화살표: 오른쪽 211">
                  <a:extLst>
                    <a:ext uri="{FF2B5EF4-FFF2-40B4-BE49-F238E27FC236}">
                      <a16:creationId xmlns:a16="http://schemas.microsoft.com/office/drawing/2014/main" id="{6DE837AB-2353-CDB5-BC9A-1656084778C7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화살표: 오른쪽 212">
                  <a:extLst>
                    <a:ext uri="{FF2B5EF4-FFF2-40B4-BE49-F238E27FC236}">
                      <a16:creationId xmlns:a16="http://schemas.microsoft.com/office/drawing/2014/main" id="{9E4E14E2-FFC5-CEB2-CEA0-7A5D6FBCB289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3F57437C-8A89-349A-48FD-B0BBB6B7F174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7" name="그룹 216">
                  <a:extLst>
                    <a:ext uri="{FF2B5EF4-FFF2-40B4-BE49-F238E27FC236}">
                      <a16:creationId xmlns:a16="http://schemas.microsoft.com/office/drawing/2014/main" id="{E20D99DB-AC79-0445-F744-1BCC05F8806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20" name="직사각형 219">
                    <a:extLst>
                      <a:ext uri="{FF2B5EF4-FFF2-40B4-BE49-F238E27FC236}">
                        <a16:creationId xmlns:a16="http://schemas.microsoft.com/office/drawing/2014/main" id="{C921BB47-4CD0-7405-4726-4F2942630D3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직사각형 220">
                    <a:extLst>
                      <a:ext uri="{FF2B5EF4-FFF2-40B4-BE49-F238E27FC236}">
                        <a16:creationId xmlns:a16="http://schemas.microsoft.com/office/drawing/2014/main" id="{9520C26C-1740-1FDD-8D3A-AD71AD9F17A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8" name="화살표: 오른쪽 217">
                  <a:extLst>
                    <a:ext uri="{FF2B5EF4-FFF2-40B4-BE49-F238E27FC236}">
                      <a16:creationId xmlns:a16="http://schemas.microsoft.com/office/drawing/2014/main" id="{BDCB876B-3FB7-5B1D-7BD8-6F79C81332AA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화살표: 오른쪽 218">
                  <a:extLst>
                    <a:ext uri="{FF2B5EF4-FFF2-40B4-BE49-F238E27FC236}">
                      <a16:creationId xmlns:a16="http://schemas.microsoft.com/office/drawing/2014/main" id="{BD5E4FCF-CE7D-03D1-114E-DD64F4DAEFFC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F97B8DED-7F5F-D77B-9961-442F9A87DDC0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6CE2C03E-EE77-0FEB-B16C-D01B246E8A26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86A66B03-98BC-A0DD-623C-7292DB614DDD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DE408432-B2F7-CC5E-6AEA-BB8369069C00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3" name="화살표: 오른쪽 12">
                  <a:extLst>
                    <a:ext uri="{FF2B5EF4-FFF2-40B4-BE49-F238E27FC236}">
                      <a16:creationId xmlns:a16="http://schemas.microsoft.com/office/drawing/2014/main" id="{38B893E9-5E69-186B-EBD3-69A51C8E233D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화살표: 오른쪽 13">
                  <a:extLst>
                    <a:ext uri="{FF2B5EF4-FFF2-40B4-BE49-F238E27FC236}">
                      <a16:creationId xmlns:a16="http://schemas.microsoft.com/office/drawing/2014/main" id="{8585F8A0-92BE-9D76-20D0-5B0968FEA6B5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C5105C34-7518-48C6-3C4E-B826F985C9C2}"/>
              </a:ext>
            </a:extLst>
          </p:cNvPr>
          <p:cNvSpPr/>
          <p:nvPr/>
        </p:nvSpPr>
        <p:spPr>
          <a:xfrm rot="5400000">
            <a:off x="5114296" y="1853107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1088AA2-F65A-942F-A470-F11C9E0AA6FD}"/>
              </a:ext>
            </a:extLst>
          </p:cNvPr>
          <p:cNvGrpSpPr/>
          <p:nvPr/>
        </p:nvGrpSpPr>
        <p:grpSpPr>
          <a:xfrm>
            <a:off x="4963794" y="1892264"/>
            <a:ext cx="602940" cy="153317"/>
            <a:chOff x="577254" y="1892264"/>
            <a:chExt cx="602940" cy="153317"/>
          </a:xfrm>
        </p:grpSpPr>
        <p:sp>
          <p:nvSpPr>
            <p:cNvPr id="58" name="화살표: 오른쪽 57">
              <a:extLst>
                <a:ext uri="{FF2B5EF4-FFF2-40B4-BE49-F238E27FC236}">
                  <a16:creationId xmlns:a16="http://schemas.microsoft.com/office/drawing/2014/main" id="{F4FA4FE1-00B9-6C11-FCDE-540F2EFF6358}"/>
                </a:ext>
              </a:extLst>
            </p:cNvPr>
            <p:cNvSpPr/>
            <p:nvPr/>
          </p:nvSpPr>
          <p:spPr>
            <a:xfrm>
              <a:off x="577254" y="1892264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화살표: 오른쪽 58">
              <a:extLst>
                <a:ext uri="{FF2B5EF4-FFF2-40B4-BE49-F238E27FC236}">
                  <a16:creationId xmlns:a16="http://schemas.microsoft.com/office/drawing/2014/main" id="{9B411D58-9AB8-81D0-7B04-FD5B4F83DB75}"/>
                </a:ext>
              </a:extLst>
            </p:cNvPr>
            <p:cNvSpPr/>
            <p:nvPr/>
          </p:nvSpPr>
          <p:spPr>
            <a:xfrm>
              <a:off x="1035495" y="1901347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B10DDA2-F737-EA48-25A9-83982B2AB821}"/>
              </a:ext>
            </a:extLst>
          </p:cNvPr>
          <p:cNvGrpSpPr/>
          <p:nvPr/>
        </p:nvGrpSpPr>
        <p:grpSpPr>
          <a:xfrm>
            <a:off x="4963270" y="2308684"/>
            <a:ext cx="602940" cy="153317"/>
            <a:chOff x="576730" y="2312609"/>
            <a:chExt cx="602940" cy="153317"/>
          </a:xfrm>
        </p:grpSpPr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10C0ACFE-6E99-44D4-3858-2D2B825B5720}"/>
                </a:ext>
              </a:extLst>
            </p:cNvPr>
            <p:cNvSpPr/>
            <p:nvPr/>
          </p:nvSpPr>
          <p:spPr>
            <a:xfrm>
              <a:off x="576730" y="2312609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5DD43501-7CDB-E826-62AB-442FB38476FA}"/>
                </a:ext>
              </a:extLst>
            </p:cNvPr>
            <p:cNvSpPr/>
            <p:nvPr/>
          </p:nvSpPr>
          <p:spPr>
            <a:xfrm>
              <a:off x="1034971" y="2321692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FFEE1A7-D32E-46AE-7935-862C4DAB974F}"/>
              </a:ext>
            </a:extLst>
          </p:cNvPr>
          <p:cNvGrpSpPr/>
          <p:nvPr/>
        </p:nvGrpSpPr>
        <p:grpSpPr>
          <a:xfrm>
            <a:off x="4956774" y="2665043"/>
            <a:ext cx="602940" cy="284257"/>
            <a:chOff x="570234" y="2665043"/>
            <a:chExt cx="602940" cy="284257"/>
          </a:xfrm>
        </p:grpSpPr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C1F89BDB-46EC-F865-7A8E-1AB369EBE61B}"/>
                </a:ext>
              </a:extLst>
            </p:cNvPr>
            <p:cNvGrpSpPr/>
            <p:nvPr/>
          </p:nvGrpSpPr>
          <p:grpSpPr>
            <a:xfrm>
              <a:off x="570234" y="2725104"/>
              <a:ext cx="602940" cy="153317"/>
              <a:chOff x="570234" y="2725104"/>
              <a:chExt cx="602940" cy="153317"/>
            </a:xfrm>
          </p:grpSpPr>
          <p:sp>
            <p:nvSpPr>
              <p:cNvPr id="450" name="화살표: 오른쪽 449">
                <a:extLst>
                  <a:ext uri="{FF2B5EF4-FFF2-40B4-BE49-F238E27FC236}">
                    <a16:creationId xmlns:a16="http://schemas.microsoft.com/office/drawing/2014/main" id="{D5FB00A8-5F67-2C0C-3B1E-F27CC63E830F}"/>
                  </a:ext>
                </a:extLst>
              </p:cNvPr>
              <p:cNvSpPr/>
              <p:nvPr/>
            </p:nvSpPr>
            <p:spPr>
              <a:xfrm>
                <a:off x="570234" y="272510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화살표: 오른쪽 450">
                <a:extLst>
                  <a:ext uri="{FF2B5EF4-FFF2-40B4-BE49-F238E27FC236}">
                    <a16:creationId xmlns:a16="http://schemas.microsoft.com/office/drawing/2014/main" id="{A6B9A7BE-560D-410D-933D-F74E923166B0}"/>
                  </a:ext>
                </a:extLst>
              </p:cNvPr>
              <p:cNvSpPr/>
              <p:nvPr/>
            </p:nvSpPr>
            <p:spPr>
              <a:xfrm>
                <a:off x="1028475" y="273418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9" name="사다리꼴 448">
              <a:extLst>
                <a:ext uri="{FF2B5EF4-FFF2-40B4-BE49-F238E27FC236}">
                  <a16:creationId xmlns:a16="http://schemas.microsoft.com/office/drawing/2014/main" id="{1692E981-CB4E-D2D0-66B1-75E44FD2D732}"/>
                </a:ext>
              </a:extLst>
            </p:cNvPr>
            <p:cNvSpPr/>
            <p:nvPr/>
          </p:nvSpPr>
          <p:spPr>
            <a:xfrm rot="5400000">
              <a:off x="727757" y="268495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52" name="사다리꼴 451">
            <a:extLst>
              <a:ext uri="{FF2B5EF4-FFF2-40B4-BE49-F238E27FC236}">
                <a16:creationId xmlns:a16="http://schemas.microsoft.com/office/drawing/2014/main" id="{D8B71239-1D5D-5AC7-F77B-367731F5CF54}"/>
              </a:ext>
            </a:extLst>
          </p:cNvPr>
          <p:cNvSpPr/>
          <p:nvPr/>
        </p:nvSpPr>
        <p:spPr>
          <a:xfrm rot="5400000">
            <a:off x="5120420" y="2269032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0B7F9863-0FE6-01CA-8650-D5AD6BA81AE9}"/>
              </a:ext>
            </a:extLst>
          </p:cNvPr>
          <p:cNvGrpSpPr/>
          <p:nvPr/>
        </p:nvGrpSpPr>
        <p:grpSpPr>
          <a:xfrm>
            <a:off x="8685781" y="1770590"/>
            <a:ext cx="3549973" cy="1217083"/>
            <a:chOff x="101277" y="1771080"/>
            <a:chExt cx="3549973" cy="1217083"/>
          </a:xfrm>
        </p:grpSpPr>
        <p:sp>
          <p:nvSpPr>
            <p:cNvPr id="543" name="사다리꼴 542">
              <a:extLst>
                <a:ext uri="{FF2B5EF4-FFF2-40B4-BE49-F238E27FC236}">
                  <a16:creationId xmlns:a16="http://schemas.microsoft.com/office/drawing/2014/main" id="{C5B56E8C-8607-BDEF-3FDE-1CD9A6477D76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FD1E4B65-E6E0-CBC1-8A63-E9DB56CE4E20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58C2F18C-32DE-71A3-F2B9-6FB0824AFCF2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598" name="화살표: 오른쪽 597">
                <a:extLst>
                  <a:ext uri="{FF2B5EF4-FFF2-40B4-BE49-F238E27FC236}">
                    <a16:creationId xmlns:a16="http://schemas.microsoft.com/office/drawing/2014/main" id="{8FB25485-7270-865C-EB04-E6058460F4C4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9" name="화살표: 오른쪽 598">
                <a:extLst>
                  <a:ext uri="{FF2B5EF4-FFF2-40B4-BE49-F238E27FC236}">
                    <a16:creationId xmlns:a16="http://schemas.microsoft.com/office/drawing/2014/main" id="{D9F8F41D-D937-36F1-1554-693E9A4C5432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6" name="그룹 545">
              <a:extLst>
                <a:ext uri="{FF2B5EF4-FFF2-40B4-BE49-F238E27FC236}">
                  <a16:creationId xmlns:a16="http://schemas.microsoft.com/office/drawing/2014/main" id="{55A9B447-022C-360E-C4F0-99CEA4162346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7" name="그룹 546">
              <a:extLst>
                <a:ext uri="{FF2B5EF4-FFF2-40B4-BE49-F238E27FC236}">
                  <a16:creationId xmlns:a16="http://schemas.microsoft.com/office/drawing/2014/main" id="{16C7CC91-A0B2-32D4-2F75-D21A1111C768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8" name="곱하기 기호 547">
              <a:extLst>
                <a:ext uri="{FF2B5EF4-FFF2-40B4-BE49-F238E27FC236}">
                  <a16:creationId xmlns:a16="http://schemas.microsoft.com/office/drawing/2014/main" id="{9954098D-DEB0-3127-9BCB-E3D05E39C393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054F0074-7784-9493-E70A-BDE7E4E44137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7B61714F-E85C-7ACD-E6FD-A519893DB57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직선 연결선 550">
              <a:extLst>
                <a:ext uri="{FF2B5EF4-FFF2-40B4-BE49-F238E27FC236}">
                  <a16:creationId xmlns:a16="http://schemas.microsoft.com/office/drawing/2014/main" id="{762E1E52-CAC6-1418-CD1C-7BFD1E152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8ACD1A0-ED44-3A7F-FD80-6925DB187C2F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553" name="직선 연결선 552">
              <a:extLst>
                <a:ext uri="{FF2B5EF4-FFF2-40B4-BE49-F238E27FC236}">
                  <a16:creationId xmlns:a16="http://schemas.microsoft.com/office/drawing/2014/main" id="{9B0FBD64-CE62-4CFB-4B66-EB9383B0DF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4" name="그룹 553">
              <a:extLst>
                <a:ext uri="{FF2B5EF4-FFF2-40B4-BE49-F238E27FC236}">
                  <a16:creationId xmlns:a16="http://schemas.microsoft.com/office/drawing/2014/main" id="{8FD0BE71-64A3-239B-B869-390DF0254C20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590" name="화살표: 오른쪽 589">
                <a:extLst>
                  <a:ext uri="{FF2B5EF4-FFF2-40B4-BE49-F238E27FC236}">
                    <a16:creationId xmlns:a16="http://schemas.microsoft.com/office/drawing/2014/main" id="{F22CE37D-D979-8EC7-4919-656535EE14BD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화살표: 오른쪽 590">
                <a:extLst>
                  <a:ext uri="{FF2B5EF4-FFF2-40B4-BE49-F238E27FC236}">
                    <a16:creationId xmlns:a16="http://schemas.microsoft.com/office/drawing/2014/main" id="{81061AC7-2870-A34B-693B-F57C38D78982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3658A11E-4C50-9728-744E-EC52C19EA2EF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576" name="그룹 575">
                <a:extLst>
                  <a:ext uri="{FF2B5EF4-FFF2-40B4-BE49-F238E27FC236}">
                    <a16:creationId xmlns:a16="http://schemas.microsoft.com/office/drawing/2014/main" id="{025126ED-D54D-EC3C-855B-E3BDED6ACF42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588" name="화살표: 오른쪽 587">
                  <a:extLst>
                    <a:ext uri="{FF2B5EF4-FFF2-40B4-BE49-F238E27FC236}">
                      <a16:creationId xmlns:a16="http://schemas.microsoft.com/office/drawing/2014/main" id="{FD768B96-9C2E-14E5-BFF5-A9A800CB320B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9" name="화살표: 오른쪽 588">
                  <a:extLst>
                    <a:ext uri="{FF2B5EF4-FFF2-40B4-BE49-F238E27FC236}">
                      <a16:creationId xmlns:a16="http://schemas.microsoft.com/office/drawing/2014/main" id="{D48AA2A8-B634-B787-62D0-F352B8BF5898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78" name="사다리꼴 577">
                <a:extLst>
                  <a:ext uri="{FF2B5EF4-FFF2-40B4-BE49-F238E27FC236}">
                    <a16:creationId xmlns:a16="http://schemas.microsoft.com/office/drawing/2014/main" id="{C9C5D5CF-25C3-0EA3-107B-DA8893D7EAFC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6" name="사다리꼴 555">
              <a:extLst>
                <a:ext uri="{FF2B5EF4-FFF2-40B4-BE49-F238E27FC236}">
                  <a16:creationId xmlns:a16="http://schemas.microsoft.com/office/drawing/2014/main" id="{BED70FD6-E175-D686-FDEF-F36E44A8198D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57" name="그룹 556">
              <a:extLst>
                <a:ext uri="{FF2B5EF4-FFF2-40B4-BE49-F238E27FC236}">
                  <a16:creationId xmlns:a16="http://schemas.microsoft.com/office/drawing/2014/main" id="{DBB6FA18-BBCC-716E-8E0F-9B413004A8C0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558" name="그룹 557">
                <a:extLst>
                  <a:ext uri="{FF2B5EF4-FFF2-40B4-BE49-F238E27FC236}">
                    <a16:creationId xmlns:a16="http://schemas.microsoft.com/office/drawing/2014/main" id="{98941448-BE9F-160F-108D-CF4FD354377D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71" name="그룹 570">
                  <a:extLst>
                    <a:ext uri="{FF2B5EF4-FFF2-40B4-BE49-F238E27FC236}">
                      <a16:creationId xmlns:a16="http://schemas.microsoft.com/office/drawing/2014/main" id="{6B71EB73-51B5-4670-0DF2-CCCEE5ACACD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74" name="직사각형 573">
                    <a:extLst>
                      <a:ext uri="{FF2B5EF4-FFF2-40B4-BE49-F238E27FC236}">
                        <a16:creationId xmlns:a16="http://schemas.microsoft.com/office/drawing/2014/main" id="{DF5FB31B-38A8-1F13-ED85-5468D276AC78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직사각형 574">
                    <a:extLst>
                      <a:ext uri="{FF2B5EF4-FFF2-40B4-BE49-F238E27FC236}">
                        <a16:creationId xmlns:a16="http://schemas.microsoft.com/office/drawing/2014/main" id="{DB62E380-2C3A-628C-66A5-E510048C217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화살표: 오른쪽 571">
                  <a:extLst>
                    <a:ext uri="{FF2B5EF4-FFF2-40B4-BE49-F238E27FC236}">
                      <a16:creationId xmlns:a16="http://schemas.microsoft.com/office/drawing/2014/main" id="{DB1241EE-0D1E-477C-0CB6-9C39DA497F0B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3" name="화살표: 오른쪽 572">
                  <a:extLst>
                    <a:ext uri="{FF2B5EF4-FFF2-40B4-BE49-F238E27FC236}">
                      <a16:creationId xmlns:a16="http://schemas.microsoft.com/office/drawing/2014/main" id="{8DF72873-B335-18F9-8797-DC6F496E422F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9" name="그룹 558">
                <a:extLst>
                  <a:ext uri="{FF2B5EF4-FFF2-40B4-BE49-F238E27FC236}">
                    <a16:creationId xmlns:a16="http://schemas.microsoft.com/office/drawing/2014/main" id="{9F62F646-F777-3B1F-B05B-57CDF1D96869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6" name="그룹 565">
                  <a:extLst>
                    <a:ext uri="{FF2B5EF4-FFF2-40B4-BE49-F238E27FC236}">
                      <a16:creationId xmlns:a16="http://schemas.microsoft.com/office/drawing/2014/main" id="{7CF0BF0D-1418-334E-5DC1-3A63D42A8B07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9" name="직사각형 568">
                    <a:extLst>
                      <a:ext uri="{FF2B5EF4-FFF2-40B4-BE49-F238E27FC236}">
                        <a16:creationId xmlns:a16="http://schemas.microsoft.com/office/drawing/2014/main" id="{DD3E8317-C3B6-8F7F-7C81-7CA151AE8C8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직사각형 569">
                    <a:extLst>
                      <a:ext uri="{FF2B5EF4-FFF2-40B4-BE49-F238E27FC236}">
                        <a16:creationId xmlns:a16="http://schemas.microsoft.com/office/drawing/2014/main" id="{543AA0AC-5C7D-EB5B-52B3-BFF78F01269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7" name="화살표: 오른쪽 566">
                  <a:extLst>
                    <a:ext uri="{FF2B5EF4-FFF2-40B4-BE49-F238E27FC236}">
                      <a16:creationId xmlns:a16="http://schemas.microsoft.com/office/drawing/2014/main" id="{105C56A4-B194-2A90-B479-5B7A2474A4DC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8" name="화살표: 오른쪽 567">
                  <a:extLst>
                    <a:ext uri="{FF2B5EF4-FFF2-40B4-BE49-F238E27FC236}">
                      <a16:creationId xmlns:a16="http://schemas.microsoft.com/office/drawing/2014/main" id="{50C9215A-37FA-A321-3683-BAEBBDE23732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0" name="그룹 559">
                <a:extLst>
                  <a:ext uri="{FF2B5EF4-FFF2-40B4-BE49-F238E27FC236}">
                    <a16:creationId xmlns:a16="http://schemas.microsoft.com/office/drawing/2014/main" id="{2DD91ECD-2499-DF47-46A4-5564AEF82838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1" name="그룹 560">
                  <a:extLst>
                    <a:ext uri="{FF2B5EF4-FFF2-40B4-BE49-F238E27FC236}">
                      <a16:creationId xmlns:a16="http://schemas.microsoft.com/office/drawing/2014/main" id="{A3FEC117-3406-0B88-3268-920A37412481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4" name="직사각형 563">
                    <a:extLst>
                      <a:ext uri="{FF2B5EF4-FFF2-40B4-BE49-F238E27FC236}">
                        <a16:creationId xmlns:a16="http://schemas.microsoft.com/office/drawing/2014/main" id="{5D866364-9E0E-935F-7F3F-CBB79B5E97FF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직사각형 564">
                    <a:extLst>
                      <a:ext uri="{FF2B5EF4-FFF2-40B4-BE49-F238E27FC236}">
                        <a16:creationId xmlns:a16="http://schemas.microsoft.com/office/drawing/2014/main" id="{9036D619-786F-0F7A-2CFC-84BE5880F5C5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2" name="화살표: 오른쪽 561">
                  <a:extLst>
                    <a:ext uri="{FF2B5EF4-FFF2-40B4-BE49-F238E27FC236}">
                      <a16:creationId xmlns:a16="http://schemas.microsoft.com/office/drawing/2014/main" id="{7ED124B9-7385-1260-EC58-DB699D16F1D2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3" name="화살표: 오른쪽 562">
                  <a:extLst>
                    <a:ext uri="{FF2B5EF4-FFF2-40B4-BE49-F238E27FC236}">
                      <a16:creationId xmlns:a16="http://schemas.microsoft.com/office/drawing/2014/main" id="{61F89850-4B25-9C53-7506-A32AA8C1DD8B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cxnSp>
        <p:nvCxnSpPr>
          <p:cNvPr id="605" name="연결선: 꺾임 604">
            <a:extLst>
              <a:ext uri="{FF2B5EF4-FFF2-40B4-BE49-F238E27FC236}">
                <a16:creationId xmlns:a16="http://schemas.microsoft.com/office/drawing/2014/main" id="{D7343182-E542-D068-E53B-5CBE97B1B0BA}"/>
              </a:ext>
            </a:extLst>
          </p:cNvPr>
          <p:cNvCxnSpPr>
            <a:cxnSpLocks/>
            <a:stCxn id="501" idx="3"/>
            <a:endCxn id="606" idx="1"/>
          </p:cNvCxnSpPr>
          <p:nvPr/>
        </p:nvCxnSpPr>
        <p:spPr>
          <a:xfrm>
            <a:off x="5438551" y="4929785"/>
            <a:ext cx="1186084" cy="108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6E96C69F-9BCB-8DE9-CB24-6BAAC7E9B51B}"/>
                  </a:ext>
                </a:extLst>
              </p:cNvPr>
              <p:cNvSpPr txBox="1"/>
              <p:nvPr/>
            </p:nvSpPr>
            <p:spPr>
              <a:xfrm>
                <a:off x="6624635" y="4761593"/>
                <a:ext cx="54331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6E96C69F-9BCB-8DE9-CB24-6BAAC7E9B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635" y="4761593"/>
                <a:ext cx="5433105" cy="338554"/>
              </a:xfrm>
              <a:prstGeom prst="rect">
                <a:avLst/>
              </a:prstGeom>
              <a:blipFill>
                <a:blip r:embed="rId29"/>
                <a:stretch>
                  <a:fillRect l="-673" t="-7143" r="-1908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1" name="그룹 610">
            <a:extLst>
              <a:ext uri="{FF2B5EF4-FFF2-40B4-BE49-F238E27FC236}">
                <a16:creationId xmlns:a16="http://schemas.microsoft.com/office/drawing/2014/main" id="{54FBF37B-E671-A255-5C6F-0A96E6562BC6}"/>
              </a:ext>
            </a:extLst>
          </p:cNvPr>
          <p:cNvGrpSpPr/>
          <p:nvPr/>
        </p:nvGrpSpPr>
        <p:grpSpPr>
          <a:xfrm>
            <a:off x="3126341" y="4736436"/>
            <a:ext cx="1171882" cy="1354120"/>
            <a:chOff x="4474024" y="4820619"/>
            <a:chExt cx="1171882" cy="1354120"/>
          </a:xfrm>
        </p:grpSpPr>
        <p:sp>
          <p:nvSpPr>
            <p:cNvPr id="612" name="사각형: 둥근 모서리 611">
              <a:extLst>
                <a:ext uri="{FF2B5EF4-FFF2-40B4-BE49-F238E27FC236}">
                  <a16:creationId xmlns:a16="http://schemas.microsoft.com/office/drawing/2014/main" id="{4A1BEC5F-75EE-25B5-AEDB-5A903C069177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613" name="그룹 612">
              <a:extLst>
                <a:ext uri="{FF2B5EF4-FFF2-40B4-BE49-F238E27FC236}">
                  <a16:creationId xmlns:a16="http://schemas.microsoft.com/office/drawing/2014/main" id="{28350D3D-8A39-371D-CAA6-FE32548674EC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618" name="화살표: 오른쪽 617">
                <a:extLst>
                  <a:ext uri="{FF2B5EF4-FFF2-40B4-BE49-F238E27FC236}">
                    <a16:creationId xmlns:a16="http://schemas.microsoft.com/office/drawing/2014/main" id="{E3BCA6F7-6728-1AA0-BC90-F3C507B2B681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9" name="화살표: 오른쪽 618">
                <a:extLst>
                  <a:ext uri="{FF2B5EF4-FFF2-40B4-BE49-F238E27FC236}">
                    <a16:creationId xmlns:a16="http://schemas.microsoft.com/office/drawing/2014/main" id="{90A90B82-13AC-AFB7-0130-7FE5637C8E65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0" name="화살표: 오른쪽 619">
                <a:extLst>
                  <a:ext uri="{FF2B5EF4-FFF2-40B4-BE49-F238E27FC236}">
                    <a16:creationId xmlns:a16="http://schemas.microsoft.com/office/drawing/2014/main" id="{1429ADA4-B7FE-E9F5-79CF-EF62E5807A03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4" name="그룹 613">
              <a:extLst>
                <a:ext uri="{FF2B5EF4-FFF2-40B4-BE49-F238E27FC236}">
                  <a16:creationId xmlns:a16="http://schemas.microsoft.com/office/drawing/2014/main" id="{52913240-36E5-BD7C-CA0E-D1F4A42AFFDA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615" name="화살표: 오른쪽 614">
                <a:extLst>
                  <a:ext uri="{FF2B5EF4-FFF2-40B4-BE49-F238E27FC236}">
                    <a16:creationId xmlns:a16="http://schemas.microsoft.com/office/drawing/2014/main" id="{7CA4A815-CCAA-7762-8F9F-151E3668B0FD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6" name="화살표: 오른쪽 615">
                <a:extLst>
                  <a:ext uri="{FF2B5EF4-FFF2-40B4-BE49-F238E27FC236}">
                    <a16:creationId xmlns:a16="http://schemas.microsoft.com/office/drawing/2014/main" id="{747BBDCA-E270-3062-40BA-D0E3A2402F38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7" name="화살표: 오른쪽 616">
                <a:extLst>
                  <a:ext uri="{FF2B5EF4-FFF2-40B4-BE49-F238E27FC236}">
                    <a16:creationId xmlns:a16="http://schemas.microsoft.com/office/drawing/2014/main" id="{12D45C41-39E4-CE50-F1FB-A9B55FF9E101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531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CF52-9A20-ACC7-F6AF-E8385176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4F1CC-993E-C50F-867E-39D672E6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1 : Zero-Padding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FC0AA-CA33-224B-665E-F2F392F5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4343F-3D09-4C58-847E-2A421449B88D}"/>
              </a:ext>
            </a:extLst>
          </p:cNvPr>
          <p:cNvSpPr txBox="1"/>
          <p:nvPr/>
        </p:nvSpPr>
        <p:spPr>
          <a:xfrm>
            <a:off x="1006789" y="1526656"/>
            <a:ext cx="105027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Zero-padding</a:t>
            </a:r>
          </a:p>
          <a:p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일반적으로 사용하는 방법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254-bit </a:t>
            </a:r>
            <a:r>
              <a:rPr lang="ko-KR" altLang="en-US" sz="1600" dirty="0"/>
              <a:t>결과값 상위에 </a:t>
            </a:r>
            <a:r>
              <a:rPr lang="en-US" altLang="ko-KR" sz="1600" dirty="0"/>
              <a:t>“00” 2-bit </a:t>
            </a:r>
            <a:r>
              <a:rPr lang="ko-KR" altLang="en-US" sz="1600" dirty="0"/>
              <a:t>값을 붙여 </a:t>
            </a:r>
            <a:r>
              <a:rPr lang="en-US" altLang="ko-KR" sz="1600" dirty="0"/>
              <a:t>256-bit</a:t>
            </a:r>
            <a:r>
              <a:rPr lang="ko-KR" altLang="en-US" sz="1600" dirty="0"/>
              <a:t>로 만듦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추가 연산 로직이 거의 없어서 구현이 매우 단순</a:t>
            </a:r>
            <a:r>
              <a:rPr lang="en-US" altLang="ko-KR" sz="1600" dirty="0"/>
              <a:t>, </a:t>
            </a:r>
            <a:r>
              <a:rPr lang="ko-KR" altLang="en-US" sz="1600" dirty="0"/>
              <a:t>하드웨어 오버헤드 최소화</a:t>
            </a:r>
            <a:r>
              <a:rPr lang="en-US" altLang="ko-KR" sz="1600" dirty="0"/>
              <a:t>(wiring</a:t>
            </a:r>
            <a:r>
              <a:rPr lang="ko-KR" altLang="en-US" sz="1600" dirty="0"/>
              <a:t>만</a:t>
            </a:r>
            <a:r>
              <a:rPr lang="en-US" altLang="ko-KR" sz="1600" dirty="0"/>
              <a:t>), </a:t>
            </a:r>
            <a:r>
              <a:rPr lang="ko-KR" altLang="en-US" sz="1600" dirty="0"/>
              <a:t>보안 강도 유지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실제 정보량은 </a:t>
            </a:r>
            <a:r>
              <a:rPr lang="en-US" altLang="ko-KR" sz="1600" dirty="0"/>
              <a:t>254-bit</a:t>
            </a:r>
            <a:r>
              <a:rPr lang="ko-KR" altLang="en-US" sz="1600" dirty="0"/>
              <a:t>이나 </a:t>
            </a:r>
            <a:r>
              <a:rPr lang="en-US" altLang="ko-KR" sz="1600" dirty="0"/>
              <a:t>256-bit </a:t>
            </a:r>
            <a:r>
              <a:rPr lang="ko-KR" altLang="en-US" sz="1600" dirty="0"/>
              <a:t>공간 점유</a:t>
            </a:r>
            <a:r>
              <a:rPr lang="en-US" altLang="ko-KR" sz="1600" dirty="0"/>
              <a:t>(0.8&amp; </a:t>
            </a:r>
            <a:r>
              <a:rPr lang="ko-KR" altLang="en-US" sz="1600" dirty="0"/>
              <a:t>데이터 낭비</a:t>
            </a:r>
            <a:r>
              <a:rPr lang="en-US" altLang="ko-KR" sz="1600" dirty="0"/>
              <a:t>), </a:t>
            </a:r>
            <a:r>
              <a:rPr lang="ko-KR" altLang="en-US" sz="1600" dirty="0"/>
              <a:t>특정 암호학적 프로토콜에서 비정상 데이터로 간주될 위험 존재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DE9E3-7F62-39C6-1FB7-800FC7BD4D58}"/>
              </a:ext>
            </a:extLst>
          </p:cNvPr>
          <p:cNvSpPr txBox="1"/>
          <p:nvPr/>
        </p:nvSpPr>
        <p:spPr>
          <a:xfrm>
            <a:off x="1690621" y="5842433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Poseidon-128(BN254 </a:t>
            </a:r>
            <a:r>
              <a:rPr lang="ko-KR" altLang="en-US" sz="1200" dirty="0"/>
              <a:t>사용</a:t>
            </a:r>
            <a:r>
              <a:rPr lang="en-US" altLang="ko-KR" sz="1200" dirty="0"/>
              <a:t>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D8B53AF-FF08-8E37-2180-558389D5477C}"/>
              </a:ext>
            </a:extLst>
          </p:cNvPr>
          <p:cNvGrpSpPr/>
          <p:nvPr/>
        </p:nvGrpSpPr>
        <p:grpSpPr>
          <a:xfrm>
            <a:off x="396370" y="4236179"/>
            <a:ext cx="2375725" cy="1354121"/>
            <a:chOff x="170552" y="2895376"/>
            <a:chExt cx="2375725" cy="1354121"/>
          </a:xfrm>
        </p:grpSpPr>
        <p:sp>
          <p:nvSpPr>
            <p:cNvPr id="7" name="왼쪽 중괄호 6">
              <a:extLst>
                <a:ext uri="{FF2B5EF4-FFF2-40B4-BE49-F238E27FC236}">
                  <a16:creationId xmlns:a16="http://schemas.microsoft.com/office/drawing/2014/main" id="{B4A1E4D6-4D7B-60EA-12D1-F8A48AB2F7DE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9B2F9C-4B04-D46F-D795-155D7E842E30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9" name="왼쪽 중괄호 8">
              <a:extLst>
                <a:ext uri="{FF2B5EF4-FFF2-40B4-BE49-F238E27FC236}">
                  <a16:creationId xmlns:a16="http://schemas.microsoft.com/office/drawing/2014/main" id="{27C2D1B0-269B-2D08-1EA2-5BDB00AD66B2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5F33DF-F423-041F-2A91-9CFD905FC847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D57FE0B-FC0D-9A60-C239-5EAB387512AA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5876CEB3-BCF5-3A81-23BC-FFBFC2F06AAF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46BEC4A6-74E0-78A5-CCF3-31A6AF20D6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D9B89BE5-B30A-BC76-6176-5C43EC17C1A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3A8E851-0858-B866-9BC8-B1E738B08446}"/>
              </a:ext>
            </a:extLst>
          </p:cNvPr>
          <p:cNvGrpSpPr/>
          <p:nvPr/>
        </p:nvGrpSpPr>
        <p:grpSpPr>
          <a:xfrm>
            <a:off x="4042897" y="4236179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7485C556-EB84-D676-2D3D-825604AB4C4E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79371851-8BEB-4B67-7BF5-CABF15A58CA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CF92C6F5-35DA-AC30-43DA-8B8AD1ACB02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AFDE2976-6298-3E31-C9BD-1101DCF11CC6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 flipV="1">
            <a:off x="5134275" y="4223600"/>
            <a:ext cx="679739" cy="22274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86B4B3-78AE-0D7C-1946-931D8114A8C7}"/>
                  </a:ext>
                </a:extLst>
              </p:cNvPr>
              <p:cNvSpPr txBox="1"/>
              <p:nvPr/>
            </p:nvSpPr>
            <p:spPr>
              <a:xfrm>
                <a:off x="5814014" y="4054323"/>
                <a:ext cx="54331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86B4B3-78AE-0D7C-1946-931D8114A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014" y="4054323"/>
                <a:ext cx="5433105" cy="338554"/>
              </a:xfrm>
              <a:prstGeom prst="rect">
                <a:avLst/>
              </a:prstGeom>
              <a:blipFill>
                <a:blip r:embed="rId10"/>
                <a:stretch>
                  <a:fillRect l="-673" t="-7143" r="-1908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A63953-0A28-F25E-365F-6B0FF1F899FA}"/>
                  </a:ext>
                </a:extLst>
              </p:cNvPr>
              <p:cNvSpPr txBox="1"/>
              <p:nvPr/>
            </p:nvSpPr>
            <p:spPr>
              <a:xfrm>
                <a:off x="6660284" y="5026767"/>
                <a:ext cx="37405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Output: 00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A63953-0A28-F25E-365F-6B0FF1F89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84" y="5026767"/>
                <a:ext cx="3740564" cy="338554"/>
              </a:xfrm>
              <a:prstGeom prst="rect">
                <a:avLst/>
              </a:prstGeom>
              <a:blipFill>
                <a:blip r:embed="rId11"/>
                <a:stretch>
                  <a:fillRect l="-97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C745B1B6-734B-40E9-5AD9-FBA6BF0E1402}"/>
              </a:ext>
            </a:extLst>
          </p:cNvPr>
          <p:cNvCxnSpPr>
            <a:cxnSpLocks/>
            <a:stCxn id="27" idx="2"/>
            <a:endCxn id="35" idx="0"/>
          </p:cNvCxnSpPr>
          <p:nvPr/>
        </p:nvCxnSpPr>
        <p:spPr>
          <a:xfrm rot="5400000">
            <a:off x="8213622" y="4709822"/>
            <a:ext cx="633890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38F3409-396A-9956-3C3B-DEDD3F78E891}"/>
              </a:ext>
            </a:extLst>
          </p:cNvPr>
          <p:cNvSpPr txBox="1"/>
          <p:nvPr/>
        </p:nvSpPr>
        <p:spPr>
          <a:xfrm>
            <a:off x="8530566" y="4562154"/>
            <a:ext cx="1168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+ 00 (2-bit)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74CA0E6-41DC-5BD3-3945-E6642DFB4703}"/>
              </a:ext>
            </a:extLst>
          </p:cNvPr>
          <p:cNvGrpSpPr/>
          <p:nvPr/>
        </p:nvGrpSpPr>
        <p:grpSpPr>
          <a:xfrm>
            <a:off x="2825675" y="4257527"/>
            <a:ext cx="1171882" cy="1354120"/>
            <a:chOff x="4474024" y="4820619"/>
            <a:chExt cx="1171882" cy="1354120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832922F-52F4-9F8C-0C2D-2B14995F408D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85029AB-41F0-FCDA-2369-079D1D11CDED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51" name="화살표: 오른쪽 50">
                <a:extLst>
                  <a:ext uri="{FF2B5EF4-FFF2-40B4-BE49-F238E27FC236}">
                    <a16:creationId xmlns:a16="http://schemas.microsoft.com/office/drawing/2014/main" id="{642EE378-76F0-F9A8-C0E5-0384216C59F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화살표: 오른쪽 51">
                <a:extLst>
                  <a:ext uri="{FF2B5EF4-FFF2-40B4-BE49-F238E27FC236}">
                    <a16:creationId xmlns:a16="http://schemas.microsoft.com/office/drawing/2014/main" id="{2BBE979A-3B78-ED57-05DA-021F816E8694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화살표: 오른쪽 52">
                <a:extLst>
                  <a:ext uri="{FF2B5EF4-FFF2-40B4-BE49-F238E27FC236}">
                    <a16:creationId xmlns:a16="http://schemas.microsoft.com/office/drawing/2014/main" id="{71C35706-D46A-1001-CB37-7C351E7D154C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6E5289D-BB7A-9BA1-3B6A-B2BBAFFDDB45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48" name="화살표: 오른쪽 47">
                <a:extLst>
                  <a:ext uri="{FF2B5EF4-FFF2-40B4-BE49-F238E27FC236}">
                    <a16:creationId xmlns:a16="http://schemas.microsoft.com/office/drawing/2014/main" id="{52ADF254-0307-6DE0-2B7B-BA17D3B2C957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화살표: 오른쪽 48">
                <a:extLst>
                  <a:ext uri="{FF2B5EF4-FFF2-40B4-BE49-F238E27FC236}">
                    <a16:creationId xmlns:a16="http://schemas.microsoft.com/office/drawing/2014/main" id="{EEAA4469-2B76-25A2-9954-DC7955D6420B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화살표: 오른쪽 49">
                <a:extLst>
                  <a:ext uri="{FF2B5EF4-FFF2-40B4-BE49-F238E27FC236}">
                    <a16:creationId xmlns:a16="http://schemas.microsoft.com/office/drawing/2014/main" id="{163E2365-7FC5-88C1-7F30-5583527A8014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50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C5E6-22BF-BD72-A1D9-A9BE1862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2935C-E025-106A-8A79-3A83656F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600" dirty="0"/>
              <a:t>Method 2-1 : Squeezing-based Bit-Slice &amp; </a:t>
            </a:r>
            <a:r>
              <a:rPr lang="en-US" altLang="ko-KR" sz="3600" dirty="0" err="1"/>
              <a:t>Concat</a:t>
            </a:r>
            <a:endParaRPr lang="ko-KR" altLang="en-US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32BC0-F81B-000A-938E-C6F46A69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724DDF-0DEF-9B39-756D-82FD3AA968A8}"/>
                  </a:ext>
                </a:extLst>
              </p:cNvPr>
              <p:cNvSpPr txBox="1"/>
              <p:nvPr/>
            </p:nvSpPr>
            <p:spPr>
              <a:xfrm>
                <a:off x="545480" y="983677"/>
                <a:ext cx="11410217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Squeezing-based Bit-Slice &amp; </a:t>
                </a:r>
                <a:r>
                  <a:rPr lang="en-US" altLang="ko-KR" b="1" dirty="0" err="1"/>
                  <a:t>Concat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출력 비트가 부족할 경우 </a:t>
                </a:r>
                <a:r>
                  <a:rPr lang="en-US" altLang="ko-KR" sz="1600" dirty="0"/>
                  <a:t>sponge</a:t>
                </a:r>
                <a:r>
                  <a:rPr lang="ko-KR" altLang="en-US" sz="1600" dirty="0"/>
                  <a:t> 구조를 </a:t>
                </a:r>
                <a:r>
                  <a:rPr lang="ko-KR" altLang="en-US" sz="1600" dirty="0" err="1"/>
                  <a:t>재구동하여</a:t>
                </a:r>
                <a:r>
                  <a:rPr lang="ko-KR" altLang="en-US" sz="1600" dirty="0"/>
                  <a:t> 추가 비트를 확보하는 방법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Sponge </a:t>
                </a:r>
                <a:r>
                  <a:rPr lang="ko-KR" altLang="en-US" sz="1600" dirty="0"/>
                  <a:t>구조에서 한 번 더 순열을 돌려 부족한 비트 추출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추출 비트 수 조절 </a:t>
                </a:r>
                <a:r>
                  <a:rPr lang="en-US" altLang="ko-KR" sz="1600" dirty="0"/>
                  <a:t>O)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첫번째 결과값의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sz="1600" b="1" dirty="0"/>
                  <a:t> ~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2</a:t>
                </a:r>
                <a:r>
                  <a:rPr lang="ko-KR" altLang="en-US" sz="1600" dirty="0"/>
                  <a:t>번째 결과값의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1600" dirty="0"/>
                  <a:t> ~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 err="1"/>
                  <a:t>concat</a:t>
                </a:r>
                <a:r>
                  <a:rPr lang="ko-KR" altLang="en-US" sz="1600" dirty="0"/>
                  <a:t>하여 </a:t>
                </a:r>
                <a:r>
                  <a:rPr lang="en-US" altLang="ko-KR" sz="1600" dirty="0"/>
                  <a:t>256-bit output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단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장점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알고리즘의 무결성 유지하면서 </a:t>
                </a:r>
                <a:r>
                  <a:rPr lang="en-US" altLang="ko-KR" sz="1600" dirty="0"/>
                  <a:t>256-bit </a:t>
                </a:r>
                <a:r>
                  <a:rPr lang="ko-KR" altLang="en-US" sz="1600" dirty="0"/>
                  <a:t>해시 가능</a:t>
                </a:r>
                <a:r>
                  <a:rPr lang="en-US" altLang="ko-KR" sz="1600" dirty="0"/>
                  <a:t>, Poseidon </a:t>
                </a:r>
                <a:r>
                  <a:rPr lang="ko-KR" altLang="en-US" sz="1600" dirty="0" err="1"/>
                  <a:t>아키텍쳐</a:t>
                </a:r>
                <a:r>
                  <a:rPr lang="ko-KR" altLang="en-US" sz="1600" dirty="0"/>
                  <a:t> 변경 없이 제어 로직만 수정하여 구현 가능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단점 </a:t>
                </a:r>
                <a:r>
                  <a:rPr lang="en-US" altLang="ko-KR" sz="1600" dirty="0"/>
                  <a:t>: Latency 2</a:t>
                </a:r>
                <a:r>
                  <a:rPr lang="ko-KR" altLang="en-US" sz="1600" dirty="0"/>
                  <a:t>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 </a:t>
                </a:r>
                <a:r>
                  <a:rPr lang="ko-KR" altLang="en-US" sz="1600" dirty="0"/>
                  <a:t>저장을 위한 추가 레지스터 필요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724DDF-0DEF-9B39-756D-82FD3AA96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80" y="983677"/>
                <a:ext cx="11410217" cy="2092881"/>
              </a:xfrm>
              <a:prstGeom prst="rect">
                <a:avLst/>
              </a:prstGeom>
              <a:blipFill>
                <a:blip r:embed="rId3"/>
                <a:stretch>
                  <a:fillRect l="-427" t="-1453" r="-908" b="-26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8980AA-CC0A-6548-3B7F-5480F052BC32}"/>
              </a:ext>
            </a:extLst>
          </p:cNvPr>
          <p:cNvSpPr txBox="1"/>
          <p:nvPr/>
        </p:nvSpPr>
        <p:spPr>
          <a:xfrm>
            <a:off x="4556887" y="6288359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예시</a:t>
            </a:r>
            <a:endParaRPr lang="en-US" altLang="ko-KR" sz="1200" dirty="0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6311222D-248F-E8C2-7CEE-D82AD25AA9A9}"/>
              </a:ext>
            </a:extLst>
          </p:cNvPr>
          <p:cNvGrpSpPr/>
          <p:nvPr/>
        </p:nvGrpSpPr>
        <p:grpSpPr>
          <a:xfrm>
            <a:off x="2058373" y="4817145"/>
            <a:ext cx="7256167" cy="1357595"/>
            <a:chOff x="2058373" y="4817145"/>
            <a:chExt cx="7256167" cy="135759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AA77B0A-AA34-B998-CB6C-8174F3442B56}"/>
                </a:ext>
              </a:extLst>
            </p:cNvPr>
            <p:cNvGrpSpPr/>
            <p:nvPr/>
          </p:nvGrpSpPr>
          <p:grpSpPr>
            <a:xfrm>
              <a:off x="2058373" y="4820619"/>
              <a:ext cx="2375725" cy="1354121"/>
              <a:chOff x="170552" y="2895376"/>
              <a:chExt cx="2375725" cy="1354121"/>
            </a:xfrm>
          </p:grpSpPr>
          <p:sp>
            <p:nvSpPr>
              <p:cNvPr id="19" name="왼쪽 중괄호 18">
                <a:extLst>
                  <a:ext uri="{FF2B5EF4-FFF2-40B4-BE49-F238E27FC236}">
                    <a16:creationId xmlns:a16="http://schemas.microsoft.com/office/drawing/2014/main" id="{1B75A773-4764-311D-B526-43BE2494F05F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F30C5B-0720-A84C-4CFA-BF8DC303B2F1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21" name="왼쪽 중괄호 20">
                <a:extLst>
                  <a:ext uri="{FF2B5EF4-FFF2-40B4-BE49-F238E27FC236}">
                    <a16:creationId xmlns:a16="http://schemas.microsoft.com/office/drawing/2014/main" id="{ADFCEB51-4F67-25A6-8722-04F5154DC698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1AD3BB-D10E-5379-C51E-44C5978729F7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B64883EE-D21C-96DC-3378-61FF157F1C6E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84C6AFB5-965B-C44B-51E2-8F85F3771E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132D8AE4-78DF-D3E4-686E-B01582596F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직사각형 25">
                      <a:extLst>
                        <a:ext uri="{FF2B5EF4-FFF2-40B4-BE49-F238E27FC236}">
                          <a16:creationId xmlns:a16="http://schemas.microsoft.com/office/drawing/2014/main" id="{74FC7525-73E2-6C8A-AF83-4B842F0E6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A1F0B20-AAD5-8905-49BB-D43F9742D119}"/>
                </a:ext>
              </a:extLst>
            </p:cNvPr>
            <p:cNvGrpSpPr/>
            <p:nvPr/>
          </p:nvGrpSpPr>
          <p:grpSpPr>
            <a:xfrm>
              <a:off x="5704900" y="4820619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3F75EE8A-5AF9-4F8F-41AE-328A7BF1F6B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3559FD74-C1DD-99CB-5823-445A7E946A0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03C5F7BF-5404-A563-B676-CD54F14A556D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6E45051-7C60-3A17-F88A-4FF44828D03E}"/>
                </a:ext>
              </a:extLst>
            </p:cNvPr>
            <p:cNvSpPr/>
            <p:nvPr/>
          </p:nvSpPr>
          <p:spPr>
            <a:xfrm>
              <a:off x="7410087" y="4817145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F00B2A1-75B0-B3EF-87F9-67B17AA4A1FD}"/>
                </a:ext>
              </a:extLst>
            </p:cNvPr>
            <p:cNvGrpSpPr/>
            <p:nvPr/>
          </p:nvGrpSpPr>
          <p:grpSpPr>
            <a:xfrm>
              <a:off x="8215026" y="4817145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직사각형 31">
                    <a:extLst>
                      <a:ext uri="{FF2B5EF4-FFF2-40B4-BE49-F238E27FC236}">
                        <a16:creationId xmlns:a16="http://schemas.microsoft.com/office/drawing/2014/main" id="{D9A38BCF-63BD-3CA3-9E4E-0206FC481EB3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직사각형 32">
                    <a:extLst>
                      <a:ext uri="{FF2B5EF4-FFF2-40B4-BE49-F238E27FC236}">
                        <a16:creationId xmlns:a16="http://schemas.microsoft.com/office/drawing/2014/main" id="{7E09E31C-4850-5DE2-1BD2-18AF7CE82E9A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직사각형 33">
                    <a:extLst>
                      <a:ext uri="{FF2B5EF4-FFF2-40B4-BE49-F238E27FC236}">
                        <a16:creationId xmlns:a16="http://schemas.microsoft.com/office/drawing/2014/main" id="{4E6F23B0-84E4-A910-81EE-C18E02339359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E0D6D460-2D64-823A-F599-7F2AC86708E5}"/>
                </a:ext>
              </a:extLst>
            </p:cNvPr>
            <p:cNvGrpSpPr/>
            <p:nvPr/>
          </p:nvGrpSpPr>
          <p:grpSpPr>
            <a:xfrm>
              <a:off x="4474024" y="4820619"/>
              <a:ext cx="1171882" cy="1354120"/>
              <a:chOff x="4474024" y="4820619"/>
              <a:chExt cx="1171882" cy="135412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A59181EF-31DD-9F10-E76D-AF8F4E4E2D96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E2DEFE05-D4DD-10D3-E45E-95EE5F1C4557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17" name="화살표: 오른쪽 16">
                  <a:extLst>
                    <a:ext uri="{FF2B5EF4-FFF2-40B4-BE49-F238E27FC236}">
                      <a16:creationId xmlns:a16="http://schemas.microsoft.com/office/drawing/2014/main" id="{449B81A0-F31D-EB89-FFE7-C1E54A2CA29A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화살표: 오른쪽 17">
                  <a:extLst>
                    <a:ext uri="{FF2B5EF4-FFF2-40B4-BE49-F238E27FC236}">
                      <a16:creationId xmlns:a16="http://schemas.microsoft.com/office/drawing/2014/main" id="{9F18AFAA-3A82-8668-9383-1E2CB1FF7B9C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화살표: 오른쪽 37">
                  <a:extLst>
                    <a:ext uri="{FF2B5EF4-FFF2-40B4-BE49-F238E27FC236}">
                      <a16:creationId xmlns:a16="http://schemas.microsoft.com/office/drawing/2014/main" id="{0870FC45-1CCD-7417-706C-A46CE6A6B203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35A0AFC-4850-9253-B09C-061679118E07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41" name="화살표: 오른쪽 40">
                  <a:extLst>
                    <a:ext uri="{FF2B5EF4-FFF2-40B4-BE49-F238E27FC236}">
                      <a16:creationId xmlns:a16="http://schemas.microsoft.com/office/drawing/2014/main" id="{765169EA-1A6B-F2F6-1A19-BEC0DEAB0BF8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화살표: 오른쪽 41">
                  <a:extLst>
                    <a:ext uri="{FF2B5EF4-FFF2-40B4-BE49-F238E27FC236}">
                      <a16:creationId xmlns:a16="http://schemas.microsoft.com/office/drawing/2014/main" id="{AD56D5BB-F558-3807-E815-035C2E6C881D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" name="화살표: 오른쪽 42">
                  <a:extLst>
                    <a:ext uri="{FF2B5EF4-FFF2-40B4-BE49-F238E27FC236}">
                      <a16:creationId xmlns:a16="http://schemas.microsoft.com/office/drawing/2014/main" id="{37DB49FB-BB6D-9233-4264-8B3C98E357AC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E9F6235-E980-220C-E6FF-A4FC7EB97284}"/>
                </a:ext>
              </a:extLst>
            </p:cNvPr>
            <p:cNvGrpSpPr/>
            <p:nvPr/>
          </p:nvGrpSpPr>
          <p:grpSpPr>
            <a:xfrm>
              <a:off x="6963224" y="4917300"/>
              <a:ext cx="382218" cy="1120218"/>
              <a:chOff x="2844153" y="3567767"/>
              <a:chExt cx="382218" cy="1120218"/>
            </a:xfrm>
          </p:grpSpPr>
          <p:sp>
            <p:nvSpPr>
              <p:cNvPr id="45" name="화살표: 오른쪽 44">
                <a:extLst>
                  <a:ext uri="{FF2B5EF4-FFF2-40B4-BE49-F238E27FC236}">
                    <a16:creationId xmlns:a16="http://schemas.microsoft.com/office/drawing/2014/main" id="{9B89F706-8964-504A-2E5D-C20A3EFC08B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화살표: 오른쪽 45">
                <a:extLst>
                  <a:ext uri="{FF2B5EF4-FFF2-40B4-BE49-F238E27FC236}">
                    <a16:creationId xmlns:a16="http://schemas.microsoft.com/office/drawing/2014/main" id="{55FC0AFA-2C99-77F7-9A1B-AF42AC93E264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화살표: 오른쪽 46">
                <a:extLst>
                  <a:ext uri="{FF2B5EF4-FFF2-40B4-BE49-F238E27FC236}">
                    <a16:creationId xmlns:a16="http://schemas.microsoft.com/office/drawing/2014/main" id="{9A318EE8-1C67-CB11-287B-083210402AC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1552769-BA18-F18F-AB0E-7D4B5D4F2CD3}"/>
                </a:ext>
              </a:extLst>
            </p:cNvPr>
            <p:cNvGrpSpPr/>
            <p:nvPr/>
          </p:nvGrpSpPr>
          <p:grpSpPr>
            <a:xfrm>
              <a:off x="7752888" y="4918558"/>
              <a:ext cx="382218" cy="1120218"/>
              <a:chOff x="2844153" y="3567767"/>
              <a:chExt cx="382218" cy="1120218"/>
            </a:xfrm>
          </p:grpSpPr>
          <p:sp>
            <p:nvSpPr>
              <p:cNvPr id="49" name="화살표: 오른쪽 48">
                <a:extLst>
                  <a:ext uri="{FF2B5EF4-FFF2-40B4-BE49-F238E27FC236}">
                    <a16:creationId xmlns:a16="http://schemas.microsoft.com/office/drawing/2014/main" id="{43428E26-74E2-65C5-18C1-8687C548B8FD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화살표: 오른쪽 49">
                <a:extLst>
                  <a:ext uri="{FF2B5EF4-FFF2-40B4-BE49-F238E27FC236}">
                    <a16:creationId xmlns:a16="http://schemas.microsoft.com/office/drawing/2014/main" id="{2607AC04-461E-B7B0-3E17-90423CDE60FA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화살표: 오른쪽 50">
                <a:extLst>
                  <a:ext uri="{FF2B5EF4-FFF2-40B4-BE49-F238E27FC236}">
                    <a16:creationId xmlns:a16="http://schemas.microsoft.com/office/drawing/2014/main" id="{9F40D869-1AC6-A4FF-A082-3829B0DE01F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0E9BABC7-7998-AB07-D974-44D7D429629D}"/>
              </a:ext>
            </a:extLst>
          </p:cNvPr>
          <p:cNvCxnSpPr>
            <a:cxnSpLocks/>
            <a:stCxn id="32" idx="0"/>
            <a:endCxn id="64" idx="2"/>
          </p:cNvCxnSpPr>
          <p:nvPr/>
        </p:nvCxnSpPr>
        <p:spPr>
          <a:xfrm rot="5400000" flipH="1" flipV="1">
            <a:off x="8920411" y="4244513"/>
            <a:ext cx="412937" cy="73232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A1F1AF50-B4ED-5B6C-134C-CB0B51168575}"/>
              </a:ext>
            </a:extLst>
          </p:cNvPr>
          <p:cNvCxnSpPr>
            <a:cxnSpLocks/>
            <a:stCxn id="14" idx="0"/>
            <a:endCxn id="57" idx="2"/>
          </p:cNvCxnSpPr>
          <p:nvPr/>
        </p:nvCxnSpPr>
        <p:spPr>
          <a:xfrm rot="16200000" flipV="1">
            <a:off x="4430600" y="3000630"/>
            <a:ext cx="433320" cy="32066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35A0170-E085-8DA6-9D17-8755772C8874}"/>
                  </a:ext>
                </a:extLst>
              </p:cNvPr>
              <p:cNvSpPr txBox="1"/>
              <p:nvPr/>
            </p:nvSpPr>
            <p:spPr>
              <a:xfrm>
                <a:off x="452599" y="4048745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35A0170-E085-8DA6-9D17-8755772C8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99" y="4048745"/>
                <a:ext cx="5182664" cy="338554"/>
              </a:xfrm>
              <a:prstGeom prst="rect">
                <a:avLst/>
              </a:prstGeom>
              <a:blipFill>
                <a:blip r:embed="rId10"/>
                <a:stretch>
                  <a:fillRect l="-588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직사각형 57">
            <a:extLst>
              <a:ext uri="{FF2B5EF4-FFF2-40B4-BE49-F238E27FC236}">
                <a16:creationId xmlns:a16="http://schemas.microsoft.com/office/drawing/2014/main" id="{6EA6F7C5-C254-517A-C24F-578E7F6F5C9A}"/>
              </a:ext>
            </a:extLst>
          </p:cNvPr>
          <p:cNvSpPr/>
          <p:nvPr/>
        </p:nvSpPr>
        <p:spPr>
          <a:xfrm>
            <a:off x="8236225" y="4050533"/>
            <a:ext cx="524489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E4279461-C252-8D81-0314-BCEDB7F1EBA7}"/>
              </a:ext>
            </a:extLst>
          </p:cNvPr>
          <p:cNvCxnSpPr>
            <a:cxnSpLocks/>
            <a:stCxn id="58" idx="0"/>
            <a:endCxn id="78" idx="2"/>
          </p:cNvCxnSpPr>
          <p:nvPr/>
        </p:nvCxnSpPr>
        <p:spPr>
          <a:xfrm rot="16200000" flipV="1">
            <a:off x="6782310" y="2334372"/>
            <a:ext cx="470604" cy="296171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F8D0013-32D2-CCC0-97E5-4BDD5FA6A567}"/>
                  </a:ext>
                </a:extLst>
              </p:cNvPr>
              <p:cNvSpPr txBox="1"/>
              <p:nvPr/>
            </p:nvSpPr>
            <p:spPr>
              <a:xfrm>
                <a:off x="6928347" y="4065654"/>
                <a:ext cx="51293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F8D0013-32D2-CCC0-97E5-4BDD5FA6A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347" y="4065654"/>
                <a:ext cx="5129393" cy="338554"/>
              </a:xfrm>
              <a:prstGeom prst="rect">
                <a:avLst/>
              </a:prstGeom>
              <a:blipFill>
                <a:blip r:embed="rId11"/>
                <a:stretch>
                  <a:fillRect l="-713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EDCD9CA-CBC4-A5A8-1F7C-63CD705D85D8}"/>
                  </a:ext>
                </a:extLst>
              </p:cNvPr>
              <p:cNvSpPr txBox="1"/>
              <p:nvPr/>
            </p:nvSpPr>
            <p:spPr>
              <a:xfrm>
                <a:off x="3590070" y="3241375"/>
                <a:ext cx="38933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EDCD9CA-CBC4-A5A8-1F7C-63CD705D8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070" y="3241375"/>
                <a:ext cx="3893365" cy="338554"/>
              </a:xfrm>
              <a:prstGeom prst="rect">
                <a:avLst/>
              </a:prstGeom>
              <a:blipFill>
                <a:blip r:embed="rId12"/>
                <a:stretch>
                  <a:fillRect l="-939" t="-7273" r="-2660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5A877F54-F5E4-71F4-60C4-23378455A785}"/>
              </a:ext>
            </a:extLst>
          </p:cNvPr>
          <p:cNvCxnSpPr>
            <a:cxnSpLocks/>
            <a:stCxn id="57" idx="0"/>
            <a:endCxn id="78" idx="2"/>
          </p:cNvCxnSpPr>
          <p:nvPr/>
        </p:nvCxnSpPr>
        <p:spPr>
          <a:xfrm rot="5400000" flipH="1" flipV="1">
            <a:off x="4055934" y="2567926"/>
            <a:ext cx="468816" cy="249282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607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1173-3D79-7E78-482A-5423D527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B2371-8F41-616B-88CE-0166867E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2-2 : Bit-Slice&amp;Concatenation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C9359-2E49-3EA4-C788-2A7394F0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A861C-B5F3-D7F6-B4F6-E27417A85813}"/>
              </a:ext>
            </a:extLst>
          </p:cNvPr>
          <p:cNvSpPr txBox="1"/>
          <p:nvPr/>
        </p:nvSpPr>
        <p:spPr>
          <a:xfrm>
            <a:off x="1671953" y="5106562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예시</a:t>
            </a:r>
            <a:endParaRPr lang="en-US" altLang="ko-KR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9DDBBD-0545-F38E-8171-2F082E7514D0}"/>
                  </a:ext>
                </a:extLst>
              </p:cNvPr>
              <p:cNvSpPr txBox="1"/>
              <p:nvPr/>
            </p:nvSpPr>
            <p:spPr>
              <a:xfrm>
                <a:off x="728949" y="1568679"/>
                <a:ext cx="1008419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Bit-Slice&amp;Concatenation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S0</a:t>
                </a:r>
                <a:r>
                  <a:rPr lang="ko-KR" altLang="en-US" sz="160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sz="1600" b="1" dirty="0"/>
                  <a:t> ~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S1</a:t>
                </a:r>
                <a:r>
                  <a:rPr lang="ko-KR" altLang="en-US" sz="160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1600" dirty="0"/>
                  <a:t> ~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 err="1"/>
                  <a:t>concat</a:t>
                </a:r>
                <a:r>
                  <a:rPr lang="ko-KR" altLang="en-US" sz="1600" dirty="0"/>
                  <a:t>하여 </a:t>
                </a:r>
                <a:r>
                  <a:rPr lang="en-US" altLang="ko-KR" sz="1600" dirty="0"/>
                  <a:t>256-bit output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단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예시 </a:t>
                </a:r>
                <a:r>
                  <a:rPr lang="en-US" altLang="ko-KR" sz="1600" dirty="0"/>
                  <a:t>: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9DDBBD-0545-F38E-8171-2F082E751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49" y="1568679"/>
                <a:ext cx="10084193" cy="861774"/>
              </a:xfrm>
              <a:prstGeom prst="rect">
                <a:avLst/>
              </a:prstGeom>
              <a:blipFill>
                <a:blip r:embed="rId3"/>
                <a:stretch>
                  <a:fillRect l="-544" t="-3521" b="-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DA922A13-1672-56DB-D0BA-36A5692A754B}"/>
              </a:ext>
            </a:extLst>
          </p:cNvPr>
          <p:cNvGrpSpPr/>
          <p:nvPr/>
        </p:nvGrpSpPr>
        <p:grpSpPr>
          <a:xfrm>
            <a:off x="428502" y="3469828"/>
            <a:ext cx="2375725" cy="1354121"/>
            <a:chOff x="170552" y="2895376"/>
            <a:chExt cx="2375725" cy="1354121"/>
          </a:xfrm>
        </p:grpSpPr>
        <p:sp>
          <p:nvSpPr>
            <p:cNvPr id="7" name="왼쪽 중괄호 6">
              <a:extLst>
                <a:ext uri="{FF2B5EF4-FFF2-40B4-BE49-F238E27FC236}">
                  <a16:creationId xmlns:a16="http://schemas.microsoft.com/office/drawing/2014/main" id="{D4040C03-24A8-26FA-FE98-A88AB4F7323A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E99C6D-B0F5-933F-C89A-DD05E9E3418A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9" name="왼쪽 중괄호 8">
              <a:extLst>
                <a:ext uri="{FF2B5EF4-FFF2-40B4-BE49-F238E27FC236}">
                  <a16:creationId xmlns:a16="http://schemas.microsoft.com/office/drawing/2014/main" id="{0FB450A8-4202-F0B3-7194-262F923B8CFB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8722E5-B1CD-E144-6CD9-FC6FDA240DE9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795F711-6143-E4AD-A386-F5394E106070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BE35E8E0-D9C0-7545-FECA-C3D05F51463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7F833AAF-4439-4830-F4CF-63CF659B28F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41494C52-4FA9-3ACF-D841-51F9301FE9B3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FFFC1E3-F61B-B897-5B07-F00438C55787}"/>
              </a:ext>
            </a:extLst>
          </p:cNvPr>
          <p:cNvGrpSpPr/>
          <p:nvPr/>
        </p:nvGrpSpPr>
        <p:grpSpPr>
          <a:xfrm>
            <a:off x="4075029" y="3469828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309BDB64-9B92-52B9-C8C5-B0F3376B9DDD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F8E90E69-7CBE-501F-07CD-015E9742A1CC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177B871-AEC9-72B3-08A9-4FBF2821E42C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C933A00-D5ED-C709-F382-B90C60323D96}"/>
              </a:ext>
            </a:extLst>
          </p:cNvPr>
          <p:cNvCxnSpPr>
            <a:stCxn id="21" idx="3"/>
          </p:cNvCxnSpPr>
          <p:nvPr/>
        </p:nvCxnSpPr>
        <p:spPr>
          <a:xfrm flipV="1">
            <a:off x="5166407" y="3065420"/>
            <a:ext cx="1404207" cy="614577"/>
          </a:xfrm>
          <a:prstGeom prst="bentConnector3">
            <a:avLst>
              <a:gd name="adj1" fmla="val 6628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B3C76D7-CDFB-5685-7ACD-6EC85B0D9732}"/>
                  </a:ext>
                </a:extLst>
              </p:cNvPr>
              <p:cNvSpPr txBox="1"/>
              <p:nvPr/>
            </p:nvSpPr>
            <p:spPr>
              <a:xfrm>
                <a:off x="6541017" y="2924766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B3C76D7-CDFB-5685-7ACD-6EC85B0D9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017" y="2924766"/>
                <a:ext cx="5608423" cy="338554"/>
              </a:xfrm>
              <a:prstGeom prst="rect">
                <a:avLst/>
              </a:prstGeom>
              <a:blipFill>
                <a:blip r:embed="rId10"/>
                <a:stretch>
                  <a:fillRect l="-543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B08366E8-CF2A-A9F6-6EF9-87340DC9775D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5166407" y="3679997"/>
            <a:ext cx="1420082" cy="343850"/>
          </a:xfrm>
          <a:prstGeom prst="bentConnector3">
            <a:avLst>
              <a:gd name="adj1" fmla="val 6609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3DC4ADFC-9A96-581E-AF21-73267E11CDE3}"/>
              </a:ext>
            </a:extLst>
          </p:cNvPr>
          <p:cNvCxnSpPr>
            <a:cxnSpLocks/>
            <a:stCxn id="22" idx="3"/>
            <a:endCxn id="54" idx="1"/>
          </p:cNvCxnSpPr>
          <p:nvPr/>
        </p:nvCxnSpPr>
        <p:spPr>
          <a:xfrm>
            <a:off x="5167763" y="4145309"/>
            <a:ext cx="1425506" cy="521572"/>
          </a:xfrm>
          <a:prstGeom prst="bentConnector3">
            <a:avLst>
              <a:gd name="adj1" fmla="val 6069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26E4183-8BEF-382B-4CB2-0D8C7DEF2204}"/>
                  </a:ext>
                </a:extLst>
              </p:cNvPr>
              <p:cNvSpPr txBox="1"/>
              <p:nvPr/>
            </p:nvSpPr>
            <p:spPr>
              <a:xfrm>
                <a:off x="6586489" y="3854570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26E4183-8BEF-382B-4CB2-0D8C7DEF2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489" y="3854570"/>
                <a:ext cx="5608423" cy="338554"/>
              </a:xfrm>
              <a:prstGeom prst="rect">
                <a:avLst/>
              </a:prstGeom>
              <a:blipFill>
                <a:blip r:embed="rId11"/>
                <a:stretch>
                  <a:fillRect l="-543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202DF28-E4E6-6052-6C97-38EB7EF9B1AA}"/>
                  </a:ext>
                </a:extLst>
              </p:cNvPr>
              <p:cNvSpPr txBox="1"/>
              <p:nvPr/>
            </p:nvSpPr>
            <p:spPr>
              <a:xfrm>
                <a:off x="6593269" y="4497604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202DF28-E4E6-6052-6C97-38EB7EF9B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269" y="4497604"/>
                <a:ext cx="5608423" cy="338554"/>
              </a:xfrm>
              <a:prstGeom prst="rect">
                <a:avLst/>
              </a:prstGeom>
              <a:blipFill>
                <a:blip r:embed="rId12"/>
                <a:stretch>
                  <a:fillRect l="-65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54951C77-3A97-0F5A-85DF-5CFC05DEE4AF}"/>
              </a:ext>
            </a:extLst>
          </p:cNvPr>
          <p:cNvSpPr/>
          <p:nvPr/>
        </p:nvSpPr>
        <p:spPr>
          <a:xfrm>
            <a:off x="7897160" y="3867905"/>
            <a:ext cx="12990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직사각형 451">
            <a:extLst>
              <a:ext uri="{FF2B5EF4-FFF2-40B4-BE49-F238E27FC236}">
                <a16:creationId xmlns:a16="http://schemas.microsoft.com/office/drawing/2014/main" id="{BE8F16C5-29F1-5317-A780-680652AD1502}"/>
              </a:ext>
            </a:extLst>
          </p:cNvPr>
          <p:cNvSpPr/>
          <p:nvPr/>
        </p:nvSpPr>
        <p:spPr>
          <a:xfrm>
            <a:off x="7897160" y="4513711"/>
            <a:ext cx="1238651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ADAB8979-18D3-3F7B-2234-BEA60C7A930C}"/>
                  </a:ext>
                </a:extLst>
              </p:cNvPr>
              <p:cNvSpPr txBox="1"/>
              <p:nvPr/>
            </p:nvSpPr>
            <p:spPr>
              <a:xfrm>
                <a:off x="6593269" y="5515015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ADAB8979-18D3-3F7B-2234-BEA60C7A9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269" y="5515015"/>
                <a:ext cx="5608423" cy="338554"/>
              </a:xfrm>
              <a:prstGeom prst="rect">
                <a:avLst/>
              </a:prstGeom>
              <a:blipFill>
                <a:blip r:embed="rId13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B3EBF9B3-FFCE-C4A5-FD53-D368C1C5FF34}"/>
              </a:ext>
            </a:extLst>
          </p:cNvPr>
          <p:cNvCxnSpPr>
            <a:cxnSpLocks/>
            <a:stCxn id="450" idx="2"/>
          </p:cNvCxnSpPr>
          <p:nvPr/>
        </p:nvCxnSpPr>
        <p:spPr>
          <a:xfrm rot="5400000">
            <a:off x="7491284" y="3298917"/>
            <a:ext cx="147880" cy="196296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연결선: 꺾임 467">
            <a:extLst>
              <a:ext uri="{FF2B5EF4-FFF2-40B4-BE49-F238E27FC236}">
                <a16:creationId xmlns:a16="http://schemas.microsoft.com/office/drawing/2014/main" id="{C15B29EF-F371-83D6-EB8D-79AD2E760974}"/>
              </a:ext>
            </a:extLst>
          </p:cNvPr>
          <p:cNvCxnSpPr>
            <a:cxnSpLocks/>
          </p:cNvCxnSpPr>
          <p:nvPr/>
        </p:nvCxnSpPr>
        <p:spPr>
          <a:xfrm rot="10800000">
            <a:off x="6603642" y="4349789"/>
            <a:ext cx="1492186" cy="1050463"/>
          </a:xfrm>
          <a:prstGeom prst="bentConnector3">
            <a:avLst>
              <a:gd name="adj1" fmla="val 99789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1DBFF4F7-7482-2E57-4913-A920826877F6}"/>
              </a:ext>
            </a:extLst>
          </p:cNvPr>
          <p:cNvCxnSpPr>
            <a:cxnSpLocks/>
          </p:cNvCxnSpPr>
          <p:nvPr/>
        </p:nvCxnSpPr>
        <p:spPr>
          <a:xfrm>
            <a:off x="8093502" y="5401842"/>
            <a:ext cx="682198" cy="259411"/>
          </a:xfrm>
          <a:prstGeom prst="bentConnector3">
            <a:avLst>
              <a:gd name="adj1" fmla="val 9933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E2D3D3CA-F250-697E-9E54-B6A849D80EC0}"/>
              </a:ext>
            </a:extLst>
          </p:cNvPr>
          <p:cNvCxnSpPr>
            <a:cxnSpLocks/>
            <a:stCxn id="452" idx="2"/>
          </p:cNvCxnSpPr>
          <p:nvPr/>
        </p:nvCxnSpPr>
        <p:spPr>
          <a:xfrm rot="16200000" flipH="1">
            <a:off x="8692699" y="4676052"/>
            <a:ext cx="327343" cy="679768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C9FC9894-FF3F-8609-6927-D9EFE1BA0E73}"/>
              </a:ext>
            </a:extLst>
          </p:cNvPr>
          <p:cNvCxnSpPr>
            <a:cxnSpLocks/>
          </p:cNvCxnSpPr>
          <p:nvPr/>
        </p:nvCxnSpPr>
        <p:spPr>
          <a:xfrm>
            <a:off x="9040561" y="5181322"/>
            <a:ext cx="671850" cy="380555"/>
          </a:xfrm>
          <a:prstGeom prst="bentConnector3">
            <a:avLst>
              <a:gd name="adj1" fmla="val 10009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95CF19-9143-7885-B1B4-FCD5B8B70927}"/>
              </a:ext>
            </a:extLst>
          </p:cNvPr>
          <p:cNvGrpSpPr/>
          <p:nvPr/>
        </p:nvGrpSpPr>
        <p:grpSpPr>
          <a:xfrm>
            <a:off x="2847678" y="3469828"/>
            <a:ext cx="1171882" cy="1354120"/>
            <a:chOff x="4474024" y="4820619"/>
            <a:chExt cx="1171882" cy="135412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5B1B0C8-CC10-0C43-5FF5-CF500E809AE3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3C8CB4E-05D3-97BB-5138-4B6989099F2E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31" name="화살표: 오른쪽 30">
                <a:extLst>
                  <a:ext uri="{FF2B5EF4-FFF2-40B4-BE49-F238E27FC236}">
                    <a16:creationId xmlns:a16="http://schemas.microsoft.com/office/drawing/2014/main" id="{AEC3437B-4883-861C-9511-34E26F59A2A9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FF3AEFCD-935D-E090-BDD7-C495E970F401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376336BA-79EA-5B45-B8EB-C310D2B3CC60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4212E873-F206-14AE-DE54-A66268D06EB3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15" name="화살표: 오른쪽 14">
                <a:extLst>
                  <a:ext uri="{FF2B5EF4-FFF2-40B4-BE49-F238E27FC236}">
                    <a16:creationId xmlns:a16="http://schemas.microsoft.com/office/drawing/2014/main" id="{4227F56A-D661-589F-3D85-AC9CD6B3784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화살표: 오른쪽 18">
                <a:extLst>
                  <a:ext uri="{FF2B5EF4-FFF2-40B4-BE49-F238E27FC236}">
                    <a16:creationId xmlns:a16="http://schemas.microsoft.com/office/drawing/2014/main" id="{F70CEB47-B0D6-800E-3EAD-C58EF8109049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화살표: 오른쪽 29">
                <a:extLst>
                  <a:ext uri="{FF2B5EF4-FFF2-40B4-BE49-F238E27FC236}">
                    <a16:creationId xmlns:a16="http://schemas.microsoft.com/office/drawing/2014/main" id="{DCAFA1AC-153D-1708-5CBF-B96A3A9B4D6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178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E0DE-D20A-1BB0-E782-0447551A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DAF25-3E37-7DA4-6BA8-E91D632F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3 : Dual Poseidon </a:t>
            </a:r>
            <a:r>
              <a:rPr lang="en-US" altLang="ko-KR" dirty="0" err="1"/>
              <a:t>Concat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2A606-4C34-2A54-5847-9F838910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4ABDD-B519-E34A-AFC3-23D82D52EB71}"/>
              </a:ext>
            </a:extLst>
          </p:cNvPr>
          <p:cNvSpPr txBox="1"/>
          <p:nvPr/>
        </p:nvSpPr>
        <p:spPr>
          <a:xfrm>
            <a:off x="728949" y="1086079"/>
            <a:ext cx="1122631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Dual Poseidon </a:t>
            </a:r>
            <a:r>
              <a:rPr lang="en-US" altLang="ko-KR" b="1" dirty="0" err="1"/>
              <a:t>Concat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두 개의 독립적인 </a:t>
            </a:r>
            <a:r>
              <a:rPr lang="en-US" altLang="ko-KR" sz="1600" dirty="0"/>
              <a:t>Poseidon-128 </a:t>
            </a:r>
            <a:r>
              <a:rPr lang="ko-KR" altLang="en-US" sz="1600" dirty="0"/>
              <a:t>모듈을 사용</a:t>
            </a:r>
            <a:r>
              <a:rPr lang="en-US" altLang="ko-KR" sz="1600" dirty="0"/>
              <a:t>(</a:t>
            </a:r>
            <a:r>
              <a:rPr lang="ko-KR" altLang="en-US" sz="1600" dirty="0"/>
              <a:t>혹은 하나의 모듈을 다른 도메인으로 </a:t>
            </a:r>
            <a:r>
              <a:rPr lang="en-US" altLang="ko-KR" sz="1600" dirty="0"/>
              <a:t>2</a:t>
            </a:r>
            <a:r>
              <a:rPr lang="ko-KR" altLang="en-US" sz="1600" dirty="0"/>
              <a:t>번 구동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각 연산 결과에서 </a:t>
            </a:r>
            <a:r>
              <a:rPr lang="en-US" altLang="ko-KR" sz="1600" dirty="0"/>
              <a:t>128-bit</a:t>
            </a:r>
            <a:r>
              <a:rPr lang="ko-KR" altLang="en-US" sz="1600" dirty="0"/>
              <a:t>씩 추출하여 </a:t>
            </a:r>
            <a:r>
              <a:rPr lang="en-US" altLang="ko-KR" sz="1600" dirty="0" err="1"/>
              <a:t>Concat</a:t>
            </a:r>
            <a:r>
              <a:rPr lang="en-US" altLang="ko-KR" sz="1600" dirty="0"/>
              <a:t> </a:t>
            </a:r>
            <a:r>
              <a:rPr lang="ko-KR" altLang="en-US" sz="1600" dirty="0"/>
              <a:t>후 최종 </a:t>
            </a:r>
            <a:r>
              <a:rPr lang="en-US" altLang="ko-KR" sz="1600" dirty="0"/>
              <a:t>256-bit output </a:t>
            </a:r>
            <a:r>
              <a:rPr lang="ko-KR" altLang="en-US" sz="1600" dirty="0"/>
              <a:t>출력 생성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두개의 독립된 해시 경로를 가지므로 </a:t>
            </a:r>
            <a:r>
              <a:rPr lang="en-US" altLang="ko-KR" sz="1600" dirty="0"/>
              <a:t>128-bit</a:t>
            </a:r>
            <a:r>
              <a:rPr lang="ko-KR" altLang="en-US" sz="1600" dirty="0"/>
              <a:t>보다 더 높은 충돌 저항성</a:t>
            </a:r>
            <a:r>
              <a:rPr lang="en-US" altLang="ko-KR" sz="1600" dirty="0"/>
              <a:t>, </a:t>
            </a:r>
            <a:r>
              <a:rPr lang="ko-KR" altLang="en-US" sz="1600" dirty="0"/>
              <a:t>기존 </a:t>
            </a:r>
            <a:r>
              <a:rPr lang="en-US" altLang="ko-KR" sz="1600" dirty="0"/>
              <a:t>Poseidon-128 </a:t>
            </a:r>
            <a:r>
              <a:rPr lang="ko-KR" altLang="en-US" sz="1600" dirty="0"/>
              <a:t>수정 없이 사용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병렬 구현 시 </a:t>
            </a:r>
            <a:r>
              <a:rPr lang="en-US" altLang="ko-KR" sz="1600" dirty="0"/>
              <a:t>Gate Count</a:t>
            </a:r>
            <a:r>
              <a:rPr lang="ko-KR" altLang="en-US" sz="1600" dirty="0"/>
              <a:t>의 증가</a:t>
            </a:r>
            <a:r>
              <a:rPr lang="en-US" altLang="ko-KR" sz="1600" dirty="0"/>
              <a:t>, Power </a:t>
            </a:r>
            <a:r>
              <a:rPr lang="ko-KR" altLang="en-US" sz="1600" dirty="0"/>
              <a:t>소모 부담</a:t>
            </a:r>
            <a:r>
              <a:rPr lang="en-US" altLang="ko-KR" sz="1600" dirty="0"/>
              <a:t>, R1CS </a:t>
            </a:r>
            <a:r>
              <a:rPr lang="ko-KR" altLang="en-US" sz="1600" dirty="0"/>
              <a:t>제약 조건이 </a:t>
            </a:r>
            <a:r>
              <a:rPr lang="en-US" altLang="ko-KR" sz="1600" dirty="0"/>
              <a:t>2</a:t>
            </a:r>
            <a:r>
              <a:rPr lang="ko-KR" altLang="en-US" sz="1600" dirty="0"/>
              <a:t>배로 증가</a:t>
            </a:r>
            <a:endParaRPr lang="en-US" altLang="ko-K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274393-DB5F-0987-99E9-0FDEF2C6CC96}"/>
                  </a:ext>
                </a:extLst>
              </p:cNvPr>
              <p:cNvSpPr txBox="1"/>
              <p:nvPr/>
            </p:nvSpPr>
            <p:spPr>
              <a:xfrm>
                <a:off x="6572274" y="3443164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274393-DB5F-0987-99E9-0FDEF2C6C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74" y="3443164"/>
                <a:ext cx="5608423" cy="338554"/>
              </a:xfrm>
              <a:prstGeom prst="rect">
                <a:avLst/>
              </a:prstGeom>
              <a:blipFill>
                <a:blip r:embed="rId3"/>
                <a:stretch>
                  <a:fillRect l="-543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C1042A4-4CD9-A8EA-6B9C-5C34B16820A6}"/>
                  </a:ext>
                </a:extLst>
              </p:cNvPr>
              <p:cNvSpPr txBox="1"/>
              <p:nvPr/>
            </p:nvSpPr>
            <p:spPr>
              <a:xfrm>
                <a:off x="6503863" y="5241032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C1042A4-4CD9-A8EA-6B9C-5C34B168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863" y="5241032"/>
                <a:ext cx="5608423" cy="338554"/>
              </a:xfrm>
              <a:prstGeom prst="rect">
                <a:avLst/>
              </a:prstGeom>
              <a:blipFill>
                <a:blip r:embed="rId4"/>
                <a:stretch>
                  <a:fillRect l="-65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52D435F1-00C1-B7FB-0131-DC2DDAAFDA59}"/>
              </a:ext>
            </a:extLst>
          </p:cNvPr>
          <p:cNvSpPr/>
          <p:nvPr/>
        </p:nvSpPr>
        <p:spPr>
          <a:xfrm>
            <a:off x="6531448" y="3459091"/>
            <a:ext cx="12990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3A854BF5-25B9-B721-13CB-051476075C9E}"/>
                  </a:ext>
                </a:extLst>
              </p:cNvPr>
              <p:cNvSpPr txBox="1"/>
              <p:nvPr/>
            </p:nvSpPr>
            <p:spPr>
              <a:xfrm>
                <a:off x="6503862" y="5967535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3A854BF5-25B9-B721-13CB-051476075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862" y="5967535"/>
                <a:ext cx="5608423" cy="338554"/>
              </a:xfrm>
              <a:prstGeom prst="rect">
                <a:avLst/>
              </a:prstGeom>
              <a:blipFill>
                <a:blip r:embed="rId5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BF97508F-EDDF-ED0C-BAC0-F51AD35A98BB}"/>
              </a:ext>
            </a:extLst>
          </p:cNvPr>
          <p:cNvCxnSpPr>
            <a:cxnSpLocks/>
            <a:stCxn id="43" idx="3"/>
            <a:endCxn id="54" idx="1"/>
          </p:cNvCxnSpPr>
          <p:nvPr/>
        </p:nvCxnSpPr>
        <p:spPr>
          <a:xfrm flipV="1">
            <a:off x="5001516" y="5410309"/>
            <a:ext cx="1502347" cy="288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F4B877-DFB0-C303-79B7-B2D2BD83CBA2}"/>
              </a:ext>
            </a:extLst>
          </p:cNvPr>
          <p:cNvGrpSpPr/>
          <p:nvPr/>
        </p:nvGrpSpPr>
        <p:grpSpPr>
          <a:xfrm>
            <a:off x="271747" y="3401424"/>
            <a:ext cx="4746041" cy="1354121"/>
            <a:chOff x="428502" y="3469828"/>
            <a:chExt cx="4746041" cy="1354121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9E0A0B2-7AFA-96B2-E221-7BE295E7D3D0}"/>
                </a:ext>
              </a:extLst>
            </p:cNvPr>
            <p:cNvGrpSpPr/>
            <p:nvPr/>
          </p:nvGrpSpPr>
          <p:grpSpPr>
            <a:xfrm>
              <a:off x="428502" y="3469828"/>
              <a:ext cx="2375725" cy="1354121"/>
              <a:chOff x="170552" y="2895376"/>
              <a:chExt cx="2375725" cy="1354121"/>
            </a:xfrm>
          </p:grpSpPr>
          <p:sp>
            <p:nvSpPr>
              <p:cNvPr id="7" name="왼쪽 중괄호 6">
                <a:extLst>
                  <a:ext uri="{FF2B5EF4-FFF2-40B4-BE49-F238E27FC236}">
                    <a16:creationId xmlns:a16="http://schemas.microsoft.com/office/drawing/2014/main" id="{8C7639BC-EDB8-171E-37A8-9491B5EF66CD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6B60CA-7A86-78B2-972D-C36E5DDDFFFE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9" name="왼쪽 중괄호 8">
                <a:extLst>
                  <a:ext uri="{FF2B5EF4-FFF2-40B4-BE49-F238E27FC236}">
                    <a16:creationId xmlns:a16="http://schemas.microsoft.com/office/drawing/2014/main" id="{12BD2FF4-7D58-D0A1-5AE5-7A3FB63AFDB6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7D940B-9E08-AC4D-8182-73AAE82D0AFC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FDA28946-0FB4-3AD0-1386-35B23AD8F6DC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6CE6E8B7-0237-D633-043A-206F2D66C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B8EBE9B4-E939-0B2C-7BCA-D9DE8521EA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F96BBFBB-1951-F2F3-F84B-18BBF7E53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08311BF-4BFE-92D0-AEAB-33BB4C8B35F7}"/>
                </a:ext>
              </a:extLst>
            </p:cNvPr>
            <p:cNvGrpSpPr/>
            <p:nvPr/>
          </p:nvGrpSpPr>
          <p:grpSpPr>
            <a:xfrm>
              <a:off x="4075029" y="3469828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D9CE8383-CCBE-AA64-52D3-12D6B13CD4D3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CE227F5E-FD51-0E37-8A26-F1255E1F5EE8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370599AF-0C84-58D5-751E-103306EE860A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BD94B20-7F4B-2BA3-B067-15E37DB6BE68}"/>
                </a:ext>
              </a:extLst>
            </p:cNvPr>
            <p:cNvGrpSpPr/>
            <p:nvPr/>
          </p:nvGrpSpPr>
          <p:grpSpPr>
            <a:xfrm>
              <a:off x="2847678" y="3469828"/>
              <a:ext cx="1171882" cy="1354120"/>
              <a:chOff x="4474024" y="4820619"/>
              <a:chExt cx="1171882" cy="1354120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58A0C22B-3A2B-873C-A9D7-44F008305078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E90C4F43-8CD2-3C1C-0234-D8DA06B73930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1" name="화살표: 오른쪽 30">
                  <a:extLst>
                    <a:ext uri="{FF2B5EF4-FFF2-40B4-BE49-F238E27FC236}">
                      <a16:creationId xmlns:a16="http://schemas.microsoft.com/office/drawing/2014/main" id="{3D906DD0-42E5-F702-B3BA-CDFFECEC4603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화살표: 오른쪽 31">
                  <a:extLst>
                    <a:ext uri="{FF2B5EF4-FFF2-40B4-BE49-F238E27FC236}">
                      <a16:creationId xmlns:a16="http://schemas.microsoft.com/office/drawing/2014/main" id="{4A5BA5A6-BE50-4E4E-CDF2-8009A94C11F0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화살표: 오른쪽 32">
                  <a:extLst>
                    <a:ext uri="{FF2B5EF4-FFF2-40B4-BE49-F238E27FC236}">
                      <a16:creationId xmlns:a16="http://schemas.microsoft.com/office/drawing/2014/main" id="{8C845851-2148-111C-95BB-44223F79AFB4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2E18E5AE-3B1C-1E93-E435-0EB157014F82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15" name="화살표: 오른쪽 14">
                  <a:extLst>
                    <a:ext uri="{FF2B5EF4-FFF2-40B4-BE49-F238E27FC236}">
                      <a16:creationId xmlns:a16="http://schemas.microsoft.com/office/drawing/2014/main" id="{7614904E-EACB-13BC-41DD-95A4A932BEEE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" name="화살표: 오른쪽 18">
                  <a:extLst>
                    <a:ext uri="{FF2B5EF4-FFF2-40B4-BE49-F238E27FC236}">
                      <a16:creationId xmlns:a16="http://schemas.microsoft.com/office/drawing/2014/main" id="{95D4801F-6C4A-AEEF-F629-E1DE4FC90299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화살표: 오른쪽 29">
                  <a:extLst>
                    <a:ext uri="{FF2B5EF4-FFF2-40B4-BE49-F238E27FC236}">
                      <a16:creationId xmlns:a16="http://schemas.microsoft.com/office/drawing/2014/main" id="{1A64637A-46D1-FA9E-965E-D9195A04F94D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A8FFEE-5998-2754-7F77-01617E45071E}"/>
              </a:ext>
            </a:extLst>
          </p:cNvPr>
          <p:cNvGrpSpPr/>
          <p:nvPr/>
        </p:nvGrpSpPr>
        <p:grpSpPr>
          <a:xfrm>
            <a:off x="263611" y="5203028"/>
            <a:ext cx="4746041" cy="1354121"/>
            <a:chOff x="428502" y="3469828"/>
            <a:chExt cx="4746041" cy="135412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EACA132-73B5-FE5C-64BE-0D18909B351B}"/>
                </a:ext>
              </a:extLst>
            </p:cNvPr>
            <p:cNvGrpSpPr/>
            <p:nvPr/>
          </p:nvGrpSpPr>
          <p:grpSpPr>
            <a:xfrm>
              <a:off x="428502" y="3469828"/>
              <a:ext cx="2375725" cy="1354121"/>
              <a:chOff x="170552" y="2895376"/>
              <a:chExt cx="2375725" cy="1354121"/>
            </a:xfrm>
          </p:grpSpPr>
          <p:sp>
            <p:nvSpPr>
              <p:cNvPr id="47" name="왼쪽 중괄호 46">
                <a:extLst>
                  <a:ext uri="{FF2B5EF4-FFF2-40B4-BE49-F238E27FC236}">
                    <a16:creationId xmlns:a16="http://schemas.microsoft.com/office/drawing/2014/main" id="{68736078-CA09-9F6F-0D34-33C17E8F6DB0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2EAB42-08C7-67FC-5F65-943E34C59882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49" name="왼쪽 중괄호 48">
                <a:extLst>
                  <a:ext uri="{FF2B5EF4-FFF2-40B4-BE49-F238E27FC236}">
                    <a16:creationId xmlns:a16="http://schemas.microsoft.com/office/drawing/2014/main" id="{F26157AD-734D-E256-9E05-845182F78AFF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E633314-B63C-40DB-6C8D-CD5BF5EB4A9A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8CBCEA78-0B04-923D-6146-A29AE10BFCE6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직사각형 51">
                      <a:extLst>
                        <a:ext uri="{FF2B5EF4-FFF2-40B4-BE49-F238E27FC236}">
                          <a16:creationId xmlns:a16="http://schemas.microsoft.com/office/drawing/2014/main" id="{C2B9FCFF-412C-D377-D5A9-449BBDE0D7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E7BD11C2-4F9A-63F1-FFA7-9DEA61EB3C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6D36C269-FE88-643D-8733-773EDEE7AB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84A14EB-F246-B009-5A8D-7C89CB1B81C6}"/>
                </a:ext>
              </a:extLst>
            </p:cNvPr>
            <p:cNvGrpSpPr/>
            <p:nvPr/>
          </p:nvGrpSpPr>
          <p:grpSpPr>
            <a:xfrm>
              <a:off x="4075029" y="3469828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직사각형 42">
                    <a:extLst>
                      <a:ext uri="{FF2B5EF4-FFF2-40B4-BE49-F238E27FC236}">
                        <a16:creationId xmlns:a16="http://schemas.microsoft.com/office/drawing/2014/main" id="{D7B792E9-63B2-1F72-3893-BD5B99BAABC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직사각형 44">
                    <a:extLst>
                      <a:ext uri="{FF2B5EF4-FFF2-40B4-BE49-F238E27FC236}">
                        <a16:creationId xmlns:a16="http://schemas.microsoft.com/office/drawing/2014/main" id="{E1094B47-4492-C808-2F11-024EAF7D0C59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직사각형 45">
                    <a:extLst>
                      <a:ext uri="{FF2B5EF4-FFF2-40B4-BE49-F238E27FC236}">
                        <a16:creationId xmlns:a16="http://schemas.microsoft.com/office/drawing/2014/main" id="{5262996C-F38A-34FB-0E41-0E981F6FE143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76674505-19EC-D762-419C-4C4EA695FB8C}"/>
                </a:ext>
              </a:extLst>
            </p:cNvPr>
            <p:cNvGrpSpPr/>
            <p:nvPr/>
          </p:nvGrpSpPr>
          <p:grpSpPr>
            <a:xfrm>
              <a:off x="2847678" y="3469828"/>
              <a:ext cx="1171882" cy="1354120"/>
              <a:chOff x="4474024" y="4820619"/>
              <a:chExt cx="1171882" cy="1354120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218D7931-383D-F912-1848-8D651DA5CF63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9D20B273-5109-536B-1CD8-259A3EE1BE65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9" name="화살표: 오른쪽 38">
                  <a:extLst>
                    <a:ext uri="{FF2B5EF4-FFF2-40B4-BE49-F238E27FC236}">
                      <a16:creationId xmlns:a16="http://schemas.microsoft.com/office/drawing/2014/main" id="{1E988589-E1F7-DE15-D82D-F9EC58221BBE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화살표: 오른쪽 40">
                  <a:extLst>
                    <a:ext uri="{FF2B5EF4-FFF2-40B4-BE49-F238E27FC236}">
                      <a16:creationId xmlns:a16="http://schemas.microsoft.com/office/drawing/2014/main" id="{AFACEA1C-27CC-0E41-34C1-5A7A31FAF7FB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화살표: 오른쪽 41">
                  <a:extLst>
                    <a:ext uri="{FF2B5EF4-FFF2-40B4-BE49-F238E27FC236}">
                      <a16:creationId xmlns:a16="http://schemas.microsoft.com/office/drawing/2014/main" id="{BE0262D2-B5B6-F08B-6C81-94F913FF8CBB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0CE7CB04-EF23-D4A0-7AE1-BD3B1D0776E7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4" name="화살표: 오른쪽 33">
                  <a:extLst>
                    <a:ext uri="{FF2B5EF4-FFF2-40B4-BE49-F238E27FC236}">
                      <a16:creationId xmlns:a16="http://schemas.microsoft.com/office/drawing/2014/main" id="{5D477A5F-6A29-C941-D4E0-4388F37CD2D3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화살표: 오른쪽 35">
                  <a:extLst>
                    <a:ext uri="{FF2B5EF4-FFF2-40B4-BE49-F238E27FC236}">
                      <a16:creationId xmlns:a16="http://schemas.microsoft.com/office/drawing/2014/main" id="{49A26945-A2DC-A202-F9A9-8B9A852F2C07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화살표: 오른쪽 36">
                  <a:extLst>
                    <a:ext uri="{FF2B5EF4-FFF2-40B4-BE49-F238E27FC236}">
                      <a16:creationId xmlns:a16="http://schemas.microsoft.com/office/drawing/2014/main" id="{DEE480F5-FDD5-255F-9E5B-0FB8014B9D3A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93E389D-2814-5945-E2B0-53544304226E}"/>
              </a:ext>
            </a:extLst>
          </p:cNvPr>
          <p:cNvSpPr txBox="1"/>
          <p:nvPr/>
        </p:nvSpPr>
        <p:spPr>
          <a:xfrm>
            <a:off x="1556094" y="2913883"/>
            <a:ext cx="1091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89BE9561-5802-F988-E272-F4F0F0FAB91E}"/>
              </a:ext>
            </a:extLst>
          </p:cNvPr>
          <p:cNvCxnSpPr>
            <a:cxnSpLocks/>
            <a:stCxn id="69" idx="0"/>
            <a:endCxn id="57" idx="2"/>
          </p:cNvCxnSpPr>
          <p:nvPr/>
        </p:nvCxnSpPr>
        <p:spPr>
          <a:xfrm rot="5400000" flipH="1" flipV="1">
            <a:off x="1992444" y="3292085"/>
            <a:ext cx="210542" cy="813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97D082F9-5887-148B-5D83-4F9188EDB461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5009652" y="3611593"/>
            <a:ext cx="1562622" cy="84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연결선: 꺾임 452">
            <a:extLst>
              <a:ext uri="{FF2B5EF4-FFF2-40B4-BE49-F238E27FC236}">
                <a16:creationId xmlns:a16="http://schemas.microsoft.com/office/drawing/2014/main" id="{F9444812-C050-B5D5-CF55-B3AB93395CAE}"/>
              </a:ext>
            </a:extLst>
          </p:cNvPr>
          <p:cNvCxnSpPr>
            <a:cxnSpLocks/>
            <a:stCxn id="450" idx="2"/>
            <a:endCxn id="52" idx="0"/>
          </p:cNvCxnSpPr>
          <p:nvPr/>
        </p:nvCxnSpPr>
        <p:spPr>
          <a:xfrm rot="5400000">
            <a:off x="3930562" y="1952595"/>
            <a:ext cx="1405383" cy="5095483"/>
          </a:xfrm>
          <a:prstGeom prst="bentConnector3">
            <a:avLst>
              <a:gd name="adj1" fmla="val 8321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08A55EC2-216B-25D7-8687-8185E8AA06D4}"/>
              </a:ext>
            </a:extLst>
          </p:cNvPr>
          <p:cNvSpPr txBox="1"/>
          <p:nvPr/>
        </p:nvSpPr>
        <p:spPr>
          <a:xfrm>
            <a:off x="5053043" y="4692788"/>
            <a:ext cx="1091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</a:p>
        </p:txBody>
      </p:sp>
      <p:cxnSp>
        <p:nvCxnSpPr>
          <p:cNvPr id="465" name="직선 연결선 464">
            <a:extLst>
              <a:ext uri="{FF2B5EF4-FFF2-40B4-BE49-F238E27FC236}">
                <a16:creationId xmlns:a16="http://schemas.microsoft.com/office/drawing/2014/main" id="{382033F7-9175-4C70-8617-55A867559BDB}"/>
              </a:ext>
            </a:extLst>
          </p:cNvPr>
          <p:cNvCxnSpPr/>
          <p:nvPr/>
        </p:nvCxnSpPr>
        <p:spPr>
          <a:xfrm>
            <a:off x="7943850" y="3813854"/>
            <a:ext cx="116205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직선 연결선 465">
            <a:extLst>
              <a:ext uri="{FF2B5EF4-FFF2-40B4-BE49-F238E27FC236}">
                <a16:creationId xmlns:a16="http://schemas.microsoft.com/office/drawing/2014/main" id="{2BEDAC05-EBD0-468B-812B-23AF305A2C23}"/>
              </a:ext>
            </a:extLst>
          </p:cNvPr>
          <p:cNvCxnSpPr/>
          <p:nvPr/>
        </p:nvCxnSpPr>
        <p:spPr>
          <a:xfrm>
            <a:off x="7830540" y="5623365"/>
            <a:ext cx="116205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연결선: 꺾임 468">
            <a:extLst>
              <a:ext uri="{FF2B5EF4-FFF2-40B4-BE49-F238E27FC236}">
                <a16:creationId xmlns:a16="http://schemas.microsoft.com/office/drawing/2014/main" id="{151B2484-C41B-B458-0839-CDD992B2561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40873" y="4805762"/>
            <a:ext cx="2244228" cy="276225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연결선: 꺾임 471">
            <a:extLst>
              <a:ext uri="{FF2B5EF4-FFF2-40B4-BE49-F238E27FC236}">
                <a16:creationId xmlns:a16="http://schemas.microsoft.com/office/drawing/2014/main" id="{27FE178A-791D-480C-BF08-76CB08501ED3}"/>
              </a:ext>
            </a:extLst>
          </p:cNvPr>
          <p:cNvCxnSpPr>
            <a:cxnSpLocks/>
          </p:cNvCxnSpPr>
          <p:nvPr/>
        </p:nvCxnSpPr>
        <p:spPr>
          <a:xfrm>
            <a:off x="8457393" y="5634509"/>
            <a:ext cx="1277157" cy="376806"/>
          </a:xfrm>
          <a:prstGeom prst="bentConnector3">
            <a:avLst>
              <a:gd name="adj1" fmla="val 9996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36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1C0A-68C0-EC7D-5C0E-D75B3764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12960-03EC-93A8-CD80-DD7E6436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FA410E-2C22-2468-C69C-86DD62D4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D162DF9B-B397-4D9B-7BD8-3B0D091955E7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FB3FB-D0CB-87E5-B243-77217228F474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1290E5A1-141B-791F-18AB-F97EB3AA2EBE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907A7-2884-D8D6-FFAE-0CCD27D4FC73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02D32A6-B041-12AB-B399-B16F259CC900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D9C1D495-970A-C99A-6F80-156F9C562B03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60B67D5-4D67-1F85-B98A-6D3F67FE5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F9E8A835-3606-CB05-6F8B-893F0E5C334F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08D16C3-A0F6-9223-97D4-F1247A3661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8518EEDA-79F1-9FE7-2666-A9590FC52C7D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884FEA3-EB58-FE40-3E57-66382F3891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EDF5B325-0D46-2F9F-8B9E-5DEFD5E7570F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125F1FF5-572F-35F1-E7EC-87524653BC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E03252B-5682-41D9-63F6-762D2D965EC7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397D126-6CC1-A387-5ABD-6BDEF5FC3A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05CD9792-27B8-B22B-BF48-0D605C7A8805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E80A32AE-70CB-61F6-57F7-04C20074D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A1A250C7-8AB8-C9AA-8563-DAD43447155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CE622BAB-660C-70F8-60E9-9AFA5F619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197E751D-F58E-7E79-A7F4-95F46EA5727A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08823A3C-F7E7-180C-144E-89C71ADBCE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A07FD77-A8AE-5120-1619-A308F4764503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9B3FCC73-9C38-D431-2325-E8B6FF167A78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22813079-BADA-D545-3564-8C9F7418E3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1CA3D2F7-CF4E-9C88-02FF-EDDF14D9C8E4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5E989805-9E51-E7C3-F88E-D8F34CB39A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DC955A69-714B-CE23-12F9-3410485A4B67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3D26883-CBE8-2BCC-593E-35312F47C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F9BCE30B-3A01-0C6F-C4B9-BAA12086F243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55C3DF0D-FFE0-A9DA-8069-705181BE5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6240F2D3-7E14-04F8-1A08-B3A6BD35226C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884A3B1-3ACE-629D-5D59-7B75B4E7E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D51A517A-13F0-A3D0-2072-F9B8FCC39FF1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A4CFBE4-21F1-5E6B-07EC-3E2C91F46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174EE89A-84E4-3104-161B-698CC6EE0D99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6730222-6501-2ED6-5DD3-809500DF6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14BFF09-A169-28BE-17F3-FFAF92F43C9F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CEAEEEB-E2CF-A9BA-1A1E-B846BADA9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1ED80560-7CB1-2C34-4A33-51091F437023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85CE0E8-46AF-CE14-2BDA-B3250BCBC0F5}"/>
              </a:ext>
            </a:extLst>
          </p:cNvPr>
          <p:cNvGrpSpPr/>
          <p:nvPr/>
        </p:nvGrpSpPr>
        <p:grpSpPr>
          <a:xfrm>
            <a:off x="2568859" y="4924678"/>
            <a:ext cx="1423401" cy="312600"/>
            <a:chOff x="2568859" y="4924678"/>
            <a:chExt cx="1423401" cy="312600"/>
          </a:xfrm>
        </p:grpSpPr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A4FBFAD6-2D82-48CC-5272-E1FC4F7C85F4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7F13D02A-3BA5-497B-74B1-7D8ED521AFB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F347289-3D63-2FC0-7BB9-09CE970945E7}"/>
              </a:ext>
            </a:extLst>
          </p:cNvPr>
          <p:cNvGrpSpPr/>
          <p:nvPr/>
        </p:nvGrpSpPr>
        <p:grpSpPr>
          <a:xfrm>
            <a:off x="2568859" y="1657651"/>
            <a:ext cx="1423401" cy="312600"/>
            <a:chOff x="2568859" y="4924678"/>
            <a:chExt cx="1423401" cy="312600"/>
          </a:xfrm>
        </p:grpSpPr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1CD99BBD-0768-69AB-0CD8-6030DB8618B6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633FF34B-1F44-7E5B-1106-95B0851E383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2C1AA42-35DB-5B3C-7497-D8CA92AE1C79}"/>
              </a:ext>
            </a:extLst>
          </p:cNvPr>
          <p:cNvGrpSpPr/>
          <p:nvPr/>
        </p:nvGrpSpPr>
        <p:grpSpPr>
          <a:xfrm>
            <a:off x="2568859" y="4457959"/>
            <a:ext cx="1423401" cy="312600"/>
            <a:chOff x="2568859" y="4924678"/>
            <a:chExt cx="1423401" cy="312600"/>
          </a:xfrm>
        </p:grpSpPr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CED36A7E-28C4-6C88-C35E-A06D53F6293D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2DC0470D-1DF5-5AA4-8F99-B5262AE63846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B672A4F-288D-7454-94F6-E0135044E072}"/>
              </a:ext>
            </a:extLst>
          </p:cNvPr>
          <p:cNvGrpSpPr/>
          <p:nvPr/>
        </p:nvGrpSpPr>
        <p:grpSpPr>
          <a:xfrm>
            <a:off x="2568859" y="3991241"/>
            <a:ext cx="1423401" cy="312600"/>
            <a:chOff x="2568859" y="4924678"/>
            <a:chExt cx="1423401" cy="312600"/>
          </a:xfrm>
        </p:grpSpPr>
        <p:sp>
          <p:nvSpPr>
            <p:cNvPr id="38" name="화살표: 오른쪽 37">
              <a:extLst>
                <a:ext uri="{FF2B5EF4-FFF2-40B4-BE49-F238E27FC236}">
                  <a16:creationId xmlns:a16="http://schemas.microsoft.com/office/drawing/2014/main" id="{BD056E2E-C81F-5FEA-FB96-858C024576A1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267AF655-25DB-F2F0-A068-A8A180B09DD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C3D9B4F-19F6-D2F6-E924-515A3DA83DEB}"/>
              </a:ext>
            </a:extLst>
          </p:cNvPr>
          <p:cNvGrpSpPr/>
          <p:nvPr/>
        </p:nvGrpSpPr>
        <p:grpSpPr>
          <a:xfrm>
            <a:off x="2568859" y="3524523"/>
            <a:ext cx="1423401" cy="312600"/>
            <a:chOff x="2568859" y="4924678"/>
            <a:chExt cx="1423401" cy="312600"/>
          </a:xfrm>
        </p:grpSpPr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6E711F72-20B3-576D-59CD-DC314A2FA898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702C0CD3-0BB1-779F-2B10-8AD789F19617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52A10FF-871E-505B-A82F-F8EB31FB0BBC}"/>
              </a:ext>
            </a:extLst>
          </p:cNvPr>
          <p:cNvGrpSpPr/>
          <p:nvPr/>
        </p:nvGrpSpPr>
        <p:grpSpPr>
          <a:xfrm>
            <a:off x="2568859" y="3057805"/>
            <a:ext cx="1423401" cy="312600"/>
            <a:chOff x="2568859" y="4924678"/>
            <a:chExt cx="1423401" cy="312600"/>
          </a:xfrm>
        </p:grpSpPr>
        <p:sp>
          <p:nvSpPr>
            <p:cNvPr id="46" name="화살표: 오른쪽 45">
              <a:extLst>
                <a:ext uri="{FF2B5EF4-FFF2-40B4-BE49-F238E27FC236}">
                  <a16:creationId xmlns:a16="http://schemas.microsoft.com/office/drawing/2014/main" id="{ABF36B9D-43B3-77FC-E170-CCDDAFB56003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화살표: 오른쪽 46">
              <a:extLst>
                <a:ext uri="{FF2B5EF4-FFF2-40B4-BE49-F238E27FC236}">
                  <a16:creationId xmlns:a16="http://schemas.microsoft.com/office/drawing/2014/main" id="{8379E6FF-C098-762E-8369-43043C9C1E9D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60BD98-D01B-54A6-E8F0-48845CDFA5C6}"/>
              </a:ext>
            </a:extLst>
          </p:cNvPr>
          <p:cNvGrpSpPr/>
          <p:nvPr/>
        </p:nvGrpSpPr>
        <p:grpSpPr>
          <a:xfrm>
            <a:off x="2568859" y="2591087"/>
            <a:ext cx="1423401" cy="312600"/>
            <a:chOff x="2568859" y="4924678"/>
            <a:chExt cx="1423401" cy="312600"/>
          </a:xfrm>
        </p:grpSpPr>
        <p:sp>
          <p:nvSpPr>
            <p:cNvPr id="49" name="화살표: 오른쪽 48">
              <a:extLst>
                <a:ext uri="{FF2B5EF4-FFF2-40B4-BE49-F238E27FC236}">
                  <a16:creationId xmlns:a16="http://schemas.microsoft.com/office/drawing/2014/main" id="{CC36D802-5EDA-435A-A9EB-80F32796E5EC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화살표: 오른쪽 49">
              <a:extLst>
                <a:ext uri="{FF2B5EF4-FFF2-40B4-BE49-F238E27FC236}">
                  <a16:creationId xmlns:a16="http://schemas.microsoft.com/office/drawing/2014/main" id="{F39E0257-2407-5BE1-92D9-66F12FC59437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3339D79-F643-536B-8F89-F0504A6AA7F4}"/>
              </a:ext>
            </a:extLst>
          </p:cNvPr>
          <p:cNvGrpSpPr/>
          <p:nvPr/>
        </p:nvGrpSpPr>
        <p:grpSpPr>
          <a:xfrm>
            <a:off x="2568859" y="2124369"/>
            <a:ext cx="1423401" cy="312600"/>
            <a:chOff x="2568859" y="4924678"/>
            <a:chExt cx="1423401" cy="312600"/>
          </a:xfrm>
        </p:grpSpPr>
        <p:sp>
          <p:nvSpPr>
            <p:cNvPr id="52" name="화살표: 오른쪽 51">
              <a:extLst>
                <a:ext uri="{FF2B5EF4-FFF2-40B4-BE49-F238E27FC236}">
                  <a16:creationId xmlns:a16="http://schemas.microsoft.com/office/drawing/2014/main" id="{D9D5FD1E-EC7A-1C3D-84DD-A35C1B07F910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화살표: 오른쪽 52">
              <a:extLst>
                <a:ext uri="{FF2B5EF4-FFF2-40B4-BE49-F238E27FC236}">
                  <a16:creationId xmlns:a16="http://schemas.microsoft.com/office/drawing/2014/main" id="{85052838-CCA4-00E2-69CD-156DA50C699C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A14E3E0-B39F-DCCD-0B78-343ED7EE5C0E}"/>
              </a:ext>
            </a:extLst>
          </p:cNvPr>
          <p:cNvSpPr/>
          <p:nvPr/>
        </p:nvSpPr>
        <p:spPr>
          <a:xfrm>
            <a:off x="3125819" y="1652254"/>
            <a:ext cx="297999" cy="363923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B8465CB-5AC6-38F4-8A8B-A0CF87A3C9E9}"/>
                  </a:ext>
                </a:extLst>
              </p:cNvPr>
              <p:cNvSpPr txBox="1"/>
              <p:nvPr/>
            </p:nvSpPr>
            <p:spPr>
              <a:xfrm>
                <a:off x="6284968" y="1654859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B8465CB-5AC6-38F4-8A8B-A0CF87A3C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1654859"/>
                <a:ext cx="5182664" cy="338554"/>
              </a:xfrm>
              <a:prstGeom prst="rect">
                <a:avLst/>
              </a:prstGeom>
              <a:blipFill>
                <a:blip r:embed="rId19"/>
                <a:stretch>
                  <a:fillRect l="-706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3DEA649A-F3FB-F71F-EE1C-25629E31E0FE}"/>
              </a:ext>
            </a:extLst>
          </p:cNvPr>
          <p:cNvCxnSpPr>
            <a:cxnSpLocks/>
            <a:stCxn id="83" idx="3"/>
            <a:endCxn id="56" idx="1"/>
          </p:cNvCxnSpPr>
          <p:nvPr/>
        </p:nvCxnSpPr>
        <p:spPr>
          <a:xfrm flipV="1">
            <a:off x="5138825" y="1824136"/>
            <a:ext cx="1146143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1FF015-9E2F-E017-989E-C829D3F1C197}"/>
                  </a:ext>
                </a:extLst>
              </p:cNvPr>
              <p:cNvSpPr txBox="1"/>
              <p:nvPr/>
            </p:nvSpPr>
            <p:spPr>
              <a:xfrm>
                <a:off x="6284968" y="2121178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65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66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1FF015-9E2F-E017-989E-C829D3F1C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2121178"/>
                <a:ext cx="5182664" cy="338554"/>
              </a:xfrm>
              <a:prstGeom prst="rect">
                <a:avLst/>
              </a:prstGeom>
              <a:blipFill>
                <a:blip r:embed="rId20"/>
                <a:stretch>
                  <a:fillRect l="-706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AADE45A5-5919-4DC8-8B8A-7060C8E09CEC}"/>
              </a:ext>
            </a:extLst>
          </p:cNvPr>
          <p:cNvCxnSpPr>
            <a:cxnSpLocks/>
            <a:stCxn id="84" idx="3"/>
            <a:endCxn id="62" idx="1"/>
          </p:cNvCxnSpPr>
          <p:nvPr/>
        </p:nvCxnSpPr>
        <p:spPr>
          <a:xfrm>
            <a:off x="5140181" y="2289449"/>
            <a:ext cx="1144787" cy="10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52879AC6-1749-D49E-223D-20DD24DD96E0}"/>
                  </a:ext>
                </a:extLst>
              </p:cNvPr>
              <p:cNvSpPr txBox="1"/>
              <p:nvPr/>
            </p:nvSpPr>
            <p:spPr>
              <a:xfrm>
                <a:off x="6291748" y="2584705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130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52879AC6-1749-D49E-223D-20DD24DD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748" y="2584705"/>
                <a:ext cx="5182664" cy="338554"/>
              </a:xfrm>
              <a:prstGeom prst="rect">
                <a:avLst/>
              </a:prstGeom>
              <a:blipFill>
                <a:blip r:embed="rId21"/>
                <a:stretch>
                  <a:fillRect l="-588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9" name="연결선: 꺾임 448">
            <a:extLst>
              <a:ext uri="{FF2B5EF4-FFF2-40B4-BE49-F238E27FC236}">
                <a16:creationId xmlns:a16="http://schemas.microsoft.com/office/drawing/2014/main" id="{E4D6F5EB-8D71-66AE-40C9-B93AD6E65A6D}"/>
              </a:ext>
            </a:extLst>
          </p:cNvPr>
          <p:cNvCxnSpPr>
            <a:cxnSpLocks/>
            <a:stCxn id="85" idx="3"/>
            <a:endCxn id="448" idx="1"/>
          </p:cNvCxnSpPr>
          <p:nvPr/>
        </p:nvCxnSpPr>
        <p:spPr>
          <a:xfrm flipV="1">
            <a:off x="5141537" y="2753982"/>
            <a:ext cx="1150211" cy="77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D8C79844-47CB-1FAF-53A9-9A0636449D7F}"/>
                  </a:ext>
                </a:extLst>
              </p:cNvPr>
              <p:cNvSpPr txBox="1"/>
              <p:nvPr/>
            </p:nvSpPr>
            <p:spPr>
              <a:xfrm>
                <a:off x="6284968" y="3054812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194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D8C79844-47CB-1FAF-53A9-9A0636449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3054812"/>
                <a:ext cx="5182664" cy="338554"/>
              </a:xfrm>
              <a:prstGeom prst="rect">
                <a:avLst/>
              </a:prstGeom>
              <a:blipFill>
                <a:blip r:embed="rId22"/>
                <a:stretch>
                  <a:fillRect l="-706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1" name="연결선: 꺾임 450">
            <a:extLst>
              <a:ext uri="{FF2B5EF4-FFF2-40B4-BE49-F238E27FC236}">
                <a16:creationId xmlns:a16="http://schemas.microsoft.com/office/drawing/2014/main" id="{FA728F1C-7D38-F41C-3DBB-E1C40776B198}"/>
              </a:ext>
            </a:extLst>
          </p:cNvPr>
          <p:cNvCxnSpPr>
            <a:cxnSpLocks/>
            <a:stCxn id="86" idx="3"/>
            <a:endCxn id="450" idx="1"/>
          </p:cNvCxnSpPr>
          <p:nvPr/>
        </p:nvCxnSpPr>
        <p:spPr>
          <a:xfrm>
            <a:off x="5142893" y="3220073"/>
            <a:ext cx="1142075" cy="401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1CC9D227-9FAA-4545-BB0F-7932BFE53835}"/>
                  </a:ext>
                </a:extLst>
              </p:cNvPr>
              <p:cNvSpPr txBox="1"/>
              <p:nvPr/>
            </p:nvSpPr>
            <p:spPr>
              <a:xfrm>
                <a:off x="6181270" y="3631018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1CC9D227-9FAA-4545-BB0F-7932BFE53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270" y="3631018"/>
                <a:ext cx="5608423" cy="338554"/>
              </a:xfrm>
              <a:prstGeom prst="rect">
                <a:avLst/>
              </a:prstGeom>
              <a:blipFill>
                <a:blip r:embed="rId23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9" name="직선 연결선 458">
            <a:extLst>
              <a:ext uri="{FF2B5EF4-FFF2-40B4-BE49-F238E27FC236}">
                <a16:creationId xmlns:a16="http://schemas.microsoft.com/office/drawing/2014/main" id="{A6A0E6CE-513B-C852-00A8-DB2E0C8230E6}"/>
              </a:ext>
            </a:extLst>
          </p:cNvPr>
          <p:cNvCxnSpPr>
            <a:cxnSpLocks/>
          </p:cNvCxnSpPr>
          <p:nvPr/>
        </p:nvCxnSpPr>
        <p:spPr>
          <a:xfrm>
            <a:off x="6284968" y="3563814"/>
            <a:ext cx="55047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61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16</a:t>
            </a:fld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556EC7-7124-098A-B1B1-2DEAC078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86" y="3740150"/>
            <a:ext cx="3487928" cy="2222798"/>
          </a:xfrm>
          <a:prstGeom prst="rect">
            <a:avLst/>
          </a:prstGeom>
        </p:spPr>
      </p:pic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180B7-F32E-73FE-B296-487CF1CE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759" y="3429000"/>
            <a:ext cx="3050028" cy="2741805"/>
          </a:xfrm>
          <a:prstGeom prst="rect">
            <a:avLst/>
          </a:prstGeom>
        </p:spPr>
      </p:pic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5D00B-0272-DD48-33C6-B069734AD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453" y="3740150"/>
            <a:ext cx="1616559" cy="2308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830979-DB19-359F-73D2-CA61B7715E8C}"/>
              </a:ext>
            </a:extLst>
          </p:cNvPr>
          <p:cNvSpPr txBox="1"/>
          <p:nvPr/>
        </p:nvSpPr>
        <p:spPr>
          <a:xfrm>
            <a:off x="1309453" y="614362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C710A-9B19-6058-B8C7-865BAD017813}"/>
              </a:ext>
            </a:extLst>
          </p:cNvPr>
          <p:cNvSpPr txBox="1"/>
          <p:nvPr/>
        </p:nvSpPr>
        <p:spPr>
          <a:xfrm>
            <a:off x="4567003" y="6110287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3D24A-2401-9E63-7EA8-13A4DD800DFD}"/>
              </a:ext>
            </a:extLst>
          </p:cNvPr>
          <p:cNvSpPr txBox="1"/>
          <p:nvPr/>
        </p:nvSpPr>
        <p:spPr>
          <a:xfrm>
            <a:off x="8719903" y="627687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48DFB-FAD8-5ADE-4AA0-66D7148B6810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Poseidon: A New Hash Function for Zero-Knowledge Proof Systems (USENIX Security 2021)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사용한 측정 지표 </a:t>
            </a:r>
            <a:r>
              <a:rPr lang="en-US" altLang="ko-KR" sz="1400" dirty="0"/>
              <a:t>: R1CS Constraints, Permutation 1</a:t>
            </a:r>
            <a:r>
              <a:rPr lang="ko-KR" altLang="en-US" sz="1400" dirty="0"/>
              <a:t>번 실행 시간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R1CS </a:t>
            </a:r>
            <a:r>
              <a:rPr lang="ko-KR" altLang="en-US" sz="1400" dirty="0"/>
              <a:t>측정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(R1CS </a:t>
            </a:r>
            <a:r>
              <a:rPr lang="ko-KR" altLang="en-US" sz="1400" dirty="0"/>
              <a:t>기반</a:t>
            </a:r>
            <a:r>
              <a:rPr lang="en-US" altLang="ko-KR" sz="1400" dirty="0"/>
              <a:t>) ZK</a:t>
            </a:r>
            <a:r>
              <a:rPr lang="ko-KR" altLang="en-US" sz="1400" dirty="0"/>
              <a:t> 프레임워크 사용하여 해시함수 코딩 후 분석 도구를 통해 추출 가능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Permutation 1</a:t>
            </a:r>
            <a:r>
              <a:rPr lang="ko-KR" altLang="en-US" sz="1400" dirty="0"/>
              <a:t>번 실행 시간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: Rust </a:t>
            </a:r>
            <a:r>
              <a:rPr lang="ko-KR" altLang="en-US" sz="1400" dirty="0"/>
              <a:t>기반의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 상에서 해시 함수 구현 후 시간 측정 라이브러리 사용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</a:t>
            </a:r>
            <a:r>
              <a:rPr lang="en-US" altLang="ko-KR" sz="1400" dirty="0"/>
              <a:t>: Rust </a:t>
            </a:r>
            <a:r>
              <a:rPr lang="ko-KR" altLang="en-US" sz="1400" dirty="0"/>
              <a:t>기반의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 상에서 해시 함수 구현 후 시간 측정 라이브러리 사용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03066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06F2-69DA-3EF4-EA51-E35423FA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43067-AC14-1FBD-4DFE-6F2F5D1D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산술 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BE4E7-CE3C-3864-00AF-EBE490C6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/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산술회로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-SNAKR</a:t>
                </a:r>
                <a:r>
                  <a:rPr lang="ko-KR" altLang="en-US" sz="1600" dirty="0"/>
                  <a:t> 등을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사용할 때에는 프로그램을 산술 회로로 변환하는 과정이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방정식에서 얻은 입력과 출력을 채우면 등식이 정확하게 </a:t>
                </a:r>
                <a:r>
                  <a:rPr lang="ko-KR" altLang="en-US" sz="1600" dirty="0" err="1"/>
                  <a:t>성립해야함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성립하지 않을 경우 유효한 실행이 아닌 것으로 간주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산술 회로는 </a:t>
                </a:r>
                <a:r>
                  <a:rPr lang="en-US" altLang="ko-KR" sz="1600" dirty="0"/>
                  <a:t>R1CS(rank-1 constraint system)</a:t>
                </a:r>
                <a:r>
                  <a:rPr lang="ko-KR" altLang="en-US" sz="1600" dirty="0"/>
                  <a:t>로 구성됨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덧셈과 상수 곱셈은 비용이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에 가깝지만 변수 간의 곱셈은 비용이 비쌈</a:t>
                </a:r>
                <a:r>
                  <a:rPr lang="en-US" altLang="ko-KR" sz="1600" dirty="0"/>
                  <a:t>(1 </a:t>
                </a:r>
                <a:r>
                  <a:rPr lang="ko-KR" altLang="en-US" sz="1600" dirty="0"/>
                  <a:t>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sz="1600" b="1" dirty="0"/>
                  <a:t>R1CS(rank-1 constraint system)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ko-KR" altLang="en-US" sz="1600" dirty="0"/>
                  <a:t>형식의 일련의 방정식 </a:t>
                </a:r>
                <a:r>
                  <a:rPr lang="en-US" altLang="ko-KR" sz="1600" dirty="0"/>
                  <a:t>(L, R, O</a:t>
                </a:r>
                <a:r>
                  <a:rPr lang="ko-KR" altLang="en-US" sz="1600" dirty="0"/>
                  <a:t>는 특정 변수 덧셈의 결과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L, R </a:t>
                </a:r>
                <a:r>
                  <a:rPr lang="ko-KR" altLang="en-US" sz="1600" dirty="0"/>
                  <a:t>사이에만 존재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 a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+3)=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dirty="0"/>
                  <a:t>, w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1600" dirty="0"/>
                  <a:t> (w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0 </a:t>
                </a:r>
                <a:r>
                  <a:rPr lang="ko-KR" altLang="en-US" sz="1600" dirty="0"/>
                  <a:t>또는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이라는 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프로그램 실행의 입력 및 출력과 일치한고 주장하는 일련의 값을 검증자에게 제공 → 검증자는 해당 값으로 등식이 성립하는지 확인할 수 </a:t>
                </a:r>
                <a:r>
                  <a:rPr lang="ko-KR" altLang="en-US" sz="1600" dirty="0" err="1"/>
                  <a:t>있어야함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blipFill>
                <a:blip r:embed="rId3"/>
                <a:stretch>
                  <a:fillRect l="-504" t="-661" b="-4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A46CCA-961E-F34B-91D4-9EBB6D380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00" y="3042016"/>
            <a:ext cx="1976512" cy="13262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967EB6-17B8-09FD-6296-1A3F53D1A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069" y="3347017"/>
            <a:ext cx="4826038" cy="419655"/>
          </a:xfrm>
          <a:prstGeom prst="rect">
            <a:avLst/>
          </a:prstGeom>
        </p:spPr>
      </p:pic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10892C17-E955-7E24-BB84-E3EA2847C279}"/>
              </a:ext>
            </a:extLst>
          </p:cNvPr>
          <p:cNvSpPr/>
          <p:nvPr/>
        </p:nvSpPr>
        <p:spPr>
          <a:xfrm>
            <a:off x="4065514" y="3419963"/>
            <a:ext cx="1136124" cy="318249"/>
          </a:xfrm>
          <a:prstGeom prst="leftRightArrow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56F57-5E9F-6C1F-A658-D413B56FD599}"/>
              </a:ext>
            </a:extLst>
          </p:cNvPr>
          <p:cNvSpPr txBox="1"/>
          <p:nvPr/>
        </p:nvSpPr>
        <p:spPr>
          <a:xfrm>
            <a:off x="3937475" y="4306355"/>
            <a:ext cx="1717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제약 조건 변환 예시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93715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556EC7-7124-098A-B1B1-2DEAC078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86" y="3740150"/>
            <a:ext cx="3487928" cy="2222798"/>
          </a:xfrm>
          <a:prstGeom prst="rect">
            <a:avLst/>
          </a:prstGeom>
        </p:spPr>
      </p:pic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180B7-F32E-73FE-B296-487CF1CE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759" y="3429000"/>
            <a:ext cx="3050028" cy="2741805"/>
          </a:xfrm>
          <a:prstGeom prst="rect">
            <a:avLst/>
          </a:prstGeom>
        </p:spPr>
      </p:pic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5D00B-0272-DD48-33C6-B069734AD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453" y="3740150"/>
            <a:ext cx="1616559" cy="2308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830979-DB19-359F-73D2-CA61B7715E8C}"/>
              </a:ext>
            </a:extLst>
          </p:cNvPr>
          <p:cNvSpPr txBox="1"/>
          <p:nvPr/>
        </p:nvSpPr>
        <p:spPr>
          <a:xfrm>
            <a:off x="1309453" y="614362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C710A-9B19-6058-B8C7-865BAD017813}"/>
              </a:ext>
            </a:extLst>
          </p:cNvPr>
          <p:cNvSpPr txBox="1"/>
          <p:nvPr/>
        </p:nvSpPr>
        <p:spPr>
          <a:xfrm>
            <a:off x="4567003" y="6110287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3D24A-2401-9E63-7EA8-13A4DD800DFD}"/>
              </a:ext>
            </a:extLst>
          </p:cNvPr>
          <p:cNvSpPr txBox="1"/>
          <p:nvPr/>
        </p:nvSpPr>
        <p:spPr>
          <a:xfrm>
            <a:off x="8719903" y="627687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48DFB-FAD8-5ADE-4AA0-66D7148B6810}"/>
                  </a:ext>
                </a:extLst>
              </p:cNvPr>
              <p:cNvSpPr txBox="1"/>
              <p:nvPr/>
            </p:nvSpPr>
            <p:spPr>
              <a:xfrm>
                <a:off x="899605" y="1181743"/>
                <a:ext cx="1076379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Poseidon: A New Hash Function for Zero-Knowledge Proof Systems (USENIX Security 2021)</a:t>
                </a:r>
                <a:r>
                  <a:rPr lang="ko-KR" altLang="en-US" b="1" dirty="0"/>
                  <a:t> 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사용한 측정 지표 </a:t>
                </a:r>
                <a:r>
                  <a:rPr lang="en-US" altLang="ko-KR" sz="1400" dirty="0"/>
                  <a:t>: R1CS Constraints, Permutation 1</a:t>
                </a:r>
                <a:r>
                  <a:rPr lang="ko-KR" altLang="en-US" sz="1400" dirty="0"/>
                  <a:t>번 실행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 err="1"/>
                  <a:t>영지식</a:t>
                </a:r>
                <a:r>
                  <a:rPr lang="ko-KR" altLang="en-US" sz="1400" dirty="0"/>
                  <a:t> 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측정 </a:t>
                </a:r>
                <a:r>
                  <a:rPr lang="en-US" altLang="ko-KR" sz="1400" dirty="0"/>
                  <a:t>: </a:t>
                </a:r>
                <a:r>
                  <a:rPr lang="ko-KR" altLang="en-US" sz="1400" dirty="0"/>
                  <a:t>분석 혹은 </a:t>
                </a:r>
                <a:r>
                  <a:rPr lang="en-US" altLang="ko-KR" sz="1400" dirty="0" err="1"/>
                  <a:t>Circom</a:t>
                </a:r>
                <a:r>
                  <a:rPr lang="en-US" altLang="ko-KR" sz="1400" dirty="0"/>
                  <a:t>(R1CS </a:t>
                </a:r>
                <a:r>
                  <a:rPr lang="ko-KR" altLang="en-US" sz="1400" dirty="0"/>
                  <a:t>기반</a:t>
                </a:r>
                <a:r>
                  <a:rPr lang="en-US" altLang="ko-KR" sz="1400" dirty="0"/>
                  <a:t>) ZK</a:t>
                </a:r>
                <a:r>
                  <a:rPr lang="ko-KR" altLang="en-US" sz="1400" dirty="0"/>
                  <a:t> 프레임워크 사용하여 해시함수 코딩 후 분석 도구를 통해 추출 가능</a:t>
                </a:r>
                <a:endParaRPr lang="en-US" altLang="ko-KR" sz="1400" dirty="0"/>
              </a:p>
              <a:p>
                <a:pPr lvl="1"/>
                <a:r>
                  <a:rPr lang="en-US" altLang="ko-KR" sz="1400" dirty="0"/>
                  <a:t>*R1CS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형태로 나타낼 수 있는 수식</a:t>
                </a:r>
                <a:r>
                  <a:rPr lang="en-US" altLang="ko-KR" sz="1400" dirty="0"/>
                  <a:t>. </a:t>
                </a:r>
                <a:r>
                  <a:rPr lang="ko-KR" altLang="en-US" sz="1400" dirty="0"/>
                  <a:t>영지식증명 회로 상에서의 비용</a:t>
                </a:r>
                <a:endParaRPr lang="en-US" altLang="ko-KR" sz="1400" dirty="0"/>
              </a:p>
              <a:p>
                <a:pPr lvl="1"/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Permutation 1</a:t>
                </a:r>
                <a:r>
                  <a:rPr lang="ko-KR" altLang="en-US" sz="1400" dirty="0"/>
                  <a:t>번 실행 시간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평균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: Rust </a:t>
                </a:r>
                <a:r>
                  <a:rPr lang="ko-KR" altLang="en-US" sz="1400" dirty="0"/>
                  <a:t>기반의 </a:t>
                </a:r>
                <a:r>
                  <a:rPr lang="en-US" altLang="ko-KR" sz="1400" dirty="0"/>
                  <a:t>ZK </a:t>
                </a:r>
                <a:r>
                  <a:rPr lang="ko-KR" altLang="en-US" sz="1400" dirty="0"/>
                  <a:t>프레임워크 상에서 해시 함수 구현 후 시간 측정 라이브러리 사용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 </a:t>
                </a:r>
                <a:r>
                  <a:rPr lang="en-US" altLang="ko-KR" sz="1400" dirty="0"/>
                  <a:t>: Rust </a:t>
                </a:r>
                <a:r>
                  <a:rPr lang="ko-KR" altLang="en-US" sz="1400" dirty="0"/>
                  <a:t>기반의 </a:t>
                </a:r>
                <a:r>
                  <a:rPr lang="en-US" altLang="ko-KR" sz="1400" dirty="0"/>
                  <a:t>ZK </a:t>
                </a:r>
                <a:r>
                  <a:rPr lang="ko-KR" altLang="en-US" sz="1400" dirty="0"/>
                  <a:t>프레임워크 상에서 해시 함수 구현 후 시간 측정 라이브러리 사용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48DFB-FAD8-5ADE-4AA0-66D7148B6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05" y="1181743"/>
                <a:ext cx="10763796" cy="2308324"/>
              </a:xfrm>
              <a:prstGeom prst="rect">
                <a:avLst/>
              </a:prstGeom>
              <a:blipFill>
                <a:blip r:embed="rId6"/>
                <a:stretch>
                  <a:fillRect l="-510" t="-1583" b="-1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8447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8E59-785C-3385-C5F1-73CAA7A9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C514A-549D-20B6-943F-73EC32C8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증명 환경에 따른 </a:t>
            </a:r>
            <a:r>
              <a:rPr lang="en-US" altLang="ko-KR" dirty="0"/>
              <a:t>Poseidon-128</a:t>
            </a:r>
            <a:r>
              <a:rPr lang="ko-KR" altLang="en-US" dirty="0"/>
              <a:t>의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FAFE3-C63D-1CCA-BE6C-A0406D30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D1925-0024-D8C9-AE37-46ED2D50FE89}"/>
              </a:ext>
            </a:extLst>
          </p:cNvPr>
          <p:cNvSpPr txBox="1"/>
          <p:nvPr/>
        </p:nvSpPr>
        <p:spPr>
          <a:xfrm>
            <a:off x="899605" y="1181743"/>
            <a:ext cx="1076379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증명 환경에 따른 </a:t>
            </a:r>
            <a:r>
              <a:rPr lang="en-US" altLang="ko-KR" b="1" dirty="0"/>
              <a:t>Poseidon-128</a:t>
            </a:r>
            <a:r>
              <a:rPr lang="ko-KR" altLang="en-US" b="1" dirty="0"/>
              <a:t>의 비용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사용한 환경에 따라서 </a:t>
            </a:r>
            <a:r>
              <a:rPr lang="en-US" altLang="ko-KR" sz="1400" dirty="0"/>
              <a:t>Poseidon-128</a:t>
            </a:r>
            <a:r>
              <a:rPr lang="ko-KR" altLang="en-US" sz="1400" dirty="0"/>
              <a:t>의 비용을 다르게 정의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Groth16(SNARK </a:t>
            </a:r>
            <a:r>
              <a:rPr lang="ko-KR" altLang="en-US" sz="1400" dirty="0"/>
              <a:t>시스템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 : Pinocchio </a:t>
            </a:r>
            <a:r>
              <a:rPr lang="ko-KR" altLang="en-US" sz="1400" dirty="0"/>
              <a:t>증명 시스템의 최적화 버전</a:t>
            </a:r>
            <a:r>
              <a:rPr lang="en-US" altLang="ko-KR" sz="1400" dirty="0"/>
              <a:t>. </a:t>
            </a:r>
            <a:r>
              <a:rPr lang="ko-KR" altLang="en-US" sz="1400" dirty="0"/>
              <a:t>현재 가장 작은 증명 크기를 가진 가장 빠른 </a:t>
            </a:r>
            <a:r>
              <a:rPr lang="en-US" altLang="ko-KR" sz="1400" dirty="0"/>
              <a:t>SNARK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S-box </a:t>
            </a:r>
            <a:r>
              <a:rPr lang="ko-KR" altLang="en-US" sz="1400" dirty="0"/>
              <a:t>연산에 필요한 제약 조건 수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선형 제약 조건은 복잡도에 거의 영향을 미치지 않음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세팅 </a:t>
            </a:r>
            <a:r>
              <a:rPr lang="en-US" altLang="ko-KR" sz="1400" dirty="0"/>
              <a:t>: Intel Core i7-8700 CPU, 32 GiB RAM, C++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libsnark</a:t>
            </a:r>
            <a:r>
              <a:rPr lang="en-US" altLang="ko-KR" sz="1400" dirty="0"/>
              <a:t> library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 startAt="2"/>
            </a:pPr>
            <a:r>
              <a:rPr lang="en-US" altLang="ko-KR" sz="1400" dirty="0"/>
              <a:t>Bulletproofs</a:t>
            </a:r>
          </a:p>
          <a:p>
            <a:pPr marL="342900" indent="-342900">
              <a:buAutoNum type="arabicPeriod" startAt="2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영지식증명 시스템의 한 종류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달리 증명 생성을 위한 사전 공개 파라미터 생성 과정 필요 없음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프로그램의 </a:t>
            </a:r>
            <a:r>
              <a:rPr lang="ko-KR" altLang="en-US" sz="1400" dirty="0" err="1"/>
              <a:t>크키겡</a:t>
            </a:r>
            <a:r>
              <a:rPr lang="ko-KR" altLang="en-US" sz="1400" dirty="0"/>
              <a:t> 따라 증명의 크기가 로크 함수 형태로 증가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594876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72FC-15A1-D5A8-B0B3-E99AB869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63F6A-7679-CA52-77BE-F8977E1F0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증명 환경에 따른 </a:t>
            </a:r>
            <a:r>
              <a:rPr lang="en-US" altLang="ko-KR" dirty="0"/>
              <a:t>Poseidon-128</a:t>
            </a:r>
            <a:r>
              <a:rPr lang="ko-KR" altLang="en-US" dirty="0"/>
              <a:t>의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5D7CA-1F7B-66C6-58C0-DB7CAE8B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5A4A1-BAEB-BBDE-9449-C35F0587D6F7}"/>
              </a:ext>
            </a:extLst>
          </p:cNvPr>
          <p:cNvSpPr txBox="1"/>
          <p:nvPr/>
        </p:nvSpPr>
        <p:spPr>
          <a:xfrm>
            <a:off x="899605" y="1181743"/>
            <a:ext cx="107637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증명 환경에 따른 </a:t>
            </a:r>
            <a:r>
              <a:rPr lang="en-US" altLang="ko-KR" b="1" dirty="0"/>
              <a:t>Poseidon-128</a:t>
            </a:r>
            <a:r>
              <a:rPr lang="ko-KR" altLang="en-US" b="1" dirty="0"/>
              <a:t>의 비용</a:t>
            </a:r>
            <a:endParaRPr lang="en-US" altLang="ko-KR" b="1" dirty="0"/>
          </a:p>
          <a:p>
            <a:pPr marL="342900" indent="-342900">
              <a:buAutoNum type="arabicPeriod" startAt="2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PLONK </a:t>
            </a:r>
            <a:r>
              <a:rPr lang="ko-KR" altLang="en-US" sz="1400" dirty="0"/>
              <a:t>시스템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Universal</a:t>
            </a:r>
            <a:r>
              <a:rPr lang="ko-KR" altLang="en-US" sz="1400" dirty="0"/>
              <a:t> </a:t>
            </a:r>
            <a:r>
              <a:rPr lang="en-US" altLang="ko-KR" sz="1400" dirty="0"/>
              <a:t>trusted setup</a:t>
            </a:r>
            <a:r>
              <a:rPr lang="ko-KR" altLang="en-US" sz="1400" dirty="0"/>
              <a:t>을 사용하는 새롭고 대중적인 </a:t>
            </a:r>
            <a:r>
              <a:rPr lang="en-US" altLang="ko-KR" sz="1400" dirty="0"/>
              <a:t>SNARK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R1CS </a:t>
            </a:r>
            <a:r>
              <a:rPr lang="ko-KR" altLang="en-US" sz="1400" dirty="0"/>
              <a:t>제약 조건 시스템에서 작동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Redshift</a:t>
            </a:r>
          </a:p>
          <a:p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STARK</a:t>
            </a:r>
            <a:r>
              <a:rPr lang="ko-KR" altLang="en-US" sz="1400" dirty="0"/>
              <a:t>에서 영감을 받은 증명 시스템</a:t>
            </a:r>
            <a:r>
              <a:rPr lang="en-US" altLang="ko-KR" sz="1400" dirty="0"/>
              <a:t>(STARK +</a:t>
            </a:r>
            <a:r>
              <a:rPr lang="ko-KR" altLang="en-US" sz="1400" dirty="0"/>
              <a:t> </a:t>
            </a:r>
            <a:r>
              <a:rPr lang="en-US" altLang="ko-KR" sz="1400" dirty="0"/>
              <a:t>PLONK)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임의의 제약 조건 집합에서 작동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신뢰 설정</a:t>
            </a:r>
            <a:r>
              <a:rPr lang="en-US" altLang="ko-KR" sz="1400" dirty="0"/>
              <a:t>(Trusted Setup)</a:t>
            </a:r>
            <a:r>
              <a:rPr lang="ko-KR" altLang="en-US" sz="1400" dirty="0"/>
              <a:t>이 리드</a:t>
            </a:r>
            <a:r>
              <a:rPr lang="en-US" altLang="ko-KR" sz="1400" dirty="0"/>
              <a:t>-</a:t>
            </a:r>
            <a:r>
              <a:rPr lang="ko-KR" altLang="en-US" sz="1400" dirty="0"/>
              <a:t>솔로몬</a:t>
            </a:r>
            <a:r>
              <a:rPr lang="en-US" altLang="ko-KR" sz="1400" dirty="0"/>
              <a:t>(Reed-Solomon) </a:t>
            </a:r>
            <a:r>
              <a:rPr lang="ko-KR" altLang="en-US" sz="1400" dirty="0"/>
              <a:t>기반의 신뢰가 필요 없는 </a:t>
            </a:r>
            <a:r>
              <a:rPr lang="ko-KR" altLang="en-US" sz="1400" dirty="0" err="1"/>
              <a:t>커밋으로</a:t>
            </a:r>
            <a:r>
              <a:rPr lang="ko-KR" altLang="en-US" sz="1400" dirty="0"/>
              <a:t> 대체된 </a:t>
            </a:r>
            <a:r>
              <a:rPr lang="en-US" altLang="ko-KR" sz="1400" dirty="0"/>
              <a:t>PLONK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PLONK</a:t>
            </a:r>
            <a:r>
              <a:rPr lang="ko-KR" altLang="en-US" sz="1400" dirty="0"/>
              <a:t>에서 사용하는 것과 동일한 최적화 기법들 사용 가능</a:t>
            </a:r>
            <a:r>
              <a:rPr lang="en-US" altLang="ko-KR" sz="1400" dirty="0"/>
              <a:t>, </a:t>
            </a:r>
            <a:r>
              <a:rPr lang="ko-KR" altLang="en-US" sz="1400" dirty="0"/>
              <a:t>증명 크기가 </a:t>
            </a:r>
            <a:r>
              <a:rPr lang="en-US" altLang="ko-KR" sz="1400" dirty="0"/>
              <a:t>STARK</a:t>
            </a:r>
            <a:r>
              <a:rPr lang="ko-KR" altLang="en-US" sz="1400" dirty="0"/>
              <a:t>와 비슷한 수준의 크기</a:t>
            </a:r>
            <a:r>
              <a:rPr lang="en-US" altLang="ko-KR" sz="1400" dirty="0"/>
              <a:t>(12KB)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Redshift </a:t>
            </a:r>
            <a:r>
              <a:rPr lang="ko-KR" altLang="en-US" sz="1400" dirty="0"/>
              <a:t>라이브러리가 공식적으로 사용가능한 것이 없어 실질적인 성능 측정이 불가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20307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CED7-6B70-D140-0D9F-F5B5FE7A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FC9CD-801F-2A24-52F8-49FB98AA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Groth16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691F68-3824-238D-D65D-C4E70CA0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6A1905-262A-FC9F-EA93-598A4105D4AE}"/>
                  </a:ext>
                </a:extLst>
              </p:cNvPr>
              <p:cNvSpPr txBox="1"/>
              <p:nvPr/>
            </p:nvSpPr>
            <p:spPr>
              <a:xfrm>
                <a:off x="899605" y="1181743"/>
                <a:ext cx="10763796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Groth16 base</a:t>
                </a:r>
                <a:r>
                  <a:rPr lang="ko-KR" altLang="en-US" b="1" dirty="0"/>
                  <a:t> </a:t>
                </a:r>
                <a:r>
                  <a:rPr lang="en-US" altLang="ko-KR" b="1" dirty="0"/>
                  <a:t>Poseidon-128 </a:t>
                </a:r>
                <a:r>
                  <a:rPr lang="ko-KR" altLang="en-US" b="1" dirty="0"/>
                  <a:t>비용 측정 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측정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lvl="1"/>
                <a:r>
                  <a:rPr lang="en-US" altLang="ko-KR" sz="1400" dirty="0"/>
                  <a:t>*R1CS(Rank-1 Constraints System)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형태로 나타낼 수 있는 수식</a:t>
                </a:r>
                <a:r>
                  <a:rPr lang="en-US" altLang="ko-KR" sz="1400" dirty="0"/>
                  <a:t>. </a:t>
                </a:r>
                <a:r>
                  <a:rPr lang="ko-KR" altLang="en-US" sz="1400" dirty="0"/>
                  <a:t>영지식증명 회로 상에서의 비용</a:t>
                </a:r>
                <a:endParaRPr lang="en-US" altLang="ko-KR" sz="1400" dirty="0"/>
              </a:p>
              <a:p>
                <a:pPr lvl="1"/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세팅 환경 </a:t>
                </a:r>
                <a:r>
                  <a:rPr lang="en-US" altLang="ko-KR" sz="1400" dirty="0"/>
                  <a:t>: Intel Core i7-8700 CPU, 32 GiB RAM, Rust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 err="1"/>
                  <a:t>libsnark</a:t>
                </a:r>
                <a:r>
                  <a:rPr lang="en-US" altLang="ko-KR" sz="1400" dirty="0"/>
                  <a:t> library </a:t>
                </a:r>
                <a:r>
                  <a:rPr lang="ko-KR" altLang="en-US" sz="1400" dirty="0"/>
                  <a:t>사용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t = 3, BN254 </a:t>
                </a:r>
                <a:r>
                  <a:rPr lang="ko-KR" altLang="en-US" sz="1400" dirty="0"/>
                  <a:t>사용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입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출력 변수 할당 및 입력 처리하는 시스템 오버헤드 포함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 측정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C++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 err="1"/>
                  <a:t>libsnark</a:t>
                </a:r>
                <a:r>
                  <a:rPr lang="ko-KR" altLang="en-US" sz="1400" dirty="0"/>
                  <a:t> 라이브러리를 통하여 측정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6A1905-262A-FC9F-EA93-598A4105D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05" y="1181743"/>
                <a:ext cx="10763796" cy="3600986"/>
              </a:xfrm>
              <a:prstGeom prst="rect">
                <a:avLst/>
              </a:prstGeom>
              <a:blipFill>
                <a:blip r:embed="rId3"/>
                <a:stretch>
                  <a:fillRect l="-510" t="-1015" b="-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89C90D-5D65-3ACF-B297-23A2F8FEA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940" y="3429000"/>
            <a:ext cx="3781830" cy="2410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02BCCE-7CB3-F9CB-7122-B892C6E7F725}"/>
              </a:ext>
            </a:extLst>
          </p:cNvPr>
          <p:cNvSpPr txBox="1"/>
          <p:nvPr/>
        </p:nvSpPr>
        <p:spPr>
          <a:xfrm>
            <a:off x="8457290" y="5962748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Groth16 </a:t>
            </a:r>
            <a:r>
              <a:rPr lang="ko-KR" altLang="en-US" sz="1200" dirty="0"/>
              <a:t>측정 지표</a:t>
            </a:r>
          </a:p>
        </p:txBody>
      </p:sp>
    </p:spTree>
    <p:extLst>
      <p:ext uri="{BB962C8B-B14F-4D97-AF65-F5344CB8AC3E}">
        <p14:creationId xmlns:p14="http://schemas.microsoft.com/office/powerpoint/2010/main" val="2270045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CED7-6B70-D140-0D9F-F5B5FE7A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FC9CD-801F-2A24-52F8-49FB98AA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Groth16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691F68-3824-238D-D65D-C4E70CA0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A1905-262A-FC9F-EA93-598A4105D4AE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Groth16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 </a:t>
            </a:r>
            <a:r>
              <a:rPr lang="ko-KR" altLang="en-US" sz="1400" dirty="0"/>
              <a:t>측정</a:t>
            </a:r>
            <a:r>
              <a:rPr lang="en-US" altLang="ko-KR" sz="1400" dirty="0"/>
              <a:t>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측정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논문 상 세팅 환경 </a:t>
            </a:r>
            <a:r>
              <a:rPr lang="en-US" altLang="ko-KR" sz="1400" dirty="0"/>
              <a:t>: Intel Core i7-8700 CPU, 32 GiB 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실험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Ultra 5 225H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 = 3, BN254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입</a:t>
            </a:r>
            <a:r>
              <a:rPr lang="en-US" altLang="ko-KR" sz="1400" dirty="0"/>
              <a:t>/</a:t>
            </a:r>
            <a:r>
              <a:rPr lang="ko-KR" altLang="en-US" sz="1400" dirty="0"/>
              <a:t>출력 변수 할당 및 입력 처리하는 시스템 오버헤드 포함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C++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libsnark</a:t>
            </a:r>
            <a:r>
              <a:rPr lang="ko-KR" altLang="en-US" sz="1400" dirty="0"/>
              <a:t> 라이브러리를 통하여 측정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2B8C51-7F2F-10C5-779A-FA9C994FDCBB}"/>
              </a:ext>
            </a:extLst>
          </p:cNvPr>
          <p:cNvGraphicFramePr>
            <a:graphicFrameLocks noGrp="1"/>
          </p:cNvGraphicFramePr>
          <p:nvPr/>
        </p:nvGraphicFramePr>
        <p:xfrm>
          <a:off x="2186846" y="3945330"/>
          <a:ext cx="74463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95">
                  <a:extLst>
                    <a:ext uri="{9D8B030D-6E8A-4147-A177-3AD203B41FA5}">
                      <a16:colId xmlns:a16="http://schemas.microsoft.com/office/drawing/2014/main" val="3849906770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192487519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50832602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4210784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증명 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검증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R1CS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65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논문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43.1ms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1.2ms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3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0.505s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4.0ms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47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508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91B5-A5E0-E508-D7C8-470B4ADC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89E32-68ED-32CE-74F5-042EE5C7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Bulletproofs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61E4B8-DA07-6B59-47B0-9AE84811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BD545-7844-7537-FF9F-8071192F18B3}"/>
              </a:ext>
            </a:extLst>
          </p:cNvPr>
          <p:cNvSpPr txBox="1"/>
          <p:nvPr/>
        </p:nvSpPr>
        <p:spPr>
          <a:xfrm>
            <a:off x="899605" y="1181743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Bulletproofs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머클</a:t>
            </a:r>
            <a:r>
              <a:rPr lang="ko-KR" altLang="en-US" sz="1400" dirty="0"/>
              <a:t> 트리 증명자를 </a:t>
            </a:r>
            <a:r>
              <a:rPr lang="en-US" altLang="ko-KR" sz="1400" dirty="0"/>
              <a:t>bulletproofs</a:t>
            </a:r>
            <a:r>
              <a:rPr lang="ko-KR" altLang="en-US" sz="1400" dirty="0"/>
              <a:t>에서 구현하고 성능 측정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lvl="1"/>
            <a:r>
              <a:rPr lang="en-US" altLang="ko-KR" sz="1400" dirty="0"/>
              <a:t>* </a:t>
            </a:r>
            <a:r>
              <a:rPr lang="ko-KR" altLang="en-US" sz="1400" dirty="0" err="1"/>
              <a:t>머클</a:t>
            </a:r>
            <a:r>
              <a:rPr lang="ko-KR" altLang="en-US" sz="1400" dirty="0"/>
              <a:t> 트리 </a:t>
            </a:r>
            <a:r>
              <a:rPr lang="ko-KR" altLang="en-US" sz="1400" dirty="0" err="1"/>
              <a:t>증명자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특정 데이터</a:t>
            </a:r>
            <a:r>
              <a:rPr lang="en-US" altLang="ko-KR" sz="1400" dirty="0"/>
              <a:t>(Leaf)</a:t>
            </a:r>
            <a:r>
              <a:rPr lang="ko-KR" altLang="en-US" sz="1400" dirty="0"/>
              <a:t>가 거대한 데이터 집합</a:t>
            </a:r>
            <a:r>
              <a:rPr lang="en-US" altLang="ko-KR" sz="1400" dirty="0"/>
              <a:t>(Merkle Tree)</a:t>
            </a:r>
            <a:r>
              <a:rPr lang="ko-KR" altLang="en-US" sz="1400" dirty="0"/>
              <a:t>의 일부임을 전체 데이터를 보여주지 않고도 증명하는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 회로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동일한 제약 조건 시스템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사용하는 소수 필드 종류</a:t>
            </a:r>
            <a:r>
              <a:rPr lang="en-US" altLang="ko-KR" sz="1400" dirty="0"/>
              <a:t> : BN254, BLS12-381, Ristretto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</a:t>
            </a:r>
            <a:r>
              <a:rPr lang="ko-KR" altLang="en-US" sz="1400" dirty="0"/>
              <a:t>의 </a:t>
            </a:r>
            <a:r>
              <a:rPr lang="en-US" altLang="ko-KR" sz="1400" dirty="0"/>
              <a:t>dalek </a:t>
            </a:r>
            <a:r>
              <a:rPr lang="ko-KR" altLang="en-US" sz="1400" dirty="0"/>
              <a:t>라이브러리</a:t>
            </a:r>
            <a:r>
              <a:rPr lang="en-US" altLang="ko-KR" sz="1400" dirty="0"/>
              <a:t> </a:t>
            </a:r>
            <a:r>
              <a:rPr lang="ko-KR" altLang="en-US" sz="1400" dirty="0"/>
              <a:t>활용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E9BB86-B19C-3471-4CFA-3EC5A0CC4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482" y="3043644"/>
            <a:ext cx="3514524" cy="32101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1050E1D-B78D-2410-4D31-798F1144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827" y="4610043"/>
            <a:ext cx="2320426" cy="164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F23EDA-3AE7-0A33-9B55-466CA71606B6}"/>
              </a:ext>
            </a:extLst>
          </p:cNvPr>
          <p:cNvSpPr txBox="1"/>
          <p:nvPr/>
        </p:nvSpPr>
        <p:spPr>
          <a:xfrm>
            <a:off x="3082833" y="6313890"/>
            <a:ext cx="1367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머클</a:t>
            </a:r>
            <a:r>
              <a:rPr lang="ko-KR" altLang="en-US" sz="1200" dirty="0"/>
              <a:t> 트리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0ADCB-CAA3-580E-6541-4DE327774D4F}"/>
              </a:ext>
            </a:extLst>
          </p:cNvPr>
          <p:cNvSpPr txBox="1"/>
          <p:nvPr/>
        </p:nvSpPr>
        <p:spPr>
          <a:xfrm>
            <a:off x="8457290" y="6305337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Bulletproofs </a:t>
            </a:r>
            <a:r>
              <a:rPr lang="ko-KR" altLang="en-US" sz="1200" dirty="0"/>
              <a:t>측정 지표</a:t>
            </a:r>
          </a:p>
        </p:txBody>
      </p:sp>
    </p:spTree>
    <p:extLst>
      <p:ext uri="{BB962C8B-B14F-4D97-AF65-F5344CB8AC3E}">
        <p14:creationId xmlns:p14="http://schemas.microsoft.com/office/powerpoint/2010/main" val="911864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6F50-709D-4CB6-9E78-AE820258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8DB8D-137E-2489-F847-8881FD9C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PLONK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9A201-3DA9-4BD8-36A3-C3AA349F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8A1D0-FC33-3EEA-2022-8A2CAC1E6573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PLONK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i5-7300HQ CPU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 </a:t>
            </a:r>
            <a:r>
              <a:rPr lang="ko-KR" altLang="en-US" sz="1400" dirty="0"/>
              <a:t>기반의 구현체 사용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동일한 제약 조건 시스템</a:t>
            </a:r>
            <a:endParaRPr lang="en-US" altLang="ko-K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057C9-165F-152F-A63B-629A2102D829}"/>
              </a:ext>
            </a:extLst>
          </p:cNvPr>
          <p:cNvSpPr txBox="1"/>
          <p:nvPr/>
        </p:nvSpPr>
        <p:spPr>
          <a:xfrm>
            <a:off x="8455999" y="4369837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PLONK </a:t>
            </a:r>
            <a:r>
              <a:rPr lang="ko-KR" altLang="en-US" sz="1200" dirty="0"/>
              <a:t>측정 지표</a:t>
            </a: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BEF5EB-8988-139D-07AA-30858CB42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58" y="2573117"/>
            <a:ext cx="349616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33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6F50-709D-4CB6-9E78-AE820258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8DB8D-137E-2489-F847-8881FD9C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PLONK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9A201-3DA9-4BD8-36A3-C3AA349F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8A1D0-FC33-3EEA-2022-8A2CAC1E6573}"/>
              </a:ext>
            </a:extLst>
          </p:cNvPr>
          <p:cNvSpPr txBox="1"/>
          <p:nvPr/>
        </p:nvSpPr>
        <p:spPr>
          <a:xfrm>
            <a:off x="912305" y="1207583"/>
            <a:ext cx="1076379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PLONK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논문 상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i5-7300HQ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실험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Ultra 5 225H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 </a:t>
            </a:r>
            <a:r>
              <a:rPr lang="ko-KR" altLang="en-US" sz="1400" dirty="0"/>
              <a:t>기반의 구현체</a:t>
            </a:r>
            <a:r>
              <a:rPr lang="en-US" altLang="ko-KR" sz="1400" dirty="0"/>
              <a:t>(</a:t>
            </a:r>
            <a:r>
              <a:rPr lang="ko-KR" altLang="en-US" sz="1400" dirty="0"/>
              <a:t>진행중</a:t>
            </a:r>
            <a:r>
              <a:rPr lang="en-US" altLang="ko-KR" sz="1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Circom</a:t>
            </a:r>
            <a:r>
              <a:rPr lang="en-US" altLang="ko-KR" sz="1400" dirty="0"/>
              <a:t> </a:t>
            </a:r>
            <a:r>
              <a:rPr lang="ko-KR" altLang="en-US" sz="1400" dirty="0"/>
              <a:t>기반의 측정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Ununtu</a:t>
            </a:r>
            <a:r>
              <a:rPr lang="en-US" altLang="ko-KR" sz="1400" dirty="0"/>
              <a:t> 22.04 </a:t>
            </a:r>
            <a:r>
              <a:rPr lang="ko-KR" altLang="en-US" sz="1400" dirty="0"/>
              <a:t>가상환경에서 실험 진행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 </a:t>
            </a:r>
            <a:r>
              <a:rPr lang="en-US" altLang="ko-KR" sz="1400" dirty="0"/>
              <a:t>Field : BLS12-381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DB0E74E-E033-A8EF-B23F-1340A7021568}"/>
              </a:ext>
            </a:extLst>
          </p:cNvPr>
          <p:cNvGraphicFramePr>
            <a:graphicFrameLocks noGrp="1"/>
          </p:cNvGraphicFramePr>
          <p:nvPr/>
        </p:nvGraphicFramePr>
        <p:xfrm>
          <a:off x="1179005" y="4075330"/>
          <a:ext cx="957471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95">
                  <a:extLst>
                    <a:ext uri="{9D8B030D-6E8A-4147-A177-3AD203B41FA5}">
                      <a16:colId xmlns:a16="http://schemas.microsoft.com/office/drawing/2014/main" val="3849906770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3571109949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192487519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50832602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4210784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Baseline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증명 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검증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R1CS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65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논문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Rust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3.59s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0.7ms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3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Circom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8.60s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0.4s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47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978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24014</TotalTime>
  <Words>2793</Words>
  <Application>Microsoft Office PowerPoint</Application>
  <PresentationFormat>와이드스크린</PresentationFormat>
  <Paragraphs>599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Cambria Math</vt:lpstr>
      <vt:lpstr>Office 테마</vt:lpstr>
      <vt:lpstr>Poseidon 정리</vt:lpstr>
      <vt:lpstr>배경</vt:lpstr>
      <vt:lpstr>POSEIDON의 IDEA</vt:lpstr>
      <vt:lpstr>SPN 설계, HADES 구조</vt:lpstr>
      <vt:lpstr>POSEIDON𝛑</vt:lpstr>
      <vt:lpstr>〖POSEIDON〗^π 구성 함수</vt:lpstr>
      <vt:lpstr>SPONGE 구조</vt:lpstr>
      <vt:lpstr>Sponge 구조 동작 예시</vt:lpstr>
      <vt:lpstr>256-bit 표준 인터페이스 정렬 아키텍처 후보</vt:lpstr>
      <vt:lpstr>Poseidon-128 구조</vt:lpstr>
      <vt:lpstr>Method 1 : Zero-Padding</vt:lpstr>
      <vt:lpstr>Method 2-1 : Squeezing-based Bit-Slice &amp; Concat</vt:lpstr>
      <vt:lpstr>Method 2-2 : Bit-Slice&amp;Concatenation</vt:lpstr>
      <vt:lpstr>Method 3 : Dual Poseidon Concat</vt:lpstr>
      <vt:lpstr>Goldilocks Poseidon</vt:lpstr>
      <vt:lpstr>비교 분석</vt:lpstr>
      <vt:lpstr>산술 회로</vt:lpstr>
      <vt:lpstr>비교 분석</vt:lpstr>
      <vt:lpstr>증명 환경에 따른 Poseidon-128의 비용</vt:lpstr>
      <vt:lpstr>증명 환경에 따른 Poseidon-128의 비용</vt:lpstr>
      <vt:lpstr>Groth16 base Poseidon-128 비용 측정</vt:lpstr>
      <vt:lpstr>Groth16 base Poseidon-128 비용 측정</vt:lpstr>
      <vt:lpstr>Bulletproofs base Poseidon-128 비용 측정</vt:lpstr>
      <vt:lpstr>PLONK base Poseidon-128 비용 측정</vt:lpstr>
      <vt:lpstr>PLONK base Poseidon-128 비용 측정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2106</cp:revision>
  <dcterms:created xsi:type="dcterms:W3CDTF">2023-03-06T16:32:37Z</dcterms:created>
  <dcterms:modified xsi:type="dcterms:W3CDTF">2026-02-26T12:19:49Z</dcterms:modified>
</cp:coreProperties>
</file>