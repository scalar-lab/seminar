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0"/>
  </p:notesMasterIdLst>
  <p:sldIdLst>
    <p:sldId id="256" r:id="rId2"/>
    <p:sldId id="353" r:id="rId3"/>
    <p:sldId id="359" r:id="rId4"/>
    <p:sldId id="360" r:id="rId5"/>
    <p:sldId id="363" r:id="rId6"/>
    <p:sldId id="294" r:id="rId7"/>
    <p:sldId id="364" r:id="rId8"/>
    <p:sldId id="3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CC00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92" d="100"/>
          <a:sy n="92" d="100"/>
        </p:scale>
        <p:origin x="159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26F9-AFFE-65CF-9ACE-9724788B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2BC1EA-923A-FC89-24AF-00164FEB3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970629-1654-4B55-B89A-597970E93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C6E0E-E78F-1915-F461-E8FE070E5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157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83D1-22F0-A769-B4A8-B00CCB80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E52718-0C11-76A2-5A11-B4ED88933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1F9D4D-64C2-272E-56B9-CD7FEFD5A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A695F4-F15A-160A-B5D8-A2F8C540E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48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8EAEB-08A4-6529-C5A0-9745AD39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9564BC-BB41-F7E0-05E1-2CD2D8508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557CA-8229-1B34-E0A8-E1C9FD054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Q. </a:t>
            </a:r>
            <a:r>
              <a:rPr lang="ko-KR" altLang="en-US" dirty="0"/>
              <a:t>그럼 </a:t>
            </a:r>
            <a:r>
              <a:rPr lang="en-US" altLang="ko-KR" dirty="0"/>
              <a:t>Full Round</a:t>
            </a:r>
            <a:r>
              <a:rPr lang="ko-KR" altLang="en-US" dirty="0"/>
              <a:t>만 구성하고 </a:t>
            </a:r>
            <a:r>
              <a:rPr lang="en-US" altLang="ko-KR" dirty="0"/>
              <a:t>Partial Round</a:t>
            </a:r>
            <a:r>
              <a:rPr lang="ko-KR" altLang="en-US" dirty="0"/>
              <a:t>는 </a:t>
            </a:r>
            <a:r>
              <a:rPr lang="ko-KR" altLang="en-US" dirty="0" err="1"/>
              <a:t>안써도</a:t>
            </a:r>
            <a:r>
              <a:rPr lang="ko-KR" altLang="en-US" dirty="0"/>
              <a:t> </a:t>
            </a:r>
            <a:r>
              <a:rPr lang="ko-KR" altLang="en-US" dirty="0" err="1"/>
              <a:t>되는거</a:t>
            </a:r>
            <a:r>
              <a:rPr lang="ko-KR" altLang="en-US" dirty="0"/>
              <a:t> 아냐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345BF-BF9F-9F77-B8EA-52A8CDC6A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889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B458-5653-EEB1-A686-EE8BD2B3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F4376A-5399-519A-EEBC-C39D93235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50515D-1CF8-571F-CFF7-7711CC9C3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6C9FA1-8515-0FF7-1812-73706C881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54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797F-E465-1A34-0571-311895CF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8F3286-9757-A623-9A1E-4A125D387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AD50A-9A8D-BE15-6B17-CF1535B07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E28B3-61CE-3CFE-F792-1BEBB267E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643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F4D6-F4C2-3054-A06D-2904DD54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A7C411-B56C-7264-3ADC-C9CD408B1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AA4FE8-48AB-6DB7-C571-CD4EE92C5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A5D7A-0FFC-557E-C726-1C2980978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72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정리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09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배경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48DFB-FAD8-5ADE-4AA0-66D7148B6810}"/>
              </a:ext>
            </a:extLst>
          </p:cNvPr>
          <p:cNvSpPr txBox="1"/>
          <p:nvPr/>
        </p:nvSpPr>
        <p:spPr>
          <a:xfrm>
            <a:off x="714102" y="1509734"/>
            <a:ext cx="1076379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</a:t>
            </a:r>
            <a:r>
              <a:rPr lang="ko-KR" altLang="en-US" b="1" dirty="0"/>
              <a:t> 연구 배경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계산 무결성의 시스템 발전으로 인하여 다수의 계산 작업을 짧은 시간 내에 검증할 수 있게 되었고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증명에서도 활용이 가능해짐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기존의 </a:t>
            </a:r>
            <a:r>
              <a:rPr lang="en-US" altLang="ko-KR" sz="1400" dirty="0"/>
              <a:t>Schnorr proofs</a:t>
            </a:r>
            <a:r>
              <a:rPr lang="ko-KR" altLang="en-US" sz="1400" dirty="0"/>
              <a:t>는 복잡하고 오류가 많으며</a:t>
            </a:r>
            <a:r>
              <a:rPr lang="en-US" altLang="ko-KR" sz="1400" dirty="0"/>
              <a:t>, </a:t>
            </a:r>
            <a:r>
              <a:rPr lang="ko-KR" altLang="en-US" sz="1400" dirty="0"/>
              <a:t>사전 </a:t>
            </a:r>
            <a:r>
              <a:rPr lang="en-US" altLang="ko-KR" sz="1400" dirty="0"/>
              <a:t>setup </a:t>
            </a:r>
            <a:r>
              <a:rPr lang="ko-KR" altLang="en-US" sz="1400" dirty="0"/>
              <a:t>단계가 필요하고 느리다는 단점이 있음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ko-KR" altLang="en-US" sz="1400" dirty="0"/>
              <a:t>⇒ </a:t>
            </a:r>
            <a:r>
              <a:rPr lang="en-US" altLang="ko-KR" sz="1400" dirty="0"/>
              <a:t>(1</a:t>
            </a:r>
            <a:r>
              <a:rPr lang="ko-KR" altLang="en-US" sz="1400" dirty="0"/>
              <a:t>차 목표</a:t>
            </a:r>
            <a:r>
              <a:rPr lang="en-US" altLang="ko-KR" sz="1400" dirty="0"/>
              <a:t>) </a:t>
            </a:r>
            <a:r>
              <a:rPr lang="ko-KR" altLang="en-US" sz="1400" dirty="0"/>
              <a:t>암호학적 해시함수를 사용하여 비밀 도출을 표현하고 </a:t>
            </a:r>
            <a:r>
              <a:rPr lang="en-US" altLang="ko-KR" sz="1400" dirty="0"/>
              <a:t>Merkle tree</a:t>
            </a:r>
            <a:r>
              <a:rPr lang="ko-KR" altLang="en-US" sz="1400" dirty="0"/>
              <a:t>에서의 </a:t>
            </a:r>
            <a:r>
              <a:rPr lang="en-US" altLang="ko-KR" sz="1400" dirty="0"/>
              <a:t>membership </a:t>
            </a:r>
            <a:r>
              <a:rPr lang="ko-KR" altLang="en-US" sz="1400" dirty="0"/>
              <a:t>증명에 사용하자</a:t>
            </a:r>
            <a:r>
              <a:rPr lang="en-US" altLang="ko-KR" sz="1400" dirty="0"/>
              <a:t>!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계산 무결성 시스템 필요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임의의 산술 회로에 적용 </a:t>
            </a:r>
            <a:r>
              <a:rPr lang="en-US" altLang="ko-KR" sz="1400" dirty="0"/>
              <a:t>O</a:t>
            </a: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기존 해시함수는 </a:t>
            </a:r>
            <a:r>
              <a:rPr lang="en-US" altLang="ko-KR" sz="1400" dirty="0"/>
              <a:t>SNARK </a:t>
            </a:r>
            <a:r>
              <a:rPr lang="ko-KR" altLang="en-US" sz="1400" dirty="0"/>
              <a:t>환경에 친화적이지 않아서 비용이 많이 소모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(2</a:t>
            </a:r>
            <a:r>
              <a:rPr lang="ko-KR" altLang="en-US" sz="1400" dirty="0"/>
              <a:t>차 목표</a:t>
            </a:r>
            <a:r>
              <a:rPr lang="en-US" altLang="ko-KR" sz="1400" dirty="0"/>
              <a:t>) R1CS </a:t>
            </a:r>
            <a:r>
              <a:rPr lang="ko-KR" altLang="en-US" sz="1400" dirty="0"/>
              <a:t>제약 조건 최소화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증명 생성 비용은 </a:t>
            </a:r>
            <a:r>
              <a:rPr lang="en-US" altLang="ko-KR" sz="1400" dirty="0"/>
              <a:t>state</a:t>
            </a:r>
            <a:r>
              <a:rPr lang="ko-KR" altLang="en-US" sz="1400" dirty="0"/>
              <a:t>의 구성 원소 개수</a:t>
            </a:r>
            <a:r>
              <a:rPr lang="en-US" altLang="ko-KR" sz="1400" dirty="0"/>
              <a:t>, </a:t>
            </a:r>
            <a:r>
              <a:rPr lang="ko-KR" altLang="en-US" sz="1400" dirty="0"/>
              <a:t>다항식 차수</a:t>
            </a:r>
            <a:r>
              <a:rPr lang="en-US" altLang="ko-KR" sz="1400" dirty="0"/>
              <a:t>, </a:t>
            </a:r>
            <a:r>
              <a:rPr lang="ko-KR" altLang="en-US" sz="1400" dirty="0"/>
              <a:t>변환 횟수의 곱에 정비례</a:t>
            </a:r>
            <a:endParaRPr lang="en-US" altLang="ko-KR" sz="1400" dirty="0"/>
          </a:p>
          <a:p>
            <a:r>
              <a:rPr lang="ko-KR" altLang="en-US" sz="1400" dirty="0"/>
              <a:t>⇒ </a:t>
            </a:r>
            <a:r>
              <a:rPr lang="en-US" altLang="ko-KR" sz="1400" dirty="0"/>
              <a:t>(3</a:t>
            </a:r>
            <a:r>
              <a:rPr lang="ko-KR" altLang="en-US" sz="1400" dirty="0"/>
              <a:t>차 목표</a:t>
            </a:r>
            <a:r>
              <a:rPr lang="en-US" altLang="ko-KR" sz="1400" dirty="0"/>
              <a:t>)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시간의 최소화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600" b="1" dirty="0"/>
              <a:t>목표</a:t>
            </a:r>
            <a:endParaRPr lang="en-US" altLang="ko-KR" sz="1600" b="1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암호학적 해시함수를 사용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R1CS </a:t>
            </a:r>
            <a:r>
              <a:rPr lang="ko-KR" altLang="en-US" sz="1400" dirty="0"/>
              <a:t>제약 조건 최소화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 최소화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2879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10B54-6CBE-F9F2-AFB1-AF4CFAC5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6FBD0-B424-BB42-A689-BD06100A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IDEA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FEF428-6648-3AF3-DF2A-A2B89457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542B3-10EF-600A-8AE0-9457D8D69AF6}"/>
              </a:ext>
            </a:extLst>
          </p:cNvPr>
          <p:cNvSpPr txBox="1"/>
          <p:nvPr/>
        </p:nvSpPr>
        <p:spPr>
          <a:xfrm>
            <a:off x="714102" y="1509734"/>
            <a:ext cx="107637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</a:t>
            </a:r>
            <a:r>
              <a:rPr lang="ko-KR" altLang="en-US" b="1" dirty="0"/>
              <a:t> </a:t>
            </a:r>
            <a:r>
              <a:rPr lang="en-US" altLang="ko-KR" b="1" dirty="0"/>
              <a:t>IDEA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FontTx/>
              <a:buAutoNum type="arabicPeriod"/>
            </a:pPr>
            <a:r>
              <a:rPr lang="en-US" altLang="ko-KR" sz="1400" dirty="0"/>
              <a:t>SPN </a:t>
            </a:r>
            <a:r>
              <a:rPr lang="ko-KR" altLang="en-US" sz="1400" dirty="0"/>
              <a:t>설계 활용</a:t>
            </a:r>
            <a:r>
              <a:rPr lang="en-US" altLang="ko-KR" sz="1400" dirty="0"/>
              <a:t> + HADES </a:t>
            </a:r>
            <a:r>
              <a:rPr lang="ko-KR" altLang="en-US" sz="1400" dirty="0"/>
              <a:t>구조 전략 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Sponge </a:t>
            </a:r>
            <a:r>
              <a:rPr lang="ko-KR" altLang="en-US" sz="1400" dirty="0"/>
              <a:t>구조 사용</a:t>
            </a:r>
            <a:endParaRPr lang="en-US" altLang="ko-KR" sz="1400" dirty="0"/>
          </a:p>
          <a:p>
            <a:pPr marL="342900" indent="-342900">
              <a:buFontTx/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4953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2E927-9A22-BA70-734B-0ED35532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91B75-533D-D849-EE27-39CB1856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SPN </a:t>
            </a:r>
            <a:r>
              <a:rPr lang="ko-KR" altLang="en-US" dirty="0"/>
              <a:t>설계</a:t>
            </a:r>
            <a:r>
              <a:rPr lang="en-US" altLang="ko-KR" dirty="0"/>
              <a:t>, HADES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FC9774-5B7C-DF30-D8F6-4100DB1E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6DC04-3CD6-B293-6151-9AE2809AEEBD}"/>
              </a:ext>
            </a:extLst>
          </p:cNvPr>
          <p:cNvSpPr txBox="1"/>
          <p:nvPr/>
        </p:nvSpPr>
        <p:spPr>
          <a:xfrm>
            <a:off x="799372" y="1819543"/>
            <a:ext cx="1076379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SPN(Substitution-Permutation Network)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치환</a:t>
            </a:r>
            <a:r>
              <a:rPr lang="en-US" altLang="ko-KR" sz="1400" dirty="0"/>
              <a:t>(Substitution)</a:t>
            </a:r>
            <a:r>
              <a:rPr lang="ko-KR" altLang="en-US" sz="1400" dirty="0"/>
              <a:t>과 순열</a:t>
            </a:r>
            <a:r>
              <a:rPr lang="en-US" altLang="ko-KR" sz="1400" dirty="0"/>
              <a:t>(Permutation)</a:t>
            </a:r>
            <a:r>
              <a:rPr lang="ko-KR" altLang="en-US" sz="1400" dirty="0"/>
              <a:t>을 반복적으로 적용하여 </a:t>
            </a:r>
            <a:r>
              <a:rPr lang="ko-KR" altLang="en-US" sz="1400" dirty="0" err="1"/>
              <a:t>평문을</a:t>
            </a:r>
            <a:r>
              <a:rPr lang="ko-KR" altLang="en-US" sz="1400" dirty="0"/>
              <a:t> 암호문으로 변환하는 구조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작은 블록을 </a:t>
            </a:r>
            <a:r>
              <a:rPr lang="en-US" altLang="ko-KR" sz="1400" dirty="0"/>
              <a:t>S-BOX</a:t>
            </a:r>
            <a:r>
              <a:rPr lang="ko-KR" altLang="en-US" sz="1400" dirty="0"/>
              <a:t>로 치환하고 그 결과 값을 </a:t>
            </a:r>
            <a:r>
              <a:rPr lang="en-US" altLang="ko-KR" sz="1400" dirty="0"/>
              <a:t>Permutation </a:t>
            </a:r>
            <a:r>
              <a:rPr lang="ko-KR" altLang="en-US" sz="1400" dirty="0"/>
              <a:t>연산을 진행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Ex) AES</a:t>
            </a:r>
          </a:p>
          <a:p>
            <a:endParaRPr lang="en-US" altLang="ko-KR" sz="1400" dirty="0"/>
          </a:p>
          <a:p>
            <a:r>
              <a:rPr lang="en-US" altLang="ko-KR" sz="1600" b="1" dirty="0"/>
              <a:t>HADES </a:t>
            </a:r>
            <a:r>
              <a:rPr lang="ko-KR" altLang="en-US" sz="1600" b="1" dirty="0"/>
              <a:t>구조</a:t>
            </a:r>
            <a:endParaRPr lang="en-US" altLang="ko-KR" sz="16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일반적인 </a:t>
            </a:r>
            <a:r>
              <a:rPr lang="en-US" altLang="ko-KR" sz="1400" dirty="0"/>
              <a:t>SPN </a:t>
            </a:r>
            <a:r>
              <a:rPr lang="ko-KR" altLang="en-US" sz="1400" dirty="0"/>
              <a:t>구조는 여러 라운드로 구성</a:t>
            </a:r>
            <a:r>
              <a:rPr lang="en-US" altLang="ko-KR" sz="1400" dirty="0"/>
              <a:t>, </a:t>
            </a:r>
            <a:r>
              <a:rPr lang="ko-KR" altLang="en-US" sz="1400" dirty="0"/>
              <a:t>모든 라운드가 동일한 </a:t>
            </a:r>
            <a:r>
              <a:rPr lang="en-US" altLang="ko-KR" sz="1400" dirty="0"/>
              <a:t>SPN </a:t>
            </a:r>
            <a:r>
              <a:rPr lang="ko-KR" altLang="en-US" sz="1400" dirty="0"/>
              <a:t>구조를 적용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HADES </a:t>
            </a:r>
            <a:r>
              <a:rPr lang="ko-KR" altLang="en-US" sz="1400" dirty="0"/>
              <a:t>구조는 </a:t>
            </a:r>
            <a:r>
              <a:rPr lang="en-US" altLang="ko-KR" sz="1400" dirty="0"/>
              <a:t>Round </a:t>
            </a:r>
            <a:r>
              <a:rPr lang="ko-KR" altLang="en-US" sz="1400" dirty="0"/>
              <a:t>마다 일부 구조가 다르게 구성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Ex) POSEIDON</a:t>
            </a:r>
            <a:r>
              <a:rPr lang="ko-KR" altLang="en-US" sz="1400" dirty="0"/>
              <a:t>의 </a:t>
            </a:r>
            <a:r>
              <a:rPr lang="en-US" altLang="ko-KR" sz="1400" dirty="0"/>
              <a:t>HADES </a:t>
            </a:r>
            <a:r>
              <a:rPr lang="ko-KR" altLang="en-US" sz="1400" dirty="0"/>
              <a:t>구조</a:t>
            </a:r>
            <a:r>
              <a:rPr lang="en-US" altLang="ko-KR" sz="1400" dirty="0"/>
              <a:t>(Full Round, Partial Round)</a:t>
            </a:r>
          </a:p>
          <a:p>
            <a:pPr lvl="1"/>
            <a:endParaRPr lang="en-US" altLang="ko-KR" sz="1400" dirty="0"/>
          </a:p>
        </p:txBody>
      </p:sp>
      <p:pic>
        <p:nvPicPr>
          <p:cNvPr id="5" name="그림 4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8D3026-6E55-D5F1-B084-72EF15081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18" y="3081131"/>
            <a:ext cx="4331622" cy="3016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60C38-1F40-38BF-E40B-28D4C1B55848}"/>
              </a:ext>
            </a:extLst>
          </p:cNvPr>
          <p:cNvSpPr txBox="1"/>
          <p:nvPr/>
        </p:nvSpPr>
        <p:spPr>
          <a:xfrm>
            <a:off x="8468140" y="6225545"/>
            <a:ext cx="31705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한 라운드에 적용되는 </a:t>
            </a:r>
            <a:r>
              <a:rPr lang="en-US" altLang="ko-KR" sz="1100" dirty="0"/>
              <a:t>SPN</a:t>
            </a:r>
            <a:r>
              <a:rPr lang="ko-KR" altLang="en-US" sz="1100" dirty="0"/>
              <a:t> 구조 예시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96586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C8DC-4E02-285E-2520-FB8FF7E6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54A5C-4B33-BFC9-15D2-8A6667A2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CA08B6-270F-52E2-C6FD-1A9EB9FC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E18BDD-51FA-132E-CB3E-E16D1A01F04C}"/>
              </a:ext>
            </a:extLst>
          </p:cNvPr>
          <p:cNvSpPr txBox="1"/>
          <p:nvPr/>
        </p:nvSpPr>
        <p:spPr>
          <a:xfrm>
            <a:off x="584895" y="2000991"/>
            <a:ext cx="107637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lt"/>
              </a:rPr>
              <a:t>𝐏𝐎𝐒𝐄𝐈𝐃𝐎𝐍𝛑 </a:t>
            </a:r>
            <a:endParaRPr lang="en-US" altLang="ko-KR" sz="1400" dirty="0">
              <a:latin typeface="+mj-lt"/>
            </a:endParaRP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한 라운드 당 </a:t>
            </a:r>
            <a:r>
              <a:rPr lang="en-US" altLang="ko-KR" sz="1400" dirty="0"/>
              <a:t>3</a:t>
            </a:r>
            <a:r>
              <a:rPr lang="ko-KR" altLang="en-US" sz="1400" dirty="0"/>
              <a:t>단계의 연속된 함수</a:t>
            </a:r>
            <a:r>
              <a:rPr lang="en-US" altLang="ko-KR" sz="1400" dirty="0"/>
              <a:t>(ARC, SB, M)</a:t>
            </a:r>
            <a:r>
              <a:rPr lang="ko-KR" altLang="en-US" sz="1400" dirty="0"/>
              <a:t>로 구성된 고정키 </a:t>
            </a:r>
            <a:r>
              <a:rPr lang="en-US" altLang="ko-KR" sz="1400" dirty="0"/>
              <a:t>permutation </a:t>
            </a:r>
            <a:r>
              <a:rPr lang="ko-KR" altLang="en-US" sz="1400" dirty="0"/>
              <a:t>연산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Input Absorb </a:t>
            </a:r>
            <a:r>
              <a:rPr lang="ko-KR" altLang="en-US" sz="1400" dirty="0"/>
              <a:t>및 </a:t>
            </a:r>
            <a:r>
              <a:rPr lang="en-US" altLang="ko-KR" sz="1400" dirty="0"/>
              <a:t>Output Squeezing </a:t>
            </a:r>
            <a:r>
              <a:rPr lang="ko-KR" altLang="en-US" sz="1400" dirty="0"/>
              <a:t>단계 사이에 </a:t>
            </a:r>
            <a:r>
              <a:rPr lang="en-US" altLang="ko-KR" sz="1400" dirty="0"/>
              <a:t>Permutation</a:t>
            </a:r>
            <a:r>
              <a:rPr lang="ko-KR" altLang="en-US" sz="1400" dirty="0"/>
              <a:t> 연산</a:t>
            </a:r>
            <a:r>
              <a:rPr lang="en-US" altLang="ko-KR" sz="1400" dirty="0"/>
              <a:t>(</a:t>
            </a:r>
            <a:r>
              <a:rPr lang="ko-KR" altLang="en-US" sz="1400" dirty="0"/>
              <a:t>𝐏𝐎𝐒𝐄𝐈𝐃𝐎𝐍𝛑</a:t>
            </a:r>
            <a:r>
              <a:rPr lang="en-US" altLang="ko-KR" sz="1400" dirty="0"/>
              <a:t>)</a:t>
            </a:r>
            <a:r>
              <a:rPr lang="ko-KR" altLang="en-US" sz="1400" dirty="0"/>
              <a:t> 적용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모든 </a:t>
            </a:r>
            <a:r>
              <a:rPr lang="en-US" altLang="ko-KR" sz="1400" dirty="0"/>
              <a:t>Round</a:t>
            </a:r>
            <a:r>
              <a:rPr lang="ko-KR" altLang="en-US" sz="1400" dirty="0"/>
              <a:t>는 </a:t>
            </a:r>
            <a:r>
              <a:rPr lang="en-US" altLang="ko-KR" sz="1400" dirty="0"/>
              <a:t>ARC, SB, M</a:t>
            </a:r>
            <a:r>
              <a:rPr lang="ko-KR" altLang="en-US" sz="1400" dirty="0"/>
              <a:t> 함수를 연속적으로 적용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전체 </a:t>
            </a:r>
            <a:r>
              <a:rPr lang="en-US" altLang="ko-KR" sz="1400" dirty="0"/>
              <a:t>Rounds = Full Rounds + Partial Rounds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Full 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</a:t>
            </a:r>
            <a:r>
              <a:rPr lang="ko-KR" altLang="en-US" sz="1400" dirty="0"/>
              <a:t> </a:t>
            </a:r>
            <a:r>
              <a:rPr lang="en-US" altLang="ko-KR" sz="1400" dirty="0"/>
              <a:t>Round</a:t>
            </a:r>
            <a:r>
              <a:rPr lang="ko-KR" altLang="en-US" sz="1400" dirty="0"/>
              <a:t>의 절반은 초반 </a:t>
            </a:r>
            <a:r>
              <a:rPr lang="en-US" altLang="ko-KR" sz="1400" dirty="0"/>
              <a:t>Round, </a:t>
            </a:r>
            <a:r>
              <a:rPr lang="ko-KR" altLang="en-US" sz="1400" dirty="0"/>
              <a:t>나머지 절반은 마지막 </a:t>
            </a:r>
            <a:r>
              <a:rPr lang="en-US" altLang="ko-KR" sz="1400" dirty="0"/>
              <a:t>Round</a:t>
            </a:r>
            <a:r>
              <a:rPr lang="ko-KR" altLang="en-US" sz="1400" dirty="0"/>
              <a:t>에 적용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모든 </a:t>
            </a:r>
            <a:r>
              <a:rPr lang="en-US" altLang="ko-KR" sz="1400" dirty="0"/>
              <a:t>state</a:t>
            </a:r>
            <a:r>
              <a:rPr lang="ko-KR" altLang="en-US" sz="1400" dirty="0"/>
              <a:t>에 대해서 </a:t>
            </a:r>
            <a:r>
              <a:rPr lang="en-US" altLang="ko-KR" sz="1400" dirty="0"/>
              <a:t>S-Box </a:t>
            </a:r>
            <a:r>
              <a:rPr lang="ko-KR" altLang="en-US" sz="1400" dirty="0"/>
              <a:t>연산을 취함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Partial Round : </a:t>
            </a:r>
            <a:r>
              <a:rPr lang="ko-KR" altLang="en-US" sz="1400" dirty="0"/>
              <a:t>가장 마지막 </a:t>
            </a:r>
            <a:r>
              <a:rPr lang="en-US" altLang="ko-KR" sz="1400" dirty="0"/>
              <a:t>state</a:t>
            </a:r>
            <a:r>
              <a:rPr lang="ko-KR" altLang="en-US" sz="1400" dirty="0"/>
              <a:t>에 대해서만 </a:t>
            </a:r>
            <a:r>
              <a:rPr lang="en-US" altLang="ko-KR" sz="1400" dirty="0"/>
              <a:t>S-Box(SB) </a:t>
            </a:r>
            <a:r>
              <a:rPr lang="ko-KR" altLang="en-US" sz="1400" dirty="0"/>
              <a:t>연산을 취함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Full Round</a:t>
            </a:r>
            <a:r>
              <a:rPr lang="ko-KR" altLang="en-US" sz="1400" dirty="0"/>
              <a:t>는 통계적 안정성을 위해서 최소 조건이 존재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Partial Round</a:t>
            </a:r>
            <a:r>
              <a:rPr lang="ko-KR" altLang="en-US" sz="1400" dirty="0"/>
              <a:t>는 계산 비용 감소 등 효율성 충족을 위해 사용</a:t>
            </a:r>
            <a:r>
              <a:rPr lang="en-US" altLang="ko-KR" sz="1400" dirty="0"/>
              <a:t>, </a:t>
            </a:r>
            <a:r>
              <a:rPr lang="ko-KR" altLang="en-US" sz="1400" dirty="0"/>
              <a:t>대수적 공격에 대한 저항성이 </a:t>
            </a:r>
            <a:r>
              <a:rPr lang="en-US" altLang="ko-KR" sz="1400" dirty="0"/>
              <a:t>full round</a:t>
            </a:r>
            <a:r>
              <a:rPr lang="ko-KR" altLang="en-US" sz="1400" dirty="0"/>
              <a:t>와 유사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</a:t>
            </a:r>
            <a:r>
              <a:rPr lang="ko-KR" altLang="en-US" sz="1400" dirty="0"/>
              <a:t>전체 함수의 차수 증가를 위해 사용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전체 </a:t>
            </a:r>
            <a:r>
              <a:rPr lang="en-US" altLang="ko-KR" sz="1400" dirty="0"/>
              <a:t>Round </a:t>
            </a:r>
            <a:r>
              <a:rPr lang="ko-KR" altLang="en-US" sz="1400" dirty="0"/>
              <a:t>수는 </a:t>
            </a:r>
            <a:r>
              <a:rPr lang="en-US" altLang="ko-KR" sz="1400" dirty="0"/>
              <a:t>Security Margin</a:t>
            </a:r>
            <a:r>
              <a:rPr lang="ko-KR" altLang="en-US" sz="1400" dirty="0"/>
              <a:t>을 고려하여 선택 가능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Permutation</a:t>
            </a:r>
            <a:r>
              <a:rPr lang="ko-KR" altLang="en-US" sz="1400" dirty="0"/>
              <a:t>이 랜덤하게 선택된 무작위 함수처럼 동작할 경우</a:t>
            </a:r>
            <a:r>
              <a:rPr lang="en-US" altLang="ko-KR" sz="1400" dirty="0"/>
              <a:t>, sponge </a:t>
            </a:r>
            <a:r>
              <a:rPr lang="ko-KR" altLang="en-US" sz="1400" dirty="0"/>
              <a:t>함수는 </a:t>
            </a:r>
            <a:r>
              <a:rPr lang="en-US" altLang="ko-KR" sz="1400" dirty="0"/>
              <a:t>random oracle</a:t>
            </a:r>
            <a:r>
              <a:rPr lang="ko-KR" altLang="en-US" sz="1400" dirty="0"/>
              <a:t>과 구분 불가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409A64-E807-F2FF-4970-4015CB1BC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6154" y="2392588"/>
            <a:ext cx="2591586" cy="25069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4BCFF-7535-59F9-EF3C-51604C800B16}"/>
                  </a:ext>
                </a:extLst>
              </p:cNvPr>
              <p:cNvSpPr txBox="1"/>
              <p:nvPr/>
            </p:nvSpPr>
            <p:spPr>
              <a:xfrm>
                <a:off x="9940256" y="4899581"/>
                <a:ext cx="13817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𝑃𝑂𝑆𝐸𝐼𝐷𝑂𝑁</m:t>
                        </m:r>
                      </m:e>
                      <m:sup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구</m:t>
                    </m:r>
                  </m:oMath>
                </a14:m>
                <a:r>
                  <a:rPr lang="ko-KR" altLang="en-US" sz="1100" dirty="0"/>
                  <a:t>조</a:t>
                </a:r>
                <a:endParaRPr lang="en-US" altLang="ko-KR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4BCFF-7535-59F9-EF3C-51604C800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0256" y="4899581"/>
                <a:ext cx="1381794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08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E85C0-2626-3CC3-BDFD-4C58BDD2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9D84F9C-2660-DD8A-F984-24A67616EC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70552" y="176443"/>
                <a:ext cx="12021437" cy="71255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𝐏𝐎𝐒𝐄𝐈𝐃𝐎𝐍</m:t>
                        </m:r>
                      </m:e>
                      <m:sup>
                        <m:r>
                          <a:rPr lang="ko-KR" altLang="en-US" b="1" i="0">
                            <a:latin typeface="Cambria Math" panose="02040503050406030204" pitchFamily="18" charset="0"/>
                          </a:rPr>
                          <m:t>𝛑</m:t>
                        </m:r>
                      </m:sup>
                    </m:sSup>
                  </m:oMath>
                </a14:m>
                <a:r>
                  <a:rPr lang="ko-KR" altLang="en-US" dirty="0"/>
                  <a:t> 구성 함수</a:t>
                </a: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D9D84F9C-2660-DD8A-F984-24A67616E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0552" y="176443"/>
                <a:ext cx="12021437" cy="712557"/>
              </a:xfrm>
              <a:blipFill>
                <a:blip r:embed="rId3"/>
                <a:stretch>
                  <a:fillRect t="-26496"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1BD2E-EA46-380C-7FAD-2757A0F9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16432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E8E01-6335-DAF8-B6C5-2AE23C39CB10}"/>
                  </a:ext>
                </a:extLst>
              </p:cNvPr>
              <p:cNvSpPr txBox="1"/>
              <p:nvPr/>
            </p:nvSpPr>
            <p:spPr>
              <a:xfrm>
                <a:off x="900608" y="1746238"/>
                <a:ext cx="6427447" cy="3512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ARC(Add Round Constants)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State</a:t>
                </a:r>
                <a:r>
                  <a:rPr lang="ko-KR" altLang="en-US" sz="1400" dirty="0"/>
                  <a:t> 내의 모든 </a:t>
                </a:r>
                <a:r>
                  <a:rPr lang="en-US" altLang="ko-KR" sz="1400" dirty="0"/>
                  <a:t>word</a:t>
                </a:r>
                <a:r>
                  <a:rPr lang="ko-KR" altLang="en-US" sz="1400" dirty="0"/>
                  <a:t>에 라운드 별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를 더함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라운드 별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는 </a:t>
                </a:r>
                <a:r>
                  <a:rPr lang="en-US" altLang="ko-KR" sz="1400" dirty="0"/>
                  <a:t>constant table</a:t>
                </a:r>
                <a:r>
                  <a:rPr lang="ko-KR" altLang="en-US" sz="1400" dirty="0"/>
                  <a:t>에 정의 되어있음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매 라운드마다 </a:t>
                </a:r>
                <a:r>
                  <a:rPr lang="en-US" altLang="ko-KR" sz="1400" dirty="0"/>
                  <a:t>constant</a:t>
                </a:r>
                <a:r>
                  <a:rPr lang="ko-KR" altLang="en-US" sz="1400" dirty="0"/>
                  <a:t>가 다름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b="1" dirty="0"/>
                  <a:t>S(Sub Words)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Word </a:t>
                </a:r>
                <a:r>
                  <a:rPr lang="ko-KR" altLang="en-US" sz="1400" dirty="0"/>
                  <a:t>단위로 </a:t>
                </a:r>
                <a:r>
                  <a:rPr lang="en-US" altLang="ko-KR" sz="1400" dirty="0"/>
                  <a:t>table</a:t>
                </a:r>
                <a:r>
                  <a:rPr lang="ko-KR" altLang="en-US" sz="1400" dirty="0"/>
                  <a:t>에 해당하는 값으로 </a:t>
                </a:r>
                <a:r>
                  <a:rPr lang="en-US" altLang="ko-KR" sz="1400" dirty="0"/>
                  <a:t>substitution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비선형성 부여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일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반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적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으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로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400" dirty="0"/>
                  <a:t>를 사용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ex) AES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S-box</a:t>
                </a:r>
              </a:p>
              <a:p>
                <a:endParaRPr lang="en-US" altLang="ko-KR" sz="1400" dirty="0"/>
              </a:p>
              <a:p>
                <a:r>
                  <a:rPr lang="en-US" altLang="ko-KR" b="1" dirty="0"/>
                  <a:t>M(Mix Layer)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State </a:t>
                </a:r>
                <a:r>
                  <a:rPr lang="ko-KR" altLang="en-US" sz="1400" dirty="0"/>
                  <a:t>벡터 전체에 </a:t>
                </a:r>
                <a:r>
                  <a:rPr lang="en-US" altLang="ko-KR" sz="1400" dirty="0"/>
                  <a:t>t x t MDS </a:t>
                </a:r>
                <a:r>
                  <a:rPr lang="ko-KR" altLang="en-US" sz="1400" dirty="0"/>
                  <a:t>행렬을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곱함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Linear layer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Cauchy </a:t>
                </a:r>
                <a:r>
                  <a:rPr lang="ko-KR" altLang="en-US" sz="1400" dirty="0"/>
                  <a:t>행렬이라는 방법을 이용하여 </a:t>
                </a:r>
                <a:r>
                  <a:rPr lang="en-US" altLang="ko-KR" sz="1400" dirty="0"/>
                  <a:t>MDS </a:t>
                </a:r>
                <a:r>
                  <a:rPr lang="ko-KR" altLang="en-US" sz="1400" dirty="0" err="1"/>
                  <a:t>행렬값</a:t>
                </a:r>
                <a:r>
                  <a:rPr lang="ko-KR" altLang="en-US" sz="1400" dirty="0"/>
                  <a:t> 결정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1E8E01-6335-DAF8-B6C5-2AE23C39C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08" y="1746238"/>
                <a:ext cx="6427447" cy="3512693"/>
              </a:xfrm>
              <a:prstGeom prst="rect">
                <a:avLst/>
              </a:prstGeom>
              <a:blipFill>
                <a:blip r:embed="rId4"/>
                <a:stretch>
                  <a:fillRect l="-854" t="-867" b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7C49947-83D5-AA4F-C74C-AF9D0F95B7E2}"/>
              </a:ext>
            </a:extLst>
          </p:cNvPr>
          <p:cNvSpPr txBox="1"/>
          <p:nvPr/>
        </p:nvSpPr>
        <p:spPr>
          <a:xfrm>
            <a:off x="8752946" y="5383488"/>
            <a:ext cx="175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MDS matrix </a:t>
            </a:r>
            <a:r>
              <a:rPr lang="ko-KR" altLang="en-US" sz="1200" dirty="0"/>
              <a:t>예시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376F51-B85E-B1B8-DC89-2CE95CE16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269" y="3494391"/>
            <a:ext cx="3674123" cy="18228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D0122A-436E-16B9-F49F-3D166B79405A}"/>
              </a:ext>
            </a:extLst>
          </p:cNvPr>
          <p:cNvSpPr txBox="1"/>
          <p:nvPr/>
        </p:nvSpPr>
        <p:spPr>
          <a:xfrm>
            <a:off x="8469086" y="2886313"/>
            <a:ext cx="1991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Round constant </a:t>
            </a:r>
            <a:r>
              <a:rPr lang="ko-KR" altLang="en-US" sz="1200" dirty="0"/>
              <a:t>예시</a:t>
            </a:r>
            <a:r>
              <a:rPr lang="en-US" altLang="ko-KR" sz="1200" dirty="0"/>
              <a:t>(</a:t>
            </a:r>
            <a:r>
              <a:rPr lang="ko-KR" altLang="en-US" sz="1200" dirty="0"/>
              <a:t>일부</a:t>
            </a:r>
            <a:r>
              <a:rPr lang="en-US" altLang="ko-KR" sz="1200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AB40B9-1182-C57E-BC76-6026A7D07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055" y="1473425"/>
            <a:ext cx="3726589" cy="136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7B69-D97A-23CA-E092-00F51186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326DB-01BC-FF18-2094-502440DC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SPONGE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824231-BFDE-BE4B-89E0-C455982E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8CE27-1CF4-42C9-7A7A-249740CD3D5C}"/>
                  </a:ext>
                </a:extLst>
              </p:cNvPr>
              <p:cNvSpPr txBox="1"/>
              <p:nvPr/>
            </p:nvSpPr>
            <p:spPr>
              <a:xfrm>
                <a:off x="799372" y="1819543"/>
                <a:ext cx="10763796" cy="4255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SPONGE </a:t>
                </a:r>
                <a:r>
                  <a:rPr lang="ko-KR" altLang="en-US" b="1" dirty="0"/>
                  <a:t>구조란</a:t>
                </a:r>
                <a:r>
                  <a:rPr lang="en-US" altLang="ko-KR" b="1" dirty="0"/>
                  <a:t>?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임의의 길이를 가진 입력 데이터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메시지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를 받아 고정된 크기 또는 임의의 길이의 </a:t>
                </a:r>
                <a:r>
                  <a:rPr lang="ko-KR" altLang="en-US" sz="1400" dirty="0" err="1"/>
                  <a:t>해시값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출력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을 생성하는 암호학적 구조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고정되고 공개된 </a:t>
                </a:r>
                <a:r>
                  <a:rPr lang="ko-KR" altLang="en-US" sz="1400" dirty="0" err="1"/>
                  <a:t>키값</a:t>
                </a:r>
                <a:r>
                  <a:rPr lang="en-US" altLang="ko-KR" sz="1400" dirty="0"/>
                  <a:t>(constants matrix, MDS </a:t>
                </a:r>
                <a:r>
                  <a:rPr lang="ko-KR" altLang="en-US" sz="1400" dirty="0"/>
                  <a:t>행렬 값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 사용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전체 구조는 </a:t>
                </a:r>
                <a:r>
                  <a:rPr lang="en-US" altLang="ko-KR" sz="1400" dirty="0"/>
                  <a:t>rate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capacity</a:t>
                </a:r>
                <a:r>
                  <a:rPr lang="ko-KR" altLang="en-US" sz="1400" dirty="0"/>
                  <a:t>로 나뉨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Rate : </a:t>
                </a:r>
                <a:r>
                  <a:rPr lang="ko-KR" altLang="en-US" sz="1400" dirty="0"/>
                  <a:t>입력을 받고 출력을 내보내는 영역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처리량과 직결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Capacity : </a:t>
                </a:r>
                <a:r>
                  <a:rPr lang="ko-KR" altLang="en-US" sz="1400" dirty="0"/>
                  <a:t>외부 입력을 직접적으로 받지 않고 함수로만 접근 가능한 영역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보안 수준에 핵심적인 역할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P : Permutation </a:t>
                </a:r>
                <a:r>
                  <a:rPr lang="ko-KR" altLang="en-US" sz="1400" dirty="0"/>
                  <a:t>연산</a:t>
                </a:r>
                <a:r>
                  <a:rPr lang="en-US" altLang="ko-KR" sz="1400" dirty="0"/>
                  <a:t>(POSEIDON</a:t>
                </a:r>
                <a:r>
                  <a:rPr lang="el-GR" altLang="ko-KR" sz="1400" dirty="0"/>
                  <a:t>π</a:t>
                </a:r>
                <a:r>
                  <a:rPr lang="en-US" altLang="ko-KR" sz="14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무작위로 선택된 순열로 모델링 하는 경우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ko-KR" sz="1400" dirty="0"/>
                  <a:t>-bit(c : capacity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bit </a:t>
                </a:r>
                <a:r>
                  <a:rPr lang="ko-KR" altLang="en-US" sz="1400" dirty="0"/>
                  <a:t>크기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의 충돌 저항성 및 역상 저항성 제공 가능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r>
                  <a:rPr lang="en-US" altLang="ko-KR" sz="1400" b="1" dirty="0"/>
                  <a:t>SPONGE </a:t>
                </a:r>
                <a:r>
                  <a:rPr lang="ko-KR" altLang="en-US" sz="1400" b="1" dirty="0"/>
                  <a:t>구조 동작 순서</a:t>
                </a:r>
                <a:r>
                  <a:rPr lang="en-US" altLang="ko-KR" sz="1400" b="1" dirty="0"/>
                  <a:t>(POSEIDON-128)</a:t>
                </a:r>
                <a:endParaRPr lang="en-US" altLang="ko-KR" sz="11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1. </a:t>
                </a:r>
                <a:r>
                  <a:rPr lang="ko-KR" altLang="en-US" sz="1400" dirty="0"/>
                  <a:t>초기 </a:t>
                </a:r>
                <a:r>
                  <a:rPr lang="en-US" altLang="ko-KR" sz="1400" dirty="0"/>
                  <a:t>state 0</a:t>
                </a:r>
                <a:r>
                  <a:rPr lang="ko-KR" altLang="en-US" sz="1400" dirty="0"/>
                  <a:t>으로 초기화</a:t>
                </a:r>
                <a:endParaRPr lang="en-US" altLang="ko-KR" sz="1400" dirty="0"/>
              </a:p>
              <a:p>
                <a:r>
                  <a:rPr lang="en-US" altLang="ko-KR" sz="1400" dirty="0"/>
                  <a:t>2. </a:t>
                </a:r>
                <a:r>
                  <a:rPr lang="ko-KR" altLang="en-US" sz="1400" dirty="0"/>
                  <a:t>메시지를 </a:t>
                </a:r>
                <a:r>
                  <a:rPr lang="en-US" altLang="ko-KR" sz="1400" dirty="0"/>
                  <a:t>256-bit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chunk</a:t>
                </a:r>
                <a:r>
                  <a:rPr lang="ko-KR" altLang="en-US" sz="1400" dirty="0"/>
                  <a:t>로 자름</a:t>
                </a:r>
                <a:endParaRPr lang="en-US" altLang="ko-KR" sz="1400" dirty="0"/>
              </a:p>
              <a:p>
                <a:r>
                  <a:rPr lang="en-US" altLang="ko-KR" sz="1400" dirty="0"/>
                  <a:t>3. Chunk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rate</a:t>
                </a:r>
                <a:r>
                  <a:rPr lang="ko-KR" altLang="en-US" sz="1400" dirty="0"/>
                  <a:t> 부분의 값을 </a:t>
                </a:r>
                <a:r>
                  <a:rPr lang="en-US" altLang="ko-KR" sz="1400" dirty="0"/>
                  <a:t>XOR</a:t>
                </a:r>
                <a:r>
                  <a:rPr lang="ko-KR" altLang="en-US" sz="1400" dirty="0"/>
                  <a:t> 연산을 통해 흡수</a:t>
                </a:r>
                <a:endParaRPr lang="en-US" altLang="ko-KR" sz="1400" dirty="0"/>
              </a:p>
              <a:p>
                <a:r>
                  <a:rPr lang="en-US" altLang="ko-KR" sz="1400" dirty="0"/>
                  <a:t>4. Permutation </a:t>
                </a:r>
                <a:r>
                  <a:rPr lang="ko-KR" altLang="en-US" sz="1400" dirty="0"/>
                  <a:t>연산 진행</a:t>
                </a:r>
                <a:endParaRPr lang="en-US" altLang="ko-KR" sz="1400" dirty="0"/>
              </a:p>
              <a:p>
                <a:r>
                  <a:rPr lang="en-US" altLang="ko-KR" sz="1400" dirty="0"/>
                  <a:t>5. 3~4</a:t>
                </a:r>
                <a:r>
                  <a:rPr lang="ko-KR" altLang="en-US" sz="1400" dirty="0"/>
                  <a:t>번을 모든 </a:t>
                </a:r>
                <a:r>
                  <a:rPr lang="en-US" altLang="ko-KR" sz="1400" dirty="0"/>
                  <a:t>chunk</a:t>
                </a:r>
                <a:r>
                  <a:rPr lang="ko-KR" altLang="en-US" sz="1400" dirty="0"/>
                  <a:t>가 흡수될 때 까지 반복</a:t>
                </a:r>
                <a:endParaRPr lang="en-US" altLang="ko-KR" sz="1400" dirty="0"/>
              </a:p>
              <a:p>
                <a:r>
                  <a:rPr lang="en-US" altLang="ko-KR" sz="1400" dirty="0"/>
                  <a:t>6. </a:t>
                </a:r>
                <a:r>
                  <a:rPr lang="ko-KR" altLang="en-US" sz="1400" dirty="0"/>
                  <a:t>결과값을 추출</a:t>
                </a:r>
                <a:endParaRPr lang="en-US" altLang="ko-KR" sz="1400" dirty="0"/>
              </a:p>
              <a:p>
                <a:r>
                  <a:rPr lang="en-US" altLang="ko-KR" sz="1400" dirty="0"/>
                  <a:t>(</a:t>
                </a:r>
                <a:r>
                  <a:rPr lang="ko-KR" altLang="en-US" sz="1400" dirty="0"/>
                  <a:t>필요시</a:t>
                </a:r>
                <a:r>
                  <a:rPr lang="en-US" altLang="ko-KR" sz="1400" dirty="0"/>
                  <a:t>) 7. Permutation </a:t>
                </a:r>
                <a:r>
                  <a:rPr lang="ko-KR" altLang="en-US" sz="1400" dirty="0"/>
                  <a:t>연산 후 추가 </a:t>
                </a:r>
                <a:r>
                  <a:rPr lang="en-US" altLang="ko-KR" sz="1400" dirty="0"/>
                  <a:t>Output </a:t>
                </a:r>
                <a:r>
                  <a:rPr lang="ko-KR" altLang="en-US" sz="1400" dirty="0"/>
                  <a:t>추출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28CE27-1CF4-42C9-7A7A-249740CD3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72" y="1819543"/>
                <a:ext cx="10763796" cy="4255332"/>
              </a:xfrm>
              <a:prstGeom prst="rect">
                <a:avLst/>
              </a:prstGeom>
              <a:blipFill>
                <a:blip r:embed="rId3"/>
                <a:stretch>
                  <a:fillRect l="-453" t="-715" b="-5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4A57AB58-49B2-D9F3-BC3A-EC1169112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065" y="4264289"/>
            <a:ext cx="4459250" cy="1684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CDB93-72D1-B9D6-1EF8-55AC71C8AC5C}"/>
              </a:ext>
            </a:extLst>
          </p:cNvPr>
          <p:cNvSpPr txBox="1"/>
          <p:nvPr/>
        </p:nvSpPr>
        <p:spPr>
          <a:xfrm>
            <a:off x="9174840" y="5917348"/>
            <a:ext cx="1133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sponge</a:t>
            </a:r>
            <a:r>
              <a:rPr lang="ko-KR" altLang="en-US" sz="1100" dirty="0"/>
              <a:t>구조</a:t>
            </a:r>
            <a:r>
              <a:rPr lang="en-US" altLang="ko-KR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354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55FB-ABEF-490B-2F56-EBE3CC3C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E0D89-B4D3-2F70-C94D-FE97BF4F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712557"/>
          </a:xfrm>
        </p:spPr>
        <p:txBody>
          <a:bodyPr>
            <a:normAutofit/>
          </a:bodyPr>
          <a:lstStyle/>
          <a:p>
            <a:r>
              <a:rPr lang="en-US" altLang="ko-KR" dirty="0"/>
              <a:t>Sponge </a:t>
            </a:r>
            <a:r>
              <a:rPr lang="ko-KR" altLang="en-US" dirty="0"/>
              <a:t>구조</a:t>
            </a:r>
            <a:r>
              <a:rPr lang="en-US" altLang="ko-KR" dirty="0"/>
              <a:t> </a:t>
            </a:r>
            <a:r>
              <a:rPr lang="ko-KR" altLang="en-US" dirty="0"/>
              <a:t>동작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D0D43-7AA0-797C-F520-CD205DEA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16432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3D105-40BB-0D18-0E00-C01F9174B132}"/>
              </a:ext>
            </a:extLst>
          </p:cNvPr>
          <p:cNvSpPr txBox="1"/>
          <p:nvPr/>
        </p:nvSpPr>
        <p:spPr>
          <a:xfrm>
            <a:off x="975373" y="1235809"/>
            <a:ext cx="6698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Sponge </a:t>
            </a:r>
            <a:r>
              <a:rPr lang="ko-KR" altLang="en-US" b="1" dirty="0"/>
              <a:t>구조 동작 예시</a:t>
            </a:r>
            <a:endParaRPr lang="en-US" altLang="ko-KR" sz="1400" dirty="0"/>
          </a:p>
          <a:p>
            <a:r>
              <a:rPr lang="ko-KR" altLang="en-US" sz="1400" dirty="0"/>
              <a:t>한 </a:t>
            </a:r>
            <a:r>
              <a:rPr lang="en-US" altLang="ko-KR" sz="1400" dirty="0"/>
              <a:t>Field </a:t>
            </a:r>
            <a:r>
              <a:rPr lang="ko-KR" altLang="en-US" sz="1400" dirty="0"/>
              <a:t>당 약 </a:t>
            </a:r>
            <a:r>
              <a:rPr lang="en-US" altLang="ko-KR" sz="1400" dirty="0"/>
              <a:t>254-bit</a:t>
            </a:r>
          </a:p>
          <a:p>
            <a:r>
              <a:rPr lang="en-US" altLang="ko-KR" sz="1400" dirty="0"/>
              <a:t>- Input : [ 5, 7, 9, 4, 2 ]</a:t>
            </a:r>
          </a:p>
          <a:p>
            <a:r>
              <a:rPr lang="en-US" altLang="ko-KR" sz="1400" dirty="0"/>
              <a:t>*permutation</a:t>
            </a:r>
            <a:r>
              <a:rPr lang="ko-KR" altLang="en-US" sz="1400" dirty="0"/>
              <a:t> 값은  임의로 설정</a:t>
            </a:r>
            <a:r>
              <a:rPr lang="en-US" altLang="ko-KR" sz="1400" dirty="0"/>
              <a:t>(</a:t>
            </a:r>
            <a:r>
              <a:rPr lang="ko-KR" altLang="en-US" sz="1400" dirty="0"/>
              <a:t>실제로는 연산</a:t>
            </a:r>
            <a:r>
              <a:rPr lang="en-US" altLang="ko-KR" sz="1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140B8-8652-1CB2-F27A-DAFCDDF82E83}"/>
              </a:ext>
            </a:extLst>
          </p:cNvPr>
          <p:cNvSpPr txBox="1"/>
          <p:nvPr/>
        </p:nvSpPr>
        <p:spPr>
          <a:xfrm>
            <a:off x="5717838" y="4344260"/>
            <a:ext cx="1418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Absorbing </a:t>
            </a:r>
            <a:r>
              <a:rPr lang="ko-KR" altLang="en-US" sz="1400" dirty="0"/>
              <a:t>예시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8B4380F-7537-790A-9C6E-5B2F441A67A3}"/>
              </a:ext>
            </a:extLst>
          </p:cNvPr>
          <p:cNvGraphicFramePr>
            <a:graphicFrameLocks noGrp="1"/>
          </p:cNvGraphicFramePr>
          <p:nvPr/>
        </p:nvGraphicFramePr>
        <p:xfrm>
          <a:off x="2161267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9B27E6D4-4CE8-6388-A660-B5D2C9E839F6}"/>
              </a:ext>
            </a:extLst>
          </p:cNvPr>
          <p:cNvSpPr/>
          <p:nvPr/>
        </p:nvSpPr>
        <p:spPr>
          <a:xfrm>
            <a:off x="1935842" y="2864403"/>
            <a:ext cx="136525" cy="88371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8026D-3DD5-A292-9FE8-2AEF96DE9E1D}"/>
              </a:ext>
            </a:extLst>
          </p:cNvPr>
          <p:cNvSpPr txBox="1"/>
          <p:nvPr/>
        </p:nvSpPr>
        <p:spPr>
          <a:xfrm>
            <a:off x="975373" y="3152369"/>
            <a:ext cx="871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3B38605C-4C64-DBA7-B085-24AC9BBD9E47}"/>
              </a:ext>
            </a:extLst>
          </p:cNvPr>
          <p:cNvSpPr/>
          <p:nvPr/>
        </p:nvSpPr>
        <p:spPr>
          <a:xfrm>
            <a:off x="1942192" y="3824098"/>
            <a:ext cx="136525" cy="421439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F7C63-B919-082C-0CC9-D8338FBEAB83}"/>
              </a:ext>
            </a:extLst>
          </p:cNvPr>
          <p:cNvSpPr txBox="1"/>
          <p:nvPr/>
        </p:nvSpPr>
        <p:spPr>
          <a:xfrm>
            <a:off x="824593" y="3824098"/>
            <a:ext cx="1067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A49BC5E-1C15-9A20-8446-EFB377CBFF64}"/>
              </a:ext>
            </a:extLst>
          </p:cNvPr>
          <p:cNvSpPr/>
          <p:nvPr/>
        </p:nvSpPr>
        <p:spPr>
          <a:xfrm>
            <a:off x="2910980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F571384-A945-11D8-9E75-741F313B4D29}"/>
              </a:ext>
            </a:extLst>
          </p:cNvPr>
          <p:cNvGraphicFramePr>
            <a:graphicFrameLocks noGrp="1"/>
          </p:cNvGraphicFramePr>
          <p:nvPr/>
        </p:nvGraphicFramePr>
        <p:xfrm>
          <a:off x="3508293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E6E4334-21F9-02FD-DE06-DD684022DCEE}"/>
              </a:ext>
            </a:extLst>
          </p:cNvPr>
          <p:cNvSpPr/>
          <p:nvPr/>
        </p:nvSpPr>
        <p:spPr>
          <a:xfrm>
            <a:off x="4258006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C220B5-196C-875C-46F6-4ACDA51EB469}"/>
              </a:ext>
            </a:extLst>
          </p:cNvPr>
          <p:cNvSpPr txBox="1"/>
          <p:nvPr/>
        </p:nvSpPr>
        <p:spPr>
          <a:xfrm>
            <a:off x="2809495" y="2513522"/>
            <a:ext cx="700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[ 5, 7 ]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A69C91B-89AF-359B-C684-39999DA86154}"/>
              </a:ext>
            </a:extLst>
          </p:cNvPr>
          <p:cNvCxnSpPr>
            <a:cxnSpLocks/>
          </p:cNvCxnSpPr>
          <p:nvPr/>
        </p:nvCxnSpPr>
        <p:spPr>
          <a:xfrm>
            <a:off x="3121175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순서도: 논리합 21">
            <a:extLst>
              <a:ext uri="{FF2B5EF4-FFF2-40B4-BE49-F238E27FC236}">
                <a16:creationId xmlns:a16="http://schemas.microsoft.com/office/drawing/2014/main" id="{8EBD7D4B-CEFA-AFDA-848A-2A09A1C6387F}"/>
              </a:ext>
            </a:extLst>
          </p:cNvPr>
          <p:cNvSpPr/>
          <p:nvPr/>
        </p:nvSpPr>
        <p:spPr>
          <a:xfrm>
            <a:off x="3160336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B483E0D-B1BC-BAF1-C78B-47CEA61F710C}"/>
              </a:ext>
            </a:extLst>
          </p:cNvPr>
          <p:cNvGraphicFramePr>
            <a:graphicFrameLocks noGrp="1"/>
          </p:cNvGraphicFramePr>
          <p:nvPr/>
        </p:nvGraphicFramePr>
        <p:xfrm>
          <a:off x="4855319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C56344E-F04D-3419-06B2-AF63EFAC030A}"/>
              </a:ext>
            </a:extLst>
          </p:cNvPr>
          <p:cNvSpPr/>
          <p:nvPr/>
        </p:nvSpPr>
        <p:spPr>
          <a:xfrm>
            <a:off x="5605032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63B197-CB5A-63FC-4437-4C83CF18FF50}"/>
              </a:ext>
            </a:extLst>
          </p:cNvPr>
          <p:cNvSpPr txBox="1"/>
          <p:nvPr/>
        </p:nvSpPr>
        <p:spPr>
          <a:xfrm>
            <a:off x="3916247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CC68F-52EA-2A4A-C87D-3B33AF20B710}"/>
              </a:ext>
            </a:extLst>
          </p:cNvPr>
          <p:cNvGraphicFramePr>
            <a:graphicFrameLocks noGrp="1"/>
          </p:cNvGraphicFramePr>
          <p:nvPr/>
        </p:nvGraphicFramePr>
        <p:xfrm>
          <a:off x="6202345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B82BD31-8A94-CE78-1E28-4AD60CD6DFA4}"/>
              </a:ext>
            </a:extLst>
          </p:cNvPr>
          <p:cNvSpPr/>
          <p:nvPr/>
        </p:nvSpPr>
        <p:spPr>
          <a:xfrm>
            <a:off x="6952058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DDC0B9-F118-E0F4-6AA8-A2427E8A8E48}"/>
              </a:ext>
            </a:extLst>
          </p:cNvPr>
          <p:cNvSpPr txBox="1"/>
          <p:nvPr/>
        </p:nvSpPr>
        <p:spPr>
          <a:xfrm>
            <a:off x="5499162" y="2513522"/>
            <a:ext cx="75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[ 9, 4 ]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A7CAD48-2FBB-4748-FFFC-303BDD79068F}"/>
              </a:ext>
            </a:extLst>
          </p:cNvPr>
          <p:cNvCxnSpPr>
            <a:cxnSpLocks/>
          </p:cNvCxnSpPr>
          <p:nvPr/>
        </p:nvCxnSpPr>
        <p:spPr>
          <a:xfrm>
            <a:off x="5810842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논리합 30">
            <a:extLst>
              <a:ext uri="{FF2B5EF4-FFF2-40B4-BE49-F238E27FC236}">
                <a16:creationId xmlns:a16="http://schemas.microsoft.com/office/drawing/2014/main" id="{178A6C90-5D0B-ABD6-87DD-0BF4006AE355}"/>
              </a:ext>
            </a:extLst>
          </p:cNvPr>
          <p:cNvSpPr/>
          <p:nvPr/>
        </p:nvSpPr>
        <p:spPr>
          <a:xfrm>
            <a:off x="5850003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6D9A47BC-0CFB-1DE3-13B4-AF339AF281C6}"/>
              </a:ext>
            </a:extLst>
          </p:cNvPr>
          <p:cNvGraphicFramePr>
            <a:graphicFrameLocks noGrp="1"/>
          </p:cNvGraphicFramePr>
          <p:nvPr/>
        </p:nvGraphicFramePr>
        <p:xfrm>
          <a:off x="7549371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8C24AEA-B741-EFB9-9D3E-03FEFE198630}"/>
              </a:ext>
            </a:extLst>
          </p:cNvPr>
          <p:cNvSpPr txBox="1"/>
          <p:nvPr/>
        </p:nvSpPr>
        <p:spPr>
          <a:xfrm>
            <a:off x="6637664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1F782C2D-DA36-026D-0534-A9A5523903AB}"/>
              </a:ext>
            </a:extLst>
          </p:cNvPr>
          <p:cNvSpPr/>
          <p:nvPr/>
        </p:nvSpPr>
        <p:spPr>
          <a:xfrm>
            <a:off x="8299084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69334D3-20F5-0DCD-EA6F-A337B93DBA6D}"/>
              </a:ext>
            </a:extLst>
          </p:cNvPr>
          <p:cNvGraphicFramePr>
            <a:graphicFrameLocks noGrp="1"/>
          </p:cNvGraphicFramePr>
          <p:nvPr/>
        </p:nvGraphicFramePr>
        <p:xfrm>
          <a:off x="8896397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A73ACD3-75DB-3982-79B7-53BB020E1475}"/>
              </a:ext>
            </a:extLst>
          </p:cNvPr>
          <p:cNvSpPr/>
          <p:nvPr/>
        </p:nvSpPr>
        <p:spPr>
          <a:xfrm>
            <a:off x="9646110" y="3328043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46B29D-73BF-7A95-76FF-BFEC7803AD9D}"/>
              </a:ext>
            </a:extLst>
          </p:cNvPr>
          <p:cNvSpPr txBox="1"/>
          <p:nvPr/>
        </p:nvSpPr>
        <p:spPr>
          <a:xfrm>
            <a:off x="8188975" y="2513522"/>
            <a:ext cx="75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[ 2, 0 ]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8A9B96F-5E5D-941E-1F3C-D6DAB204AC20}"/>
              </a:ext>
            </a:extLst>
          </p:cNvPr>
          <p:cNvCxnSpPr>
            <a:cxnSpLocks/>
          </p:cNvCxnSpPr>
          <p:nvPr/>
        </p:nvCxnSpPr>
        <p:spPr>
          <a:xfrm>
            <a:off x="8500655" y="2802247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순서도: 논리합 39">
            <a:extLst>
              <a:ext uri="{FF2B5EF4-FFF2-40B4-BE49-F238E27FC236}">
                <a16:creationId xmlns:a16="http://schemas.microsoft.com/office/drawing/2014/main" id="{58DAB4FE-50A0-943D-1797-F4FEF9400D30}"/>
              </a:ext>
            </a:extLst>
          </p:cNvPr>
          <p:cNvSpPr/>
          <p:nvPr/>
        </p:nvSpPr>
        <p:spPr>
          <a:xfrm>
            <a:off x="8539816" y="2899483"/>
            <a:ext cx="233357" cy="252886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A86E6DE9-D4C8-E211-D064-1B342286EEF4}"/>
              </a:ext>
            </a:extLst>
          </p:cNvPr>
          <p:cNvGraphicFramePr>
            <a:graphicFrameLocks noGrp="1"/>
          </p:cNvGraphicFramePr>
          <p:nvPr/>
        </p:nvGraphicFramePr>
        <p:xfrm>
          <a:off x="10243428" y="2858812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30BD97E3-2796-2D63-8EF2-FE879F59D71E}"/>
              </a:ext>
            </a:extLst>
          </p:cNvPr>
          <p:cNvSpPr txBox="1"/>
          <p:nvPr/>
        </p:nvSpPr>
        <p:spPr>
          <a:xfrm>
            <a:off x="9284842" y="2513521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844921-133B-60F1-81DB-62626550D8BF}"/>
              </a:ext>
            </a:extLst>
          </p:cNvPr>
          <p:cNvSpPr txBox="1"/>
          <p:nvPr/>
        </p:nvSpPr>
        <p:spPr>
          <a:xfrm>
            <a:off x="5717838" y="6517069"/>
            <a:ext cx="1510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Squeezing </a:t>
            </a:r>
            <a:r>
              <a:rPr lang="ko-KR" altLang="en-US" sz="1400" dirty="0"/>
              <a:t>예시</a:t>
            </a:r>
            <a:endParaRPr lang="en-US" altLang="ko-KR" sz="1400" dirty="0"/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59C4E22B-7BF5-E9CB-940C-4470A2FC31B7}"/>
              </a:ext>
            </a:extLst>
          </p:cNvPr>
          <p:cNvGraphicFramePr>
            <a:graphicFrameLocks noGrp="1"/>
          </p:cNvGraphicFramePr>
          <p:nvPr/>
        </p:nvGraphicFramePr>
        <p:xfrm>
          <a:off x="2161267" y="5118706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78" name="왼쪽 중괄호 77">
            <a:extLst>
              <a:ext uri="{FF2B5EF4-FFF2-40B4-BE49-F238E27FC236}">
                <a16:creationId xmlns:a16="http://schemas.microsoft.com/office/drawing/2014/main" id="{4DBF0AA4-1DE7-73EC-B959-A8B30F5F0BB7}"/>
              </a:ext>
            </a:extLst>
          </p:cNvPr>
          <p:cNvSpPr/>
          <p:nvPr/>
        </p:nvSpPr>
        <p:spPr>
          <a:xfrm>
            <a:off x="1935842" y="5124297"/>
            <a:ext cx="136525" cy="88371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DC7449-74E4-6807-7695-203976B2BE2E}"/>
              </a:ext>
            </a:extLst>
          </p:cNvPr>
          <p:cNvSpPr txBox="1"/>
          <p:nvPr/>
        </p:nvSpPr>
        <p:spPr>
          <a:xfrm>
            <a:off x="975373" y="5412263"/>
            <a:ext cx="871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80" name="왼쪽 중괄호 79">
            <a:extLst>
              <a:ext uri="{FF2B5EF4-FFF2-40B4-BE49-F238E27FC236}">
                <a16:creationId xmlns:a16="http://schemas.microsoft.com/office/drawing/2014/main" id="{38490FF3-AA36-3278-76A2-6B4356B7FF4E}"/>
              </a:ext>
            </a:extLst>
          </p:cNvPr>
          <p:cNvSpPr/>
          <p:nvPr/>
        </p:nvSpPr>
        <p:spPr>
          <a:xfrm>
            <a:off x="1942192" y="6083992"/>
            <a:ext cx="136525" cy="421439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1637ED-A7D6-9A98-F822-CF47A08D1769}"/>
              </a:ext>
            </a:extLst>
          </p:cNvPr>
          <p:cNvSpPr txBox="1"/>
          <p:nvPr/>
        </p:nvSpPr>
        <p:spPr>
          <a:xfrm>
            <a:off x="824593" y="6083992"/>
            <a:ext cx="1067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DBA4899D-87FB-287D-7F0F-9061630E13E7}"/>
              </a:ext>
            </a:extLst>
          </p:cNvPr>
          <p:cNvSpPr/>
          <p:nvPr/>
        </p:nvSpPr>
        <p:spPr>
          <a:xfrm>
            <a:off x="2910980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10A9ECFE-2CC5-2F1D-E1F5-B091C5B659A1}"/>
              </a:ext>
            </a:extLst>
          </p:cNvPr>
          <p:cNvGraphicFramePr>
            <a:graphicFrameLocks noGrp="1"/>
          </p:cNvGraphicFramePr>
          <p:nvPr/>
        </p:nvGraphicFramePr>
        <p:xfrm>
          <a:off x="3508293" y="5118706"/>
          <a:ext cx="520700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84" name="화살표: 오른쪽 83">
            <a:extLst>
              <a:ext uri="{FF2B5EF4-FFF2-40B4-BE49-F238E27FC236}">
                <a16:creationId xmlns:a16="http://schemas.microsoft.com/office/drawing/2014/main" id="{E91EDC1A-E5FF-6CE4-8F17-A72C5164CAC7}"/>
              </a:ext>
            </a:extLst>
          </p:cNvPr>
          <p:cNvSpPr/>
          <p:nvPr/>
        </p:nvSpPr>
        <p:spPr>
          <a:xfrm>
            <a:off x="4258006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100317-5121-553D-EDAC-A43322A7EF45}"/>
              </a:ext>
            </a:extLst>
          </p:cNvPr>
          <p:cNvSpPr txBox="1"/>
          <p:nvPr/>
        </p:nvSpPr>
        <p:spPr>
          <a:xfrm>
            <a:off x="2634343" y="4795187"/>
            <a:ext cx="947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[ 77, 88 ]</a:t>
            </a: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14159B10-4F10-4DC6-7BDD-06E056D4F12E}"/>
              </a:ext>
            </a:extLst>
          </p:cNvPr>
          <p:cNvGraphicFramePr>
            <a:graphicFrameLocks noGrp="1"/>
          </p:cNvGraphicFramePr>
          <p:nvPr/>
        </p:nvGraphicFramePr>
        <p:xfrm>
          <a:off x="4855319" y="5118706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222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69AA7957-0EBB-3503-A199-4B1203678C3C}"/>
              </a:ext>
            </a:extLst>
          </p:cNvPr>
          <p:cNvSpPr/>
          <p:nvPr/>
        </p:nvSpPr>
        <p:spPr>
          <a:xfrm>
            <a:off x="5605032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914B1BB-FC74-A007-4F85-4A001D708AC2}"/>
              </a:ext>
            </a:extLst>
          </p:cNvPr>
          <p:cNvSpPr txBox="1"/>
          <p:nvPr/>
        </p:nvSpPr>
        <p:spPr>
          <a:xfrm>
            <a:off x="3916247" y="4795186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08EFD77B-378D-7FD3-D282-D659D05FFD17}"/>
              </a:ext>
            </a:extLst>
          </p:cNvPr>
          <p:cNvSpPr/>
          <p:nvPr/>
        </p:nvSpPr>
        <p:spPr>
          <a:xfrm>
            <a:off x="6952058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3ED636D-0E4F-B80C-C6C1-3FC3D49F592F}"/>
              </a:ext>
            </a:extLst>
          </p:cNvPr>
          <p:cNvSpPr txBox="1"/>
          <p:nvPr/>
        </p:nvSpPr>
        <p:spPr>
          <a:xfrm>
            <a:off x="5277059" y="4795187"/>
            <a:ext cx="1039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[ 111, 222 ]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466F7DA5-BC82-7ACA-34A5-F6F48CA07CC6}"/>
              </a:ext>
            </a:extLst>
          </p:cNvPr>
          <p:cNvCxnSpPr>
            <a:cxnSpLocks/>
          </p:cNvCxnSpPr>
          <p:nvPr/>
        </p:nvCxnSpPr>
        <p:spPr>
          <a:xfrm flipV="1">
            <a:off x="5810842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CBAC4EC-EFBF-E432-EB33-8FD821F90AA8}"/>
              </a:ext>
            </a:extLst>
          </p:cNvPr>
          <p:cNvSpPr txBox="1"/>
          <p:nvPr/>
        </p:nvSpPr>
        <p:spPr>
          <a:xfrm>
            <a:off x="6637664" y="4795186"/>
            <a:ext cx="1208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permutation</a:t>
            </a:r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36D54057-6856-A009-F8FE-FC380C52D74F}"/>
              </a:ext>
            </a:extLst>
          </p:cNvPr>
          <p:cNvSpPr/>
          <p:nvPr/>
        </p:nvSpPr>
        <p:spPr>
          <a:xfrm>
            <a:off x="8299084" y="5587937"/>
            <a:ext cx="368300" cy="4278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CB5386E-9368-D16B-3F27-2DE3564140E1}"/>
              </a:ext>
            </a:extLst>
          </p:cNvPr>
          <p:cNvSpPr txBox="1"/>
          <p:nvPr/>
        </p:nvSpPr>
        <p:spPr>
          <a:xfrm>
            <a:off x="7931800" y="4795187"/>
            <a:ext cx="112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[ 444,  555 ]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50D6B7D6-9556-1F07-5812-E248625B985E}"/>
              </a:ext>
            </a:extLst>
          </p:cNvPr>
          <p:cNvCxnSpPr>
            <a:cxnSpLocks/>
          </p:cNvCxnSpPr>
          <p:nvPr/>
        </p:nvCxnSpPr>
        <p:spPr>
          <a:xfrm flipV="1">
            <a:off x="8500655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F95C3DDA-3059-9FC4-00B6-A8F7F18C43A9}"/>
              </a:ext>
            </a:extLst>
          </p:cNvPr>
          <p:cNvCxnSpPr>
            <a:cxnSpLocks/>
          </p:cNvCxnSpPr>
          <p:nvPr/>
        </p:nvCxnSpPr>
        <p:spPr>
          <a:xfrm flipV="1">
            <a:off x="3102125" y="5062141"/>
            <a:ext cx="0" cy="530559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57372045-A0AE-9859-292F-F321FDE58747}"/>
              </a:ext>
            </a:extLst>
          </p:cNvPr>
          <p:cNvGraphicFramePr>
            <a:graphicFrameLocks noGrp="1"/>
          </p:cNvGraphicFramePr>
          <p:nvPr/>
        </p:nvGraphicFramePr>
        <p:xfrm>
          <a:off x="7455920" y="510749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graphicFrame>
        <p:nvGraphicFramePr>
          <p:cNvPr id="108" name="표 107">
            <a:extLst>
              <a:ext uri="{FF2B5EF4-FFF2-40B4-BE49-F238E27FC236}">
                <a16:creationId xmlns:a16="http://schemas.microsoft.com/office/drawing/2014/main" id="{E94056AD-868F-B76F-E366-04357DD6D746}"/>
              </a:ext>
            </a:extLst>
          </p:cNvPr>
          <p:cNvGraphicFramePr>
            <a:graphicFrameLocks noGrp="1"/>
          </p:cNvGraphicFramePr>
          <p:nvPr/>
        </p:nvGraphicFramePr>
        <p:xfrm>
          <a:off x="6103370" y="512654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222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333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156B1E66-B3E3-AF45-EF2E-CE4B3230EDBD}"/>
              </a:ext>
            </a:extLst>
          </p:cNvPr>
          <p:cNvGraphicFramePr>
            <a:graphicFrameLocks noGrp="1"/>
          </p:cNvGraphicFramePr>
          <p:nvPr/>
        </p:nvGraphicFramePr>
        <p:xfrm>
          <a:off x="8932295" y="5107498"/>
          <a:ext cx="633501" cy="1366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444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555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666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</a:tbl>
          </a:graphicData>
        </a:graphic>
      </p:graphicFrame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BF14F5EF-2783-3B7B-456B-5C41EA5E83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18259" y="2194255"/>
            <a:ext cx="740822" cy="324588"/>
          </a:xfrm>
          <a:prstGeom prst="bentConnector3">
            <a:avLst>
              <a:gd name="adj1" fmla="val 1002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22D1923-1DFE-4D85-93B3-60FE0B2E9023}"/>
              </a:ext>
            </a:extLst>
          </p:cNvPr>
          <p:cNvSpPr txBox="1"/>
          <p:nvPr/>
        </p:nvSpPr>
        <p:spPr>
          <a:xfrm>
            <a:off x="9321962" y="2028492"/>
            <a:ext cx="1368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0</a:t>
            </a:r>
            <a:r>
              <a:rPr lang="ko-KR" altLang="en-US" sz="1400" dirty="0">
                <a:solidFill>
                  <a:srgbClr val="FF0000"/>
                </a:solidFill>
              </a:rPr>
              <a:t>으로 </a:t>
            </a:r>
            <a:r>
              <a:rPr lang="en-US" altLang="ko-KR" sz="1400" dirty="0">
                <a:solidFill>
                  <a:srgbClr val="FF0000"/>
                </a:solidFill>
              </a:rPr>
              <a:t>padding</a:t>
            </a:r>
          </a:p>
        </p:txBody>
      </p:sp>
    </p:spTree>
    <p:extLst>
      <p:ext uri="{BB962C8B-B14F-4D97-AF65-F5344CB8AC3E}">
        <p14:creationId xmlns:p14="http://schemas.microsoft.com/office/powerpoint/2010/main" val="942571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23499</TotalTime>
  <Words>821</Words>
  <Application>Microsoft Office PowerPoint</Application>
  <PresentationFormat>와이드스크린</PresentationFormat>
  <Paragraphs>178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Cambria Math</vt:lpstr>
      <vt:lpstr>Office 테마</vt:lpstr>
      <vt:lpstr>Poseidon 정리</vt:lpstr>
      <vt:lpstr>배경</vt:lpstr>
      <vt:lpstr>POSEIDON의 IDEA</vt:lpstr>
      <vt:lpstr>SPN 설계, HADES 구조</vt:lpstr>
      <vt:lpstr>POSEIDON𝛑</vt:lpstr>
      <vt:lpstr>〖POSEIDON〗^π 구성 함수</vt:lpstr>
      <vt:lpstr>SPONGE 구조</vt:lpstr>
      <vt:lpstr>Sponge 구조 동작 예시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2105</cp:revision>
  <dcterms:created xsi:type="dcterms:W3CDTF">2023-03-06T16:32:37Z</dcterms:created>
  <dcterms:modified xsi:type="dcterms:W3CDTF">2026-02-09T11:37:43Z</dcterms:modified>
</cp:coreProperties>
</file>