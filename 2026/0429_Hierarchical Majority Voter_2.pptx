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13"/>
  </p:notesMasterIdLst>
  <p:sldIdLst>
    <p:sldId id="256" r:id="rId2"/>
    <p:sldId id="319" r:id="rId3"/>
    <p:sldId id="320" r:id="rId4"/>
    <p:sldId id="321" r:id="rId5"/>
    <p:sldId id="323" r:id="rId6"/>
    <p:sldId id="322" r:id="rId7"/>
    <p:sldId id="325" r:id="rId8"/>
    <p:sldId id="328" r:id="rId9"/>
    <p:sldId id="327" r:id="rId10"/>
    <p:sldId id="326" r:id="rId11"/>
    <p:sldId id="329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66CC"/>
    <a:srgbClr val="CC99FF"/>
    <a:srgbClr val="2156A4"/>
    <a:srgbClr val="336699"/>
    <a:srgbClr val="003399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80650" autoAdjust="0"/>
  </p:normalViewPr>
  <p:slideViewPr>
    <p:cSldViewPr snapToGrid="0">
      <p:cViewPr varScale="1">
        <p:scale>
          <a:sx n="71" d="100"/>
          <a:sy n="71" d="100"/>
        </p:scale>
        <p:origin x="894" y="3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64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7740F-E8C6-9B5E-80A5-7D52A657F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823D36-8D6D-78D9-2331-B00DA1E5D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79117A-CC40-2EF1-60E1-A6838A77A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C20E75-FF90-3EB3-5A0C-F146C0986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472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DDC9F-332F-2E00-783B-9AFAC3285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4758B8-04F4-EA9B-368E-5B778D807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A47E81-92FC-9298-4BCC-E516A8508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CA427C-AE1D-103E-BB53-916A4A588B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118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06325-CEBB-5AC5-42C4-D16B23532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8FC98A-C93C-B499-42D3-950B30D5D8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9710FF-0683-D4A0-EEAA-C3AC55F08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2FC63F-5F12-EB8F-7B20-9E264C5A5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482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72947-896C-0673-1CAE-68FA14C2E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1EA4379-B63F-D31B-7AE8-C63334DDA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0A6F51-91C9-A29C-8773-B35EE7F69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6B6808-00D4-548B-B889-F542B181A1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155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83D90-6C8F-B6D0-580C-5D8EEEC37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B56E1D-7517-144E-E23C-D5DAF3CCE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9B9516-762E-0455-6552-FB5A0E28D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B116A7-FD48-6C28-4A21-35AD4832DC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266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6B5BE-B349-AC89-B938-B6A3BD66A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878FF2-6378-8367-6B48-5811BBEAE9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D452C6-5A0F-5270-E630-00EA9C6EBE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CA6B50-06A5-C612-1E7E-46AEDCF61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00997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8670C-67B3-6178-9726-52B6BE7C0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2DE8BA-CAE3-568B-0B56-AAB18C13E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6177309-8A5E-1428-0138-38D178120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18D597-95DC-311F-1AC7-B4FDA51C2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9357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39FD-D315-74C8-057E-850BA7B81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367252-4670-22E3-434F-F3F888A3D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EE87AB-8582-CB16-ADAA-37C2983AD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Q. </a:t>
            </a:r>
            <a:r>
              <a:rPr kumimoji="1" lang="ko-KR" altLang="en-US" dirty="0"/>
              <a:t>분포 조정이 첫번째 </a:t>
            </a:r>
            <a:r>
              <a:rPr kumimoji="1" lang="en-US" altLang="ko-KR" dirty="0"/>
              <a:t>Learnable Bias </a:t>
            </a:r>
            <a:r>
              <a:rPr kumimoji="1" lang="ko-KR" altLang="en-US" dirty="0"/>
              <a:t>이후의 과정인가</a:t>
            </a:r>
            <a:r>
              <a:rPr kumimoji="1" lang="en-US" altLang="ko-KR" dirty="0"/>
              <a:t>? </a:t>
            </a:r>
            <a:r>
              <a:rPr kumimoji="1" lang="ko-KR" altLang="en-US" dirty="0"/>
              <a:t>혹은 이전인가</a:t>
            </a:r>
            <a:r>
              <a:rPr kumimoji="1" lang="en-US" altLang="ko-KR" dirty="0"/>
              <a:t>? </a:t>
            </a:r>
            <a:r>
              <a:rPr kumimoji="1" lang="ko-KR" altLang="en-US" dirty="0"/>
              <a:t>왼쪽 도형을 바꾼다면 어떻게 변경할 수 있는가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212101-A193-AF02-AC38-9E112E1F6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731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38E13-6C4E-3896-EB6B-AE8C61AD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5BB675-B632-44CE-4D9A-2A1532E82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08104C-288F-1F59-A6BB-59157D7F1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94FB83-7660-83D3-C4C7-5A23FAA21D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32716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17319-80C3-0CD2-7791-AD43CEE98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7301A8-42EB-F42A-C6B1-BB10CC793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2A06F5-C5ED-0F00-E381-BCF9CF893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D17B4D-34E7-F7F6-4B7A-8EAB31560A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05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2026-04-28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655" y="2463266"/>
            <a:ext cx="10453006" cy="1604508"/>
          </a:xfrm>
        </p:spPr>
        <p:txBody>
          <a:bodyPr lIns="90000" anchor="ctr" anchorCtr="0">
            <a:normAutofit/>
          </a:bodyPr>
          <a:lstStyle/>
          <a:p>
            <a:r>
              <a:rPr lang="en-US" altLang="ko-KR" sz="32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PopBin</a:t>
            </a:r>
            <a:r>
              <a:rPr lang="en-US" altLang="ko-KR" sz="32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+ Hierarchical Majority Voter 2</a:t>
            </a:r>
            <a:endParaRPr lang="ko-KR" altLang="en-US" sz="2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774195" y="1666695"/>
            <a:ext cx="2120261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04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29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CD4A-D36E-B0A6-FDCF-8DC9F0B1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53D7D4-F240-1B76-41A1-CF8721A8C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연구 목표</a:t>
            </a:r>
            <a:endParaRPr lang="en-US" altLang="ko-KR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8704F7-A03F-BF8D-703F-415FFAAE391D}"/>
              </a:ext>
            </a:extLst>
          </p:cNvPr>
          <p:cNvSpPr txBox="1"/>
          <p:nvPr/>
        </p:nvSpPr>
        <p:spPr>
          <a:xfrm>
            <a:off x="708161" y="1849080"/>
            <a:ext cx="102051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 err="1"/>
              <a:t>Popcount</a:t>
            </a:r>
            <a:r>
              <a:rPr lang="en-US" altLang="ko-KR" b="1" dirty="0"/>
              <a:t> </a:t>
            </a:r>
            <a:r>
              <a:rPr lang="ko-KR" altLang="en-US" b="1" dirty="0"/>
              <a:t>연산을 </a:t>
            </a:r>
            <a:r>
              <a:rPr lang="en-US" altLang="ko-KR" b="1" dirty="0"/>
              <a:t>Hierarchical Majority Voter</a:t>
            </a:r>
            <a:r>
              <a:rPr lang="ko-KR" altLang="en-US" b="1" dirty="0"/>
              <a:t>로</a:t>
            </a:r>
            <a:r>
              <a:rPr lang="en-US" altLang="ko-KR" b="1" dirty="0"/>
              <a:t> </a:t>
            </a:r>
            <a:r>
              <a:rPr lang="ko-KR" altLang="en-US" b="1" dirty="0"/>
              <a:t>대체</a:t>
            </a:r>
            <a:endParaRPr lang="en-US" altLang="ko-KR" b="1" dirty="0"/>
          </a:p>
          <a:p>
            <a:pPr marL="800100" lvl="1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en-US" altLang="ko-KR" b="1" dirty="0" err="1"/>
              <a:t>Popcount</a:t>
            </a:r>
            <a:r>
              <a:rPr lang="en-US" altLang="ko-KR" b="1" dirty="0"/>
              <a:t> </a:t>
            </a:r>
            <a:r>
              <a:rPr lang="ko-KR" altLang="en-US" b="1" dirty="0"/>
              <a:t>연산을 </a:t>
            </a:r>
            <a:r>
              <a:rPr lang="en-US" altLang="ko-KR" b="1" dirty="0"/>
              <a:t>Hierarchical Approximate Majority Voter</a:t>
            </a:r>
            <a:r>
              <a:rPr lang="ko-KR" altLang="en-US" b="1" dirty="0"/>
              <a:t>로 대체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40564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DF195-ECEB-62DE-CDBD-6CB0B2A4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043F1-98E9-92DC-829D-841EA71CC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연구 계획</a:t>
            </a:r>
            <a:endParaRPr lang="en-US" altLang="ko-KR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C6CC2-B303-D9D6-374C-F3B8A8395703}"/>
              </a:ext>
            </a:extLst>
          </p:cNvPr>
          <p:cNvSpPr txBox="1"/>
          <p:nvPr/>
        </p:nvSpPr>
        <p:spPr>
          <a:xfrm>
            <a:off x="708161" y="1849080"/>
            <a:ext cx="1020516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b="1" dirty="0"/>
              <a:t>학습 실험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r>
              <a:rPr lang="en-US" altLang="ko-KR" sz="1400" dirty="0"/>
              <a:t>- </a:t>
            </a:r>
            <a:r>
              <a:rPr lang="ko-KR" altLang="en-US" sz="1400" dirty="0"/>
              <a:t>코드 분석</a:t>
            </a:r>
            <a:endParaRPr lang="en-US" altLang="ko-KR" sz="1400" dirty="0"/>
          </a:p>
          <a:p>
            <a:pPr lvl="1"/>
            <a:r>
              <a:rPr lang="en-US" altLang="ko-KR" sz="1400" dirty="0"/>
              <a:t>- XNOR Output </a:t>
            </a:r>
            <a:r>
              <a:rPr lang="ko-KR" altLang="en-US" sz="1400" dirty="0"/>
              <a:t>분포 확인 및 </a:t>
            </a:r>
            <a:r>
              <a:rPr lang="en-US" altLang="ko-KR" sz="1400" dirty="0"/>
              <a:t>Hierarchical Majority Voter </a:t>
            </a:r>
            <a:r>
              <a:rPr lang="ko-KR" altLang="en-US" sz="1400" dirty="0"/>
              <a:t>설계 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b="1" dirty="0"/>
          </a:p>
          <a:p>
            <a:pPr marL="342900" indent="-342900">
              <a:buAutoNum type="arabicPeriod"/>
            </a:pPr>
            <a:r>
              <a:rPr lang="ko-KR" altLang="en-US" b="1" dirty="0"/>
              <a:t>학습 안정화 기법 탐색 및 적용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039676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CB898-36C1-B88E-8CFD-35BE46D7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C9051-F7FA-1FE2-47F0-D35DADC91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Architecture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05FE327A-4B65-9702-E784-F57E3F29DA97}"/>
              </a:ext>
            </a:extLst>
          </p:cNvPr>
          <p:cNvSpPr/>
          <p:nvPr/>
        </p:nvSpPr>
        <p:spPr>
          <a:xfrm>
            <a:off x="640080" y="1691640"/>
            <a:ext cx="4114800" cy="457200"/>
          </a:xfrm>
          <a:prstGeom prst="rect">
            <a:avLst/>
          </a:prstGeom>
          <a:solidFill>
            <a:srgbClr val="5F6584"/>
          </a:solidFill>
          <a:ln w="12700">
            <a:solidFill>
              <a:srgbClr val="5F6584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8481E6B-7941-B95E-11C0-3EC85D8595CF}"/>
              </a:ext>
            </a:extLst>
          </p:cNvPr>
          <p:cNvSpPr/>
          <p:nvPr/>
        </p:nvSpPr>
        <p:spPr>
          <a:xfrm>
            <a:off x="82296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Input Image</a:t>
            </a:r>
            <a:endParaRPr lang="en-US" sz="1300" dirty="0">
              <a:latin typeface="+mj-lt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A91E5A6-583B-8453-F8A6-D87DE2A9123A}"/>
              </a:ext>
            </a:extLst>
          </p:cNvPr>
          <p:cNvSpPr/>
          <p:nvPr/>
        </p:nvSpPr>
        <p:spPr>
          <a:xfrm>
            <a:off x="480060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FF41600-600B-2EC2-0580-9F2663C3E8A7}"/>
              </a:ext>
            </a:extLst>
          </p:cNvPr>
          <p:cNvSpPr/>
          <p:nvPr/>
        </p:nvSpPr>
        <p:spPr>
          <a:xfrm>
            <a:off x="5120640" y="1691640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4E98357-1BD0-F774-F748-38407565541B}"/>
              </a:ext>
            </a:extLst>
          </p:cNvPr>
          <p:cNvSpPr/>
          <p:nvPr/>
        </p:nvSpPr>
        <p:spPr>
          <a:xfrm>
            <a:off x="512064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(3 × 32 × 32)</a:t>
            </a:r>
            <a:endParaRPr lang="en-US" sz="1300" dirty="0">
              <a:latin typeface="+mj-lt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C3C560B-158F-A6BC-1867-52D35616DDD1}"/>
              </a:ext>
            </a:extLst>
          </p:cNvPr>
          <p:cNvSpPr/>
          <p:nvPr/>
        </p:nvSpPr>
        <p:spPr>
          <a:xfrm>
            <a:off x="640080" y="2185416"/>
            <a:ext cx="4114800" cy="457200"/>
          </a:xfrm>
          <a:prstGeom prst="rect">
            <a:avLst/>
          </a:prstGeom>
          <a:solidFill>
            <a:srgbClr val="5C66B0"/>
          </a:solidFill>
          <a:ln w="12700">
            <a:solidFill>
              <a:srgbClr val="5C66B0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E1D13BD-531C-4B7B-B62D-2E39D650CD6A}"/>
              </a:ext>
            </a:extLst>
          </p:cNvPr>
          <p:cNvSpPr/>
          <p:nvPr/>
        </p:nvSpPr>
        <p:spPr>
          <a:xfrm>
            <a:off x="822960" y="21854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firstconv3x3 (FP32)</a:t>
            </a:r>
            <a:endParaRPr lang="en-US" sz="1300" dirty="0">
              <a:latin typeface="+mj-lt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3F2AE63-84C8-DA9F-AFC8-9DE3084C3DEF}"/>
              </a:ext>
            </a:extLst>
          </p:cNvPr>
          <p:cNvSpPr/>
          <p:nvPr/>
        </p:nvSpPr>
        <p:spPr>
          <a:xfrm>
            <a:off x="4800600" y="21854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C71829F-F618-DA9F-2998-948D9D6FE4DA}"/>
              </a:ext>
            </a:extLst>
          </p:cNvPr>
          <p:cNvSpPr/>
          <p:nvPr/>
        </p:nvSpPr>
        <p:spPr>
          <a:xfrm>
            <a:off x="5120640" y="2185416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F54FBF0-A122-4D27-87C0-BD328EFA6D3E}"/>
              </a:ext>
            </a:extLst>
          </p:cNvPr>
          <p:cNvSpPr/>
          <p:nvPr/>
        </p:nvSpPr>
        <p:spPr>
          <a:xfrm>
            <a:off x="5120640" y="21854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(32 × 16 × 16)</a:t>
            </a:r>
            <a:endParaRPr lang="en-US" sz="1300" dirty="0">
              <a:latin typeface="+mj-lt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D9D5078-1511-2B67-05F5-9FAD1831C9EB}"/>
              </a:ext>
            </a:extLst>
          </p:cNvPr>
          <p:cNvSpPr/>
          <p:nvPr/>
        </p:nvSpPr>
        <p:spPr>
          <a:xfrm>
            <a:off x="640080" y="2679192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F2C0108-D91F-C72A-3EF7-885F410E1921}"/>
              </a:ext>
            </a:extLst>
          </p:cNvPr>
          <p:cNvSpPr/>
          <p:nvPr/>
        </p:nvSpPr>
        <p:spPr>
          <a:xfrm>
            <a:off x="822960" y="26791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BasicBlock × 1 (Stage 1)</a:t>
            </a:r>
            <a:endParaRPr lang="en-US" sz="1300" dirty="0">
              <a:latin typeface="+mj-lt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57A52F8-3F45-C309-68FB-CA2CF5D27A4D}"/>
              </a:ext>
            </a:extLst>
          </p:cNvPr>
          <p:cNvSpPr/>
          <p:nvPr/>
        </p:nvSpPr>
        <p:spPr>
          <a:xfrm>
            <a:off x="4800600" y="26791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E7DBC284-4E39-89B8-D4B6-200120B29BE8}"/>
              </a:ext>
            </a:extLst>
          </p:cNvPr>
          <p:cNvSpPr/>
          <p:nvPr/>
        </p:nvSpPr>
        <p:spPr>
          <a:xfrm>
            <a:off x="5120640" y="2679192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B9DE587-EA37-1F8F-D45A-71D17DFC1355}"/>
              </a:ext>
            </a:extLst>
          </p:cNvPr>
          <p:cNvSpPr/>
          <p:nvPr/>
        </p:nvSpPr>
        <p:spPr>
          <a:xfrm>
            <a:off x="5120640" y="2679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(64 × 16 × 16)</a:t>
            </a:r>
            <a:endParaRPr lang="en-US" sz="1300" dirty="0">
              <a:latin typeface="+mj-lt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A2FA7FE-C9E4-7B39-ED46-DF6FFD5E5F63}"/>
              </a:ext>
            </a:extLst>
          </p:cNvPr>
          <p:cNvSpPr/>
          <p:nvPr/>
        </p:nvSpPr>
        <p:spPr>
          <a:xfrm>
            <a:off x="640080" y="3172968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E701165F-58E1-09EE-81A9-3A9D05CA0A05}"/>
              </a:ext>
            </a:extLst>
          </p:cNvPr>
          <p:cNvSpPr/>
          <p:nvPr/>
        </p:nvSpPr>
        <p:spPr>
          <a:xfrm>
            <a:off x="822960" y="3172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BasicBlock × 2 (Stage 2~3)</a:t>
            </a:r>
            <a:endParaRPr lang="en-US" sz="1300" dirty="0">
              <a:latin typeface="+mj-lt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67AF731-6864-858C-226B-2DF80955EC6A}"/>
              </a:ext>
            </a:extLst>
          </p:cNvPr>
          <p:cNvSpPr/>
          <p:nvPr/>
        </p:nvSpPr>
        <p:spPr>
          <a:xfrm>
            <a:off x="4800600" y="31729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430D6C7C-CAA0-7494-FA32-77D9ABF739E2}"/>
              </a:ext>
            </a:extLst>
          </p:cNvPr>
          <p:cNvSpPr/>
          <p:nvPr/>
        </p:nvSpPr>
        <p:spPr>
          <a:xfrm>
            <a:off x="5120640" y="3172968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0E8EA84-A37C-F53B-E86C-34A580D10D16}"/>
              </a:ext>
            </a:extLst>
          </p:cNvPr>
          <p:cNvSpPr/>
          <p:nvPr/>
        </p:nvSpPr>
        <p:spPr>
          <a:xfrm>
            <a:off x="5120640" y="3172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(128 × 8 × 8)</a:t>
            </a:r>
            <a:endParaRPr lang="en-US" sz="1300" dirty="0">
              <a:latin typeface="+mj-lt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518C09AA-91BF-0BB2-7D1C-345AEAB19A46}"/>
              </a:ext>
            </a:extLst>
          </p:cNvPr>
          <p:cNvSpPr/>
          <p:nvPr/>
        </p:nvSpPr>
        <p:spPr>
          <a:xfrm>
            <a:off x="640080" y="3666744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34A25395-E75E-5CDC-9D7C-0D82D5638447}"/>
              </a:ext>
            </a:extLst>
          </p:cNvPr>
          <p:cNvSpPr/>
          <p:nvPr/>
        </p:nvSpPr>
        <p:spPr>
          <a:xfrm>
            <a:off x="822960" y="36667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BasicBlock × 2 (Stage 4~5)</a:t>
            </a:r>
            <a:endParaRPr lang="en-US" sz="1300" dirty="0">
              <a:latin typeface="+mj-lt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E7CA48E-AA41-7758-D814-263C7B412962}"/>
              </a:ext>
            </a:extLst>
          </p:cNvPr>
          <p:cNvSpPr/>
          <p:nvPr/>
        </p:nvSpPr>
        <p:spPr>
          <a:xfrm>
            <a:off x="4800600" y="36667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7B86954A-5BAC-7ABE-970E-30FE2D712695}"/>
              </a:ext>
            </a:extLst>
          </p:cNvPr>
          <p:cNvSpPr/>
          <p:nvPr/>
        </p:nvSpPr>
        <p:spPr>
          <a:xfrm>
            <a:off x="5120640" y="3666744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AD558E3A-2AE2-24A9-474B-C98E7060FF3C}"/>
              </a:ext>
            </a:extLst>
          </p:cNvPr>
          <p:cNvSpPr/>
          <p:nvPr/>
        </p:nvSpPr>
        <p:spPr>
          <a:xfrm>
            <a:off x="5120640" y="36667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(256 × 4 × 4)</a:t>
            </a:r>
            <a:endParaRPr lang="en-US" sz="1300" dirty="0">
              <a:latin typeface="+mj-lt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4849085-E2A5-75F9-22D0-DAD224AB1381}"/>
              </a:ext>
            </a:extLst>
          </p:cNvPr>
          <p:cNvSpPr/>
          <p:nvPr/>
        </p:nvSpPr>
        <p:spPr>
          <a:xfrm>
            <a:off x="640080" y="4160520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1A1AC0F-A84C-598F-CE52-CA1112E7F2CC}"/>
              </a:ext>
            </a:extLst>
          </p:cNvPr>
          <p:cNvSpPr/>
          <p:nvPr/>
        </p:nvSpPr>
        <p:spPr>
          <a:xfrm>
            <a:off x="82296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BasicBlock × 6 (Stage 6~11)</a:t>
            </a:r>
            <a:endParaRPr lang="en-US" sz="1300" dirty="0">
              <a:latin typeface="+mj-lt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048FCBF2-5E15-D2AF-5A86-7EB9525AA5E9}"/>
              </a:ext>
            </a:extLst>
          </p:cNvPr>
          <p:cNvSpPr/>
          <p:nvPr/>
        </p:nvSpPr>
        <p:spPr>
          <a:xfrm>
            <a:off x="4800600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74E50AA6-EB19-55E9-49E5-5BA67CD6B66C}"/>
              </a:ext>
            </a:extLst>
          </p:cNvPr>
          <p:cNvSpPr/>
          <p:nvPr/>
        </p:nvSpPr>
        <p:spPr>
          <a:xfrm>
            <a:off x="5120640" y="4160520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EAA1B85-43E9-CDFC-2CD0-7B32EB658C87}"/>
              </a:ext>
            </a:extLst>
          </p:cNvPr>
          <p:cNvSpPr/>
          <p:nvPr/>
        </p:nvSpPr>
        <p:spPr>
          <a:xfrm>
            <a:off x="512064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(512 × 2 × 2)</a:t>
            </a:r>
            <a:endParaRPr lang="en-US" sz="1300" dirty="0">
              <a:latin typeface="+mj-lt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86CA2564-B6A0-82AC-D060-B9E50D337A23}"/>
              </a:ext>
            </a:extLst>
          </p:cNvPr>
          <p:cNvSpPr/>
          <p:nvPr/>
        </p:nvSpPr>
        <p:spPr>
          <a:xfrm>
            <a:off x="640080" y="4654296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CF41FE38-A0F4-F339-98F4-CFBB58A7F907}"/>
              </a:ext>
            </a:extLst>
          </p:cNvPr>
          <p:cNvSpPr/>
          <p:nvPr/>
        </p:nvSpPr>
        <p:spPr>
          <a:xfrm>
            <a:off x="822960" y="46542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BasicBlock × 2 (Stage 12~13)</a:t>
            </a:r>
            <a:endParaRPr lang="en-US" sz="1300" dirty="0">
              <a:latin typeface="+mj-lt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C2A83F5-CAAC-E54A-02C2-1F1A28F56099}"/>
              </a:ext>
            </a:extLst>
          </p:cNvPr>
          <p:cNvSpPr/>
          <p:nvPr/>
        </p:nvSpPr>
        <p:spPr>
          <a:xfrm>
            <a:off x="4800600" y="46542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96E5305C-0045-9B1B-91BF-052201DAE277}"/>
              </a:ext>
            </a:extLst>
          </p:cNvPr>
          <p:cNvSpPr/>
          <p:nvPr/>
        </p:nvSpPr>
        <p:spPr>
          <a:xfrm>
            <a:off x="5120640" y="4654296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8E6E9B1F-0622-AC91-119F-798B07AE39C9}"/>
              </a:ext>
            </a:extLst>
          </p:cNvPr>
          <p:cNvSpPr/>
          <p:nvPr/>
        </p:nvSpPr>
        <p:spPr>
          <a:xfrm>
            <a:off x="5120640" y="46542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(1024 × 1 × 1)</a:t>
            </a:r>
            <a:endParaRPr lang="en-US" sz="1300" dirty="0">
              <a:latin typeface="+mj-lt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12A810B8-0A82-6DCF-B5DF-F2E603BBAADE}"/>
              </a:ext>
            </a:extLst>
          </p:cNvPr>
          <p:cNvSpPr/>
          <p:nvPr/>
        </p:nvSpPr>
        <p:spPr>
          <a:xfrm>
            <a:off x="640080" y="5148072"/>
            <a:ext cx="41148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BC9544DC-576A-5F58-0BA7-AC18B8CD8A70}"/>
              </a:ext>
            </a:extLst>
          </p:cNvPr>
          <p:cNvSpPr/>
          <p:nvPr/>
        </p:nvSpPr>
        <p:spPr>
          <a:xfrm>
            <a:off x="822960" y="51480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AdaptiveAvgPool2d(1)</a:t>
            </a:r>
            <a:endParaRPr lang="en-US" sz="1300" dirty="0">
              <a:latin typeface="+mj-lt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133C0AB9-1B67-94DB-5EA8-65832972ADC3}"/>
              </a:ext>
            </a:extLst>
          </p:cNvPr>
          <p:cNvSpPr/>
          <p:nvPr/>
        </p:nvSpPr>
        <p:spPr>
          <a:xfrm>
            <a:off x="4800600" y="514807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A4E29010-BB59-34A8-3A81-6C9A2E145FDC}"/>
              </a:ext>
            </a:extLst>
          </p:cNvPr>
          <p:cNvSpPr/>
          <p:nvPr/>
        </p:nvSpPr>
        <p:spPr>
          <a:xfrm>
            <a:off x="5120640" y="5148072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55BDD3D5-AD4C-2CAD-9077-074C767E4761}"/>
              </a:ext>
            </a:extLst>
          </p:cNvPr>
          <p:cNvSpPr/>
          <p:nvPr/>
        </p:nvSpPr>
        <p:spPr>
          <a:xfrm>
            <a:off x="5120640" y="5148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(1024 × 1 × 1)</a:t>
            </a:r>
            <a:endParaRPr lang="en-US" sz="1300" dirty="0">
              <a:latin typeface="+mj-lt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7159CD67-8BE2-F441-84AD-38461D769AFD}"/>
              </a:ext>
            </a:extLst>
          </p:cNvPr>
          <p:cNvSpPr/>
          <p:nvPr/>
        </p:nvSpPr>
        <p:spPr>
          <a:xfrm>
            <a:off x="640080" y="5641848"/>
            <a:ext cx="41148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22109FD2-0E73-7012-8802-4EAD32A3ECB5}"/>
              </a:ext>
            </a:extLst>
          </p:cNvPr>
          <p:cNvSpPr/>
          <p:nvPr/>
        </p:nvSpPr>
        <p:spPr>
          <a:xfrm>
            <a:off x="822960" y="56418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Linear(1024 → 100)</a:t>
            </a:r>
            <a:endParaRPr lang="en-US" sz="1300" dirty="0">
              <a:latin typeface="+mj-lt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A100ED1E-A0A3-465E-922A-E5F1B4FB3379}"/>
              </a:ext>
            </a:extLst>
          </p:cNvPr>
          <p:cNvSpPr/>
          <p:nvPr/>
        </p:nvSpPr>
        <p:spPr>
          <a:xfrm>
            <a:off x="4800600" y="56418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52B37A6-4BA3-F05E-DE41-399F45208969}"/>
              </a:ext>
            </a:extLst>
          </p:cNvPr>
          <p:cNvSpPr/>
          <p:nvPr/>
        </p:nvSpPr>
        <p:spPr>
          <a:xfrm>
            <a:off x="5120640" y="5641848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AEF436D4-E7B3-3127-35F2-187F1662FDB2}"/>
              </a:ext>
            </a:extLst>
          </p:cNvPr>
          <p:cNvSpPr/>
          <p:nvPr/>
        </p:nvSpPr>
        <p:spPr>
          <a:xfrm>
            <a:off x="5120640" y="5641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(100,)</a:t>
            </a:r>
            <a:endParaRPr lang="en-US" sz="1300" dirty="0">
              <a:latin typeface="+mj-lt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435FF6-C3F9-CCA4-6629-992FF45891EE}"/>
              </a:ext>
            </a:extLst>
          </p:cNvPr>
          <p:cNvSpPr txBox="1"/>
          <p:nvPr/>
        </p:nvSpPr>
        <p:spPr>
          <a:xfrm>
            <a:off x="568031" y="1217756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lt"/>
              </a:rPr>
              <a:t>ReActNet</a:t>
            </a:r>
            <a:r>
              <a:rPr lang="en-US" altLang="ko-KR" b="1" dirty="0">
                <a:latin typeface="+mj-lt"/>
              </a:rPr>
              <a:t> Architecture (CIFAR-100 </a:t>
            </a:r>
            <a:r>
              <a:rPr lang="ko-KR" altLang="en-US" b="1" dirty="0">
                <a:latin typeface="+mj-lt"/>
              </a:rPr>
              <a:t>기준</a:t>
            </a:r>
            <a:r>
              <a:rPr lang="en-US" altLang="ko-KR" b="1" dirty="0">
                <a:latin typeface="+mj-lt"/>
              </a:rPr>
              <a:t>)</a:t>
            </a:r>
            <a:endParaRPr lang="en-US" altLang="ko-KR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3088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A3536-0A43-581E-E4E9-82E0E1BFE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EB42-66E2-ED1D-E345-124014DD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Architecture</a:t>
            </a: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52E2F6BF-895F-2FCB-3FE6-D5D2E0DA9018}"/>
              </a:ext>
            </a:extLst>
          </p:cNvPr>
          <p:cNvSpPr/>
          <p:nvPr/>
        </p:nvSpPr>
        <p:spPr>
          <a:xfrm>
            <a:off x="640080" y="1691640"/>
            <a:ext cx="4114800" cy="457200"/>
          </a:xfrm>
          <a:prstGeom prst="rect">
            <a:avLst/>
          </a:prstGeom>
          <a:solidFill>
            <a:srgbClr val="5F6584"/>
          </a:solidFill>
          <a:ln w="12700">
            <a:solidFill>
              <a:srgbClr val="5F6584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0E078B-4E8A-E550-9FCE-8EA9FB5613B5}"/>
              </a:ext>
            </a:extLst>
          </p:cNvPr>
          <p:cNvSpPr/>
          <p:nvPr/>
        </p:nvSpPr>
        <p:spPr>
          <a:xfrm>
            <a:off x="822960" y="1691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Input Image</a:t>
            </a:r>
            <a:endParaRPr lang="en-US" sz="1300" dirty="0">
              <a:latin typeface="+mj-lt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2C37D2E-DAAC-7A76-C688-9CC019E22924}"/>
              </a:ext>
            </a:extLst>
          </p:cNvPr>
          <p:cNvSpPr/>
          <p:nvPr/>
        </p:nvSpPr>
        <p:spPr>
          <a:xfrm>
            <a:off x="4800600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6E9AD81-CC37-AB98-9069-66BF62197175}"/>
              </a:ext>
            </a:extLst>
          </p:cNvPr>
          <p:cNvSpPr/>
          <p:nvPr/>
        </p:nvSpPr>
        <p:spPr>
          <a:xfrm>
            <a:off x="5120640" y="1691640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BEC5FE6-7DCA-DF85-2E01-9459C9C3C838}"/>
              </a:ext>
            </a:extLst>
          </p:cNvPr>
          <p:cNvSpPr/>
          <p:nvPr/>
        </p:nvSpPr>
        <p:spPr>
          <a:xfrm>
            <a:off x="512064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(3 × 244 × 224)</a:t>
            </a:r>
            <a:endParaRPr lang="en-US" sz="1300" dirty="0">
              <a:latin typeface="+mj-lt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9646D81E-A48C-37A1-0F01-0367D2FABC02}"/>
              </a:ext>
            </a:extLst>
          </p:cNvPr>
          <p:cNvSpPr/>
          <p:nvPr/>
        </p:nvSpPr>
        <p:spPr>
          <a:xfrm>
            <a:off x="640080" y="2185416"/>
            <a:ext cx="4114800" cy="457200"/>
          </a:xfrm>
          <a:prstGeom prst="rect">
            <a:avLst/>
          </a:prstGeom>
          <a:solidFill>
            <a:srgbClr val="5C66B0"/>
          </a:solidFill>
          <a:ln w="12700">
            <a:solidFill>
              <a:srgbClr val="5C66B0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A41ACDF-95D8-CE0E-5D1E-53FFF3AAF5DC}"/>
              </a:ext>
            </a:extLst>
          </p:cNvPr>
          <p:cNvSpPr/>
          <p:nvPr/>
        </p:nvSpPr>
        <p:spPr>
          <a:xfrm>
            <a:off x="822960" y="218541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firstconv3x3 (FP32)</a:t>
            </a:r>
            <a:endParaRPr lang="en-US" sz="1300" dirty="0">
              <a:latin typeface="+mj-lt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D22932-2A53-B5A6-04D3-1CAC095C29F1}"/>
              </a:ext>
            </a:extLst>
          </p:cNvPr>
          <p:cNvSpPr/>
          <p:nvPr/>
        </p:nvSpPr>
        <p:spPr>
          <a:xfrm>
            <a:off x="4800600" y="218541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1FE4A9D-AFDA-F284-057D-C8E237EE9EB6}"/>
              </a:ext>
            </a:extLst>
          </p:cNvPr>
          <p:cNvSpPr/>
          <p:nvPr/>
        </p:nvSpPr>
        <p:spPr>
          <a:xfrm>
            <a:off x="5120640" y="2185416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B51BD4A-C4AA-8EFF-BF77-4FEB85DF6188}"/>
              </a:ext>
            </a:extLst>
          </p:cNvPr>
          <p:cNvSpPr/>
          <p:nvPr/>
        </p:nvSpPr>
        <p:spPr>
          <a:xfrm>
            <a:off x="5120640" y="21854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(32 × 112 × 12)</a:t>
            </a:r>
            <a:endParaRPr lang="en-US" sz="1300" dirty="0">
              <a:latin typeface="+mj-lt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72D0306-84B8-BFB0-ACD4-E53D04A1B288}"/>
              </a:ext>
            </a:extLst>
          </p:cNvPr>
          <p:cNvSpPr/>
          <p:nvPr/>
        </p:nvSpPr>
        <p:spPr>
          <a:xfrm>
            <a:off x="640080" y="2679192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E5E7CE5-6AC6-BA4E-A5AE-C46266E10C31}"/>
              </a:ext>
            </a:extLst>
          </p:cNvPr>
          <p:cNvSpPr/>
          <p:nvPr/>
        </p:nvSpPr>
        <p:spPr>
          <a:xfrm>
            <a:off x="822960" y="26791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BasicBlock × 1 (Stage 1)</a:t>
            </a:r>
            <a:endParaRPr lang="en-US" sz="1300" dirty="0">
              <a:latin typeface="+mj-lt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6AD7EBC-A257-6360-967D-8F7B2EA496E6}"/>
              </a:ext>
            </a:extLst>
          </p:cNvPr>
          <p:cNvSpPr/>
          <p:nvPr/>
        </p:nvSpPr>
        <p:spPr>
          <a:xfrm>
            <a:off x="4800600" y="26791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B469294-1576-9A8A-B457-1A9D1ABBBE7D}"/>
              </a:ext>
            </a:extLst>
          </p:cNvPr>
          <p:cNvSpPr/>
          <p:nvPr/>
        </p:nvSpPr>
        <p:spPr>
          <a:xfrm>
            <a:off x="5120640" y="2679192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F2D4EF8F-F4E3-EC8E-C92F-3B7E0CD39EB0}"/>
              </a:ext>
            </a:extLst>
          </p:cNvPr>
          <p:cNvSpPr/>
          <p:nvPr/>
        </p:nvSpPr>
        <p:spPr>
          <a:xfrm>
            <a:off x="5120640" y="26791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(64 × 112 × 12)</a:t>
            </a:r>
            <a:endParaRPr lang="en-US" sz="1300" dirty="0">
              <a:latin typeface="+mj-lt"/>
            </a:endParaRPr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F3AE0CD-2B84-0519-12A0-65D977DD74C8}"/>
              </a:ext>
            </a:extLst>
          </p:cNvPr>
          <p:cNvSpPr/>
          <p:nvPr/>
        </p:nvSpPr>
        <p:spPr>
          <a:xfrm>
            <a:off x="640080" y="3172968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05FDB6A-F528-6AF7-AAB7-E5EC65781CED}"/>
              </a:ext>
            </a:extLst>
          </p:cNvPr>
          <p:cNvSpPr/>
          <p:nvPr/>
        </p:nvSpPr>
        <p:spPr>
          <a:xfrm>
            <a:off x="822960" y="31729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BasicBlock × 2 (Stage 2~3)</a:t>
            </a:r>
            <a:endParaRPr lang="en-US" sz="1300" dirty="0">
              <a:latin typeface="+mj-lt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E649809F-9570-B962-B99F-C1B94C4A1FAC}"/>
              </a:ext>
            </a:extLst>
          </p:cNvPr>
          <p:cNvSpPr/>
          <p:nvPr/>
        </p:nvSpPr>
        <p:spPr>
          <a:xfrm>
            <a:off x="4800600" y="31729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3068112-3632-0694-D9A0-D58F81AA8058}"/>
              </a:ext>
            </a:extLst>
          </p:cNvPr>
          <p:cNvSpPr/>
          <p:nvPr/>
        </p:nvSpPr>
        <p:spPr>
          <a:xfrm>
            <a:off x="5120640" y="3172968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8821E9C-0281-8D72-DD95-C81BEEC8B6A2}"/>
              </a:ext>
            </a:extLst>
          </p:cNvPr>
          <p:cNvSpPr/>
          <p:nvPr/>
        </p:nvSpPr>
        <p:spPr>
          <a:xfrm>
            <a:off x="5120640" y="31729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(128 × 56 × 56)</a:t>
            </a:r>
            <a:endParaRPr lang="en-US" sz="1300" dirty="0">
              <a:latin typeface="+mj-lt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99F2608-8006-6824-1713-99AB7D395A3E}"/>
              </a:ext>
            </a:extLst>
          </p:cNvPr>
          <p:cNvSpPr/>
          <p:nvPr/>
        </p:nvSpPr>
        <p:spPr>
          <a:xfrm>
            <a:off x="640080" y="3666744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A154246-AD02-C30E-A1A9-681B67627430}"/>
              </a:ext>
            </a:extLst>
          </p:cNvPr>
          <p:cNvSpPr/>
          <p:nvPr/>
        </p:nvSpPr>
        <p:spPr>
          <a:xfrm>
            <a:off x="822960" y="36667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BasicBlock × 2 (Stage 4~5)</a:t>
            </a:r>
            <a:endParaRPr lang="en-US" sz="1300" dirty="0">
              <a:latin typeface="+mj-lt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2AE18FF-FC35-1B71-7CC0-3984AE4C8F79}"/>
              </a:ext>
            </a:extLst>
          </p:cNvPr>
          <p:cNvSpPr/>
          <p:nvPr/>
        </p:nvSpPr>
        <p:spPr>
          <a:xfrm>
            <a:off x="4800600" y="36667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7170788-3024-E823-C4D3-DC811B80572A}"/>
              </a:ext>
            </a:extLst>
          </p:cNvPr>
          <p:cNvSpPr/>
          <p:nvPr/>
        </p:nvSpPr>
        <p:spPr>
          <a:xfrm>
            <a:off x="5120640" y="3666744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973B5205-AB12-A6D4-679E-242509F786D0}"/>
              </a:ext>
            </a:extLst>
          </p:cNvPr>
          <p:cNvSpPr/>
          <p:nvPr/>
        </p:nvSpPr>
        <p:spPr>
          <a:xfrm>
            <a:off x="5120640" y="36667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(256 × 28 × 28)</a:t>
            </a:r>
            <a:endParaRPr lang="en-US" sz="1300" dirty="0">
              <a:latin typeface="+mj-lt"/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19D7808D-6F36-C16B-303C-F56DC29F70B3}"/>
              </a:ext>
            </a:extLst>
          </p:cNvPr>
          <p:cNvSpPr/>
          <p:nvPr/>
        </p:nvSpPr>
        <p:spPr>
          <a:xfrm>
            <a:off x="640080" y="4160520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76EBE965-C85F-5E21-6D1F-DEA3E1536436}"/>
              </a:ext>
            </a:extLst>
          </p:cNvPr>
          <p:cNvSpPr/>
          <p:nvPr/>
        </p:nvSpPr>
        <p:spPr>
          <a:xfrm>
            <a:off x="82296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BasicBlock × 6 (Stage 6~11)</a:t>
            </a:r>
            <a:endParaRPr lang="en-US" sz="1300" dirty="0">
              <a:latin typeface="+mj-lt"/>
            </a:endParaRPr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29619EEB-86EE-658E-6D0D-0B03B38A99AD}"/>
              </a:ext>
            </a:extLst>
          </p:cNvPr>
          <p:cNvSpPr/>
          <p:nvPr/>
        </p:nvSpPr>
        <p:spPr>
          <a:xfrm>
            <a:off x="4800600" y="4160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3163DD51-275C-CE55-BA19-99A1075E4E72}"/>
              </a:ext>
            </a:extLst>
          </p:cNvPr>
          <p:cNvSpPr/>
          <p:nvPr/>
        </p:nvSpPr>
        <p:spPr>
          <a:xfrm>
            <a:off x="5120640" y="4160520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4B35264-D422-841B-C11D-EA6E42B0E35B}"/>
              </a:ext>
            </a:extLst>
          </p:cNvPr>
          <p:cNvSpPr/>
          <p:nvPr/>
        </p:nvSpPr>
        <p:spPr>
          <a:xfrm>
            <a:off x="5120640" y="4160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(512 × 14 × 14)</a:t>
            </a:r>
            <a:endParaRPr lang="en-US" sz="1300" dirty="0">
              <a:latin typeface="+mj-lt"/>
            </a:endParaRPr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532266E7-AE51-6A19-99DF-7DF93B111CDC}"/>
              </a:ext>
            </a:extLst>
          </p:cNvPr>
          <p:cNvSpPr/>
          <p:nvPr/>
        </p:nvSpPr>
        <p:spPr>
          <a:xfrm>
            <a:off x="640080" y="4654296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39795A4-7D0A-C86D-BB50-209D03BAD876}"/>
              </a:ext>
            </a:extLst>
          </p:cNvPr>
          <p:cNvSpPr/>
          <p:nvPr/>
        </p:nvSpPr>
        <p:spPr>
          <a:xfrm>
            <a:off x="822960" y="46542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BasicBlock × 2 (Stage 12~13)</a:t>
            </a:r>
            <a:endParaRPr lang="en-US" sz="1300" dirty="0">
              <a:latin typeface="+mj-lt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90A0F748-784F-88F2-B702-6E2DD43B5829}"/>
              </a:ext>
            </a:extLst>
          </p:cNvPr>
          <p:cNvSpPr/>
          <p:nvPr/>
        </p:nvSpPr>
        <p:spPr>
          <a:xfrm>
            <a:off x="4800600" y="46542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B78165FB-427D-F1D4-02BB-D5EDB000BF0A}"/>
              </a:ext>
            </a:extLst>
          </p:cNvPr>
          <p:cNvSpPr/>
          <p:nvPr/>
        </p:nvSpPr>
        <p:spPr>
          <a:xfrm>
            <a:off x="5120640" y="4654296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44455564-20BB-A445-3411-E8CB889A7929}"/>
              </a:ext>
            </a:extLst>
          </p:cNvPr>
          <p:cNvSpPr/>
          <p:nvPr/>
        </p:nvSpPr>
        <p:spPr>
          <a:xfrm>
            <a:off x="5120640" y="465429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(1024 × 7 × 7)</a:t>
            </a:r>
            <a:endParaRPr lang="en-US" sz="1300" dirty="0">
              <a:latin typeface="+mj-lt"/>
            </a:endParaRPr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238606FF-F38C-25C4-1FA1-81A0EE8B21E9}"/>
              </a:ext>
            </a:extLst>
          </p:cNvPr>
          <p:cNvSpPr/>
          <p:nvPr/>
        </p:nvSpPr>
        <p:spPr>
          <a:xfrm>
            <a:off x="640080" y="5148072"/>
            <a:ext cx="411480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0936A95-C697-869D-39EC-EE50B8A8D6B7}"/>
              </a:ext>
            </a:extLst>
          </p:cNvPr>
          <p:cNvSpPr/>
          <p:nvPr/>
        </p:nvSpPr>
        <p:spPr>
          <a:xfrm>
            <a:off x="822960" y="51480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AdaptiveAvgPool2d(1)</a:t>
            </a:r>
            <a:endParaRPr lang="en-US" sz="1300" dirty="0">
              <a:latin typeface="+mj-lt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7C9BB18F-95A3-D817-F04D-ADE476624095}"/>
              </a:ext>
            </a:extLst>
          </p:cNvPr>
          <p:cNvSpPr/>
          <p:nvPr/>
        </p:nvSpPr>
        <p:spPr>
          <a:xfrm>
            <a:off x="4800600" y="514807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22C2799B-4844-B6CA-30E1-CA188EEEBC61}"/>
              </a:ext>
            </a:extLst>
          </p:cNvPr>
          <p:cNvSpPr/>
          <p:nvPr/>
        </p:nvSpPr>
        <p:spPr>
          <a:xfrm>
            <a:off x="5120640" y="5148072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1ACDD27B-2D12-B8CB-E28A-FA838C15C1AA}"/>
              </a:ext>
            </a:extLst>
          </p:cNvPr>
          <p:cNvSpPr/>
          <p:nvPr/>
        </p:nvSpPr>
        <p:spPr>
          <a:xfrm>
            <a:off x="5120640" y="5148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(1024 × 1 × 1)</a:t>
            </a:r>
            <a:endParaRPr lang="en-US" sz="1300" dirty="0">
              <a:latin typeface="+mj-lt"/>
            </a:endParaRPr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D2499D74-43C9-F8D6-0B25-6D69D46EF154}"/>
              </a:ext>
            </a:extLst>
          </p:cNvPr>
          <p:cNvSpPr/>
          <p:nvPr/>
        </p:nvSpPr>
        <p:spPr>
          <a:xfrm>
            <a:off x="640080" y="5641848"/>
            <a:ext cx="4114800" cy="4572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4B96B49C-F43B-A1F7-63D9-63AA511EAC65}"/>
              </a:ext>
            </a:extLst>
          </p:cNvPr>
          <p:cNvSpPr/>
          <p:nvPr/>
        </p:nvSpPr>
        <p:spPr>
          <a:xfrm>
            <a:off x="822960" y="56418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Linear(1024 → 1000)</a:t>
            </a:r>
            <a:endParaRPr lang="en-US" sz="1300" dirty="0">
              <a:latin typeface="+mj-lt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6F9BDF31-BEF2-CE38-06AC-6C0F3430343C}"/>
              </a:ext>
            </a:extLst>
          </p:cNvPr>
          <p:cNvSpPr/>
          <p:nvPr/>
        </p:nvSpPr>
        <p:spPr>
          <a:xfrm>
            <a:off x="4800600" y="56418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F6584"/>
                </a:solidFill>
                <a:latin typeface="+mj-lt"/>
              </a:rPr>
              <a:t>→</a:t>
            </a:r>
            <a:endParaRPr lang="en-US" sz="1300" dirty="0">
              <a:latin typeface="+mj-lt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8A928277-EF1E-B043-149C-ADF405379DD7}"/>
              </a:ext>
            </a:extLst>
          </p:cNvPr>
          <p:cNvSpPr/>
          <p:nvPr/>
        </p:nvSpPr>
        <p:spPr>
          <a:xfrm>
            <a:off x="5120640" y="5641848"/>
            <a:ext cx="256032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sz="1300">
              <a:latin typeface="+mj-lt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FEE64FE8-446F-ED17-0EBA-7490DD05540E}"/>
              </a:ext>
            </a:extLst>
          </p:cNvPr>
          <p:cNvSpPr/>
          <p:nvPr/>
        </p:nvSpPr>
        <p:spPr>
          <a:xfrm>
            <a:off x="5120640" y="56418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+mj-lt"/>
                <a:ea typeface="Consolas" pitchFamily="34" charset="-122"/>
                <a:cs typeface="Consolas" pitchFamily="34" charset="-120"/>
              </a:rPr>
              <a:t>(1000,)</a:t>
            </a:r>
            <a:endParaRPr lang="en-US" sz="1300" dirty="0">
              <a:latin typeface="+mj-lt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CF7578-939C-2AC6-FE8E-4B73113AA536}"/>
              </a:ext>
            </a:extLst>
          </p:cNvPr>
          <p:cNvSpPr txBox="1"/>
          <p:nvPr/>
        </p:nvSpPr>
        <p:spPr>
          <a:xfrm>
            <a:off x="568031" y="1217756"/>
            <a:ext cx="4588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atin typeface="+mj-lt"/>
              </a:rPr>
              <a:t>ReActNet</a:t>
            </a:r>
            <a:r>
              <a:rPr lang="en-US" altLang="ko-KR" b="1" dirty="0">
                <a:latin typeface="+mj-lt"/>
              </a:rPr>
              <a:t> Architecture (ImageNet </a:t>
            </a:r>
            <a:r>
              <a:rPr lang="ko-KR" altLang="en-US" b="1" dirty="0">
                <a:latin typeface="+mj-lt"/>
              </a:rPr>
              <a:t>기준</a:t>
            </a:r>
            <a:r>
              <a:rPr lang="en-US" altLang="ko-KR" b="1" dirty="0">
                <a:latin typeface="+mj-lt"/>
              </a:rPr>
              <a:t>)</a:t>
            </a:r>
            <a:endParaRPr lang="en-US" altLang="ko-KR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47555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56E83-FDCD-837A-1848-0DB55303D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F25ADE-E21E-1A07-85D9-6DEAE3366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</a:t>
            </a:r>
            <a:r>
              <a:rPr lang="en-US" altLang="ko-KR" sz="4000" dirty="0" err="1"/>
              <a:t>BasicBlock</a:t>
            </a:r>
            <a:endParaRPr lang="en-US" altLang="ko-KR" sz="4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E4E87A7-714B-A3FA-506D-2D1448A99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1666737"/>
            <a:ext cx="8574060" cy="45231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CA6B95-6031-D44A-8717-06164BCBF6B3}"/>
              </a:ext>
            </a:extLst>
          </p:cNvPr>
          <p:cNvSpPr txBox="1"/>
          <p:nvPr/>
        </p:nvSpPr>
        <p:spPr>
          <a:xfrm>
            <a:off x="977900" y="1297405"/>
            <a:ext cx="868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BasicBlock</a:t>
            </a:r>
            <a:r>
              <a:rPr lang="en-US" altLang="ko-KR" b="1" dirty="0"/>
              <a:t> - 1</a:t>
            </a:r>
            <a:r>
              <a:rPr lang="ko-KR" altLang="en-US" b="1" dirty="0"/>
              <a:t>개의 </a:t>
            </a:r>
            <a:r>
              <a:rPr lang="en-US" altLang="ko-KR" b="1" dirty="0"/>
              <a:t>3x3 Conv </a:t>
            </a:r>
            <a:r>
              <a:rPr lang="ko-KR" altLang="en-US" b="1" dirty="0"/>
              <a:t>연산과 </a:t>
            </a:r>
            <a:r>
              <a:rPr lang="en-US" altLang="ko-KR" b="1" dirty="0"/>
              <a:t>1</a:t>
            </a:r>
            <a:r>
              <a:rPr lang="ko-KR" altLang="en-US" b="1" dirty="0"/>
              <a:t>개의 </a:t>
            </a:r>
            <a:r>
              <a:rPr lang="en-US" altLang="ko-KR" b="1" dirty="0"/>
              <a:t>1x1 Conv </a:t>
            </a:r>
            <a:r>
              <a:rPr lang="ko-KR" altLang="en-US" b="1" dirty="0"/>
              <a:t>연산으로 구성 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403723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4F481-A0B7-900B-236E-A902327F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6FE13-9398-3077-D756-52BBAD949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</a:t>
            </a:r>
            <a:r>
              <a:rPr lang="en-US" altLang="ko-KR" sz="4000" dirty="0" err="1"/>
              <a:t>BasicBlock</a:t>
            </a:r>
            <a:endParaRPr lang="en-US" altLang="ko-KR" sz="4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443CF0-5172-692C-EC4C-8685A8BE85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707" r="34257" b="7139"/>
          <a:stretch>
            <a:fillRect/>
          </a:stretch>
        </p:blipFill>
        <p:spPr>
          <a:xfrm>
            <a:off x="7488974" y="2303201"/>
            <a:ext cx="1460665" cy="4200227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3EE7F343-7FD4-5F09-63EC-2E8471667B22}"/>
              </a:ext>
            </a:extLst>
          </p:cNvPr>
          <p:cNvSpPr/>
          <p:nvPr/>
        </p:nvSpPr>
        <p:spPr>
          <a:xfrm>
            <a:off x="2316085" y="1572332"/>
            <a:ext cx="3448203" cy="49043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DBE830F-997E-F7B5-B264-A2FD50547846}"/>
              </a:ext>
            </a:extLst>
          </p:cNvPr>
          <p:cNvSpPr/>
          <p:nvPr/>
        </p:nvSpPr>
        <p:spPr>
          <a:xfrm>
            <a:off x="2681650" y="1753533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Learnable Bias – </a:t>
            </a:r>
            <a:r>
              <a:rPr lang="ko-KR" altLang="en-US" sz="1400" dirty="0"/>
              <a:t>분포 조정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50918E-2754-E495-FDB4-705F22E378AC}"/>
              </a:ext>
            </a:extLst>
          </p:cNvPr>
          <p:cNvSpPr txBox="1"/>
          <p:nvPr/>
        </p:nvSpPr>
        <p:spPr>
          <a:xfrm>
            <a:off x="591983" y="1118334"/>
            <a:ext cx="344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코드 기반 </a:t>
            </a:r>
            <a:r>
              <a:rPr lang="en-US" altLang="ko-KR" b="1" dirty="0"/>
              <a:t>3x3 Conv </a:t>
            </a:r>
            <a:r>
              <a:rPr lang="ko-KR" altLang="en-US" b="1" dirty="0"/>
              <a:t>연산 분석</a:t>
            </a:r>
            <a:endParaRPr lang="en-US" altLang="ko-KR" b="1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645F5913-7D12-813E-B5E7-701B9708608F}"/>
              </a:ext>
            </a:extLst>
          </p:cNvPr>
          <p:cNvSpPr/>
          <p:nvPr/>
        </p:nvSpPr>
        <p:spPr>
          <a:xfrm>
            <a:off x="2681649" y="2336592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Binary Activation</a:t>
            </a:r>
            <a:endParaRPr lang="ko-KR" altLang="en-US" sz="1400" dirty="0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4EBAF491-92BB-0CAB-12D8-4C660510422C}"/>
              </a:ext>
            </a:extLst>
          </p:cNvPr>
          <p:cNvSpPr/>
          <p:nvPr/>
        </p:nvSpPr>
        <p:spPr>
          <a:xfrm>
            <a:off x="2681649" y="2919651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Binary 3x3 Conv</a:t>
            </a:r>
            <a:endParaRPr lang="ko-KR" altLang="en-US" sz="1400" dirty="0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B55C80D5-F716-7D40-6DEE-03BA8B7672BC}"/>
              </a:ext>
            </a:extLst>
          </p:cNvPr>
          <p:cNvSpPr/>
          <p:nvPr/>
        </p:nvSpPr>
        <p:spPr>
          <a:xfrm>
            <a:off x="2681648" y="3502710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Batch Normalization</a:t>
            </a:r>
            <a:endParaRPr lang="ko-KR" altLang="en-US" sz="1400" dirty="0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18DFD430-105A-CD5E-CAAF-072AEC5F3DE4}"/>
              </a:ext>
            </a:extLst>
          </p:cNvPr>
          <p:cNvSpPr/>
          <p:nvPr/>
        </p:nvSpPr>
        <p:spPr>
          <a:xfrm>
            <a:off x="2681648" y="4085769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Skip Connection</a:t>
            </a:r>
            <a:endParaRPr lang="ko-KR" altLang="en-US" sz="14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0D9AF2BF-C970-6F27-18EC-1F583D9D2097}"/>
              </a:ext>
            </a:extLst>
          </p:cNvPr>
          <p:cNvSpPr/>
          <p:nvPr/>
        </p:nvSpPr>
        <p:spPr>
          <a:xfrm>
            <a:off x="2681648" y="4668828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dirty="0"/>
              <a:t>분포 조정</a:t>
            </a:r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868F6A64-589E-CE0E-FEF8-E6CE8563CD0A}"/>
              </a:ext>
            </a:extLst>
          </p:cNvPr>
          <p:cNvSpPr/>
          <p:nvPr/>
        </p:nvSpPr>
        <p:spPr>
          <a:xfrm>
            <a:off x="2681648" y="5251887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PReLU</a:t>
            </a:r>
            <a:endParaRPr lang="ko-KR" altLang="en-US" sz="1400" dirty="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3DB61B41-FA4C-00CD-F44E-F503CBD99E5B}"/>
              </a:ext>
            </a:extLst>
          </p:cNvPr>
          <p:cNvSpPr/>
          <p:nvPr/>
        </p:nvSpPr>
        <p:spPr>
          <a:xfrm>
            <a:off x="2681648" y="5834945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dirty="0"/>
              <a:t>분포 조정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48E8109-AEE3-1740-A1DF-711366FCABA3}"/>
              </a:ext>
            </a:extLst>
          </p:cNvPr>
          <p:cNvSpPr/>
          <p:nvPr/>
        </p:nvSpPr>
        <p:spPr>
          <a:xfrm>
            <a:off x="7564184" y="2590107"/>
            <a:ext cx="1385455" cy="17681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8FE735F-5518-E970-7F49-B65489880893}"/>
              </a:ext>
            </a:extLst>
          </p:cNvPr>
          <p:cNvCxnSpPr/>
          <p:nvPr/>
        </p:nvCxnSpPr>
        <p:spPr>
          <a:xfrm>
            <a:off x="5866411" y="1572332"/>
            <a:ext cx="1622563" cy="10177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4572B9A3-B413-7D05-1AFA-4791E1C6F598}"/>
              </a:ext>
            </a:extLst>
          </p:cNvPr>
          <p:cNvCxnSpPr>
            <a:cxnSpLocks/>
          </p:cNvCxnSpPr>
          <p:nvPr/>
        </p:nvCxnSpPr>
        <p:spPr>
          <a:xfrm flipV="1">
            <a:off x="5839498" y="4403314"/>
            <a:ext cx="1687081" cy="207339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F3B044DA-73B9-585D-5082-B4D9C4B629E2}"/>
              </a:ext>
            </a:extLst>
          </p:cNvPr>
          <p:cNvSpPr txBox="1"/>
          <p:nvPr/>
        </p:nvSpPr>
        <p:spPr>
          <a:xfrm>
            <a:off x="2844908" y="6522931"/>
            <a:ext cx="23905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코드 기반 순서</a:t>
            </a:r>
            <a:endParaRPr lang="en-US" altLang="ko-KR" sz="1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EE6EF21-91F1-4291-493F-B78F389A94F4}"/>
              </a:ext>
            </a:extLst>
          </p:cNvPr>
          <p:cNvSpPr txBox="1"/>
          <p:nvPr/>
        </p:nvSpPr>
        <p:spPr>
          <a:xfrm>
            <a:off x="7024028" y="6503428"/>
            <a:ext cx="23905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논문 상 순서</a:t>
            </a:r>
            <a:endParaRPr lang="en-US" altLang="ko-KR" sz="1000" dirty="0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A5FFF267-DABA-66E3-02D1-0C32846A8BCA}"/>
              </a:ext>
            </a:extLst>
          </p:cNvPr>
          <p:cNvCxnSpPr>
            <a:stCxn id="6" idx="2"/>
          </p:cNvCxnSpPr>
          <p:nvPr/>
        </p:nvCxnSpPr>
        <p:spPr>
          <a:xfrm flipH="1">
            <a:off x="3994960" y="2164797"/>
            <a:ext cx="2" cy="1384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41CE3761-16A7-523E-0438-C623B47B517B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3994960" y="2781247"/>
            <a:ext cx="1" cy="1384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D28AA69D-06DD-C470-B906-A7256752FE77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 flipH="1">
            <a:off x="3994960" y="3330915"/>
            <a:ext cx="1" cy="171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D6A3E679-B30C-7C1F-A62E-9F9618C7B51A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3994960" y="5080092"/>
            <a:ext cx="0" cy="171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88B074F9-A561-2021-F3F8-CD0C9F2451C9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3994960" y="5663151"/>
            <a:ext cx="0" cy="1717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9AC22009-8D99-950E-7673-4C93834D31AB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>
            <a:off x="3994960" y="4497033"/>
            <a:ext cx="0" cy="171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F8A5524B-190B-E3E9-A060-DCAA2D4E23D3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>
            <a:off x="3994960" y="3913974"/>
            <a:ext cx="0" cy="171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FF37D-09A2-D260-C639-D340954D4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DDB4D4-82C8-B6CD-2D27-CDDA5AB9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</a:t>
            </a:r>
            <a:r>
              <a:rPr lang="en-US" altLang="ko-KR" sz="4000" dirty="0" err="1"/>
              <a:t>BasicBlock</a:t>
            </a:r>
            <a:endParaRPr lang="en-US" altLang="ko-KR" sz="4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FAA5F8E-104E-6AC7-1AF2-937B98D0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707" r="34257" b="7139"/>
          <a:stretch>
            <a:fillRect/>
          </a:stretch>
        </p:blipFill>
        <p:spPr>
          <a:xfrm>
            <a:off x="7488974" y="2303201"/>
            <a:ext cx="1460665" cy="4200227"/>
          </a:xfrm>
          <a:prstGeom prst="rect">
            <a:avLst/>
          </a:prstGeom>
        </p:spPr>
      </p:pic>
      <p:sp>
        <p:nvSpPr>
          <p:cNvPr id="4" name="Shape 3">
            <a:extLst>
              <a:ext uri="{FF2B5EF4-FFF2-40B4-BE49-F238E27FC236}">
                <a16:creationId xmlns:a16="http://schemas.microsoft.com/office/drawing/2014/main" id="{624B59DB-4B33-D1C3-4524-739EEFF78522}"/>
              </a:ext>
            </a:extLst>
          </p:cNvPr>
          <p:cNvSpPr/>
          <p:nvPr/>
        </p:nvSpPr>
        <p:spPr>
          <a:xfrm>
            <a:off x="2316085" y="1572332"/>
            <a:ext cx="3448203" cy="49043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ABFE93E-198F-F447-6686-781904DEF453}"/>
              </a:ext>
            </a:extLst>
          </p:cNvPr>
          <p:cNvSpPr/>
          <p:nvPr/>
        </p:nvSpPr>
        <p:spPr>
          <a:xfrm>
            <a:off x="2681650" y="1753533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Learnable Bias – </a:t>
            </a:r>
            <a:r>
              <a:rPr lang="ko-KR" altLang="en-US" sz="1400" dirty="0"/>
              <a:t>분포 조정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793968-5B04-1331-A1C8-AF6BB8653C55}"/>
              </a:ext>
            </a:extLst>
          </p:cNvPr>
          <p:cNvSpPr txBox="1"/>
          <p:nvPr/>
        </p:nvSpPr>
        <p:spPr>
          <a:xfrm>
            <a:off x="591983" y="1118334"/>
            <a:ext cx="344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코드 기반 </a:t>
            </a:r>
            <a:r>
              <a:rPr lang="en-US" altLang="ko-KR" b="1" dirty="0"/>
              <a:t>1x1 Conv </a:t>
            </a:r>
            <a:r>
              <a:rPr lang="ko-KR" altLang="en-US" b="1" dirty="0"/>
              <a:t>연산 분석</a:t>
            </a:r>
            <a:endParaRPr lang="en-US" altLang="ko-KR" b="1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5852B268-9C8F-E3C9-1064-F7CAE1D2826F}"/>
              </a:ext>
            </a:extLst>
          </p:cNvPr>
          <p:cNvSpPr/>
          <p:nvPr/>
        </p:nvSpPr>
        <p:spPr>
          <a:xfrm>
            <a:off x="2681649" y="2336592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Binary Activation</a:t>
            </a:r>
            <a:endParaRPr lang="ko-KR" altLang="en-US" sz="1400" dirty="0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505AC2CB-32B0-4A61-9EF4-4EFB1090A369}"/>
              </a:ext>
            </a:extLst>
          </p:cNvPr>
          <p:cNvSpPr/>
          <p:nvPr/>
        </p:nvSpPr>
        <p:spPr>
          <a:xfrm>
            <a:off x="2681649" y="2919651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Binary 1x1 Conv</a:t>
            </a:r>
            <a:endParaRPr lang="ko-KR" altLang="en-US" sz="1400" dirty="0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57CD9524-F3AF-8DF4-7468-82C0F2E91DD4}"/>
              </a:ext>
            </a:extLst>
          </p:cNvPr>
          <p:cNvSpPr/>
          <p:nvPr/>
        </p:nvSpPr>
        <p:spPr>
          <a:xfrm>
            <a:off x="2681648" y="3502710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Batch Normalization</a:t>
            </a:r>
            <a:endParaRPr lang="ko-KR" altLang="en-US" sz="1400" dirty="0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1DC0C3BA-0FFA-A8F9-D01B-1D8AB85EB095}"/>
              </a:ext>
            </a:extLst>
          </p:cNvPr>
          <p:cNvSpPr/>
          <p:nvPr/>
        </p:nvSpPr>
        <p:spPr>
          <a:xfrm>
            <a:off x="2681648" y="4085769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Skip Connection</a:t>
            </a:r>
            <a:endParaRPr lang="ko-KR" altLang="en-US" sz="14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0FB6FB3F-5275-82ED-B623-4F44FB073D6F}"/>
              </a:ext>
            </a:extLst>
          </p:cNvPr>
          <p:cNvSpPr/>
          <p:nvPr/>
        </p:nvSpPr>
        <p:spPr>
          <a:xfrm>
            <a:off x="2681648" y="4668828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dirty="0"/>
              <a:t>분포 조정</a:t>
            </a:r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376BC546-D650-9E22-47F6-2C43D617F630}"/>
              </a:ext>
            </a:extLst>
          </p:cNvPr>
          <p:cNvSpPr/>
          <p:nvPr/>
        </p:nvSpPr>
        <p:spPr>
          <a:xfrm>
            <a:off x="2681648" y="5251887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PReLU</a:t>
            </a:r>
            <a:endParaRPr lang="ko-KR" altLang="en-US" sz="1400" dirty="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744511CE-6FF9-1338-5DF2-8BD2F29E8A23}"/>
              </a:ext>
            </a:extLst>
          </p:cNvPr>
          <p:cNvSpPr/>
          <p:nvPr/>
        </p:nvSpPr>
        <p:spPr>
          <a:xfrm>
            <a:off x="2681648" y="5834945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dirty="0"/>
              <a:t>분포 조정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9D1007A-3434-1427-86D1-2B4D97BC7F9D}"/>
              </a:ext>
            </a:extLst>
          </p:cNvPr>
          <p:cNvSpPr/>
          <p:nvPr/>
        </p:nvSpPr>
        <p:spPr>
          <a:xfrm>
            <a:off x="7564184" y="4444716"/>
            <a:ext cx="1385455" cy="1614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2B4AB03-B2F6-CD32-A270-A62B6D743805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5866411" y="1572332"/>
            <a:ext cx="1622563" cy="28309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5DB914C0-99D2-51D8-E703-83F2AABB420C}"/>
              </a:ext>
            </a:extLst>
          </p:cNvPr>
          <p:cNvCxnSpPr>
            <a:cxnSpLocks/>
          </p:cNvCxnSpPr>
          <p:nvPr/>
        </p:nvCxnSpPr>
        <p:spPr>
          <a:xfrm flipV="1">
            <a:off x="5839498" y="6059057"/>
            <a:ext cx="1649476" cy="4176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196F207-3093-2E54-38B7-6755AFEDA04E}"/>
              </a:ext>
            </a:extLst>
          </p:cNvPr>
          <p:cNvSpPr txBox="1"/>
          <p:nvPr/>
        </p:nvSpPr>
        <p:spPr>
          <a:xfrm>
            <a:off x="2844908" y="6522931"/>
            <a:ext cx="23905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코드 기반 순서</a:t>
            </a:r>
            <a:endParaRPr lang="en-US" altLang="ko-KR" sz="1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02070E-129D-4C67-D8BE-271DE7234385}"/>
              </a:ext>
            </a:extLst>
          </p:cNvPr>
          <p:cNvSpPr txBox="1"/>
          <p:nvPr/>
        </p:nvSpPr>
        <p:spPr>
          <a:xfrm>
            <a:off x="7024028" y="6503428"/>
            <a:ext cx="23905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논문 상 순서</a:t>
            </a:r>
            <a:endParaRPr lang="en-US" altLang="ko-KR" sz="1000" dirty="0"/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DE9E38FF-6D1C-944B-2961-AEDF465E609F}"/>
              </a:ext>
            </a:extLst>
          </p:cNvPr>
          <p:cNvCxnSpPr>
            <a:stCxn id="6" idx="2"/>
          </p:cNvCxnSpPr>
          <p:nvPr/>
        </p:nvCxnSpPr>
        <p:spPr>
          <a:xfrm flipH="1">
            <a:off x="3994960" y="2164797"/>
            <a:ext cx="2" cy="1384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4C49A443-97FC-B0DA-CB52-5CE7E2971027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3994960" y="2781247"/>
            <a:ext cx="1" cy="1384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9B36ECDA-3EDE-54BE-3235-56BE302AE04C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 flipH="1">
            <a:off x="3994960" y="3330915"/>
            <a:ext cx="1" cy="171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62CBF184-916D-0078-B739-5D5FE07F9B95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3994960" y="5080092"/>
            <a:ext cx="0" cy="171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F19AFFF6-3F3A-2A70-D104-0909491D98D1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3994960" y="5663151"/>
            <a:ext cx="0" cy="1717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3913BB8-7F37-4B86-DCF0-19FE2E590CB4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>
            <a:off x="3994960" y="4497033"/>
            <a:ext cx="0" cy="171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D0A6C73-03C2-B4C2-6A43-272647C4D67C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>
            <a:off x="3994960" y="3913974"/>
            <a:ext cx="0" cy="171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310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6CA3B-BBF5-B8B9-F74D-FC75AA75E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CE4775-64F6-1813-DCCF-31DDFAAD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</a:t>
            </a:r>
            <a:r>
              <a:rPr lang="en-US" altLang="ko-KR" sz="4000" dirty="0" err="1"/>
              <a:t>BasicBlock</a:t>
            </a:r>
            <a:r>
              <a:rPr lang="en-US" altLang="ko-KR" sz="4000" dirty="0"/>
              <a:t> – </a:t>
            </a:r>
            <a:r>
              <a:rPr lang="ko-KR" altLang="en-US" sz="4000" dirty="0"/>
              <a:t>채널 수 증가</a:t>
            </a:r>
            <a:endParaRPr lang="en-US" altLang="ko-KR" sz="4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56DCAA6-D104-D497-BC55-6C5DCAF256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189" b="7139"/>
          <a:stretch>
            <a:fillRect/>
          </a:stretch>
        </p:blipFill>
        <p:spPr>
          <a:xfrm>
            <a:off x="4322316" y="1798306"/>
            <a:ext cx="2984702" cy="4200227"/>
          </a:xfrm>
          <a:prstGeom prst="rect">
            <a:avLst/>
          </a:prstGeom>
        </p:spPr>
      </p:pic>
      <p:sp>
        <p:nvSpPr>
          <p:cNvPr id="37" name="직사각형 36">
            <a:extLst>
              <a:ext uri="{FF2B5EF4-FFF2-40B4-BE49-F238E27FC236}">
                <a16:creationId xmlns:a16="http://schemas.microsoft.com/office/drawing/2014/main" id="{7FFF0779-75D5-9CD6-566B-36BFBDC4011B}"/>
              </a:ext>
            </a:extLst>
          </p:cNvPr>
          <p:cNvSpPr/>
          <p:nvPr/>
        </p:nvSpPr>
        <p:spPr>
          <a:xfrm>
            <a:off x="4429212" y="3498982"/>
            <a:ext cx="2733026" cy="21642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3">
            <a:extLst>
              <a:ext uri="{FF2B5EF4-FFF2-40B4-BE49-F238E27FC236}">
                <a16:creationId xmlns:a16="http://schemas.microsoft.com/office/drawing/2014/main" id="{2A0491E5-B122-FB6B-0FDB-6F80329C690E}"/>
              </a:ext>
            </a:extLst>
          </p:cNvPr>
          <p:cNvSpPr/>
          <p:nvPr/>
        </p:nvSpPr>
        <p:spPr>
          <a:xfrm>
            <a:off x="508550" y="1556778"/>
            <a:ext cx="3448203" cy="49043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0" name="Shape 6">
            <a:extLst>
              <a:ext uri="{FF2B5EF4-FFF2-40B4-BE49-F238E27FC236}">
                <a16:creationId xmlns:a16="http://schemas.microsoft.com/office/drawing/2014/main" id="{DC19FCC7-AC84-0E42-F145-5FDFE92E47DD}"/>
              </a:ext>
            </a:extLst>
          </p:cNvPr>
          <p:cNvSpPr/>
          <p:nvPr/>
        </p:nvSpPr>
        <p:spPr>
          <a:xfrm>
            <a:off x="874115" y="1737979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Learnable Bias – </a:t>
            </a:r>
            <a:r>
              <a:rPr lang="ko-KR" altLang="en-US" sz="1400" dirty="0"/>
              <a:t>분포 조정 </a:t>
            </a:r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9E764291-846A-2818-C921-8E84A8A9A881}"/>
              </a:ext>
            </a:extLst>
          </p:cNvPr>
          <p:cNvSpPr/>
          <p:nvPr/>
        </p:nvSpPr>
        <p:spPr>
          <a:xfrm>
            <a:off x="874114" y="2321038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Binary Activation</a:t>
            </a:r>
            <a:endParaRPr lang="ko-KR" altLang="en-US" sz="1400" dirty="0"/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A80186CF-5E23-12F9-3AB6-2FD25F65F254}"/>
              </a:ext>
            </a:extLst>
          </p:cNvPr>
          <p:cNvSpPr/>
          <p:nvPr/>
        </p:nvSpPr>
        <p:spPr>
          <a:xfrm>
            <a:off x="874114" y="2904097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Binary 1x1 Conv</a:t>
            </a:r>
            <a:endParaRPr lang="ko-KR" altLang="en-US" sz="1400" dirty="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3A38FE42-28DF-C743-DA89-F0A2FD38FF6C}"/>
              </a:ext>
            </a:extLst>
          </p:cNvPr>
          <p:cNvSpPr/>
          <p:nvPr/>
        </p:nvSpPr>
        <p:spPr>
          <a:xfrm>
            <a:off x="874113" y="3487156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Batch Normalization</a:t>
            </a:r>
            <a:endParaRPr lang="ko-KR" altLang="en-US" sz="1400" dirty="0"/>
          </a:p>
        </p:txBody>
      </p:sp>
      <p:sp>
        <p:nvSpPr>
          <p:cNvPr id="44" name="Shape 6">
            <a:extLst>
              <a:ext uri="{FF2B5EF4-FFF2-40B4-BE49-F238E27FC236}">
                <a16:creationId xmlns:a16="http://schemas.microsoft.com/office/drawing/2014/main" id="{E77948BD-9F42-CA85-28CF-035CE232CE02}"/>
              </a:ext>
            </a:extLst>
          </p:cNvPr>
          <p:cNvSpPr/>
          <p:nvPr/>
        </p:nvSpPr>
        <p:spPr>
          <a:xfrm>
            <a:off x="874113" y="4070215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Skip Connection</a:t>
            </a:r>
            <a:endParaRPr lang="ko-KR" altLang="en-US" sz="1400" dirty="0"/>
          </a:p>
        </p:txBody>
      </p:sp>
      <p:sp>
        <p:nvSpPr>
          <p:cNvPr id="45" name="Shape 6">
            <a:extLst>
              <a:ext uri="{FF2B5EF4-FFF2-40B4-BE49-F238E27FC236}">
                <a16:creationId xmlns:a16="http://schemas.microsoft.com/office/drawing/2014/main" id="{2D03BC1C-E26B-8197-5BB1-393E5DCEFE9F}"/>
              </a:ext>
            </a:extLst>
          </p:cNvPr>
          <p:cNvSpPr/>
          <p:nvPr/>
        </p:nvSpPr>
        <p:spPr>
          <a:xfrm>
            <a:off x="874113" y="4653274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dirty="0"/>
              <a:t>분포 조정</a:t>
            </a:r>
          </a:p>
        </p:txBody>
      </p:sp>
      <p:sp>
        <p:nvSpPr>
          <p:cNvPr id="46" name="Shape 6">
            <a:extLst>
              <a:ext uri="{FF2B5EF4-FFF2-40B4-BE49-F238E27FC236}">
                <a16:creationId xmlns:a16="http://schemas.microsoft.com/office/drawing/2014/main" id="{6B5B03DB-45C6-CD61-648D-606AA6335B90}"/>
              </a:ext>
            </a:extLst>
          </p:cNvPr>
          <p:cNvSpPr/>
          <p:nvPr/>
        </p:nvSpPr>
        <p:spPr>
          <a:xfrm>
            <a:off x="874113" y="5236333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400" dirty="0"/>
              <a:t>PReLU</a:t>
            </a:r>
            <a:endParaRPr lang="ko-KR" altLang="en-US" sz="1400" dirty="0"/>
          </a:p>
        </p:txBody>
      </p:sp>
      <p:sp>
        <p:nvSpPr>
          <p:cNvPr id="47" name="Shape 6">
            <a:extLst>
              <a:ext uri="{FF2B5EF4-FFF2-40B4-BE49-F238E27FC236}">
                <a16:creationId xmlns:a16="http://schemas.microsoft.com/office/drawing/2014/main" id="{1F59AD38-7213-81EE-8BC2-2A4187B675C7}"/>
              </a:ext>
            </a:extLst>
          </p:cNvPr>
          <p:cNvSpPr/>
          <p:nvPr/>
        </p:nvSpPr>
        <p:spPr>
          <a:xfrm>
            <a:off x="874113" y="5819391"/>
            <a:ext cx="2626624" cy="411264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sz="1400" dirty="0"/>
              <a:t>분포 조정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D45FE32-F25C-EFED-52F3-C658258064F8}"/>
              </a:ext>
            </a:extLst>
          </p:cNvPr>
          <p:cNvCxnSpPr>
            <a:stCxn id="40" idx="2"/>
          </p:cNvCxnSpPr>
          <p:nvPr/>
        </p:nvCxnSpPr>
        <p:spPr>
          <a:xfrm flipH="1">
            <a:off x="2187425" y="2149243"/>
            <a:ext cx="2" cy="1384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48779CC-B531-0F4A-DDD9-6BFF9C8F0D8A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2187425" y="2765693"/>
            <a:ext cx="1" cy="1384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ECA39667-5749-2E9E-8C55-0D4B173607BE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 flipH="1">
            <a:off x="2187425" y="3315361"/>
            <a:ext cx="1" cy="171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127BEC0-2EED-B73F-065D-A3094EB6EF60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2187425" y="5064538"/>
            <a:ext cx="0" cy="171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767E37D-5AF5-58CF-B0B4-241B65FFC17F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2187425" y="5647597"/>
            <a:ext cx="0" cy="1717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A9DBB492-7C77-3DED-D81B-3A6253A74EEC}"/>
              </a:ext>
            </a:extLst>
          </p:cNvPr>
          <p:cNvCxnSpPr>
            <a:cxnSpLocks/>
            <a:stCxn id="44" idx="2"/>
            <a:endCxn id="45" idx="0"/>
          </p:cNvCxnSpPr>
          <p:nvPr/>
        </p:nvCxnSpPr>
        <p:spPr>
          <a:xfrm>
            <a:off x="2187425" y="4481479"/>
            <a:ext cx="0" cy="171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0AF501E1-D781-10C4-E520-AF0549CB56AF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2187425" y="3898420"/>
            <a:ext cx="0" cy="171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38AEBCF-9A52-F423-EBB0-BE4379050386}"/>
              </a:ext>
            </a:extLst>
          </p:cNvPr>
          <p:cNvSpPr txBox="1"/>
          <p:nvPr/>
        </p:nvSpPr>
        <p:spPr>
          <a:xfrm>
            <a:off x="7559748" y="2287647"/>
            <a:ext cx="4478205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채널 수를 </a:t>
            </a:r>
            <a:r>
              <a:rPr lang="en-US" altLang="ko-KR" sz="1400" dirty="0"/>
              <a:t>2</a:t>
            </a:r>
            <a:r>
              <a:rPr lang="ko-KR" altLang="en-US" sz="1400" dirty="0"/>
              <a:t>배</a:t>
            </a:r>
            <a:r>
              <a:rPr lang="en-US" altLang="ko-KR" sz="1400" dirty="0"/>
              <a:t>(</a:t>
            </a:r>
            <a:r>
              <a:rPr lang="ko-KR" altLang="en-US" sz="1400" dirty="0"/>
              <a:t>채널 수 </a:t>
            </a:r>
            <a:r>
              <a:rPr lang="en-US" altLang="ko-KR" sz="1400" dirty="0"/>
              <a:t>n </a:t>
            </a:r>
            <a:r>
              <a:rPr lang="ko-KR" altLang="en-US" sz="1400" dirty="0"/>
              <a:t>→</a:t>
            </a:r>
            <a:r>
              <a:rPr lang="en-US" altLang="ko-KR" sz="1400" dirty="0"/>
              <a:t> 2n) </a:t>
            </a:r>
            <a:r>
              <a:rPr lang="ko-KR" altLang="en-US" sz="1400" dirty="0"/>
              <a:t>로 늘리는 단일 </a:t>
            </a:r>
            <a:r>
              <a:rPr lang="en-US" altLang="ko-KR" sz="1400" dirty="0"/>
              <a:t>binary conv </a:t>
            </a:r>
            <a:r>
              <a:rPr lang="ko-KR" altLang="en-US" sz="1400" dirty="0"/>
              <a:t>연산은 학습이 불안정</a:t>
            </a: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Duplicate </a:t>
            </a:r>
            <a:r>
              <a:rPr lang="ko-KR" altLang="en-US" sz="1400" dirty="0"/>
              <a:t>후</a:t>
            </a:r>
            <a:r>
              <a:rPr lang="en-US" altLang="ko-KR" sz="1400" dirty="0"/>
              <a:t>, </a:t>
            </a:r>
            <a:r>
              <a:rPr lang="ko-KR" altLang="en-US" sz="1400" dirty="0"/>
              <a:t>기존과 동일한 채널 수</a:t>
            </a:r>
            <a:r>
              <a:rPr lang="en-US" altLang="ko-KR" sz="1400" dirty="0"/>
              <a:t>(n)</a:t>
            </a:r>
            <a:r>
              <a:rPr lang="ko-KR" altLang="en-US" sz="1400" dirty="0"/>
              <a:t>로 각각 학습</a:t>
            </a:r>
            <a:r>
              <a:rPr lang="en-US" altLang="ko-KR" sz="1400" dirty="0"/>
              <a:t>(</a:t>
            </a:r>
            <a:r>
              <a:rPr lang="ko-KR" altLang="en-US" sz="1400" dirty="0"/>
              <a:t>병렬</a:t>
            </a:r>
            <a:r>
              <a:rPr lang="en-US" altLang="ko-K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Conv </a:t>
            </a:r>
            <a:r>
              <a:rPr lang="ko-KR" altLang="en-US" sz="1400" dirty="0"/>
              <a:t>연산이 끝난 후</a:t>
            </a:r>
            <a:r>
              <a:rPr lang="en-US" altLang="ko-KR" sz="1400" dirty="0"/>
              <a:t>, </a:t>
            </a:r>
            <a:r>
              <a:rPr lang="ko-KR" altLang="en-US" sz="1400" dirty="0"/>
              <a:t>두 결과를 </a:t>
            </a:r>
            <a:r>
              <a:rPr lang="en-US" altLang="ko-KR" sz="1400" dirty="0"/>
              <a:t>Concatenate</a:t>
            </a:r>
            <a:r>
              <a:rPr lang="ko-KR" altLang="en-US" sz="1400" dirty="0"/>
              <a:t>하여 </a:t>
            </a:r>
            <a:r>
              <a:rPr lang="en-US" altLang="ko-KR" sz="1400" dirty="0"/>
              <a:t>1</a:t>
            </a:r>
            <a:r>
              <a:rPr lang="ko-KR" altLang="en-US" sz="1400" dirty="0"/>
              <a:t>개의 결과값으로 저장</a:t>
            </a:r>
            <a:r>
              <a:rPr lang="en-US" altLang="ko-KR" sz="1400" dirty="0"/>
              <a:t>(</a:t>
            </a:r>
            <a:r>
              <a:rPr lang="ko-KR" altLang="en-US" sz="1400" dirty="0"/>
              <a:t>채널 수는 </a:t>
            </a:r>
            <a:r>
              <a:rPr lang="en-US" altLang="ko-KR" sz="1400" dirty="0"/>
              <a:t>2</a:t>
            </a:r>
            <a:r>
              <a:rPr lang="ko-KR" altLang="en-US" sz="1400" dirty="0"/>
              <a:t>배</a:t>
            </a:r>
            <a:r>
              <a:rPr lang="en-US" altLang="ko-KR" sz="14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300787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0FF87-6BD3-FDE5-64BB-FD265E680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B7C28-3E66-4657-8570-6CD3B09B3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</a:t>
            </a:r>
            <a:r>
              <a:rPr lang="en-US" altLang="ko-KR" sz="4000" dirty="0" err="1"/>
              <a:t>BasicBlock</a:t>
            </a:r>
            <a:r>
              <a:rPr lang="en-US" altLang="ko-KR" sz="4000" dirty="0"/>
              <a:t> –</a:t>
            </a:r>
            <a:r>
              <a:rPr lang="ko-KR" altLang="en-US" sz="4000" dirty="0"/>
              <a:t> </a:t>
            </a:r>
            <a:r>
              <a:rPr lang="en-US" altLang="ko-KR" sz="4000" dirty="0"/>
              <a:t>Majority Voter </a:t>
            </a:r>
            <a:r>
              <a:rPr lang="ko-KR" altLang="en-US" sz="4000" dirty="0"/>
              <a:t>도입</a:t>
            </a:r>
            <a:endParaRPr lang="en-US" altLang="ko-KR" sz="4000" dirty="0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BA39BC50-BED8-0D86-8598-02FAD9CD4EF4}"/>
              </a:ext>
            </a:extLst>
          </p:cNvPr>
          <p:cNvGrpSpPr/>
          <p:nvPr/>
        </p:nvGrpSpPr>
        <p:grpSpPr>
          <a:xfrm>
            <a:off x="502920" y="1669369"/>
            <a:ext cx="3463024" cy="5029200"/>
            <a:chOff x="502920" y="1669369"/>
            <a:chExt cx="3463024" cy="5029200"/>
          </a:xfrm>
        </p:grpSpPr>
        <p:sp>
          <p:nvSpPr>
            <p:cNvPr id="31" name="Shape 3">
              <a:extLst>
                <a:ext uri="{FF2B5EF4-FFF2-40B4-BE49-F238E27FC236}">
                  <a16:creationId xmlns:a16="http://schemas.microsoft.com/office/drawing/2014/main" id="{F9BC4392-43EC-C2F6-FDA9-E632AD2C4B5A}"/>
                </a:ext>
              </a:extLst>
            </p:cNvPr>
            <p:cNvSpPr/>
            <p:nvPr/>
          </p:nvSpPr>
          <p:spPr>
            <a:xfrm>
              <a:off x="502920" y="1669369"/>
              <a:ext cx="3463024" cy="5029200"/>
            </a:xfrm>
            <a:prstGeom prst="rect">
              <a:avLst/>
            </a:prstGeom>
            <a:solidFill>
              <a:srgbClr val="F7F9FC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33" name="Text 5">
              <a:extLst>
                <a:ext uri="{FF2B5EF4-FFF2-40B4-BE49-F238E27FC236}">
                  <a16:creationId xmlns:a16="http://schemas.microsoft.com/office/drawing/2014/main" id="{98F26973-3FDF-6ACB-C213-808520F5E780}"/>
                </a:ext>
              </a:extLst>
            </p:cNvPr>
            <p:cNvSpPr/>
            <p:nvPr/>
          </p:nvSpPr>
          <p:spPr>
            <a:xfrm>
              <a:off x="685800" y="2103120"/>
              <a:ext cx="2163726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600" b="1" dirty="0">
                  <a:latin typeface="+mj-lt"/>
                  <a:ea typeface="맑은 고딕" pitchFamily="34" charset="-122"/>
                  <a:cs typeface="맑은 고딕" pitchFamily="34" charset="-120"/>
                </a:rPr>
                <a:t>기존</a:t>
              </a:r>
              <a:r>
                <a:rPr lang="en-US" sz="1600" b="1" dirty="0">
                  <a:latin typeface="+mj-lt"/>
                  <a:ea typeface="맑은 고딕" pitchFamily="34" charset="-122"/>
                  <a:cs typeface="맑은 고딕" pitchFamily="34" charset="-120"/>
                </a:rPr>
                <a:t> ReActNet 원본</a:t>
              </a:r>
              <a:endParaRPr lang="en-US" sz="1600" dirty="0">
                <a:latin typeface="+mj-lt"/>
              </a:endParaRPr>
            </a:p>
          </p:txBody>
        </p:sp>
        <p:sp>
          <p:nvSpPr>
            <p:cNvPr id="34" name="Text 6">
              <a:extLst>
                <a:ext uri="{FF2B5EF4-FFF2-40B4-BE49-F238E27FC236}">
                  <a16:creationId xmlns:a16="http://schemas.microsoft.com/office/drawing/2014/main" id="{7AC48E07-52C7-90BA-9921-2FDF4571C53E}"/>
                </a:ext>
              </a:extLst>
            </p:cNvPr>
            <p:cNvSpPr/>
            <p:nvPr/>
          </p:nvSpPr>
          <p:spPr>
            <a:xfrm>
              <a:off x="777240" y="2606040"/>
              <a:ext cx="280593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+mj-lt"/>
                  <a:ea typeface="Consolas" pitchFamily="34" charset="-122"/>
                  <a:cs typeface="Consolas" pitchFamily="34" charset="-120"/>
                </a:rPr>
                <a:t>binary_no_grad = scaling × sign(W)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5" name="Text 7">
              <a:extLst>
                <a:ext uri="{FF2B5EF4-FFF2-40B4-BE49-F238E27FC236}">
                  <a16:creationId xmlns:a16="http://schemas.microsoft.com/office/drawing/2014/main" id="{844106FE-34B5-0D1D-82DF-44EA051C39FB}"/>
                </a:ext>
              </a:extLst>
            </p:cNvPr>
            <p:cNvSpPr/>
            <p:nvPr/>
          </p:nvSpPr>
          <p:spPr>
            <a:xfrm>
              <a:off x="777240" y="3017520"/>
              <a:ext cx="280593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+mj-lt"/>
                  <a:ea typeface="Consolas" pitchFamily="34" charset="-122"/>
                  <a:cs typeface="Consolas" pitchFamily="34" charset="-120"/>
                </a:rPr>
                <a:t>binary_W = STE(binary_no_grad, clip)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6" name="Text 8">
              <a:extLst>
                <a:ext uri="{FF2B5EF4-FFF2-40B4-BE49-F238E27FC236}">
                  <a16:creationId xmlns:a16="http://schemas.microsoft.com/office/drawing/2014/main" id="{3DF65CED-EBF1-514A-EC23-542C067C99B7}"/>
                </a:ext>
              </a:extLst>
            </p:cNvPr>
            <p:cNvSpPr/>
            <p:nvPr/>
          </p:nvSpPr>
          <p:spPr>
            <a:xfrm>
              <a:off x="777240" y="3429000"/>
              <a:ext cx="280593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+mj-lt"/>
                  <a:ea typeface="Consolas" pitchFamily="34" charset="-122"/>
                  <a:cs typeface="Consolas" pitchFamily="34" charset="-120"/>
                </a:rPr>
                <a:t>y = F.conv2d(x, binary_W)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7" name="Text 9">
              <a:extLst>
                <a:ext uri="{FF2B5EF4-FFF2-40B4-BE49-F238E27FC236}">
                  <a16:creationId xmlns:a16="http://schemas.microsoft.com/office/drawing/2014/main" id="{8410F6C2-D9C5-9152-CD6C-D13FC981DFEE}"/>
                </a:ext>
              </a:extLst>
            </p:cNvPr>
            <p:cNvSpPr/>
            <p:nvPr/>
          </p:nvSpPr>
          <p:spPr>
            <a:xfrm>
              <a:off x="777240" y="3840480"/>
              <a:ext cx="280593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+mj-lt"/>
                  <a:ea typeface="Consolas" pitchFamily="34" charset="-122"/>
                  <a:cs typeface="Consolas" pitchFamily="34" charset="-120"/>
                </a:rPr>
                <a:t>return y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38" name="Text 10">
              <a:extLst>
                <a:ext uri="{FF2B5EF4-FFF2-40B4-BE49-F238E27FC236}">
                  <a16:creationId xmlns:a16="http://schemas.microsoft.com/office/drawing/2014/main" id="{B9AC1348-4F92-A90D-D271-9B69EEB2E089}"/>
                </a:ext>
              </a:extLst>
            </p:cNvPr>
            <p:cNvSpPr/>
            <p:nvPr/>
          </p:nvSpPr>
          <p:spPr>
            <a:xfrm>
              <a:off x="777240" y="4663440"/>
              <a:ext cx="280593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latin typeface="+mj-lt"/>
                  <a:ea typeface="맑은 고딕" pitchFamily="34" charset="-122"/>
                  <a:cs typeface="맑은 고딕" pitchFamily="34" charset="-120"/>
                </a:rPr>
                <a:t>- scaling factor를 weight에 미리 곱함</a:t>
              </a:r>
              <a:endParaRPr lang="en-US" sz="1100" dirty="0">
                <a:latin typeface="+mj-lt"/>
              </a:endParaRPr>
            </a:p>
          </p:txBody>
        </p:sp>
        <p:sp>
          <p:nvSpPr>
            <p:cNvPr id="39" name="Text 11">
              <a:extLst>
                <a:ext uri="{FF2B5EF4-FFF2-40B4-BE49-F238E27FC236}">
                  <a16:creationId xmlns:a16="http://schemas.microsoft.com/office/drawing/2014/main" id="{8F7B5E68-618F-8512-2937-6D91A3709063}"/>
                </a:ext>
              </a:extLst>
            </p:cNvPr>
            <p:cNvSpPr/>
            <p:nvPr/>
          </p:nvSpPr>
          <p:spPr>
            <a:xfrm>
              <a:off x="777240" y="5120640"/>
              <a:ext cx="280593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latin typeface="+mj-lt"/>
                  <a:ea typeface="맑은 고딕" pitchFamily="34" charset="-122"/>
                  <a:cs typeface="맑은 고딕" pitchFamily="34" charset="-120"/>
                </a:rPr>
                <a:t>- conv 결과 y가 그대로 </a:t>
              </a:r>
              <a:r>
                <a:rPr lang="en-US" sz="1100" dirty="0" err="1">
                  <a:latin typeface="+mj-lt"/>
                  <a:ea typeface="맑은 고딕" pitchFamily="34" charset="-122"/>
                  <a:cs typeface="맑은 고딕" pitchFamily="34" charset="-120"/>
                </a:rPr>
                <a:t>다음</a:t>
              </a:r>
              <a:r>
                <a:rPr lang="en-US" sz="1100" dirty="0">
                  <a:latin typeface="+mj-lt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sz="1100" dirty="0" err="1">
                  <a:latin typeface="+mj-lt"/>
                  <a:ea typeface="맑은 고딕" pitchFamily="34" charset="-122"/>
                  <a:cs typeface="맑은 고딕" pitchFamily="34" charset="-120"/>
                </a:rPr>
                <a:t>단계로</a:t>
              </a:r>
              <a:r>
                <a:rPr lang="en-US" sz="1100" dirty="0">
                  <a:latin typeface="+mj-lt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ko-KR" altLang="en-US" sz="1100" dirty="0">
                  <a:latin typeface="+mj-lt"/>
                  <a:ea typeface="맑은 고딕" pitchFamily="34" charset="-122"/>
                  <a:cs typeface="맑은 고딕" pitchFamily="34" charset="-120"/>
                </a:rPr>
                <a:t>전달</a:t>
              </a:r>
              <a:endParaRPr lang="en-US" sz="1100" dirty="0">
                <a:latin typeface="+mj-lt"/>
              </a:endParaRPr>
            </a:p>
          </p:txBody>
        </p:sp>
        <p:sp>
          <p:nvSpPr>
            <p:cNvPr id="40" name="Text 12">
              <a:extLst>
                <a:ext uri="{FF2B5EF4-FFF2-40B4-BE49-F238E27FC236}">
                  <a16:creationId xmlns:a16="http://schemas.microsoft.com/office/drawing/2014/main" id="{288CB845-25BC-423A-230C-7CF3E2F43522}"/>
                </a:ext>
              </a:extLst>
            </p:cNvPr>
            <p:cNvSpPr/>
            <p:nvPr/>
          </p:nvSpPr>
          <p:spPr>
            <a:xfrm>
              <a:off x="777240" y="5512450"/>
              <a:ext cx="2805932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latin typeface="+mj-lt"/>
                  <a:ea typeface="맑은 고딕" pitchFamily="34" charset="-122"/>
                  <a:cs typeface="맑은 고딕" pitchFamily="34" charset="-120"/>
                </a:rPr>
                <a:t>- </a:t>
              </a:r>
              <a:r>
                <a:rPr lang="en-US" sz="1100" dirty="0" err="1">
                  <a:latin typeface="+mj-lt"/>
                  <a:ea typeface="맑은 고딕" pitchFamily="34" charset="-122"/>
                  <a:cs typeface="맑은 고딕" pitchFamily="34" charset="-120"/>
                </a:rPr>
                <a:t>이후</a:t>
              </a:r>
              <a:r>
                <a:rPr lang="en-US" sz="1100" dirty="0">
                  <a:latin typeface="+mj-lt"/>
                  <a:ea typeface="맑은 고딕" pitchFamily="34" charset="-122"/>
                  <a:cs typeface="맑은 고딕" pitchFamily="34" charset="-120"/>
                </a:rPr>
                <a:t> BasicBlock에서 BN 적용</a:t>
              </a:r>
              <a:endParaRPr lang="en-US" sz="1100" dirty="0">
                <a:latin typeface="+mj-lt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6B3E2C69-F4BB-8BA9-1DF7-BF8A6CE71C02}"/>
              </a:ext>
            </a:extLst>
          </p:cNvPr>
          <p:cNvGrpSpPr/>
          <p:nvPr/>
        </p:nvGrpSpPr>
        <p:grpSpPr>
          <a:xfrm>
            <a:off x="4240264" y="1691640"/>
            <a:ext cx="3433196" cy="5029200"/>
            <a:chOff x="4240264" y="1691640"/>
            <a:chExt cx="3433196" cy="5029200"/>
          </a:xfrm>
        </p:grpSpPr>
        <p:sp>
          <p:nvSpPr>
            <p:cNvPr id="41" name="Shape 13">
              <a:extLst>
                <a:ext uri="{FF2B5EF4-FFF2-40B4-BE49-F238E27FC236}">
                  <a16:creationId xmlns:a16="http://schemas.microsoft.com/office/drawing/2014/main" id="{20F89B0D-4E71-E582-522A-1A03607FAFD6}"/>
                </a:ext>
              </a:extLst>
            </p:cNvPr>
            <p:cNvSpPr/>
            <p:nvPr/>
          </p:nvSpPr>
          <p:spPr>
            <a:xfrm>
              <a:off x="4240264" y="1691640"/>
              <a:ext cx="3433196" cy="5029200"/>
            </a:xfrm>
            <a:prstGeom prst="rect">
              <a:avLst/>
            </a:prstGeom>
            <a:solidFill>
              <a:srgbClr val="FFF5F5"/>
            </a:solidFill>
            <a:ln w="19050">
              <a:solidFill>
                <a:srgbClr val="E94560"/>
              </a:solidFill>
              <a:prstDash val="solid"/>
            </a:ln>
          </p:spPr>
          <p:txBody>
            <a:bodyPr/>
            <a:lstStyle/>
            <a:p>
              <a:endParaRPr lang="ko-KR" altLang="en-US">
                <a:latin typeface="+mj-lt"/>
              </a:endParaRPr>
            </a:p>
          </p:txBody>
        </p:sp>
        <p:sp>
          <p:nvSpPr>
            <p:cNvPr id="43" name="Text 15">
              <a:extLst>
                <a:ext uri="{FF2B5EF4-FFF2-40B4-BE49-F238E27FC236}">
                  <a16:creationId xmlns:a16="http://schemas.microsoft.com/office/drawing/2014/main" id="{6A35BA5D-31B2-9FBC-62F4-EB5D4CA8576C}"/>
                </a:ext>
              </a:extLst>
            </p:cNvPr>
            <p:cNvSpPr/>
            <p:nvPr/>
          </p:nvSpPr>
          <p:spPr>
            <a:xfrm>
              <a:off x="4423144" y="2103120"/>
              <a:ext cx="3030279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latin typeface="+mj-lt"/>
                  <a:ea typeface="맑은 고딕" pitchFamily="34" charset="-122"/>
                  <a:cs typeface="맑은 고딕" pitchFamily="34" charset="-120"/>
                </a:rPr>
                <a:t>Majority Voter </a:t>
              </a:r>
              <a:r>
                <a:rPr lang="ko-KR" altLang="en-US" sz="1600" b="1" dirty="0">
                  <a:latin typeface="+mj-lt"/>
                  <a:ea typeface="맑은 고딕" pitchFamily="34" charset="-122"/>
                  <a:cs typeface="맑은 고딕" pitchFamily="34" charset="-120"/>
                </a:rPr>
                <a:t>도입</a:t>
              </a:r>
              <a:r>
                <a:rPr lang="en-US" sz="1600" b="1" dirty="0">
                  <a:latin typeface="+mj-lt"/>
                  <a:ea typeface="맑은 고딕" pitchFamily="34" charset="-122"/>
                  <a:cs typeface="맑은 고딕" pitchFamily="34" charset="-120"/>
                </a:rPr>
                <a:t> 버전</a:t>
              </a:r>
              <a:endParaRPr lang="en-US" sz="1600" dirty="0">
                <a:latin typeface="+mj-lt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383A41C4-B300-B7E0-BD45-0A63F9FD2806}"/>
                </a:ext>
              </a:extLst>
            </p:cNvPr>
            <p:cNvSpPr/>
            <p:nvPr/>
          </p:nvSpPr>
          <p:spPr>
            <a:xfrm>
              <a:off x="4514584" y="2606040"/>
              <a:ext cx="2922055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DC2626"/>
                  </a:solidFill>
                  <a:latin typeface="+mj-lt"/>
                  <a:ea typeface="Consolas" pitchFamily="34" charset="-122"/>
                  <a:cs typeface="Consolas" pitchFamily="34" charset="-120"/>
                </a:rPr>
                <a:t>binary_no_grad = sign(W)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45" name="Text 17">
              <a:extLst>
                <a:ext uri="{FF2B5EF4-FFF2-40B4-BE49-F238E27FC236}">
                  <a16:creationId xmlns:a16="http://schemas.microsoft.com/office/drawing/2014/main" id="{72AF2073-7B6C-D966-E2A4-04B862BBC039}"/>
                </a:ext>
              </a:extLst>
            </p:cNvPr>
            <p:cNvSpPr/>
            <p:nvPr/>
          </p:nvSpPr>
          <p:spPr>
            <a:xfrm>
              <a:off x="4514584" y="3017520"/>
              <a:ext cx="2922055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+mj-lt"/>
                  <a:ea typeface="Consolas" pitchFamily="34" charset="-122"/>
                  <a:cs typeface="Consolas" pitchFamily="34" charset="-120"/>
                </a:rPr>
                <a:t>binary_W = STE(binary_no_grad, clip)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46" name="Text 18">
              <a:extLst>
                <a:ext uri="{FF2B5EF4-FFF2-40B4-BE49-F238E27FC236}">
                  <a16:creationId xmlns:a16="http://schemas.microsoft.com/office/drawing/2014/main" id="{F2E21F31-354A-9399-48E3-BA3EC9990969}"/>
                </a:ext>
              </a:extLst>
            </p:cNvPr>
            <p:cNvSpPr/>
            <p:nvPr/>
          </p:nvSpPr>
          <p:spPr>
            <a:xfrm>
              <a:off x="4514584" y="3429000"/>
              <a:ext cx="2922055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+mj-lt"/>
                  <a:ea typeface="Consolas" pitchFamily="34" charset="-122"/>
                  <a:cs typeface="Consolas" pitchFamily="34" charset="-120"/>
                </a:rPr>
                <a:t>y   = F.conv2d(x, binary_W)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47" name="Text 19">
              <a:extLst>
                <a:ext uri="{FF2B5EF4-FFF2-40B4-BE49-F238E27FC236}">
                  <a16:creationId xmlns:a16="http://schemas.microsoft.com/office/drawing/2014/main" id="{0C0E3EA1-113B-5FE9-9D28-E3715866400D}"/>
                </a:ext>
              </a:extLst>
            </p:cNvPr>
            <p:cNvSpPr/>
            <p:nvPr/>
          </p:nvSpPr>
          <p:spPr>
            <a:xfrm>
              <a:off x="4514584" y="3840480"/>
              <a:ext cx="2922055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DC2626"/>
                  </a:solidFill>
                  <a:latin typeface="+mj-lt"/>
                  <a:ea typeface="Consolas" pitchFamily="34" charset="-122"/>
                  <a:cs typeface="Consolas" pitchFamily="34" charset="-120"/>
                </a:rPr>
                <a:t>y_2 = self.majority_voter(y)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48" name="Text 20">
              <a:extLst>
                <a:ext uri="{FF2B5EF4-FFF2-40B4-BE49-F238E27FC236}">
                  <a16:creationId xmlns:a16="http://schemas.microsoft.com/office/drawing/2014/main" id="{A31D8BA2-C6B8-10C1-6AAD-9CF36B5E602C}"/>
                </a:ext>
              </a:extLst>
            </p:cNvPr>
            <p:cNvSpPr/>
            <p:nvPr/>
          </p:nvSpPr>
          <p:spPr>
            <a:xfrm>
              <a:off x="4514584" y="4251960"/>
              <a:ext cx="2922055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DC2626"/>
                  </a:solidFill>
                  <a:latin typeface="+mj-lt"/>
                  <a:ea typeface="Consolas" pitchFamily="34" charset="-122"/>
                  <a:cs typeface="Consolas" pitchFamily="34" charset="-120"/>
                </a:rPr>
                <a:t>y_3 = scaling × y_2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F84BEA7-48D4-13FE-5051-72032158B374}"/>
                </a:ext>
              </a:extLst>
            </p:cNvPr>
            <p:cNvSpPr/>
            <p:nvPr/>
          </p:nvSpPr>
          <p:spPr>
            <a:xfrm>
              <a:off x="4514584" y="4663440"/>
              <a:ext cx="2922055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A1A2E"/>
                  </a:solidFill>
                  <a:latin typeface="+mj-lt"/>
                  <a:ea typeface="Consolas" pitchFamily="34" charset="-122"/>
                  <a:cs typeface="Consolas" pitchFamily="34" charset="-120"/>
                </a:rPr>
                <a:t>return y_3</a:t>
              </a:r>
              <a:endParaRPr lang="en-US" sz="1200" dirty="0">
                <a:latin typeface="+mj-lt"/>
              </a:endParaRPr>
            </a:p>
          </p:txBody>
        </p:sp>
        <p:sp>
          <p:nvSpPr>
            <p:cNvPr id="50" name="Text 22">
              <a:extLst>
                <a:ext uri="{FF2B5EF4-FFF2-40B4-BE49-F238E27FC236}">
                  <a16:creationId xmlns:a16="http://schemas.microsoft.com/office/drawing/2014/main" id="{E18CC33B-3E88-5758-6AC4-8161B2F74682}"/>
                </a:ext>
              </a:extLst>
            </p:cNvPr>
            <p:cNvSpPr/>
            <p:nvPr/>
          </p:nvSpPr>
          <p:spPr>
            <a:xfrm>
              <a:off x="4514584" y="5486400"/>
              <a:ext cx="2922055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latin typeface="+mj-lt"/>
                  <a:ea typeface="맑은 고딕" pitchFamily="34" charset="-122"/>
                  <a:cs typeface="맑은 고딕" pitchFamily="34" charset="-120"/>
                </a:rPr>
                <a:t>- scaling 곱셈을 MV 출력으로 이동</a:t>
              </a:r>
              <a:endParaRPr lang="en-US" sz="1100" dirty="0">
                <a:latin typeface="+mj-lt"/>
              </a:endParaRPr>
            </a:p>
          </p:txBody>
        </p:sp>
        <p:sp>
          <p:nvSpPr>
            <p:cNvPr id="51" name="Text 23">
              <a:extLst>
                <a:ext uri="{FF2B5EF4-FFF2-40B4-BE49-F238E27FC236}">
                  <a16:creationId xmlns:a16="http://schemas.microsoft.com/office/drawing/2014/main" id="{0F1237E9-FEC6-3E51-88BB-616B8FEA4515}"/>
                </a:ext>
              </a:extLst>
            </p:cNvPr>
            <p:cNvSpPr/>
            <p:nvPr/>
          </p:nvSpPr>
          <p:spPr>
            <a:xfrm>
              <a:off x="4514584" y="5897880"/>
              <a:ext cx="2922055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latin typeface="+mj-lt"/>
                  <a:ea typeface="맑은 고딕" pitchFamily="34" charset="-122"/>
                  <a:cs typeface="맑은 고딕" pitchFamily="34" charset="-120"/>
                </a:rPr>
                <a:t>-  conv 결과를 MV로 다시 ±1로 양자화</a:t>
              </a:r>
              <a:endParaRPr lang="en-US" sz="1100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9507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8D823-1410-7A9F-92AA-CC2FBEA5F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9423F0-F3EF-D6EE-270E-D3AE20819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 err="1"/>
              <a:t>ReActNet</a:t>
            </a:r>
            <a:r>
              <a:rPr lang="en-US" altLang="ko-KR" sz="4000" dirty="0"/>
              <a:t> </a:t>
            </a:r>
            <a:r>
              <a:rPr lang="ko-KR" altLang="en-US" sz="4000" dirty="0"/>
              <a:t>학습</a:t>
            </a:r>
            <a:endParaRPr lang="en-US" altLang="ko-KR" sz="40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EEF08EB9-FA27-E3FE-2C6A-63E6CA83AEA7}"/>
              </a:ext>
            </a:extLst>
          </p:cNvPr>
          <p:cNvSpPr/>
          <p:nvPr/>
        </p:nvSpPr>
        <p:spPr>
          <a:xfrm>
            <a:off x="502920" y="1691640"/>
            <a:ext cx="11247120" cy="3902218"/>
          </a:xfrm>
          <a:prstGeom prst="rect">
            <a:avLst/>
          </a:prstGeom>
          <a:solidFill>
            <a:srgbClr val="F7F9FC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528A63F5-E8BA-8B23-CD8F-CF5258B07CC6}"/>
              </a:ext>
            </a:extLst>
          </p:cNvPr>
          <p:cNvSpPr/>
          <p:nvPr/>
        </p:nvSpPr>
        <p:spPr>
          <a:xfrm>
            <a:off x="685800" y="1783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+mj-lt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FBBD42B-1DEB-1AC0-7D09-A9856BEB1758}"/>
              </a:ext>
            </a:extLst>
          </p:cNvPr>
          <p:cNvSpPr/>
          <p:nvPr/>
        </p:nvSpPr>
        <p:spPr>
          <a:xfrm>
            <a:off x="807720" y="1910671"/>
            <a:ext cx="10698480" cy="335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46EACBFE-8F5C-66FA-0D21-85BDCDFE0593}"/>
              </a:ext>
            </a:extLst>
          </p:cNvPr>
          <p:cNvSpPr/>
          <p:nvPr/>
        </p:nvSpPr>
        <p:spPr>
          <a:xfrm>
            <a:off x="959389" y="2421167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CFA2CE1-5178-4404-BA80-7588CC47E0FE}"/>
              </a:ext>
            </a:extLst>
          </p:cNvPr>
          <p:cNvSpPr/>
          <p:nvPr/>
        </p:nvSpPr>
        <p:spPr>
          <a:xfrm>
            <a:off x="1082040" y="2505031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5917F27D-238C-57B5-3BA6-4FD7385B326A}"/>
              </a:ext>
            </a:extLst>
          </p:cNvPr>
          <p:cNvSpPr/>
          <p:nvPr/>
        </p:nvSpPr>
        <p:spPr>
          <a:xfrm>
            <a:off x="1082040" y="2505031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>
              <a:latin typeface="+mj-lt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27A46437-BC4B-5079-D6C5-4C0B587E35DC}"/>
              </a:ext>
            </a:extLst>
          </p:cNvPr>
          <p:cNvSpPr/>
          <p:nvPr/>
        </p:nvSpPr>
        <p:spPr>
          <a:xfrm>
            <a:off x="1493520" y="2532463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Load batch</a:t>
            </a:r>
            <a:endParaRPr lang="en-US" sz="1100" dirty="0">
              <a:latin typeface="+mj-lt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29ECAAB7-51E6-A715-D993-F4A5A2B1993E}"/>
              </a:ext>
            </a:extLst>
          </p:cNvPr>
          <p:cNvSpPr/>
          <p:nvPr/>
        </p:nvSpPr>
        <p:spPr>
          <a:xfrm>
            <a:off x="2910840" y="2518849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  <a:latin typeface="+mj-lt"/>
              </a:rPr>
              <a:t>→</a:t>
            </a:r>
            <a:endParaRPr lang="en-US" sz="1400" dirty="0">
              <a:latin typeface="+mj-lt"/>
            </a:endParaRP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992D8C55-A630-59D4-2CA3-5486ACF2F922}"/>
              </a:ext>
            </a:extLst>
          </p:cNvPr>
          <p:cNvSpPr/>
          <p:nvPr/>
        </p:nvSpPr>
        <p:spPr>
          <a:xfrm>
            <a:off x="3075432" y="2413591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A3FB8603-7AF7-3EBC-5767-3E9C5BBBDF97}"/>
              </a:ext>
            </a:extLst>
          </p:cNvPr>
          <p:cNvSpPr/>
          <p:nvPr/>
        </p:nvSpPr>
        <p:spPr>
          <a:xfrm>
            <a:off x="3166872" y="2505031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76D5F25D-6ACC-AE62-375F-DF2671F4979E}"/>
              </a:ext>
            </a:extLst>
          </p:cNvPr>
          <p:cNvSpPr/>
          <p:nvPr/>
        </p:nvSpPr>
        <p:spPr>
          <a:xfrm>
            <a:off x="3166872" y="2505031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>
              <a:latin typeface="+mj-lt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1D957633-8741-C440-6770-3B55D6A1DA1B}"/>
              </a:ext>
            </a:extLst>
          </p:cNvPr>
          <p:cNvSpPr/>
          <p:nvPr/>
        </p:nvSpPr>
        <p:spPr>
          <a:xfrm>
            <a:off x="3578352" y="2532463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Student forward</a:t>
            </a:r>
            <a:endParaRPr lang="en-US" sz="1100" dirty="0">
              <a:latin typeface="+mj-lt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E0ACFD67-76FA-93D4-E1B2-821583B2CB98}"/>
              </a:ext>
            </a:extLst>
          </p:cNvPr>
          <p:cNvSpPr/>
          <p:nvPr/>
        </p:nvSpPr>
        <p:spPr>
          <a:xfrm>
            <a:off x="4995672" y="2518849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  <a:latin typeface="+mj-lt"/>
              </a:rPr>
              <a:t>→</a:t>
            </a:r>
            <a:endParaRPr lang="en-US" sz="1400" dirty="0">
              <a:latin typeface="+mj-lt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730EF0DA-3BE6-2659-D13E-A652860D748A}"/>
              </a:ext>
            </a:extLst>
          </p:cNvPr>
          <p:cNvSpPr/>
          <p:nvPr/>
        </p:nvSpPr>
        <p:spPr>
          <a:xfrm>
            <a:off x="7080504" y="2518849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  <a:latin typeface="+mj-lt"/>
              </a:rPr>
              <a:t>→</a:t>
            </a:r>
            <a:endParaRPr lang="en-US" sz="1400" dirty="0">
              <a:latin typeface="+mj-lt"/>
            </a:endParaRP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78D4CD89-51BB-22B4-5347-E83332928571}"/>
              </a:ext>
            </a:extLst>
          </p:cNvPr>
          <p:cNvSpPr/>
          <p:nvPr/>
        </p:nvSpPr>
        <p:spPr>
          <a:xfrm>
            <a:off x="7245096" y="2413591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815E70D8-DE95-3361-B145-B57B8966661D}"/>
              </a:ext>
            </a:extLst>
          </p:cNvPr>
          <p:cNvSpPr/>
          <p:nvPr/>
        </p:nvSpPr>
        <p:spPr>
          <a:xfrm>
            <a:off x="7336536" y="2505031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67E7384F-5BB1-D980-5849-188953617B57}"/>
              </a:ext>
            </a:extLst>
          </p:cNvPr>
          <p:cNvSpPr/>
          <p:nvPr/>
        </p:nvSpPr>
        <p:spPr>
          <a:xfrm>
            <a:off x="7336536" y="2505031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>
              <a:latin typeface="+mj-lt"/>
            </a:endParaRPr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C679301E-FDEA-5BB9-6B3C-92E3052100F2}"/>
              </a:ext>
            </a:extLst>
          </p:cNvPr>
          <p:cNvSpPr/>
          <p:nvPr/>
        </p:nvSpPr>
        <p:spPr>
          <a:xfrm>
            <a:off x="7748016" y="2532463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KD Loss</a:t>
            </a:r>
            <a:endParaRPr lang="en-US" sz="1100" dirty="0">
              <a:latin typeface="+mj-lt"/>
            </a:endParaRPr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D290B26C-BE85-B1C8-3AEE-11FD9D7A712C}"/>
              </a:ext>
            </a:extLst>
          </p:cNvPr>
          <p:cNvSpPr/>
          <p:nvPr/>
        </p:nvSpPr>
        <p:spPr>
          <a:xfrm>
            <a:off x="9165336" y="2518849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  <a:latin typeface="+mj-lt"/>
              </a:rPr>
              <a:t>→</a:t>
            </a:r>
            <a:endParaRPr lang="en-US" sz="1400" dirty="0">
              <a:latin typeface="+mj-lt"/>
            </a:endParaRPr>
          </a:p>
        </p:txBody>
      </p:sp>
      <p:sp>
        <p:nvSpPr>
          <p:cNvPr id="54" name="Shape 31">
            <a:extLst>
              <a:ext uri="{FF2B5EF4-FFF2-40B4-BE49-F238E27FC236}">
                <a16:creationId xmlns:a16="http://schemas.microsoft.com/office/drawing/2014/main" id="{13E79407-36EF-1F99-A2BF-8547F5DD4C32}"/>
              </a:ext>
            </a:extLst>
          </p:cNvPr>
          <p:cNvSpPr/>
          <p:nvPr/>
        </p:nvSpPr>
        <p:spPr>
          <a:xfrm>
            <a:off x="9329928" y="2413591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55" name="Shape 32">
            <a:extLst>
              <a:ext uri="{FF2B5EF4-FFF2-40B4-BE49-F238E27FC236}">
                <a16:creationId xmlns:a16="http://schemas.microsoft.com/office/drawing/2014/main" id="{6CF08AD6-1595-C6B0-4964-3EFE23650C11}"/>
              </a:ext>
            </a:extLst>
          </p:cNvPr>
          <p:cNvSpPr/>
          <p:nvPr/>
        </p:nvSpPr>
        <p:spPr>
          <a:xfrm>
            <a:off x="9421368" y="2505031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1083EC50-72F6-E89A-5CF1-B122CFD197D1}"/>
              </a:ext>
            </a:extLst>
          </p:cNvPr>
          <p:cNvSpPr/>
          <p:nvPr/>
        </p:nvSpPr>
        <p:spPr>
          <a:xfrm>
            <a:off x="9421368" y="2505031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>
              <a:latin typeface="+mj-lt"/>
            </a:endParaRPr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54184BD2-4E36-B462-980E-CC9C17105754}"/>
              </a:ext>
            </a:extLst>
          </p:cNvPr>
          <p:cNvSpPr/>
          <p:nvPr/>
        </p:nvSpPr>
        <p:spPr>
          <a:xfrm>
            <a:off x="9832848" y="2532463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Backward </a:t>
            </a:r>
            <a:r>
              <a:rPr lang="ko-KR" altLang="en-US" sz="1100" b="1" dirty="0">
                <a:solidFill>
                  <a:srgbClr val="1A1A2E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및 </a:t>
            </a:r>
            <a:endParaRPr lang="en-US" altLang="ko-KR" sz="1100" b="1" dirty="0">
              <a:solidFill>
                <a:srgbClr val="1A1A2E"/>
              </a:solidFill>
              <a:latin typeface="+mj-lt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altLang="ko-KR" sz="1100" b="1" dirty="0">
                <a:solidFill>
                  <a:srgbClr val="1A1A2E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Weight Update</a:t>
            </a:r>
            <a:endParaRPr lang="en-US" sz="1100" dirty="0">
              <a:latin typeface="+mj-lt"/>
            </a:endParaRPr>
          </a:p>
        </p:txBody>
      </p:sp>
      <p:sp>
        <p:nvSpPr>
          <p:cNvPr id="59" name="Shape 36">
            <a:extLst>
              <a:ext uri="{FF2B5EF4-FFF2-40B4-BE49-F238E27FC236}">
                <a16:creationId xmlns:a16="http://schemas.microsoft.com/office/drawing/2014/main" id="{88D64D0B-7358-4D4C-9A5B-EE587E52811B}"/>
              </a:ext>
            </a:extLst>
          </p:cNvPr>
          <p:cNvSpPr/>
          <p:nvPr/>
        </p:nvSpPr>
        <p:spPr>
          <a:xfrm>
            <a:off x="1165811" y="3603477"/>
            <a:ext cx="3080066" cy="1325880"/>
          </a:xfrm>
          <a:prstGeom prst="rect">
            <a:avLst/>
          </a:prstGeom>
          <a:solidFill>
            <a:srgbClr val="F0F4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60" name="Text 37">
            <a:extLst>
              <a:ext uri="{FF2B5EF4-FFF2-40B4-BE49-F238E27FC236}">
                <a16:creationId xmlns:a16="http://schemas.microsoft.com/office/drawing/2014/main" id="{60A7B260-1730-9F28-74EC-814F13481A70}"/>
              </a:ext>
            </a:extLst>
          </p:cNvPr>
          <p:cNvSpPr/>
          <p:nvPr/>
        </p:nvSpPr>
        <p:spPr>
          <a:xfrm>
            <a:off x="1348691" y="3694917"/>
            <a:ext cx="27393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+mj-lt"/>
                <a:ea typeface="맑은 고딕" pitchFamily="34" charset="-122"/>
                <a:cs typeface="맑은 고딕" pitchFamily="34" charset="-120"/>
              </a:rPr>
              <a:t>매 epoch 후: validate()</a:t>
            </a:r>
            <a:endParaRPr lang="en-US" sz="1200" dirty="0">
              <a:latin typeface="+mj-lt"/>
            </a:endParaRPr>
          </a:p>
        </p:txBody>
      </p:sp>
      <p:sp>
        <p:nvSpPr>
          <p:cNvPr id="61" name="Text 38">
            <a:extLst>
              <a:ext uri="{FF2B5EF4-FFF2-40B4-BE49-F238E27FC236}">
                <a16:creationId xmlns:a16="http://schemas.microsoft.com/office/drawing/2014/main" id="{8AEA34A8-8A4C-416F-7C75-9A6AA9550DEE}"/>
              </a:ext>
            </a:extLst>
          </p:cNvPr>
          <p:cNvSpPr/>
          <p:nvPr/>
        </p:nvSpPr>
        <p:spPr>
          <a:xfrm>
            <a:off x="1348691" y="3969237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• </a:t>
            </a:r>
            <a:r>
              <a:rPr lang="en-US" sz="1050" dirty="0">
                <a:solidFill>
                  <a:srgbClr val="1A1A2E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CIFAR-100 test set으로 정확도 측정
</a:t>
            </a:r>
            <a:r>
              <a:rPr lang="en-US" sz="1050" dirty="0">
                <a:solidFill>
                  <a:srgbClr val="1E2761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• </a:t>
            </a:r>
            <a:r>
              <a:rPr lang="en-US" sz="1050" dirty="0">
                <a:solidFill>
                  <a:srgbClr val="1A1A2E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Top-1, Top-5 accuracy 기록
</a:t>
            </a:r>
            <a:r>
              <a:rPr lang="en-US" sz="1050" dirty="0">
                <a:solidFill>
                  <a:srgbClr val="1E2761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• </a:t>
            </a:r>
            <a:r>
              <a:rPr lang="en-US" sz="1050" dirty="0">
                <a:solidFill>
                  <a:srgbClr val="1A1A2E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Best 갱신 시 checkpoint 저장</a:t>
            </a:r>
            <a:endParaRPr lang="en-US" sz="1050" dirty="0">
              <a:latin typeface="+mj-lt"/>
            </a:endParaRPr>
          </a:p>
        </p:txBody>
      </p:sp>
      <p:sp>
        <p:nvSpPr>
          <p:cNvPr id="68" name="Shape 25">
            <a:extLst>
              <a:ext uri="{FF2B5EF4-FFF2-40B4-BE49-F238E27FC236}">
                <a16:creationId xmlns:a16="http://schemas.microsoft.com/office/drawing/2014/main" id="{588C5E56-64A8-8140-06DE-175B552B8E57}"/>
              </a:ext>
            </a:extLst>
          </p:cNvPr>
          <p:cNvSpPr/>
          <p:nvPr/>
        </p:nvSpPr>
        <p:spPr>
          <a:xfrm>
            <a:off x="5160264" y="2416988"/>
            <a:ext cx="19202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A731ED-B097-1C88-8533-DF3D4AB1C1F6}"/>
              </a:ext>
            </a:extLst>
          </p:cNvPr>
          <p:cNvSpPr txBox="1"/>
          <p:nvPr/>
        </p:nvSpPr>
        <p:spPr>
          <a:xfrm>
            <a:off x="591983" y="1118334"/>
            <a:ext cx="3448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ReActNet</a:t>
            </a:r>
            <a:r>
              <a:rPr lang="ko-KR" altLang="en-US" b="1" dirty="0"/>
              <a:t> 학습</a:t>
            </a:r>
            <a:endParaRPr lang="en-US" altLang="ko-KR" b="1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48DC3978-CAD4-2075-D89A-9B52A8632699}"/>
              </a:ext>
            </a:extLst>
          </p:cNvPr>
          <p:cNvSpPr/>
          <p:nvPr/>
        </p:nvSpPr>
        <p:spPr>
          <a:xfrm>
            <a:off x="5251704" y="2505031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ko-KR" altLang="en-US">
              <a:latin typeface="+mj-lt"/>
            </a:endParaRPr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1F2AA296-23F8-86BF-6B81-14FA66CCC039}"/>
              </a:ext>
            </a:extLst>
          </p:cNvPr>
          <p:cNvSpPr/>
          <p:nvPr/>
        </p:nvSpPr>
        <p:spPr>
          <a:xfrm>
            <a:off x="5251704" y="2505031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>
              <a:latin typeface="+mj-lt"/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E3DFD70F-649D-1D37-E320-A8B3E6CFB2D7}"/>
              </a:ext>
            </a:extLst>
          </p:cNvPr>
          <p:cNvSpPr/>
          <p:nvPr/>
        </p:nvSpPr>
        <p:spPr>
          <a:xfrm>
            <a:off x="5663184" y="2532463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+mj-lt"/>
                <a:ea typeface="맑은 고딕" pitchFamily="34" charset="-122"/>
                <a:cs typeface="맑은 고딕" pitchFamily="34" charset="-120"/>
              </a:rPr>
              <a:t>Teacher forward</a:t>
            </a:r>
            <a:endParaRPr lang="en-US" sz="1100" dirty="0">
              <a:latin typeface="+mj-lt"/>
            </a:endParaRPr>
          </a:p>
        </p:txBody>
      </p:sp>
      <p:sp>
        <p:nvSpPr>
          <p:cNvPr id="78" name="Text 15">
            <a:extLst>
              <a:ext uri="{FF2B5EF4-FFF2-40B4-BE49-F238E27FC236}">
                <a16:creationId xmlns:a16="http://schemas.microsoft.com/office/drawing/2014/main" id="{829760CB-6CA9-59B3-AADA-E858F6F8DCF9}"/>
              </a:ext>
            </a:extLst>
          </p:cNvPr>
          <p:cNvSpPr/>
          <p:nvPr/>
        </p:nvSpPr>
        <p:spPr>
          <a:xfrm>
            <a:off x="959389" y="1979251"/>
            <a:ext cx="9293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 dirty="0">
                <a:latin typeface="+mj-lt"/>
              </a:rPr>
              <a:t>학습 순서</a:t>
            </a:r>
            <a:endParaRPr lang="en-US" sz="1600" b="1" dirty="0">
              <a:latin typeface="+mj-lt"/>
            </a:endParaRPr>
          </a:p>
        </p:txBody>
      </p:sp>
      <p:sp>
        <p:nvSpPr>
          <p:cNvPr id="98" name="Text 15">
            <a:extLst>
              <a:ext uri="{FF2B5EF4-FFF2-40B4-BE49-F238E27FC236}">
                <a16:creationId xmlns:a16="http://schemas.microsoft.com/office/drawing/2014/main" id="{C9CF5AE7-B816-82D5-9835-1987DD84E33C}"/>
              </a:ext>
            </a:extLst>
          </p:cNvPr>
          <p:cNvSpPr/>
          <p:nvPr/>
        </p:nvSpPr>
        <p:spPr>
          <a:xfrm>
            <a:off x="5033772" y="3763496"/>
            <a:ext cx="5075428" cy="8783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+mj-lt"/>
              </a:rPr>
              <a:t>2</a:t>
            </a:r>
            <a:r>
              <a:rPr lang="ko-KR" altLang="en-US" sz="1600" b="1" dirty="0">
                <a:latin typeface="+mj-lt"/>
              </a:rPr>
              <a:t>단계 학습</a:t>
            </a:r>
            <a:endParaRPr lang="en-US" altLang="ko-KR" sz="16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Step 1 : FP Weight + Binary Activation</a:t>
            </a:r>
            <a:r>
              <a:rPr lang="ko-KR" altLang="en-US" sz="1200" dirty="0">
                <a:latin typeface="+mj-lt"/>
              </a:rPr>
              <a:t>으로 </a:t>
            </a:r>
            <a:r>
              <a:rPr lang="en-US" altLang="ko-KR" sz="1200" dirty="0">
                <a:latin typeface="+mj-lt"/>
              </a:rPr>
              <a:t>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+mj-lt"/>
              </a:rPr>
              <a:t>Step 2 : Weight</a:t>
            </a:r>
            <a:r>
              <a:rPr lang="ko-KR" altLang="en-US" sz="1200" dirty="0">
                <a:latin typeface="+mj-lt"/>
              </a:rPr>
              <a:t> </a:t>
            </a:r>
            <a:r>
              <a:rPr lang="en-US" altLang="ko-KR" sz="1200" dirty="0">
                <a:latin typeface="+mj-lt"/>
              </a:rPr>
              <a:t>Binarize </a:t>
            </a:r>
            <a:r>
              <a:rPr lang="ko-KR" altLang="en-US" sz="1200" dirty="0">
                <a:latin typeface="+mj-lt"/>
              </a:rPr>
              <a:t>및 </a:t>
            </a:r>
            <a:r>
              <a:rPr lang="en-US" altLang="ko-KR" sz="1200" dirty="0">
                <a:latin typeface="+mj-lt"/>
              </a:rPr>
              <a:t>Majority Voter </a:t>
            </a:r>
            <a:r>
              <a:rPr lang="ko-KR" altLang="en-US" sz="1200" dirty="0">
                <a:latin typeface="+mj-lt"/>
              </a:rPr>
              <a:t>도입 후 학습</a:t>
            </a:r>
            <a:endParaRPr lang="en-US" sz="1200" dirty="0">
              <a:latin typeface="+mj-lt"/>
            </a:endParaRPr>
          </a:p>
          <a:p>
            <a:pPr marL="0" indent="0">
              <a:buNone/>
            </a:pPr>
            <a:endParaRPr lang="en-US" sz="16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44282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15355</TotalTime>
  <Words>735</Words>
  <Application>Microsoft Office PowerPoint</Application>
  <PresentationFormat>와이드스크린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PopBin + Hierarchical Majority Voter 2</vt:lpstr>
      <vt:lpstr>연구 목표</vt:lpstr>
      <vt:lpstr>연구 계획</vt:lpstr>
      <vt:lpstr>ReActNet Architecture</vt:lpstr>
      <vt:lpstr>ReActNet Architecture</vt:lpstr>
      <vt:lpstr>ReActNet BasicBlock</vt:lpstr>
      <vt:lpstr>ReActNet BasicBlock</vt:lpstr>
      <vt:lpstr>ReActNet BasicBlock</vt:lpstr>
      <vt:lpstr>ReActNet BasicBlock – 채널 수 증가</vt:lpstr>
      <vt:lpstr>ReActNet BasicBlock – Majority Voter 도입</vt:lpstr>
      <vt:lpstr>ReActNet 학습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 수학</cp:lastModifiedBy>
  <cp:revision>2195</cp:revision>
  <dcterms:created xsi:type="dcterms:W3CDTF">2023-03-06T16:32:37Z</dcterms:created>
  <dcterms:modified xsi:type="dcterms:W3CDTF">2026-04-28T14:31:00Z</dcterms:modified>
</cp:coreProperties>
</file>