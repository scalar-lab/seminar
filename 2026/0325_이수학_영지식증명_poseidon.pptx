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6"/>
  </p:notesMasterIdLst>
  <p:sldIdLst>
    <p:sldId id="256" r:id="rId2"/>
    <p:sldId id="356" r:id="rId3"/>
    <p:sldId id="362" r:id="rId4"/>
    <p:sldId id="358" r:id="rId5"/>
    <p:sldId id="360" r:id="rId6"/>
    <p:sldId id="359" r:id="rId7"/>
    <p:sldId id="361" r:id="rId8"/>
    <p:sldId id="363" r:id="rId9"/>
    <p:sldId id="364" r:id="rId10"/>
    <p:sldId id="365" r:id="rId11"/>
    <p:sldId id="366" r:id="rId12"/>
    <p:sldId id="367" r:id="rId13"/>
    <p:sldId id="368" r:id="rId14"/>
    <p:sldId id="3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F0F0F0"/>
    <a:srgbClr val="0F386B"/>
    <a:srgbClr val="00CC00"/>
    <a:srgbClr val="DD802B"/>
    <a:srgbClr val="CC99FF"/>
    <a:srgbClr val="F4B183"/>
    <a:srgbClr val="2E75B6"/>
    <a:srgbClr val="3366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8" autoAdjust="0"/>
    <p:restoredTop sz="75987" autoAdjust="0"/>
  </p:normalViewPr>
  <p:slideViewPr>
    <p:cSldViewPr snapToGrid="0">
      <p:cViewPr varScale="1">
        <p:scale>
          <a:sx n="85" d="100"/>
          <a:sy n="85" d="100"/>
        </p:scale>
        <p:origin x="90" y="8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E34A-4EDF-FD7B-22CE-F7D5D6C0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DC20A-91D0-3546-A9DD-F938A992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A0C77-88CA-4ABA-DA96-35453AE64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90AE2-3428-CE74-0E4C-40EAF7A66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7D2B-8171-1300-6FB3-6FC45BB3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7F9F59-1ED2-547E-EA64-624C7B8D7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0A25D5-3441-6C96-D297-79D9BD0C4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A611F-90CF-308F-6F1A-AAC350239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77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D4F7-932C-693E-A1F4-5992FB5A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A2255-D8B8-4C78-BF71-B4B0EB13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6CB47A-7C5B-EFF9-86E1-DA7775B95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2EA275-77A7-5632-DF84-30786386E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26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1FCF-CB32-1BEE-5DEF-B31D02AE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A17FFB-0B50-5AC4-0EB7-64461AFEE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01031-E3FD-95E8-D2B4-290A1A449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증명 생성 </a:t>
            </a:r>
            <a:r>
              <a:rPr lang="ko-KR" altLang="en-US" dirty="0" err="1"/>
              <a:t>관련되서</a:t>
            </a:r>
            <a:r>
              <a:rPr lang="ko-KR" altLang="en-US" dirty="0"/>
              <a:t> 누가 생성하는가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Poseidon-256</a:t>
            </a:r>
            <a:r>
              <a:rPr lang="ko-KR" altLang="en-US" dirty="0"/>
              <a:t>의 과정 자세하게 정리</a:t>
            </a:r>
            <a:endParaRPr lang="en-US" altLang="ko-KR" dirty="0"/>
          </a:p>
          <a:p>
            <a:r>
              <a:rPr lang="en-US" altLang="ko-KR" dirty="0"/>
              <a:t>H1</a:t>
            </a:r>
            <a:r>
              <a:rPr lang="ko-KR" altLang="en-US" dirty="0"/>
              <a:t>을 따로 </a:t>
            </a:r>
            <a:r>
              <a:rPr lang="en-US" altLang="ko-KR" dirty="0"/>
              <a:t>export</a:t>
            </a:r>
            <a:r>
              <a:rPr lang="ko-KR" altLang="en-US" dirty="0"/>
              <a:t>해서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Zcash</a:t>
            </a:r>
            <a:r>
              <a:rPr lang="en-US" altLang="ko-KR" dirty="0"/>
              <a:t> = hashing  -&gt; </a:t>
            </a:r>
            <a:r>
              <a:rPr lang="ko-KR" altLang="en-US" dirty="0"/>
              <a:t>보안의 </a:t>
            </a:r>
            <a:r>
              <a:rPr lang="ko-KR" altLang="en-US" dirty="0" err="1"/>
              <a:t>대칭키</a:t>
            </a:r>
            <a:r>
              <a:rPr lang="ko-KR" altLang="en-US" dirty="0"/>
              <a:t> 생성에 사용</a:t>
            </a:r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증명 생성 과정은 </a:t>
            </a:r>
            <a:r>
              <a:rPr lang="ko-KR" altLang="en-US" dirty="0" err="1"/>
              <a:t>영지식</a:t>
            </a:r>
            <a:r>
              <a:rPr lang="ko-KR" altLang="en-US" dirty="0"/>
              <a:t> 증명 회로 내에서만 이루어지는 일 </a:t>
            </a:r>
            <a:r>
              <a:rPr lang="en-US" altLang="ko-KR" dirty="0"/>
              <a:t>/ </a:t>
            </a:r>
            <a:r>
              <a:rPr lang="ko-KR" altLang="en-US" dirty="0"/>
              <a:t>바깥으로 </a:t>
            </a:r>
            <a:r>
              <a:rPr lang="en-US" altLang="ko-KR" dirty="0"/>
              <a:t>export </a:t>
            </a:r>
            <a:r>
              <a:rPr lang="ko-KR" altLang="en-US" dirty="0"/>
              <a:t>할 때에는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회로 내에서는 </a:t>
            </a:r>
            <a:r>
              <a:rPr lang="en-US" altLang="ko-KR" dirty="0"/>
              <a:t>Field </a:t>
            </a:r>
            <a:r>
              <a:rPr lang="ko-KR" altLang="en-US" dirty="0"/>
              <a:t>단위로 사용되는 것이라 건들면 안되지만 밖으로 </a:t>
            </a:r>
            <a:r>
              <a:rPr lang="en-US" altLang="ko-KR" dirty="0"/>
              <a:t>export</a:t>
            </a:r>
            <a:r>
              <a:rPr lang="ko-KR" altLang="en-US" dirty="0"/>
              <a:t>하는 경우에는 </a:t>
            </a:r>
            <a:r>
              <a:rPr lang="en-US" altLang="ko-KR" dirty="0"/>
              <a:t>ID </a:t>
            </a:r>
            <a:r>
              <a:rPr lang="ko-KR" altLang="en-US" dirty="0"/>
              <a:t>처럼 사용되기 때문에 붙여도 상관 없다</a:t>
            </a:r>
            <a:r>
              <a:rPr lang="en-US" altLang="ko-KR" dirty="0"/>
              <a:t>! </a:t>
            </a:r>
          </a:p>
          <a:p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증명 내에서만 소모하고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Poseidon</a:t>
            </a:r>
            <a:r>
              <a:rPr lang="ko-KR" altLang="en-US" dirty="0"/>
              <a:t> </a:t>
            </a:r>
            <a:r>
              <a:rPr lang="en-US" altLang="ko-KR" dirty="0"/>
              <a:t>hash</a:t>
            </a:r>
            <a:r>
              <a:rPr lang="ko-KR" altLang="en-US" dirty="0"/>
              <a:t> 자체는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식별자로 사용된다면</a:t>
            </a:r>
            <a:r>
              <a:rPr lang="en-US" altLang="ko-KR" dirty="0"/>
              <a:t>?? </a:t>
            </a:r>
            <a:r>
              <a:rPr lang="ko-KR" altLang="en-US" dirty="0"/>
              <a:t>식별자로 어떻게 사용되는지를 직접적으로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식별자라고 왜 했을까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사실이라고 하면 </a:t>
            </a:r>
            <a:r>
              <a:rPr lang="en-US" altLang="ko-KR" dirty="0"/>
              <a:t>solution2</a:t>
            </a:r>
            <a:r>
              <a:rPr lang="ko-KR" altLang="en-US" dirty="0"/>
              <a:t>를 만들 때 </a:t>
            </a:r>
            <a:r>
              <a:rPr lang="en-US" altLang="ko-KR" dirty="0"/>
              <a:t>R1CS</a:t>
            </a:r>
            <a:r>
              <a:rPr lang="ko-KR" altLang="en-US" dirty="0"/>
              <a:t>를 너무 키우면 안될 것 같음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증명 회로 안에서의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결국 비트 나열해서 표현하는 것이 아닌가</a:t>
            </a:r>
            <a:r>
              <a:rPr lang="en-US" altLang="ko-KR" dirty="0"/>
              <a:t>? </a:t>
            </a:r>
            <a:r>
              <a:rPr lang="ko-KR" altLang="en-US" dirty="0"/>
              <a:t>코드 상에서 어떻게 진행하는 것인가</a:t>
            </a:r>
            <a:r>
              <a:rPr lang="en-US" altLang="ko-KR" dirty="0"/>
              <a:t>? </a:t>
            </a:r>
            <a:r>
              <a:rPr lang="ko-KR" altLang="en-US" dirty="0"/>
              <a:t>소프트웨어 세상에서 </a:t>
            </a:r>
            <a:r>
              <a:rPr lang="en-US" altLang="ko-KR" dirty="0"/>
              <a:t>2-bit</a:t>
            </a:r>
            <a:r>
              <a:rPr lang="ko-KR" altLang="en-US" dirty="0"/>
              <a:t> </a:t>
            </a:r>
            <a:r>
              <a:rPr lang="ko-KR" altLang="en-US" dirty="0" err="1"/>
              <a:t>뽑는게</a:t>
            </a:r>
            <a:r>
              <a:rPr lang="ko-KR" altLang="en-US" dirty="0"/>
              <a:t> 쉬운 일 아닌가</a:t>
            </a:r>
            <a:r>
              <a:rPr lang="en-US" altLang="ko-KR" dirty="0"/>
              <a:t>? </a:t>
            </a:r>
            <a:r>
              <a:rPr lang="ko-KR" altLang="en-US" dirty="0"/>
              <a:t>이게 왜 </a:t>
            </a:r>
            <a:r>
              <a:rPr lang="ko-KR" altLang="en-US" dirty="0" err="1"/>
              <a:t>어려워야하는가</a:t>
            </a:r>
            <a:r>
              <a:rPr lang="en-US" altLang="ko-KR" dirty="0"/>
              <a:t>? </a:t>
            </a:r>
            <a:r>
              <a:rPr lang="ko-KR" altLang="en-US" dirty="0"/>
              <a:t>수학적으로는 어려운 게 맞지만 실질적으로는 그렇게 어려운 과정이 </a:t>
            </a:r>
            <a:r>
              <a:rPr lang="ko-KR" altLang="en-US" dirty="0" err="1"/>
              <a:t>아닐텐데</a:t>
            </a:r>
            <a:r>
              <a:rPr lang="ko-KR" altLang="en-US" dirty="0"/>
              <a:t> 왜 비용이 많이 드는가에 대해서를 </a:t>
            </a:r>
            <a:r>
              <a:rPr lang="ko-KR" altLang="en-US" dirty="0" err="1"/>
              <a:t>설명해야한다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실질적으로는 </a:t>
            </a:r>
            <a:r>
              <a:rPr lang="en-US" altLang="ko-KR" dirty="0" err="1"/>
              <a:t>binar</a:t>
            </a:r>
            <a:r>
              <a:rPr lang="ko-KR" altLang="en-US" dirty="0"/>
              <a:t>로 다루고 있기 때문에 실질적으로는 </a:t>
            </a:r>
            <a:r>
              <a:rPr lang="en-US" altLang="ko-KR" dirty="0"/>
              <a:t>0</a:t>
            </a:r>
            <a:r>
              <a:rPr lang="ko-KR" altLang="en-US" dirty="0"/>
              <a:t>에 가깝지 않을까라고 주장하고 싶음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논문의 방향을 튼 이후로 질문은 하나였음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포세이돈처럼 </a:t>
            </a:r>
            <a:r>
              <a:rPr lang="ko-KR" altLang="en-US" dirty="0" err="1"/>
              <a:t>영지식</a:t>
            </a:r>
            <a:r>
              <a:rPr lang="ko-KR" altLang="en-US" dirty="0"/>
              <a:t> 증명에 특화된 알고리즘에서 </a:t>
            </a:r>
            <a:r>
              <a:rPr lang="en-US" altLang="ko-KR" dirty="0"/>
              <a:t>field </a:t>
            </a:r>
            <a:r>
              <a:rPr lang="en-US" altLang="ko-KR" dirty="0" err="1"/>
              <a:t>elemen</a:t>
            </a:r>
            <a:r>
              <a:rPr lang="ko-KR" altLang="en-US" dirty="0"/>
              <a:t>를 </a:t>
            </a:r>
            <a:r>
              <a:rPr lang="en-US" altLang="ko-KR" dirty="0"/>
              <a:t>ID</a:t>
            </a:r>
            <a:r>
              <a:rPr lang="ko-KR" altLang="en-US" dirty="0"/>
              <a:t>로 사용할 때 식별자에 대해서가 논문 주제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Sol1</a:t>
            </a:r>
            <a:r>
              <a:rPr lang="ko-KR" altLang="en-US" dirty="0"/>
              <a:t>에서 </a:t>
            </a:r>
            <a:r>
              <a:rPr lang="en-US" altLang="ko-KR" dirty="0"/>
              <a:t>canonical</a:t>
            </a:r>
            <a:r>
              <a:rPr lang="ko-KR" altLang="en-US" dirty="0"/>
              <a:t>이라고 단어를 쓴 이유가 기존 것에 대한 걸 설명하면서 진행할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표준이 필요하다</a:t>
            </a:r>
            <a:r>
              <a:rPr lang="en-US" altLang="ko-KR" dirty="0"/>
              <a:t>! </a:t>
            </a:r>
            <a:r>
              <a:rPr lang="ko-KR" altLang="en-US" dirty="0"/>
              <a:t>가능한 표준에 대해서 얘기하는 걸 논문의 주제로 설정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바깥에서 </a:t>
            </a:r>
            <a:r>
              <a:rPr lang="en-US" altLang="ko-KR" dirty="0"/>
              <a:t>id</a:t>
            </a:r>
            <a:r>
              <a:rPr lang="ko-KR" altLang="en-US" dirty="0"/>
              <a:t>로 사용할 때의 방법을 표준화</a:t>
            </a:r>
            <a:r>
              <a:rPr lang="en-US" altLang="ko-KR" dirty="0"/>
              <a:t>!</a:t>
            </a:r>
            <a:r>
              <a:rPr lang="ko-KR" altLang="en-US" dirty="0"/>
              <a:t>하자</a:t>
            </a:r>
            <a:r>
              <a:rPr lang="en-US" altLang="ko-KR" dirty="0"/>
              <a:t>! </a:t>
            </a:r>
            <a:r>
              <a:rPr lang="ko-KR" altLang="en-US" dirty="0"/>
              <a:t>코드로 대충 적절하게 </a:t>
            </a:r>
            <a:r>
              <a:rPr lang="ko-KR" altLang="en-US" dirty="0" err="1"/>
              <a:t>하지말고</a:t>
            </a:r>
            <a:r>
              <a:rPr lang="ko-KR" altLang="en-US" dirty="0"/>
              <a:t> 자세하게 명명하자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Poseidon-256</a:t>
            </a:r>
            <a:r>
              <a:rPr lang="ko-KR" altLang="en-US" dirty="0"/>
              <a:t>의 기준이 가장 중요할 것 같음</a:t>
            </a:r>
            <a:r>
              <a:rPr lang="en-US" altLang="ko-KR" dirty="0"/>
              <a:t>. 508-bit </a:t>
            </a:r>
            <a:r>
              <a:rPr lang="ko-KR" altLang="en-US" dirty="0"/>
              <a:t>낼 때</a:t>
            </a:r>
            <a:r>
              <a:rPr lang="en-US" altLang="ko-KR" dirty="0"/>
              <a:t>, 4</a:t>
            </a:r>
            <a:r>
              <a:rPr lang="ko-KR" altLang="en-US" dirty="0"/>
              <a:t>개의 </a:t>
            </a:r>
            <a:r>
              <a:rPr lang="en-US" altLang="ko-KR" dirty="0"/>
              <a:t>0</a:t>
            </a:r>
            <a:r>
              <a:rPr lang="ko-KR" altLang="en-US" dirty="0"/>
              <a:t>를 어떻게 붙일지에 대해서</a:t>
            </a:r>
            <a:r>
              <a:rPr lang="en-US" altLang="ko-KR" dirty="0"/>
              <a:t>..! </a:t>
            </a:r>
            <a:r>
              <a:rPr lang="ko-KR" altLang="en-US" dirty="0"/>
              <a:t>표준화로 얘기한 적이 없으니까 얘기해보자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FD32A-26D1-6C1C-B414-DE9EFDF20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950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5C3F-39D6-D978-55D7-4CDD0CF77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DE2F36-C909-456A-E88E-147F65FA0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BDE530-65EC-38A5-64E0-5BB67A499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D7FDB-623E-DEE4-ED16-D193761A0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41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121D-0EEA-F86B-E9CC-AFA9C094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E77DF-1C22-0598-9835-32E16B035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BBD020-6521-04ED-3D51-EF350D3A0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E863E-9C6F-6B03-F9B6-F4A2E8EA6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349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B8C4-C5F4-0ABA-4344-1CAE17C9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B682CB-CDA1-E743-03A3-2A2BD6606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767A1-4159-DA64-688C-CB74DAE34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1D92B-94EA-3220-F5B0-658522EBF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8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773F-830E-AD56-3168-20127565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F4018-39DE-23FE-0F8F-C8061FF3F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AD4E50-2E30-F0B6-796A-E2D47E941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Dusk Network – 256-bit </a:t>
            </a:r>
            <a:r>
              <a:rPr lang="ko-KR" altLang="en-US" dirty="0"/>
              <a:t>보안강도를 위해 </a:t>
            </a:r>
            <a:r>
              <a:rPr lang="en-US" altLang="ko-KR" dirty="0"/>
              <a:t>2</a:t>
            </a:r>
            <a:r>
              <a:rPr lang="ko-KR" altLang="en-US" dirty="0"/>
              <a:t>개의 아웃풋 사용</a:t>
            </a:r>
            <a:endParaRPr lang="en-US" altLang="ko-KR" dirty="0"/>
          </a:p>
          <a:p>
            <a:r>
              <a:rPr lang="en-US" altLang="ko-KR" dirty="0" err="1"/>
              <a:t>Filecoin</a:t>
            </a:r>
            <a:r>
              <a:rPr lang="en-US" altLang="ko-KR" dirty="0"/>
              <a:t> – Merkle Tree </a:t>
            </a:r>
            <a:r>
              <a:rPr lang="ko-KR" altLang="en-US" dirty="0"/>
              <a:t>노드 크기를 </a:t>
            </a:r>
            <a:r>
              <a:rPr lang="en-US" altLang="ko-KR" dirty="0"/>
              <a:t>32-byte</a:t>
            </a:r>
            <a:r>
              <a:rPr lang="ko-KR" altLang="en-US" dirty="0"/>
              <a:t>로 </a:t>
            </a:r>
            <a:r>
              <a:rPr lang="ko-KR" altLang="en-US" dirty="0" err="1"/>
              <a:t>고정해야하는</a:t>
            </a:r>
            <a:r>
              <a:rPr lang="ko-KR" altLang="en-US" dirty="0"/>
              <a:t> 프로젝트 사용 </a:t>
            </a:r>
            <a:r>
              <a:rPr lang="en-US" altLang="ko-KR" dirty="0"/>
              <a:t>-&gt; h1</a:t>
            </a:r>
            <a:r>
              <a:rPr lang="ko-KR" altLang="en-US" dirty="0"/>
              <a:t>만 사용 </a:t>
            </a:r>
            <a:r>
              <a:rPr lang="en-US" altLang="ko-KR" dirty="0"/>
              <a:t>=&gt; </a:t>
            </a:r>
            <a:r>
              <a:rPr lang="ko-KR" altLang="en-US" dirty="0"/>
              <a:t>보안강도 </a:t>
            </a:r>
            <a:r>
              <a:rPr lang="ko-KR" altLang="en-US" dirty="0" err="1"/>
              <a:t>반토막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Filecoin</a:t>
            </a:r>
            <a:r>
              <a:rPr lang="ko-KR" altLang="en-US" dirty="0"/>
              <a:t>의 경우에는 </a:t>
            </a:r>
            <a:r>
              <a:rPr lang="en-US" altLang="ko-KR" dirty="0"/>
              <a:t>Arity-8</a:t>
            </a:r>
            <a:r>
              <a:rPr lang="ko-KR" altLang="en-US" dirty="0"/>
              <a:t>의 </a:t>
            </a:r>
            <a:r>
              <a:rPr lang="en-US" altLang="ko-KR" dirty="0"/>
              <a:t>Merkle Tree</a:t>
            </a:r>
            <a:r>
              <a:rPr lang="ko-KR" altLang="en-US" dirty="0"/>
              <a:t>를 만들 때 </a:t>
            </a:r>
            <a:r>
              <a:rPr lang="en-US" altLang="ko-KR" dirty="0"/>
              <a:t>8-to-2</a:t>
            </a:r>
            <a:r>
              <a:rPr lang="ko-KR" altLang="en-US" dirty="0"/>
              <a:t>를 사용하기도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CA54DF-DED5-01F3-45A0-AA866DC8B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764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2B119-BE8E-3399-1CFD-113A8AB2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13C16-409B-6D75-B70F-1FA95AA2C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A364C-A134-522D-ABF6-52C651884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7C799A-1096-0640-2889-751A28F2F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100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B94FA-9276-5646-BF1C-EB613F38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D76EAC-1512-7A1E-A6BA-9630177D0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B3261E-8773-FB24-BC9E-268ABDDC0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9033E0-28C7-3DBF-AB2F-DC355DD0B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04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D2BA-97C7-F609-A501-7B6FAF7A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786D0C-81F0-04C2-AAFA-11B3F59DC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84AEF9-4FC9-10D8-5107-4CC1F5213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899B2-C525-20C0-6843-81C8A8ED5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349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5191-99DC-CF74-716F-9EE7E4E7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8ADED4-9E02-7590-8FE3-AB819269C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337E6-023D-B7DB-98DC-56341348D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 회로에서는 모든 데이터를 거대한 숫자 하나로 취급하는 특별한 세팅이 되어 있음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en-US" altLang="ko-KR" dirty="0"/>
              <a:t>SW(ex. </a:t>
            </a:r>
            <a:r>
              <a:rPr lang="en-US" altLang="ko-KR" dirty="0" err="1"/>
              <a:t>Circom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조합하여 사용한다고 하더라도</a:t>
            </a:r>
            <a:r>
              <a:rPr lang="en-US" altLang="ko-KR" dirty="0"/>
              <a:t> </a:t>
            </a:r>
            <a:r>
              <a:rPr lang="ko-KR" altLang="en-US" dirty="0"/>
              <a:t>일반적인 계산을 하는 것이 아님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방정식의 목록을 만들고 </a:t>
            </a:r>
            <a:r>
              <a:rPr lang="en-US" altLang="ko-KR" dirty="0"/>
              <a:t>uint64[4]</a:t>
            </a:r>
            <a:r>
              <a:rPr lang="ko-KR" altLang="en-US" dirty="0"/>
              <a:t>를 하나의 숫자로 간주하는 규칙을 설정</a:t>
            </a:r>
            <a:r>
              <a:rPr lang="en-US" altLang="ko-KR" dirty="0"/>
              <a:t>. </a:t>
            </a:r>
            <a:r>
              <a:rPr lang="ko-KR" altLang="en-US" dirty="0"/>
              <a:t>숫자로 설정이 되어 있는 경우 수학적인 방정식으로만 분해가 가능 </a:t>
            </a:r>
            <a:r>
              <a:rPr lang="en-US" altLang="ko-KR" dirty="0"/>
              <a:t>-&gt; </a:t>
            </a:r>
            <a:r>
              <a:rPr lang="ko-KR" altLang="en-US" dirty="0"/>
              <a:t>비트 단위 접근이 비쌈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증명이 수학적 방정식으로만 진행하도록 설정한 이유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영지식</a:t>
            </a:r>
            <a:r>
              <a:rPr lang="ko-KR" altLang="en-US" dirty="0"/>
              <a:t> 증명의 핵심 </a:t>
            </a:r>
            <a:r>
              <a:rPr lang="en-US" altLang="ko-KR" dirty="0"/>
              <a:t>– </a:t>
            </a:r>
            <a:r>
              <a:rPr lang="ko-KR" altLang="en-US" dirty="0"/>
              <a:t>답을 보여주지 않고 답을 알고 있다는 사실만 증명하는 것 </a:t>
            </a:r>
            <a:r>
              <a:rPr lang="en-US" altLang="ko-KR" dirty="0"/>
              <a:t>-&gt; </a:t>
            </a:r>
            <a:r>
              <a:rPr lang="ko-KR" altLang="en-US" dirty="0"/>
              <a:t>이걸 위해 다항식을 선택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여러 계산 과정을 하나의 다항식으로 만들 수 있음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많은 계산을 일일이 확인할 필요 </a:t>
            </a:r>
            <a:r>
              <a:rPr lang="en-US" altLang="ko-KR" dirty="0"/>
              <a:t>X. </a:t>
            </a:r>
            <a:r>
              <a:rPr lang="ko-KR" altLang="en-US" dirty="0"/>
              <a:t>다항식</a:t>
            </a:r>
            <a:r>
              <a:rPr lang="en-US" altLang="ko-KR" dirty="0"/>
              <a:t> </a:t>
            </a:r>
            <a:r>
              <a:rPr lang="ko-KR" altLang="en-US" dirty="0"/>
              <a:t>위의 특정한 점만 확인하면 전체 계산이 맞았다고 확신 가능</a:t>
            </a:r>
            <a:endParaRPr lang="en-US" altLang="ko-KR" dirty="0"/>
          </a:p>
          <a:p>
            <a:pPr marL="228600" indent="-228600">
              <a:buAutoNum type="arabicPeriod" startAt="2"/>
            </a:pPr>
            <a:r>
              <a:rPr lang="ko-KR" altLang="en-US" dirty="0"/>
              <a:t>동형 </a:t>
            </a:r>
            <a:r>
              <a:rPr lang="ko-KR" altLang="en-US" dirty="0" err="1"/>
              <a:t>암호적</a:t>
            </a:r>
            <a:r>
              <a:rPr lang="ko-KR" altLang="en-US" dirty="0"/>
              <a:t> 성질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암호화된 값을 사용할 </a:t>
            </a:r>
            <a:r>
              <a:rPr lang="ko-KR" altLang="en-US" dirty="0" err="1"/>
              <a:t>떄</a:t>
            </a:r>
            <a:r>
              <a:rPr lang="ko-KR" altLang="en-US" dirty="0"/>
              <a:t> 덧셈 및 곱셈 연산의 용이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가지고 있는 비밀 정보를 숨긴 상태에서 계산이 가능</a:t>
            </a:r>
            <a:r>
              <a:rPr lang="en-US" altLang="ko-KR" dirty="0"/>
              <a:t>(</a:t>
            </a:r>
            <a:r>
              <a:rPr lang="ko-KR" altLang="en-US" dirty="0"/>
              <a:t>덧셈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 startAt="3"/>
            </a:pPr>
            <a:r>
              <a:rPr lang="ko-KR" altLang="en-US" dirty="0" err="1"/>
              <a:t>유한체</a:t>
            </a:r>
            <a:r>
              <a:rPr lang="ko-KR" altLang="en-US" dirty="0"/>
              <a:t> 위에서 정의하기 위해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3BF3F-8612-6AAB-C32E-AE9391C3B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92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5780-B5A7-C213-92CF-FE8CE2E6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DE3DA0-4975-B265-2973-D3FFC962B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B410B9-EED7-176D-8F4C-68A26918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03F52-41EC-76A9-E794-4BD40D19B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949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36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영지식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증명 </a:t>
            </a:r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- Poseidon</a:t>
            </a:r>
            <a:endParaRPr lang="ko-KR" altLang="en-US" sz="36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25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FC0B-26F1-0C03-F542-399F91C1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007F9-F4DD-DD09-B7CB-220634F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846A7-4199-3C49-42B3-E5CF2BF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A8FAB-4A1B-7345-37B7-F2CBC7AF4CE7}"/>
              </a:ext>
            </a:extLst>
          </p:cNvPr>
          <p:cNvSpPr txBox="1"/>
          <p:nvPr/>
        </p:nvSpPr>
        <p:spPr>
          <a:xfrm>
            <a:off x="390525" y="1579982"/>
            <a:ext cx="1141094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영지식</a:t>
            </a:r>
            <a:r>
              <a:rPr lang="ko-KR" altLang="en-US" sz="1600" b="1" dirty="0"/>
              <a:t> 증명 프로세스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직렬화</a:t>
            </a:r>
            <a:r>
              <a:rPr lang="en-US" altLang="ko-KR" sz="1400" dirty="0"/>
              <a:t>(Prover)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전송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 err="1"/>
              <a:t>전처리</a:t>
            </a:r>
            <a:r>
              <a:rPr lang="en-US" altLang="ko-KR" sz="1400" dirty="0"/>
              <a:t>(Verifier)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수학적 검증</a:t>
            </a:r>
            <a:r>
              <a:rPr lang="en-US" altLang="ko-KR" sz="1400" dirty="0"/>
              <a:t>(Pairing)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5545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938B-C652-8BF1-A8A2-44263AC0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54F29-015D-2AF6-B969-C00D197C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BE23C-592E-CF53-5FC9-5D9E25D42311}"/>
              </a:ext>
            </a:extLst>
          </p:cNvPr>
          <p:cNvSpPr txBox="1"/>
          <p:nvPr/>
        </p:nvSpPr>
        <p:spPr>
          <a:xfrm>
            <a:off x="2936558" y="3075057"/>
            <a:ext cx="6318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2C62"/>
                </a:solidFill>
              </a:rPr>
              <a:t>Poseidon-128</a:t>
            </a:r>
          </a:p>
        </p:txBody>
      </p:sp>
    </p:spTree>
    <p:extLst>
      <p:ext uri="{BB962C8B-B14F-4D97-AF65-F5344CB8AC3E}">
        <p14:creationId xmlns:p14="http://schemas.microsoft.com/office/powerpoint/2010/main" val="19743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FDEB-5F61-C549-EC6A-F64C253E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D14C6-0F16-5B3B-429D-2F099E00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F1980-5631-E5BB-BE2D-A2A9FEC4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5A7F72-08FD-5442-504C-3D332C961C14}"/>
                  </a:ext>
                </a:extLst>
              </p:cNvPr>
              <p:cNvSpPr txBox="1"/>
              <p:nvPr/>
            </p:nvSpPr>
            <p:spPr>
              <a:xfrm>
                <a:off x="390525" y="1579982"/>
                <a:ext cx="1141094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2-to-1 hashing</a:t>
                </a:r>
                <a:r>
                  <a:rPr lang="ko-KR" altLang="en-US" sz="1400" dirty="0"/>
                  <a:t>을 진행한다고 가정</a:t>
                </a:r>
                <a:endParaRPr lang="en-US" altLang="ko-KR" sz="1400" dirty="0"/>
              </a:p>
              <a:p>
                <a:endParaRPr lang="en-US" altLang="ko-KR" sz="1600" b="1" dirty="0"/>
              </a:p>
              <a:p>
                <a:r>
                  <a:rPr lang="ko-KR" altLang="en-US" sz="1600" b="1" dirty="0"/>
                  <a:t>직렬화</a:t>
                </a:r>
                <a:r>
                  <a:rPr lang="en-US" altLang="ko-KR" sz="1600" b="1" dirty="0"/>
                  <a:t>(Serialization)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400" dirty="0"/>
                  <a:t>를 이용한 </a:t>
                </a:r>
                <a:r>
                  <a:rPr lang="en-US" altLang="ko-KR" sz="1400" dirty="0"/>
                  <a:t>Poseidon</a:t>
                </a:r>
                <a:r>
                  <a:rPr lang="ko-KR" altLang="en-US" sz="1400" dirty="0"/>
                  <a:t> 연산 수행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회로 내부</a:t>
                </a:r>
                <a:r>
                  <a:rPr lang="en-US" altLang="ko-KR" sz="1400" dirty="0"/>
                  <a:t>)</a:t>
                </a:r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를 공개 값으로 설정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회로 내부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5A7F72-08FD-5442-504C-3D332C961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1579982"/>
                <a:ext cx="11410949" cy="1661993"/>
              </a:xfrm>
              <a:prstGeom prst="rect">
                <a:avLst/>
              </a:prstGeom>
              <a:blipFill>
                <a:blip r:embed="rId3"/>
                <a:stretch>
                  <a:fillRect l="-267" t="-1099" b="-29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3A09A152-EC62-15AC-97B8-3AEC564CC904}"/>
              </a:ext>
            </a:extLst>
          </p:cNvPr>
          <p:cNvGrpSpPr/>
          <p:nvPr/>
        </p:nvGrpSpPr>
        <p:grpSpPr>
          <a:xfrm>
            <a:off x="1283743" y="4223355"/>
            <a:ext cx="5270668" cy="1543438"/>
            <a:chOff x="1283743" y="4223355"/>
            <a:chExt cx="5270668" cy="154343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D8F743-B9BD-3661-5207-5EFEC8A84FD2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pic>
          <p:nvPicPr>
            <p:cNvPr id="55" name="그림 54" descr="텍스트, 스크린샷, 도표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A160A35-4C8E-2E26-989B-0197AD7A8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3743" y="4223355"/>
              <a:ext cx="3967248" cy="1543438"/>
            </a:xfrm>
            <a:prstGeom prst="rect">
              <a:avLst/>
            </a:prstGeom>
          </p:spPr>
        </p:pic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6222680-50B2-2C53-5633-BBE63619EBC0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F7E0AA55-E9D6-C71B-DC23-0C07EAEB4020}"/>
                </a:ext>
              </a:extLst>
            </p:cNvPr>
            <p:cNvCxnSpPr>
              <a:cxnSpLocks/>
              <a:stCxn id="50" idx="0"/>
              <a:endCxn id="53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681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F191-9BF3-9528-6E93-3E5B1A60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F981286-F271-80F5-7605-7F659CE0FDE1}"/>
              </a:ext>
            </a:extLst>
          </p:cNvPr>
          <p:cNvSpPr/>
          <p:nvPr/>
        </p:nvSpPr>
        <p:spPr>
          <a:xfrm>
            <a:off x="411480" y="3429000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E4EE31-BFBF-213D-FA7B-CA00AC6A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78C62-B49D-CCC5-B806-A60192A0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D49145-D461-1B79-A8ED-1EDDA53AB49D}"/>
              </a:ext>
            </a:extLst>
          </p:cNvPr>
          <p:cNvSpPr/>
          <p:nvPr/>
        </p:nvSpPr>
        <p:spPr>
          <a:xfrm>
            <a:off x="537210" y="4240530"/>
            <a:ext cx="4530090" cy="18971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5EB4E3C-FC23-DA47-90DF-1F4B53DB49DE}"/>
              </a:ext>
            </a:extLst>
          </p:cNvPr>
          <p:cNvGrpSpPr/>
          <p:nvPr/>
        </p:nvGrpSpPr>
        <p:grpSpPr>
          <a:xfrm>
            <a:off x="624840" y="4817955"/>
            <a:ext cx="4404360" cy="1147021"/>
            <a:chOff x="1283743" y="4223355"/>
            <a:chExt cx="5270668" cy="154343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723379-7CE6-CE3F-290C-5C848F154E98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pic>
          <p:nvPicPr>
            <p:cNvPr id="55" name="그림 54" descr="텍스트, 스크린샷, 도표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A424319-EDE0-A2D0-CDC4-FF7FACF1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3743" y="4223355"/>
              <a:ext cx="3967248" cy="1543438"/>
            </a:xfrm>
            <a:prstGeom prst="rect">
              <a:avLst/>
            </a:prstGeom>
          </p:spPr>
        </p:pic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BDA6133-06E2-3B53-FD65-C72FE000586D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36F1BBE-9D29-F5CD-D673-3634A5AFB3CA}"/>
                </a:ext>
              </a:extLst>
            </p:cNvPr>
            <p:cNvCxnSpPr>
              <a:cxnSpLocks/>
              <a:stCxn id="56" idx="0"/>
              <a:endCxn id="54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0130DBE-4F42-2DB2-B4CC-9B3195C6B8E9}"/>
              </a:ext>
            </a:extLst>
          </p:cNvPr>
          <p:cNvSpPr txBox="1"/>
          <p:nvPr/>
        </p:nvSpPr>
        <p:spPr>
          <a:xfrm>
            <a:off x="2076225" y="4297963"/>
            <a:ext cx="1452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영지식</a:t>
            </a:r>
            <a:r>
              <a:rPr lang="ko-KR" altLang="en-US" sz="1200" dirty="0"/>
              <a:t> 증명 회로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0BBBF-FEAE-7352-3D2A-B442EBAA8A93}"/>
              </a:ext>
            </a:extLst>
          </p:cNvPr>
          <p:cNvSpPr txBox="1"/>
          <p:nvPr/>
        </p:nvSpPr>
        <p:spPr>
          <a:xfrm>
            <a:off x="5328786" y="3456088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AFA57E-3B7C-C82D-8DBF-EAD02A4D7B98}"/>
              </a:ext>
            </a:extLst>
          </p:cNvPr>
          <p:cNvSpPr/>
          <p:nvPr/>
        </p:nvSpPr>
        <p:spPr>
          <a:xfrm>
            <a:off x="5966530" y="4428936"/>
            <a:ext cx="2572933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E64C54-2476-01CE-FBDF-676A4F831CE8}"/>
              </a:ext>
            </a:extLst>
          </p:cNvPr>
          <p:cNvSpPr/>
          <p:nvPr/>
        </p:nvSpPr>
        <p:spPr>
          <a:xfrm>
            <a:off x="5067300" y="3796928"/>
            <a:ext cx="672152" cy="34309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/>
              <a:t>RAM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843AFE06-BAD5-3C87-D26C-56C2FA9FD713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3850192" y="4140020"/>
            <a:ext cx="1553184" cy="127061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ADD1D9-8F99-0410-7318-76FAF05FB3F2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739452" y="3968474"/>
            <a:ext cx="227078" cy="1309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AF779E-9F32-32FA-F7E5-EA7AA0A8AAC0}"/>
                  </a:ext>
                </a:extLst>
              </p:cNvPr>
              <p:cNvSpPr txBox="1"/>
              <p:nvPr/>
            </p:nvSpPr>
            <p:spPr>
              <a:xfrm>
                <a:off x="4471035" y="5378528"/>
                <a:ext cx="14439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  <a:p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zero-padding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256-bit </a:t>
                </a:r>
                <a:r>
                  <a:rPr lang="ko-KR" altLang="en-US" sz="1200" dirty="0"/>
                  <a:t>단위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Uint64 data[4]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AF779E-9F32-32FA-F7E5-EA7AA0A8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5" y="5378528"/>
                <a:ext cx="1443990" cy="1015663"/>
              </a:xfrm>
              <a:prstGeom prst="rect">
                <a:avLst/>
              </a:prstGeom>
              <a:blipFill>
                <a:blip r:embed="rId4"/>
                <a:stretch>
                  <a:fillRect b="-29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A2C604-9B80-8E4B-CC6A-6F61B170E609}"/>
                  </a:ext>
                </a:extLst>
              </p:cNvPr>
              <p:cNvSpPr txBox="1"/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A2C604-9B80-8E4B-CC6A-6F61B170E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blipFill>
                <a:blip r:embed="rId5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2868B5-421A-8C3D-4701-3905BD0739CB}"/>
              </a:ext>
            </a:extLst>
          </p:cNvPr>
          <p:cNvSpPr/>
          <p:nvPr/>
        </p:nvSpPr>
        <p:spPr>
          <a:xfrm>
            <a:off x="6273298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0A291A-F3B7-3441-EC0C-6B370BCD33CA}"/>
              </a:ext>
            </a:extLst>
          </p:cNvPr>
          <p:cNvSpPr/>
          <p:nvPr/>
        </p:nvSpPr>
        <p:spPr>
          <a:xfrm>
            <a:off x="6836474" y="488199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C3C896-743C-3D32-9F8F-CB40559AA4EB}"/>
              </a:ext>
            </a:extLst>
          </p:cNvPr>
          <p:cNvSpPr/>
          <p:nvPr/>
        </p:nvSpPr>
        <p:spPr>
          <a:xfrm>
            <a:off x="7386384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data[2]</a:t>
            </a:r>
            <a:endParaRPr lang="ko-KR" altLang="en-US" sz="9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8BD1F9-244A-7491-C54B-6A1FDCF2410D}"/>
              </a:ext>
            </a:extLst>
          </p:cNvPr>
          <p:cNvSpPr/>
          <p:nvPr/>
        </p:nvSpPr>
        <p:spPr>
          <a:xfrm>
            <a:off x="7949560" y="488199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data[3]</a:t>
            </a:r>
            <a:endParaRPr lang="ko-KR" alt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246918E-C6BB-7CE3-33B0-CDBD4303D5DF}"/>
                  </a:ext>
                </a:extLst>
              </p:cNvPr>
              <p:cNvSpPr txBox="1"/>
              <p:nvPr/>
            </p:nvSpPr>
            <p:spPr>
              <a:xfrm>
                <a:off x="5806180" y="4057167"/>
                <a:ext cx="452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246918E-C6BB-7CE3-33B0-CDBD4303D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180" y="4057167"/>
                <a:ext cx="45223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0EFBBD5-5749-2960-1D16-9E1DD1994EF3}"/>
              </a:ext>
            </a:extLst>
          </p:cNvPr>
          <p:cNvCxnSpPr>
            <a:cxnSpLocks/>
          </p:cNvCxnSpPr>
          <p:nvPr/>
        </p:nvCxnSpPr>
        <p:spPr>
          <a:xfrm>
            <a:off x="7386384" y="5153826"/>
            <a:ext cx="0" cy="220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05E3D2-7D6B-D466-1C4B-FFFB6C561675}"/>
              </a:ext>
            </a:extLst>
          </p:cNvPr>
          <p:cNvSpPr/>
          <p:nvPr/>
        </p:nvSpPr>
        <p:spPr>
          <a:xfrm>
            <a:off x="6288316" y="539639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D1E3DE-CF67-3B18-8D87-D0781A1B9D21}"/>
              </a:ext>
            </a:extLst>
          </p:cNvPr>
          <p:cNvSpPr/>
          <p:nvPr/>
        </p:nvSpPr>
        <p:spPr>
          <a:xfrm>
            <a:off x="6857842" y="539639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78D575-D2F8-B6B2-E91D-D7CC056D18C8}"/>
              </a:ext>
            </a:extLst>
          </p:cNvPr>
          <p:cNvSpPr/>
          <p:nvPr/>
        </p:nvSpPr>
        <p:spPr>
          <a:xfrm>
            <a:off x="7395052" y="539639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5A5B741-0468-C943-4611-76662DDE6032}"/>
              </a:ext>
            </a:extLst>
          </p:cNvPr>
          <p:cNvSpPr/>
          <p:nvPr/>
        </p:nvSpPr>
        <p:spPr>
          <a:xfrm>
            <a:off x="7958228" y="539639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A2CD9A-5DA9-F6E8-AB26-7C3139836F13}"/>
              </a:ext>
            </a:extLst>
          </p:cNvPr>
          <p:cNvSpPr/>
          <p:nvPr/>
        </p:nvSpPr>
        <p:spPr>
          <a:xfrm>
            <a:off x="6279648" y="583232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[28]</a:t>
            </a:r>
            <a:endParaRPr lang="ko-KR" altLang="en-US" sz="9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7E863C-EB65-B9D5-A54D-F3CBF65D988D}"/>
              </a:ext>
            </a:extLst>
          </p:cNvPr>
          <p:cNvSpPr/>
          <p:nvPr/>
        </p:nvSpPr>
        <p:spPr>
          <a:xfrm>
            <a:off x="6849174" y="583232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[29]</a:t>
            </a:r>
            <a:endParaRPr lang="ko-KR" altLang="en-US" sz="9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C200EA-452F-063F-3286-6C6F1CECB7AC}"/>
              </a:ext>
            </a:extLst>
          </p:cNvPr>
          <p:cNvSpPr/>
          <p:nvPr/>
        </p:nvSpPr>
        <p:spPr>
          <a:xfrm>
            <a:off x="7386384" y="583232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[30]</a:t>
            </a:r>
            <a:endParaRPr lang="ko-KR" altLang="en-US" sz="9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BB6400-4381-3D35-6C49-AAB5E4952D7A}"/>
              </a:ext>
            </a:extLst>
          </p:cNvPr>
          <p:cNvSpPr/>
          <p:nvPr/>
        </p:nvSpPr>
        <p:spPr>
          <a:xfrm>
            <a:off x="7949560" y="583232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[31]</a:t>
            </a:r>
            <a:endParaRPr lang="ko-KR" alt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25DBE9-32FD-34B3-E553-84906CB5797E}"/>
              </a:ext>
            </a:extLst>
          </p:cNvPr>
          <p:cNvSpPr txBox="1"/>
          <p:nvPr/>
        </p:nvSpPr>
        <p:spPr>
          <a:xfrm>
            <a:off x="7168935" y="5545009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E85403-DE17-F097-4D55-CA0957D61F11}"/>
              </a:ext>
            </a:extLst>
          </p:cNvPr>
          <p:cNvSpPr txBox="1"/>
          <p:nvPr/>
        </p:nvSpPr>
        <p:spPr>
          <a:xfrm>
            <a:off x="7463704" y="5114234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2734A-F87C-ED7A-82E0-100FCAC0C467}"/>
              </a:ext>
            </a:extLst>
          </p:cNvPr>
          <p:cNvSpPr txBox="1"/>
          <p:nvPr/>
        </p:nvSpPr>
        <p:spPr>
          <a:xfrm>
            <a:off x="5748098" y="6324537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075DC1A-E4F7-8733-BA1E-AFD69FA33BC0}"/>
              </a:ext>
            </a:extLst>
          </p:cNvPr>
          <p:cNvSpPr/>
          <p:nvPr/>
        </p:nvSpPr>
        <p:spPr>
          <a:xfrm>
            <a:off x="6341780" y="5821575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428E4E7-4E99-C54A-97F1-D35903B398D3}"/>
              </a:ext>
            </a:extLst>
          </p:cNvPr>
          <p:cNvCxnSpPr>
            <a:cxnSpLocks/>
            <a:stCxn id="38" idx="4"/>
            <a:endCxn id="37" idx="0"/>
          </p:cNvCxnSpPr>
          <p:nvPr/>
        </p:nvCxnSpPr>
        <p:spPr>
          <a:xfrm flipH="1">
            <a:off x="6190235" y="6047036"/>
            <a:ext cx="368023" cy="2775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40AAAC69-65A2-B4E8-A365-C0551D12A4E6}"/>
              </a:ext>
            </a:extLst>
          </p:cNvPr>
          <p:cNvSpPr/>
          <p:nvPr/>
        </p:nvSpPr>
        <p:spPr>
          <a:xfrm>
            <a:off x="7991852" y="488233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BD1D8AD-48C0-0B97-BA85-605C7A182CDC}"/>
              </a:ext>
            </a:extLst>
          </p:cNvPr>
          <p:cNvCxnSpPr>
            <a:cxnSpLocks/>
            <a:stCxn id="49" idx="0"/>
            <a:endCxn id="58" idx="2"/>
          </p:cNvCxnSpPr>
          <p:nvPr/>
        </p:nvCxnSpPr>
        <p:spPr>
          <a:xfrm flipV="1">
            <a:off x="8208330" y="4366002"/>
            <a:ext cx="544302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7C74191-BDDD-B104-2871-3DAE6BFC68D9}"/>
              </a:ext>
            </a:extLst>
          </p:cNvPr>
          <p:cNvSpPr txBox="1"/>
          <p:nvPr/>
        </p:nvSpPr>
        <p:spPr>
          <a:xfrm>
            <a:off x="7865963" y="4089003"/>
            <a:ext cx="1773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64-bit </a:t>
            </a:r>
            <a:r>
              <a:rPr lang="ko-KR" altLang="en-US" sz="1200" dirty="0"/>
              <a:t>단위</a:t>
            </a:r>
            <a:r>
              <a:rPr lang="en-US" altLang="ko-KR" sz="1200" dirty="0"/>
              <a:t>(little endian)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68A032C-6A35-9833-90B0-D2D4A07B41F3}"/>
              </a:ext>
            </a:extLst>
          </p:cNvPr>
          <p:cNvSpPr/>
          <p:nvPr/>
        </p:nvSpPr>
        <p:spPr>
          <a:xfrm>
            <a:off x="7991852" y="580688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5E8CD52-BA46-4A0F-B034-4CBA35B471F0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208330" y="6032350"/>
            <a:ext cx="235983" cy="394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5AA6C24-438F-D70D-3304-B153A42E7AAF}"/>
              </a:ext>
            </a:extLst>
          </p:cNvPr>
          <p:cNvSpPr txBox="1"/>
          <p:nvPr/>
        </p:nvSpPr>
        <p:spPr>
          <a:xfrm>
            <a:off x="7395051" y="6421288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85B6D1-9F3A-7917-DC14-8E13F7C5C44E}"/>
              </a:ext>
            </a:extLst>
          </p:cNvPr>
          <p:cNvSpPr txBox="1"/>
          <p:nvPr/>
        </p:nvSpPr>
        <p:spPr>
          <a:xfrm>
            <a:off x="381219" y="963097"/>
            <a:ext cx="74847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증명 생성 </a:t>
            </a:r>
            <a:r>
              <a:rPr lang="en-US" altLang="ko-KR" sz="1400" dirty="0"/>
              <a:t>: </a:t>
            </a:r>
            <a:r>
              <a:rPr lang="ko-KR" altLang="en-US" sz="1400" dirty="0"/>
              <a:t>모든 </a:t>
            </a:r>
            <a:r>
              <a:rPr lang="en-US" altLang="ko-KR" sz="1400" dirty="0"/>
              <a:t>witness </a:t>
            </a:r>
            <a:r>
              <a:rPr lang="ko-KR" altLang="en-US" sz="1400" dirty="0"/>
              <a:t>값과 </a:t>
            </a:r>
            <a:r>
              <a:rPr lang="en-US" altLang="ko-KR" sz="1400" dirty="0"/>
              <a:t>proving key</a:t>
            </a:r>
            <a:r>
              <a:rPr lang="ko-KR" altLang="en-US" sz="1400" dirty="0"/>
              <a:t>를 사용하여 증명 생성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Field Element </a:t>
            </a:r>
            <a:r>
              <a:rPr lang="ko-KR" altLang="en-US" sz="1400" dirty="0"/>
              <a:t>→ 메모리</a:t>
            </a:r>
            <a:r>
              <a:rPr lang="en-US" altLang="ko-KR" sz="1400" dirty="0"/>
              <a:t> </a:t>
            </a:r>
            <a:r>
              <a:rPr lang="ko-KR" altLang="en-US" sz="1400" dirty="0"/>
              <a:t>상의 숫자로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회로 외부</a:t>
            </a:r>
            <a:r>
              <a:rPr lang="en-US" altLang="ko-KR" sz="1400" dirty="0"/>
              <a:t>) </a:t>
            </a:r>
            <a:r>
              <a:rPr lang="en-US" altLang="ko-KR" sz="1400" b="1" dirty="0">
                <a:solidFill>
                  <a:srgbClr val="FF0000"/>
                </a:solidFill>
              </a:rPr>
              <a:t>→ uint64 data[4]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Endian </a:t>
            </a:r>
            <a:r>
              <a:rPr lang="ko-KR" altLang="en-US" sz="1400" dirty="0"/>
              <a:t>변환</a:t>
            </a:r>
            <a:r>
              <a:rPr lang="en-US" altLang="ko-KR" sz="1400" dirty="0"/>
              <a:t>(</a:t>
            </a:r>
            <a:r>
              <a:rPr lang="ko-KR" altLang="en-US" sz="1400" dirty="0"/>
              <a:t>일반적으로 </a:t>
            </a:r>
            <a:r>
              <a:rPr lang="en-US" altLang="ko-KR" sz="1400" dirty="0"/>
              <a:t>Little Endian </a:t>
            </a:r>
            <a:r>
              <a:rPr lang="ko-KR" altLang="en-US" sz="1400" dirty="0"/>
              <a:t>사용</a:t>
            </a:r>
            <a:r>
              <a:rPr lang="en-US" altLang="ko-KR" sz="1400" dirty="0"/>
              <a:t>) </a:t>
            </a:r>
            <a:r>
              <a:rPr lang="ko-KR" altLang="en-US" sz="1400" dirty="0"/>
              <a:t>및 </a:t>
            </a:r>
            <a:r>
              <a:rPr lang="en-US" altLang="ko-KR" sz="1400" dirty="0"/>
              <a:t>Buffer </a:t>
            </a:r>
            <a:r>
              <a:rPr lang="ko-KR" altLang="en-US" sz="1400" dirty="0"/>
              <a:t>할당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Data</a:t>
            </a:r>
            <a:r>
              <a:rPr lang="ko-KR" altLang="en-US" sz="1400" dirty="0"/>
              <a:t> </a:t>
            </a:r>
            <a:r>
              <a:rPr lang="en-US" altLang="ko-KR" sz="1400" dirty="0"/>
              <a:t>Filling,</a:t>
            </a:r>
            <a:r>
              <a:rPr lang="ko-KR" altLang="en-US" sz="1400" dirty="0"/>
              <a:t> </a:t>
            </a:r>
            <a:r>
              <a:rPr lang="en-US" altLang="ko-KR" sz="1400" dirty="0"/>
              <a:t>0-padding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74910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F5DC-62CC-9F33-2066-3E452195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9A3DD-98E1-79CB-587C-0660386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56391-9FF9-028B-5963-E1E2E766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1C738-6EE9-0216-644D-842220B97327}"/>
              </a:ext>
            </a:extLst>
          </p:cNvPr>
          <p:cNvSpPr txBox="1"/>
          <p:nvPr/>
        </p:nvSpPr>
        <p:spPr>
          <a:xfrm>
            <a:off x="390525" y="997663"/>
            <a:ext cx="107994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</a:p>
          <a:p>
            <a:endParaRPr lang="en-US" altLang="ko-KR" sz="1400" dirty="0"/>
          </a:p>
          <a:p>
            <a:pPr marL="342900" indent="-342900">
              <a:buAutoNum type="arabicPeriod" startAt="7"/>
            </a:pPr>
            <a:r>
              <a:rPr lang="en-US" altLang="ko-KR" sz="1400" dirty="0"/>
              <a:t>ABI Encoding : </a:t>
            </a: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[0]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[3] : </a:t>
            </a:r>
            <a:r>
              <a:rPr lang="ko-KR" altLang="en-US" sz="1400" dirty="0"/>
              <a:t>함수 </a:t>
            </a:r>
            <a:r>
              <a:rPr lang="en-US" altLang="ko-KR" sz="1400" dirty="0"/>
              <a:t>Indicator</a:t>
            </a:r>
            <a:r>
              <a:rPr lang="ko-KR" altLang="en-US" sz="1400" dirty="0"/>
              <a:t>의 </a:t>
            </a:r>
            <a:r>
              <a:rPr lang="en-US" altLang="ko-KR" sz="1400" dirty="0"/>
              <a:t>4-byte </a:t>
            </a:r>
            <a:r>
              <a:rPr lang="ko-KR" altLang="en-US" sz="1400" dirty="0"/>
              <a:t>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저장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[4]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[35] : </a:t>
            </a:r>
            <a:r>
              <a:rPr lang="en-US" altLang="ko-KR" sz="1400" dirty="0" err="1"/>
              <a:t>buf</a:t>
            </a:r>
            <a:r>
              <a:rPr lang="en-US" altLang="ko-KR" sz="1400" dirty="0"/>
              <a:t>[32]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변경</a:t>
            </a:r>
            <a:r>
              <a:rPr lang="en-US" altLang="ko-KR" sz="1400" dirty="0"/>
              <a:t>(Poseidon hash </a:t>
            </a:r>
            <a:r>
              <a:rPr lang="ko-KR" altLang="en-US" sz="1400" dirty="0"/>
              <a:t>결과값 </a:t>
            </a:r>
            <a:r>
              <a:rPr lang="en-US" altLang="ko-KR" sz="1400" dirty="0"/>
              <a:t>h)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이 외의 정보 </a:t>
            </a:r>
            <a:r>
              <a:rPr lang="en-US" altLang="ko-KR" sz="1400" dirty="0"/>
              <a:t>: proving</a:t>
            </a:r>
            <a:r>
              <a:rPr lang="ko-KR" altLang="en-US" sz="1400" dirty="0"/>
              <a:t> </a:t>
            </a:r>
            <a:r>
              <a:rPr lang="en-US" altLang="ko-KR" sz="1400" dirty="0"/>
              <a:t>key</a:t>
            </a:r>
            <a:r>
              <a:rPr lang="ko-KR" altLang="en-US" sz="1400" dirty="0"/>
              <a:t> 기반으로 생성된 </a:t>
            </a:r>
            <a:r>
              <a:rPr lang="en-US" altLang="ko-KR" sz="1400" dirty="0"/>
              <a:t>3</a:t>
            </a:r>
            <a:r>
              <a:rPr lang="ko-KR" altLang="en-US" sz="1400" dirty="0"/>
              <a:t>개의 타원곡선 점 좌표 정보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수식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600" b="1" dirty="0"/>
              <a:t>전송</a:t>
            </a:r>
            <a:r>
              <a:rPr lang="en-US" altLang="ko-KR" sz="1400" b="1" dirty="0"/>
              <a:t>(Transmission)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400" dirty="0"/>
              <a:t>증명자가 검증자에게 데이터 패킷 전송</a:t>
            </a:r>
            <a:endParaRPr lang="en-US" altLang="ko-KR" sz="14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BC3EB5-47AC-0EB9-813B-FBF655DD4CFC}"/>
              </a:ext>
            </a:extLst>
          </p:cNvPr>
          <p:cNvSpPr/>
          <p:nvPr/>
        </p:nvSpPr>
        <p:spPr>
          <a:xfrm>
            <a:off x="390525" y="3517904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DF3EA4-8881-7371-1A2E-99D548D6FFE0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88F6B36-B516-BB2F-ED88-B36857ED2D67}"/>
              </a:ext>
            </a:extLst>
          </p:cNvPr>
          <p:cNvSpPr/>
          <p:nvPr/>
        </p:nvSpPr>
        <p:spPr>
          <a:xfrm>
            <a:off x="1555628" y="4452124"/>
            <a:ext cx="6319642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10C5CEB-3AEA-BC95-BF4E-47F55BE4AF4C}"/>
                  </a:ext>
                </a:extLst>
              </p:cNvPr>
              <p:cNvSpPr txBox="1"/>
              <p:nvPr/>
            </p:nvSpPr>
            <p:spPr>
              <a:xfrm>
                <a:off x="1526698" y="4889432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10C5CEB-3AEA-BC95-BF4E-47F55BE4A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98" y="4889432"/>
                <a:ext cx="505271" cy="246221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직사각형 72">
            <a:extLst>
              <a:ext uri="{FF2B5EF4-FFF2-40B4-BE49-F238E27FC236}">
                <a16:creationId xmlns:a16="http://schemas.microsoft.com/office/drawing/2014/main" id="{F46A7388-19AC-2D8C-7A94-5AFB51E7944C}"/>
              </a:ext>
            </a:extLst>
          </p:cNvPr>
          <p:cNvSpPr/>
          <p:nvPr/>
        </p:nvSpPr>
        <p:spPr>
          <a:xfrm>
            <a:off x="1862396" y="490518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5857AC1-4BC5-D181-2AB3-E27EC4858CD0}"/>
              </a:ext>
            </a:extLst>
          </p:cNvPr>
          <p:cNvSpPr/>
          <p:nvPr/>
        </p:nvSpPr>
        <p:spPr>
          <a:xfrm>
            <a:off x="2425572" y="490518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D69EF4B-4EA7-5831-B943-362775498843}"/>
              </a:ext>
            </a:extLst>
          </p:cNvPr>
          <p:cNvSpPr/>
          <p:nvPr/>
        </p:nvSpPr>
        <p:spPr>
          <a:xfrm>
            <a:off x="2975482" y="490518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0143F-E2DC-AD5C-1FD5-772588143DAC}"/>
              </a:ext>
            </a:extLst>
          </p:cNvPr>
          <p:cNvSpPr/>
          <p:nvPr/>
        </p:nvSpPr>
        <p:spPr>
          <a:xfrm>
            <a:off x="3538658" y="490518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B149B05-3DA3-A151-B79D-490083FBB28D}"/>
              </a:ext>
            </a:extLst>
          </p:cNvPr>
          <p:cNvCxnSpPr>
            <a:cxnSpLocks/>
          </p:cNvCxnSpPr>
          <p:nvPr/>
        </p:nvCxnSpPr>
        <p:spPr>
          <a:xfrm>
            <a:off x="2975482" y="5177014"/>
            <a:ext cx="0" cy="220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7004FEE-23F5-B848-56D3-B766E01C9B99}"/>
              </a:ext>
            </a:extLst>
          </p:cNvPr>
          <p:cNvSpPr/>
          <p:nvPr/>
        </p:nvSpPr>
        <p:spPr>
          <a:xfrm>
            <a:off x="1877414" y="541957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68E8C36-505E-4EF6-E8BB-53ADBA4973B5}"/>
              </a:ext>
            </a:extLst>
          </p:cNvPr>
          <p:cNvSpPr/>
          <p:nvPr/>
        </p:nvSpPr>
        <p:spPr>
          <a:xfrm>
            <a:off x="2446940" y="541957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C840A50-E2AF-5F50-B59F-2B1B6743F092}"/>
              </a:ext>
            </a:extLst>
          </p:cNvPr>
          <p:cNvSpPr/>
          <p:nvPr/>
        </p:nvSpPr>
        <p:spPr>
          <a:xfrm>
            <a:off x="2984150" y="541957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B8B8FD0-1D75-9C27-3B4E-05240E664498}"/>
              </a:ext>
            </a:extLst>
          </p:cNvPr>
          <p:cNvSpPr/>
          <p:nvPr/>
        </p:nvSpPr>
        <p:spPr>
          <a:xfrm>
            <a:off x="3547326" y="541957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E96402-F101-A0C4-FBB2-C1BF6E5C3D35}"/>
              </a:ext>
            </a:extLst>
          </p:cNvPr>
          <p:cNvSpPr/>
          <p:nvPr/>
        </p:nvSpPr>
        <p:spPr>
          <a:xfrm>
            <a:off x="1868746" y="585551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[28]</a:t>
            </a:r>
            <a:endParaRPr lang="ko-KR" altLang="en-US" sz="9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6FE3ED7-6528-F10F-B036-0DA781BFCECF}"/>
              </a:ext>
            </a:extLst>
          </p:cNvPr>
          <p:cNvSpPr/>
          <p:nvPr/>
        </p:nvSpPr>
        <p:spPr>
          <a:xfrm>
            <a:off x="2438272" y="585551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[29]</a:t>
            </a:r>
            <a:endParaRPr lang="ko-KR" altLang="en-US" sz="9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074B358-34E1-B660-15A0-5BFC007AC18C}"/>
              </a:ext>
            </a:extLst>
          </p:cNvPr>
          <p:cNvSpPr/>
          <p:nvPr/>
        </p:nvSpPr>
        <p:spPr>
          <a:xfrm>
            <a:off x="2975482" y="585551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[30]</a:t>
            </a:r>
            <a:endParaRPr lang="ko-KR" altLang="en-US" sz="90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9C59C8-4E5E-981B-EA07-9CE7CA033E7E}"/>
              </a:ext>
            </a:extLst>
          </p:cNvPr>
          <p:cNvSpPr/>
          <p:nvPr/>
        </p:nvSpPr>
        <p:spPr>
          <a:xfrm>
            <a:off x="3538658" y="585551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[31]</a:t>
            </a:r>
            <a:endParaRPr lang="ko-KR" altLang="en-US" sz="9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C41DFB-640E-6A17-BB9F-6EC4DF803E56}"/>
              </a:ext>
            </a:extLst>
          </p:cNvPr>
          <p:cNvSpPr txBox="1"/>
          <p:nvPr/>
        </p:nvSpPr>
        <p:spPr>
          <a:xfrm>
            <a:off x="2758033" y="5568197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96469B-B231-1786-2E67-C4C51FB9357D}"/>
              </a:ext>
            </a:extLst>
          </p:cNvPr>
          <p:cNvSpPr txBox="1"/>
          <p:nvPr/>
        </p:nvSpPr>
        <p:spPr>
          <a:xfrm>
            <a:off x="3052802" y="5137422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3C5C57-2D00-7B8F-7EA1-C7EE92A737C6}"/>
              </a:ext>
            </a:extLst>
          </p:cNvPr>
          <p:cNvSpPr txBox="1"/>
          <p:nvPr/>
        </p:nvSpPr>
        <p:spPr>
          <a:xfrm>
            <a:off x="984473" y="6306409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FF24DD13-1A50-2A68-13BF-BD416EC401B5}"/>
              </a:ext>
            </a:extLst>
          </p:cNvPr>
          <p:cNvSpPr/>
          <p:nvPr/>
        </p:nvSpPr>
        <p:spPr>
          <a:xfrm>
            <a:off x="1919827" y="5414204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497D3CE-9B25-06BD-7BA4-E0C52404F188}"/>
              </a:ext>
            </a:extLst>
          </p:cNvPr>
          <p:cNvCxnSpPr>
            <a:cxnSpLocks/>
            <a:stCxn id="90" idx="4"/>
            <a:endCxn id="89" idx="0"/>
          </p:cNvCxnSpPr>
          <p:nvPr/>
        </p:nvCxnSpPr>
        <p:spPr>
          <a:xfrm flipH="1">
            <a:off x="1426610" y="5639665"/>
            <a:ext cx="709695" cy="6667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BA60069A-B84F-F1FE-AFC5-209D96EE36C6}"/>
              </a:ext>
            </a:extLst>
          </p:cNvPr>
          <p:cNvSpPr/>
          <p:nvPr/>
        </p:nvSpPr>
        <p:spPr>
          <a:xfrm>
            <a:off x="3580950" y="4905527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935475A5-C15B-8CFF-D5BB-5C275715FACB}"/>
              </a:ext>
            </a:extLst>
          </p:cNvPr>
          <p:cNvCxnSpPr>
            <a:cxnSpLocks/>
            <a:stCxn id="92" idx="0"/>
            <a:endCxn id="94" idx="2"/>
          </p:cNvCxnSpPr>
          <p:nvPr/>
        </p:nvCxnSpPr>
        <p:spPr>
          <a:xfrm flipV="1">
            <a:off x="3797428" y="4389190"/>
            <a:ext cx="145696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EED15E2-7CF4-7F95-F314-002FDBF6BA5A}"/>
              </a:ext>
            </a:extLst>
          </p:cNvPr>
          <p:cNvSpPr txBox="1"/>
          <p:nvPr/>
        </p:nvSpPr>
        <p:spPr>
          <a:xfrm>
            <a:off x="3455062" y="4112191"/>
            <a:ext cx="976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64-bit </a:t>
            </a:r>
            <a:r>
              <a:rPr lang="ko-KR" altLang="en-US" sz="1200" dirty="0"/>
              <a:t>단위</a:t>
            </a:r>
            <a:endParaRPr lang="en-US" altLang="ko-KR" sz="1200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E6C12804-B806-C69E-4E3D-D9610C50ED9F}"/>
              </a:ext>
            </a:extLst>
          </p:cNvPr>
          <p:cNvSpPr/>
          <p:nvPr/>
        </p:nvSpPr>
        <p:spPr>
          <a:xfrm>
            <a:off x="3580950" y="5830077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1BC3273-C534-D5F6-ACF4-5670F53B319D}"/>
              </a:ext>
            </a:extLst>
          </p:cNvPr>
          <p:cNvCxnSpPr>
            <a:cxnSpLocks/>
            <a:stCxn id="95" idx="4"/>
          </p:cNvCxnSpPr>
          <p:nvPr/>
        </p:nvCxnSpPr>
        <p:spPr>
          <a:xfrm>
            <a:off x="3797428" y="6055538"/>
            <a:ext cx="235983" cy="394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5F19D00-70E8-3F60-1D81-820EC85C09F2}"/>
              </a:ext>
            </a:extLst>
          </p:cNvPr>
          <p:cNvSpPr txBox="1"/>
          <p:nvPr/>
        </p:nvSpPr>
        <p:spPr>
          <a:xfrm>
            <a:off x="2984149" y="6444476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BBEBC49-0C58-F6A9-F71F-0F6BF208A0A0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50E35133-0CBC-0A8E-0224-CCF77095502F}"/>
              </a:ext>
            </a:extLst>
          </p:cNvPr>
          <p:cNvGrpSpPr/>
          <p:nvPr/>
        </p:nvGrpSpPr>
        <p:grpSpPr>
          <a:xfrm>
            <a:off x="5365487" y="5116651"/>
            <a:ext cx="2221108" cy="650646"/>
            <a:chOff x="5205404" y="5012543"/>
            <a:chExt cx="2221108" cy="650646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B0F7E8A-15A6-43CB-D233-17F8E09A947F}"/>
                </a:ext>
              </a:extLst>
            </p:cNvPr>
            <p:cNvSpPr/>
            <p:nvPr/>
          </p:nvSpPr>
          <p:spPr>
            <a:xfrm>
              <a:off x="5214072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[4]</a:t>
              </a:r>
              <a:endParaRPr lang="ko-KR" altLang="en-US" sz="900" dirty="0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D1B24E00-4083-8113-3236-BC34B6474C7C}"/>
                </a:ext>
              </a:extLst>
            </p:cNvPr>
            <p:cNvSpPr/>
            <p:nvPr/>
          </p:nvSpPr>
          <p:spPr>
            <a:xfrm>
              <a:off x="5783598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[5]</a:t>
              </a:r>
              <a:endParaRPr lang="ko-KR" altLang="en-US" sz="900" dirty="0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2BD5A61D-3C1D-BE39-FAF8-3368DD26CBB7}"/>
                </a:ext>
              </a:extLst>
            </p:cNvPr>
            <p:cNvSpPr/>
            <p:nvPr/>
          </p:nvSpPr>
          <p:spPr>
            <a:xfrm>
              <a:off x="6320808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[6]</a:t>
              </a:r>
              <a:endParaRPr lang="ko-KR" altLang="en-US" sz="900" dirty="0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11C6562D-0254-9260-164C-10E55D1156CB}"/>
                </a:ext>
              </a:extLst>
            </p:cNvPr>
            <p:cNvSpPr/>
            <p:nvPr/>
          </p:nvSpPr>
          <p:spPr>
            <a:xfrm>
              <a:off x="6883984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[7]</a:t>
              </a:r>
              <a:endParaRPr lang="ko-KR" altLang="en-US" sz="900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83D54E1-602B-6E9A-CC7B-89689C1ACC8A}"/>
                </a:ext>
              </a:extLst>
            </p:cNvPr>
            <p:cNvSpPr/>
            <p:nvPr/>
          </p:nvSpPr>
          <p:spPr>
            <a:xfrm>
              <a:off x="5205404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[32]</a:t>
              </a:r>
              <a:endParaRPr lang="ko-KR" altLang="en-US" sz="900" dirty="0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ED956C32-E37B-D6BB-B0A0-E948BBCAF3A8}"/>
                </a:ext>
              </a:extLst>
            </p:cNvPr>
            <p:cNvSpPr/>
            <p:nvPr/>
          </p:nvSpPr>
          <p:spPr>
            <a:xfrm>
              <a:off x="5774930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[33]</a:t>
              </a:r>
              <a:endParaRPr lang="ko-KR" altLang="en-US" sz="900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B8BA194-4470-D3E1-6E2E-E414389838FC}"/>
                </a:ext>
              </a:extLst>
            </p:cNvPr>
            <p:cNvSpPr/>
            <p:nvPr/>
          </p:nvSpPr>
          <p:spPr>
            <a:xfrm>
              <a:off x="6312140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[34]</a:t>
              </a:r>
              <a:endParaRPr lang="ko-KR" altLang="en-US" sz="900" dirty="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248D882-43DD-563E-6AFA-996F031DD536}"/>
                </a:ext>
              </a:extLst>
            </p:cNvPr>
            <p:cNvSpPr/>
            <p:nvPr/>
          </p:nvSpPr>
          <p:spPr>
            <a:xfrm>
              <a:off x="6875316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[35]</a:t>
              </a:r>
              <a:endParaRPr lang="ko-KR" altLang="en-US" sz="9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DC715B7-824E-455A-D6A7-5EF75A7A98A2}"/>
                </a:ext>
              </a:extLst>
            </p:cNvPr>
            <p:cNvSpPr txBox="1"/>
            <p:nvPr/>
          </p:nvSpPr>
          <p:spPr>
            <a:xfrm>
              <a:off x="6094691" y="5161162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B782A31A-2578-BCCB-9E07-6563C59C4A7A}"/>
              </a:ext>
            </a:extLst>
          </p:cNvPr>
          <p:cNvCxnSpPr>
            <a:cxnSpLocks/>
          </p:cNvCxnSpPr>
          <p:nvPr/>
        </p:nvCxnSpPr>
        <p:spPr>
          <a:xfrm flipV="1">
            <a:off x="4152900" y="5414204"/>
            <a:ext cx="1122828" cy="3338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B4687A22-EC1C-2E8E-C9F0-47F2CDD60523}"/>
              </a:ext>
            </a:extLst>
          </p:cNvPr>
          <p:cNvSpPr txBox="1"/>
          <p:nvPr/>
        </p:nvSpPr>
        <p:spPr>
          <a:xfrm>
            <a:off x="4091037" y="5159030"/>
            <a:ext cx="1522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Big Endian</a:t>
            </a:r>
            <a:r>
              <a:rPr lang="ko-KR" altLang="en-US" sz="1000" dirty="0">
                <a:solidFill>
                  <a:schemeClr val="bg1"/>
                </a:solidFill>
              </a:rPr>
              <a:t>으로 변경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53A8476-86E0-5C6C-36D4-350D902CD959}"/>
              </a:ext>
            </a:extLst>
          </p:cNvPr>
          <p:cNvSpPr/>
          <p:nvPr/>
        </p:nvSpPr>
        <p:spPr>
          <a:xfrm>
            <a:off x="5362343" y="47165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B4BF4F5-46F5-F535-A1ED-DE6DA910172D}"/>
              </a:ext>
            </a:extLst>
          </p:cNvPr>
          <p:cNvSpPr/>
          <p:nvPr/>
        </p:nvSpPr>
        <p:spPr>
          <a:xfrm>
            <a:off x="5931869" y="47165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63B4A14-21F6-E4D5-AB50-9E918A341D08}"/>
              </a:ext>
            </a:extLst>
          </p:cNvPr>
          <p:cNvSpPr/>
          <p:nvPr/>
        </p:nvSpPr>
        <p:spPr>
          <a:xfrm>
            <a:off x="6469079" y="47165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5FD50EC-B7C8-5182-6D47-F51C5A5BFC02}"/>
              </a:ext>
            </a:extLst>
          </p:cNvPr>
          <p:cNvSpPr/>
          <p:nvPr/>
        </p:nvSpPr>
        <p:spPr>
          <a:xfrm>
            <a:off x="7032255" y="47165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17BEDE3-8106-7E06-B4B0-0D921B3F9548}"/>
              </a:ext>
            </a:extLst>
          </p:cNvPr>
          <p:cNvSpPr/>
          <p:nvPr/>
        </p:nvSpPr>
        <p:spPr>
          <a:xfrm>
            <a:off x="5345611" y="4604680"/>
            <a:ext cx="2320109" cy="1465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AFF4124B-7DDD-7C6E-5CA4-BEA392D7EEA3}"/>
              </a:ext>
            </a:extLst>
          </p:cNvPr>
          <p:cNvCxnSpPr>
            <a:cxnSpLocks/>
            <a:stCxn id="123" idx="0"/>
            <a:endCxn id="128" idx="2"/>
          </p:cNvCxnSpPr>
          <p:nvPr/>
        </p:nvCxnSpPr>
        <p:spPr>
          <a:xfrm flipV="1">
            <a:off x="6505666" y="4461505"/>
            <a:ext cx="1349184" cy="1431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1EC977B-A6F3-C72F-7242-CC112E928C17}"/>
              </a:ext>
            </a:extLst>
          </p:cNvPr>
          <p:cNvSpPr txBox="1"/>
          <p:nvPr/>
        </p:nvSpPr>
        <p:spPr>
          <a:xfrm>
            <a:off x="5868357" y="3999840"/>
            <a:ext cx="397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식별자 포함</a:t>
            </a:r>
            <a:r>
              <a:rPr lang="en-US" altLang="ko-KR" sz="1200" dirty="0"/>
              <a:t>, </a:t>
            </a:r>
            <a:r>
              <a:rPr lang="ko-KR" altLang="en-US" sz="1200" dirty="0"/>
              <a:t>여러 정보를 담아 데이터 패킷으로 구성</a:t>
            </a:r>
            <a:r>
              <a:rPr lang="en-US" altLang="ko-KR" sz="1200" dirty="0"/>
              <a:t>(byte </a:t>
            </a:r>
            <a:r>
              <a:rPr lang="ko-KR" altLang="en-US" sz="1200" dirty="0"/>
              <a:t>단위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728A00B-84CD-9036-9952-D174B0A2D698}"/>
              </a:ext>
            </a:extLst>
          </p:cNvPr>
          <p:cNvSpPr txBox="1"/>
          <p:nvPr/>
        </p:nvSpPr>
        <p:spPr>
          <a:xfrm>
            <a:off x="6267149" y="5760178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3F1DB2A1-8045-6690-B333-12F72D745F0A}"/>
              </a:ext>
            </a:extLst>
          </p:cNvPr>
          <p:cNvCxnSpPr>
            <a:cxnSpLocks/>
            <a:stCxn id="67" idx="3"/>
            <a:endCxn id="138" idx="1"/>
          </p:cNvCxnSpPr>
          <p:nvPr/>
        </p:nvCxnSpPr>
        <p:spPr>
          <a:xfrm>
            <a:off x="7875270" y="5301206"/>
            <a:ext cx="141985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DA976A22-31DF-6BFD-2C96-3D79819723E8}"/>
              </a:ext>
            </a:extLst>
          </p:cNvPr>
          <p:cNvSpPr/>
          <p:nvPr/>
        </p:nvSpPr>
        <p:spPr>
          <a:xfrm>
            <a:off x="9295123" y="4452124"/>
            <a:ext cx="1939743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검증키 이미 보유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C745A30-59B8-7EE3-F917-8A2285AC7F46}"/>
              </a:ext>
            </a:extLst>
          </p:cNvPr>
          <p:cNvSpPr txBox="1"/>
          <p:nvPr/>
        </p:nvSpPr>
        <p:spPr>
          <a:xfrm>
            <a:off x="7882652" y="4796329"/>
            <a:ext cx="1419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데이터</a:t>
            </a:r>
            <a:r>
              <a:rPr lang="en-US" altLang="ko-KR" sz="1200" dirty="0"/>
              <a:t> </a:t>
            </a:r>
            <a:r>
              <a:rPr lang="ko-KR" altLang="en-US" sz="1200" dirty="0"/>
              <a:t>패킷으로 전송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28417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B60B7-05E6-F8EB-5CDA-1490FC75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8D117-940E-B3AA-9EA6-0B4A33F2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300FB-015D-E9FF-2A5E-9FAD1278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3221F-E6A4-A83C-18B8-3EE3B7848E61}"/>
              </a:ext>
            </a:extLst>
          </p:cNvPr>
          <p:cNvSpPr txBox="1"/>
          <p:nvPr/>
        </p:nvSpPr>
        <p:spPr>
          <a:xfrm>
            <a:off x="390525" y="1214833"/>
            <a:ext cx="581596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검증자의 </a:t>
            </a:r>
            <a:r>
              <a:rPr lang="ko-KR" altLang="en-US" sz="1600" b="1" dirty="0" err="1"/>
              <a:t>전처리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수신한 바이트 단위 정보를 타원 곡선 점 좌표 및 스칼라로 복원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검증을 위한 사전 준비 과정</a:t>
            </a:r>
            <a:r>
              <a:rPr lang="en-US" altLang="ko-KR" sz="1400" dirty="0"/>
              <a:t>(</a:t>
            </a:r>
            <a:r>
              <a:rPr lang="ko-KR" altLang="en-US" sz="1400" dirty="0"/>
              <a:t>좌표 부정</a:t>
            </a:r>
            <a:r>
              <a:rPr lang="en-US" altLang="ko-KR" sz="1400" dirty="0"/>
              <a:t>, </a:t>
            </a:r>
            <a:r>
              <a:rPr lang="ko-KR" altLang="en-US" sz="1400" dirty="0"/>
              <a:t>공개 입력 선형 결합</a:t>
            </a:r>
            <a:r>
              <a:rPr lang="en-US" altLang="ko-KR" sz="1400" dirty="0"/>
              <a:t>, VK </a:t>
            </a:r>
            <a:r>
              <a:rPr lang="ko-KR" altLang="en-US" sz="1400" dirty="0"/>
              <a:t>키 준비 등</a:t>
            </a:r>
            <a:r>
              <a:rPr lang="en-US" altLang="ko-KR" sz="1400" dirty="0"/>
              <a:t>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48C8CB8-F19A-F355-61CC-243674A738B6}"/>
              </a:ext>
            </a:extLst>
          </p:cNvPr>
          <p:cNvSpPr/>
          <p:nvPr/>
        </p:nvSpPr>
        <p:spPr>
          <a:xfrm>
            <a:off x="390525" y="3517904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6981C8-F7D6-8C18-9698-C6FA526C06BB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A2868F-C42F-867B-DB29-941CAFAA5095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F2D0B804-460E-4032-265F-0A75B4D465A1}"/>
              </a:ext>
            </a:extLst>
          </p:cNvPr>
          <p:cNvSpPr/>
          <p:nvPr/>
        </p:nvSpPr>
        <p:spPr>
          <a:xfrm>
            <a:off x="1548546" y="4337824"/>
            <a:ext cx="9504264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8398D62-7E08-237B-C600-891238A5D500}"/>
              </a:ext>
            </a:extLst>
          </p:cNvPr>
          <p:cNvGrpSpPr/>
          <p:nvPr/>
        </p:nvGrpSpPr>
        <p:grpSpPr>
          <a:xfrm>
            <a:off x="1719317" y="4977663"/>
            <a:ext cx="2221108" cy="650646"/>
            <a:chOff x="5205404" y="5012543"/>
            <a:chExt cx="2221108" cy="65064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99D7F6A-14AF-383F-C18A-B48128BAE712}"/>
                </a:ext>
              </a:extLst>
            </p:cNvPr>
            <p:cNvSpPr/>
            <p:nvPr/>
          </p:nvSpPr>
          <p:spPr>
            <a:xfrm>
              <a:off x="5214072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[4]</a:t>
              </a:r>
              <a:endParaRPr lang="ko-KR" altLang="en-US" sz="9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834E07C-A37B-7652-51A0-AC3E82B60CAF}"/>
                </a:ext>
              </a:extLst>
            </p:cNvPr>
            <p:cNvSpPr/>
            <p:nvPr/>
          </p:nvSpPr>
          <p:spPr>
            <a:xfrm>
              <a:off x="5783598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[5]</a:t>
              </a:r>
              <a:endParaRPr lang="ko-KR" altLang="en-US" sz="9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887C05-8189-F467-AD39-0550128CCE6C}"/>
                </a:ext>
              </a:extLst>
            </p:cNvPr>
            <p:cNvSpPr/>
            <p:nvPr/>
          </p:nvSpPr>
          <p:spPr>
            <a:xfrm>
              <a:off x="6320808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[6]</a:t>
              </a:r>
              <a:endParaRPr lang="ko-KR" altLang="en-US" sz="9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1246034-7EFD-CEA6-C703-49D4E2914B06}"/>
                </a:ext>
              </a:extLst>
            </p:cNvPr>
            <p:cNvSpPr/>
            <p:nvPr/>
          </p:nvSpPr>
          <p:spPr>
            <a:xfrm>
              <a:off x="6883984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[7]</a:t>
              </a:r>
              <a:endParaRPr lang="ko-KR" altLang="en-US" sz="9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FB954D6-D9B9-8209-9610-38433C7D9372}"/>
                </a:ext>
              </a:extLst>
            </p:cNvPr>
            <p:cNvSpPr/>
            <p:nvPr/>
          </p:nvSpPr>
          <p:spPr>
            <a:xfrm>
              <a:off x="5205404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[32]</a:t>
              </a:r>
              <a:endParaRPr lang="ko-KR" altLang="en-US" sz="9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C7694F-C610-42CD-E0CC-55BD178F89B9}"/>
                </a:ext>
              </a:extLst>
            </p:cNvPr>
            <p:cNvSpPr/>
            <p:nvPr/>
          </p:nvSpPr>
          <p:spPr>
            <a:xfrm>
              <a:off x="5774930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[33]</a:t>
              </a:r>
              <a:endParaRPr lang="ko-KR" altLang="en-US" sz="9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4CF18C-816B-6391-3EFB-BD411E15A556}"/>
                </a:ext>
              </a:extLst>
            </p:cNvPr>
            <p:cNvSpPr/>
            <p:nvPr/>
          </p:nvSpPr>
          <p:spPr>
            <a:xfrm>
              <a:off x="6312140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[34]</a:t>
              </a:r>
              <a:endParaRPr lang="ko-KR" altLang="en-US" sz="9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0EACFAA-C050-B3A4-935E-9104DA2A4AC3}"/>
                </a:ext>
              </a:extLst>
            </p:cNvPr>
            <p:cNvSpPr/>
            <p:nvPr/>
          </p:nvSpPr>
          <p:spPr>
            <a:xfrm>
              <a:off x="6875316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[35]</a:t>
              </a:r>
              <a:endParaRPr lang="ko-KR" altLang="en-US" sz="9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6D0522-76AB-C14F-C1FC-5289C71D250D}"/>
                </a:ext>
              </a:extLst>
            </p:cNvPr>
            <p:cNvSpPr txBox="1"/>
            <p:nvPr/>
          </p:nvSpPr>
          <p:spPr>
            <a:xfrm>
              <a:off x="6094691" y="5161162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A74F-96FC-E679-BECF-F918C2A112AC}"/>
              </a:ext>
            </a:extLst>
          </p:cNvPr>
          <p:cNvSpPr/>
          <p:nvPr/>
        </p:nvSpPr>
        <p:spPr>
          <a:xfrm>
            <a:off x="1716173" y="457756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9EB31A-EC37-D69F-AB54-0AD4F23E15F8}"/>
              </a:ext>
            </a:extLst>
          </p:cNvPr>
          <p:cNvSpPr/>
          <p:nvPr/>
        </p:nvSpPr>
        <p:spPr>
          <a:xfrm>
            <a:off x="2285699" y="457756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B7F8FB-A872-6ACA-3C01-86C10B029CDB}"/>
              </a:ext>
            </a:extLst>
          </p:cNvPr>
          <p:cNvSpPr/>
          <p:nvPr/>
        </p:nvSpPr>
        <p:spPr>
          <a:xfrm>
            <a:off x="2822909" y="457756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5960DA-25D7-2C88-3DD8-7A58CA9F2784}"/>
              </a:ext>
            </a:extLst>
          </p:cNvPr>
          <p:cNvSpPr/>
          <p:nvPr/>
        </p:nvSpPr>
        <p:spPr>
          <a:xfrm>
            <a:off x="3386085" y="457756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02DFFF-45CD-3A1B-1F4F-5932222192DE}"/>
              </a:ext>
            </a:extLst>
          </p:cNvPr>
          <p:cNvSpPr/>
          <p:nvPr/>
        </p:nvSpPr>
        <p:spPr>
          <a:xfrm>
            <a:off x="1699441" y="4465692"/>
            <a:ext cx="2320109" cy="1465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4DB1F-955B-6290-ADE2-8550DA4F54EB}"/>
              </a:ext>
            </a:extLst>
          </p:cNvPr>
          <p:cNvSpPr txBox="1"/>
          <p:nvPr/>
        </p:nvSpPr>
        <p:spPr>
          <a:xfrm>
            <a:off x="2620979" y="5621190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8A5E245-831D-38A9-9621-6F73391ABB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019550" y="5198464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F43A50-B946-E1DE-7A99-404B1D1E1E30}"/>
              </a:ext>
            </a:extLst>
          </p:cNvPr>
          <p:cNvSpPr/>
          <p:nvPr/>
        </p:nvSpPr>
        <p:spPr>
          <a:xfrm>
            <a:off x="4750365" y="4672689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A </a:t>
            </a:r>
            <a:r>
              <a:rPr lang="ko-KR" altLang="en-US" sz="900" dirty="0"/>
              <a:t>좌표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27C96B-5F24-1EDE-5079-485761BF6F4E}"/>
              </a:ext>
            </a:extLst>
          </p:cNvPr>
          <p:cNvSpPr/>
          <p:nvPr/>
        </p:nvSpPr>
        <p:spPr>
          <a:xfrm>
            <a:off x="4750365" y="497033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B </a:t>
            </a:r>
            <a:r>
              <a:rPr lang="ko-KR" altLang="en-US" sz="900" dirty="0"/>
              <a:t>좌표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8E5996-9FEF-AB41-0D1A-4A5CBE89588B}"/>
              </a:ext>
            </a:extLst>
          </p:cNvPr>
          <p:cNvSpPr/>
          <p:nvPr/>
        </p:nvSpPr>
        <p:spPr>
          <a:xfrm>
            <a:off x="4750365" y="529189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C </a:t>
            </a:r>
            <a:r>
              <a:rPr lang="ko-KR" altLang="en-US" sz="900" dirty="0"/>
              <a:t>좌표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1854D4-105E-A774-0A7D-7AC569901AC5}"/>
              </a:ext>
            </a:extLst>
          </p:cNvPr>
          <p:cNvSpPr/>
          <p:nvPr/>
        </p:nvSpPr>
        <p:spPr>
          <a:xfrm>
            <a:off x="4750365" y="5600895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h </a:t>
            </a:r>
            <a:r>
              <a:rPr lang="ko-KR" altLang="en-US" sz="900" dirty="0"/>
              <a:t>값</a:t>
            </a:r>
            <a:r>
              <a:rPr lang="en-US" altLang="ko-KR" sz="900" dirty="0"/>
              <a:t>(scalar)</a:t>
            </a:r>
            <a:endParaRPr lang="ko-KR" altLang="en-US" sz="9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9C1ADBA-DCF2-799C-C722-D53C72FFF348}"/>
              </a:ext>
            </a:extLst>
          </p:cNvPr>
          <p:cNvCxnSpPr>
            <a:cxnSpLocks/>
          </p:cNvCxnSpPr>
          <p:nvPr/>
        </p:nvCxnSpPr>
        <p:spPr>
          <a:xfrm>
            <a:off x="6332220" y="2276194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977B4CD-7D63-342C-8CDF-A970591CBE42}"/>
              </a:ext>
            </a:extLst>
          </p:cNvPr>
          <p:cNvSpPr txBox="1"/>
          <p:nvPr/>
        </p:nvSpPr>
        <p:spPr>
          <a:xfrm>
            <a:off x="7210467" y="2120732"/>
            <a:ext cx="767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</a:t>
            </a:r>
            <a:endParaRPr lang="en-US" altLang="ko-KR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ED420E-CF10-687C-6548-52CB71368FAA}"/>
              </a:ext>
            </a:extLst>
          </p:cNvPr>
          <p:cNvSpPr txBox="1"/>
          <p:nvPr/>
        </p:nvSpPr>
        <p:spPr>
          <a:xfrm>
            <a:off x="6284376" y="4952403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396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12AB-FF56-AF60-C1BA-79F790AC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7D7204-4635-D73D-99D1-18987D57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81AE7-EB3D-B7EB-A5CE-74C9629F881E}"/>
              </a:ext>
            </a:extLst>
          </p:cNvPr>
          <p:cNvSpPr txBox="1"/>
          <p:nvPr/>
        </p:nvSpPr>
        <p:spPr>
          <a:xfrm>
            <a:off x="2936558" y="3075057"/>
            <a:ext cx="6318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002C62"/>
                </a:solidFill>
              </a:rPr>
              <a:t>Poseidon-256</a:t>
            </a:r>
          </a:p>
        </p:txBody>
      </p:sp>
    </p:spTree>
    <p:extLst>
      <p:ext uri="{BB962C8B-B14F-4D97-AF65-F5344CB8AC3E}">
        <p14:creationId xmlns:p14="http://schemas.microsoft.com/office/powerpoint/2010/main" val="324409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EE64-D1BF-139C-333F-655549E2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A9789-796E-E2CA-26CE-BD940699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89FE8-77EB-AB85-E3E9-4C3299C8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EE5E3E-B889-7571-143E-B1435BF7A9E0}"/>
                  </a:ext>
                </a:extLst>
              </p:cNvPr>
              <p:cNvSpPr txBox="1"/>
              <p:nvPr/>
            </p:nvSpPr>
            <p:spPr>
              <a:xfrm>
                <a:off x="390525" y="1579982"/>
                <a:ext cx="1141094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4-to-2 hashing</a:t>
                </a:r>
                <a:r>
                  <a:rPr lang="ko-KR" altLang="en-US" sz="1400" dirty="0"/>
                  <a:t>을 진행한다고 가정</a:t>
                </a:r>
                <a:endParaRPr lang="en-US" altLang="ko-KR" sz="1400" dirty="0"/>
              </a:p>
              <a:p>
                <a:endParaRPr lang="en-US" altLang="ko-KR" sz="1600" b="1" dirty="0"/>
              </a:p>
              <a:p>
                <a:r>
                  <a:rPr lang="ko-KR" altLang="en-US" sz="1600" b="1" dirty="0"/>
                  <a:t>직렬화</a:t>
                </a:r>
                <a:r>
                  <a:rPr lang="en-US" altLang="ko-KR" sz="1600" b="1" dirty="0"/>
                  <a:t>(Serialization)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1400" dirty="0"/>
                  <a:t>를 이용한 </a:t>
                </a:r>
                <a:r>
                  <a:rPr lang="en-US" altLang="ko-KR" sz="1400" dirty="0"/>
                  <a:t>Poseidon</a:t>
                </a:r>
                <a:r>
                  <a:rPr lang="ko-KR" altLang="en-US" sz="1400" dirty="0"/>
                  <a:t> 연산 수행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회로 내부</a:t>
                </a:r>
                <a:r>
                  <a:rPr lang="en-US" altLang="ko-KR" sz="1400" dirty="0"/>
                  <a:t>)</a:t>
                </a:r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를 공개 값으로 설정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회로 내부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EE5E3E-B889-7571-143E-B1435BF7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1579982"/>
                <a:ext cx="11410949" cy="1661993"/>
              </a:xfrm>
              <a:prstGeom prst="rect">
                <a:avLst/>
              </a:prstGeom>
              <a:blipFill>
                <a:blip r:embed="rId3"/>
                <a:stretch>
                  <a:fillRect l="-267" t="-1099" b="-29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AFA1C6-486A-6B70-10FC-2EA67D2BC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08" y="3966740"/>
            <a:ext cx="5965336" cy="233316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E72F6A8-084C-5369-87AB-911FA632606E}"/>
              </a:ext>
            </a:extLst>
          </p:cNvPr>
          <p:cNvGrpSpPr/>
          <p:nvPr/>
        </p:nvGrpSpPr>
        <p:grpSpPr>
          <a:xfrm>
            <a:off x="6399325" y="3966740"/>
            <a:ext cx="1410422" cy="576835"/>
            <a:chOff x="4866569" y="4396369"/>
            <a:chExt cx="1687842" cy="7761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C0F84F-605B-D816-19BB-F74348D4D6C9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136E77F-1D64-ADD9-7607-8512A4EB653B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9520A013-B147-9A06-DB72-4B2AB8884221}"/>
                </a:ext>
              </a:extLst>
            </p:cNvPr>
            <p:cNvCxnSpPr>
              <a:cxnSpLocks/>
              <a:stCxn id="7" idx="0"/>
              <a:endCxn id="6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4978C1AE-8FF0-87A7-0642-E78359541AEF}"/>
              </a:ext>
            </a:extLst>
          </p:cNvPr>
          <p:cNvSpPr/>
          <p:nvPr/>
        </p:nvSpPr>
        <p:spPr>
          <a:xfrm>
            <a:off x="6399325" y="4824254"/>
            <a:ext cx="231414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48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B92F-2E9D-76AB-45BC-57679DCF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DD619A7-D121-A28F-DD0B-5A2F5F4DFF5F}"/>
              </a:ext>
            </a:extLst>
          </p:cNvPr>
          <p:cNvSpPr/>
          <p:nvPr/>
        </p:nvSpPr>
        <p:spPr>
          <a:xfrm>
            <a:off x="411480" y="3456087"/>
            <a:ext cx="11243310" cy="32525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D4D628-1CF9-B59F-39FF-D1AA4CD8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FA078-1AA8-8100-A385-43249E3B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6189" y="6333096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16432F-E63E-30A4-AF28-C4DDEB9B2481}"/>
              </a:ext>
            </a:extLst>
          </p:cNvPr>
          <p:cNvSpPr/>
          <p:nvPr/>
        </p:nvSpPr>
        <p:spPr>
          <a:xfrm>
            <a:off x="537210" y="4240530"/>
            <a:ext cx="4530090" cy="18971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0EFB9-A13C-E046-A511-69DF40A52A4C}"/>
              </a:ext>
            </a:extLst>
          </p:cNvPr>
          <p:cNvSpPr txBox="1"/>
          <p:nvPr/>
        </p:nvSpPr>
        <p:spPr>
          <a:xfrm>
            <a:off x="2076225" y="4297963"/>
            <a:ext cx="1452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영지식</a:t>
            </a:r>
            <a:r>
              <a:rPr lang="ko-KR" altLang="en-US" sz="1200" dirty="0"/>
              <a:t> 증명 회로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49057-D2F7-67F4-1890-E6990C0A253E}"/>
              </a:ext>
            </a:extLst>
          </p:cNvPr>
          <p:cNvSpPr txBox="1"/>
          <p:nvPr/>
        </p:nvSpPr>
        <p:spPr>
          <a:xfrm>
            <a:off x="5328786" y="3456088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F518EC-D7EC-1EC5-ED76-B118D6A0A22A}"/>
              </a:ext>
            </a:extLst>
          </p:cNvPr>
          <p:cNvSpPr/>
          <p:nvPr/>
        </p:nvSpPr>
        <p:spPr>
          <a:xfrm>
            <a:off x="5966530" y="4428935"/>
            <a:ext cx="5552940" cy="2085329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911129-E402-0387-D05F-3BCA1E838654}"/>
              </a:ext>
            </a:extLst>
          </p:cNvPr>
          <p:cNvSpPr/>
          <p:nvPr/>
        </p:nvSpPr>
        <p:spPr>
          <a:xfrm>
            <a:off x="5067300" y="3796928"/>
            <a:ext cx="672152" cy="34309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/>
              <a:t>RAM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E7CA837-047C-8B01-76FB-283DAD6E6AB7}"/>
              </a:ext>
            </a:extLst>
          </p:cNvPr>
          <p:cNvCxnSpPr>
            <a:cxnSpLocks/>
            <a:stCxn id="56" idx="6"/>
            <a:endCxn id="9" idx="2"/>
          </p:cNvCxnSpPr>
          <p:nvPr/>
        </p:nvCxnSpPr>
        <p:spPr>
          <a:xfrm flipV="1">
            <a:off x="4011723" y="4140020"/>
            <a:ext cx="1391653" cy="78219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FFFC5E9-E66F-5A7C-5D49-3870CD7F7CA8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739452" y="3968474"/>
            <a:ext cx="227078" cy="15031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350819-A9BA-0533-3C66-DBEDFC56CCBD}"/>
                  </a:ext>
                </a:extLst>
              </p:cNvPr>
              <p:cNvSpPr txBox="1"/>
              <p:nvPr/>
            </p:nvSpPr>
            <p:spPr>
              <a:xfrm>
                <a:off x="4172940" y="4942251"/>
                <a:ext cx="14439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  <a:p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zero-padding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256-bit </a:t>
                </a:r>
                <a:r>
                  <a:rPr lang="ko-KR" altLang="en-US" sz="1200" dirty="0"/>
                  <a:t>단위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Uint64 data[4]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350819-A9BA-0533-3C66-DBEDFC56C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940" y="4942251"/>
                <a:ext cx="1443990" cy="1015663"/>
              </a:xfrm>
              <a:prstGeom prst="rect">
                <a:avLst/>
              </a:prstGeom>
              <a:blipFill>
                <a:blip r:embed="rId3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83EBEB-09D4-6AE9-3F16-D1A6C10425C0}"/>
                  </a:ext>
                </a:extLst>
              </p:cNvPr>
              <p:cNvSpPr txBox="1"/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A2C604-9B80-8E4B-CC6A-6F61B170E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blipFill>
                <a:blip r:embed="rId5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3C8E6E-0A39-6C4D-7C7E-330BE4A0E201}"/>
              </a:ext>
            </a:extLst>
          </p:cNvPr>
          <p:cNvSpPr/>
          <p:nvPr/>
        </p:nvSpPr>
        <p:spPr>
          <a:xfrm>
            <a:off x="6273298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data1[0]</a:t>
            </a:r>
            <a:endParaRPr lang="ko-KR" altLang="en-US" sz="9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CC2951-9890-3BF8-D494-9859BE43032A}"/>
              </a:ext>
            </a:extLst>
          </p:cNvPr>
          <p:cNvSpPr/>
          <p:nvPr/>
        </p:nvSpPr>
        <p:spPr>
          <a:xfrm>
            <a:off x="6836474" y="4881998"/>
            <a:ext cx="569920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data1[1]</a:t>
            </a:r>
            <a:endParaRPr lang="ko-KR" altLang="en-US" sz="9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2F9877-8B2A-B6EB-4E70-3B1F262C8738}"/>
              </a:ext>
            </a:extLst>
          </p:cNvPr>
          <p:cNvSpPr/>
          <p:nvPr/>
        </p:nvSpPr>
        <p:spPr>
          <a:xfrm>
            <a:off x="7386384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data1[2]</a:t>
            </a:r>
            <a:endParaRPr lang="ko-KR" altLang="en-US" sz="9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82F459-1407-BF10-BAEC-9EDF4E1939D9}"/>
              </a:ext>
            </a:extLst>
          </p:cNvPr>
          <p:cNvSpPr/>
          <p:nvPr/>
        </p:nvSpPr>
        <p:spPr>
          <a:xfrm>
            <a:off x="7949559" y="4881998"/>
            <a:ext cx="592253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data1[3]</a:t>
            </a:r>
            <a:endParaRPr lang="ko-KR" altLang="en-US"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D8D24D-95F3-44CD-1F4C-DE0C859865C7}"/>
                  </a:ext>
                </a:extLst>
              </p:cNvPr>
              <p:cNvSpPr txBox="1"/>
              <p:nvPr/>
            </p:nvSpPr>
            <p:spPr>
              <a:xfrm>
                <a:off x="5806180" y="4057167"/>
                <a:ext cx="672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D8D24D-95F3-44CD-1F4C-DE0C85986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180" y="4057167"/>
                <a:ext cx="67222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CE5BA3F3-0D1A-5877-D7ED-A75E56DFB437}"/>
              </a:ext>
            </a:extLst>
          </p:cNvPr>
          <p:cNvSpPr txBox="1"/>
          <p:nvPr/>
        </p:nvSpPr>
        <p:spPr>
          <a:xfrm>
            <a:off x="7504654" y="5750140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80ACC19-75E9-8062-17D0-BAAF8DF93951}"/>
              </a:ext>
            </a:extLst>
          </p:cNvPr>
          <p:cNvSpPr/>
          <p:nvPr/>
        </p:nvSpPr>
        <p:spPr>
          <a:xfrm>
            <a:off x="7991852" y="488233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292A1E6-B084-C5BD-0E36-E95A62E8A67C}"/>
              </a:ext>
            </a:extLst>
          </p:cNvPr>
          <p:cNvCxnSpPr>
            <a:cxnSpLocks/>
            <a:stCxn id="49" idx="0"/>
            <a:endCxn id="58" idx="2"/>
          </p:cNvCxnSpPr>
          <p:nvPr/>
        </p:nvCxnSpPr>
        <p:spPr>
          <a:xfrm flipH="1" flipV="1">
            <a:off x="7770350" y="4327074"/>
            <a:ext cx="437980" cy="5552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D1F5F93-A3AC-7F6D-D583-064C7943CD18}"/>
              </a:ext>
            </a:extLst>
          </p:cNvPr>
          <p:cNvSpPr txBox="1"/>
          <p:nvPr/>
        </p:nvSpPr>
        <p:spPr>
          <a:xfrm>
            <a:off x="6883681" y="4050075"/>
            <a:ext cx="1773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64-bit </a:t>
            </a:r>
            <a:r>
              <a:rPr lang="ko-KR" altLang="en-US" sz="1200" dirty="0"/>
              <a:t>단위</a:t>
            </a:r>
            <a:r>
              <a:rPr lang="en-US" altLang="ko-KR" sz="1200" dirty="0"/>
              <a:t>(little endian)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7BCD23-CAD0-0AB6-EEA0-F5436D5283C8}"/>
              </a:ext>
            </a:extLst>
          </p:cNvPr>
          <p:cNvSpPr/>
          <p:nvPr/>
        </p:nvSpPr>
        <p:spPr>
          <a:xfrm>
            <a:off x="8634760" y="5324069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buf_h1[28]</a:t>
            </a:r>
            <a:endParaRPr lang="ko-KR" altLang="en-US" sz="9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643820-6B58-F4A7-4CAB-BB9FB73891FF}"/>
              </a:ext>
            </a:extLst>
          </p:cNvPr>
          <p:cNvSpPr/>
          <p:nvPr/>
        </p:nvSpPr>
        <p:spPr>
          <a:xfrm>
            <a:off x="9336184" y="5324069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buf_h1[29]</a:t>
            </a:r>
            <a:endParaRPr lang="ko-KR" altLang="en-US" sz="9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A088EE-A7E9-592E-2F32-B5D13A9C2950}"/>
              </a:ext>
            </a:extLst>
          </p:cNvPr>
          <p:cNvSpPr/>
          <p:nvPr/>
        </p:nvSpPr>
        <p:spPr>
          <a:xfrm>
            <a:off x="10071543" y="5324069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buf_h1[30]</a:t>
            </a:r>
            <a:endParaRPr lang="ko-KR" alt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0781CF-6EF0-512B-A563-679F2885B643}"/>
              </a:ext>
            </a:extLst>
          </p:cNvPr>
          <p:cNvSpPr txBox="1"/>
          <p:nvPr/>
        </p:nvSpPr>
        <p:spPr>
          <a:xfrm>
            <a:off x="9726692" y="5036756"/>
            <a:ext cx="522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B45391-14D4-8DE0-C1C4-CE8CBAD0A375}"/>
              </a:ext>
            </a:extLst>
          </p:cNvPr>
          <p:cNvSpPr txBox="1"/>
          <p:nvPr/>
        </p:nvSpPr>
        <p:spPr>
          <a:xfrm>
            <a:off x="9227617" y="4123804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68782C1-F080-56F5-A7A5-C58404C8D3A2}"/>
              </a:ext>
            </a:extLst>
          </p:cNvPr>
          <p:cNvCxnSpPr>
            <a:cxnSpLocks/>
            <a:stCxn id="107" idx="0"/>
            <a:endCxn id="37" idx="2"/>
          </p:cNvCxnSpPr>
          <p:nvPr/>
        </p:nvCxnSpPr>
        <p:spPr>
          <a:xfrm flipV="1">
            <a:off x="9022845" y="4400803"/>
            <a:ext cx="646909" cy="4624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0171E83-2740-D46A-19E4-FF2488D6C9B0}"/>
              </a:ext>
            </a:extLst>
          </p:cNvPr>
          <p:cNvCxnSpPr>
            <a:cxnSpLocks/>
            <a:stCxn id="110" idx="0"/>
          </p:cNvCxnSpPr>
          <p:nvPr/>
        </p:nvCxnSpPr>
        <p:spPr>
          <a:xfrm flipH="1" flipV="1">
            <a:off x="10498471" y="4064364"/>
            <a:ext cx="631823" cy="12520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9D7FE3E-7A8B-DA85-D24A-159517FDE487}"/>
              </a:ext>
            </a:extLst>
          </p:cNvPr>
          <p:cNvSpPr txBox="1"/>
          <p:nvPr/>
        </p:nvSpPr>
        <p:spPr>
          <a:xfrm>
            <a:off x="9527326" y="3771364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DA1820-7244-DE3F-5603-DA03161BAC0E}"/>
              </a:ext>
            </a:extLst>
          </p:cNvPr>
          <p:cNvSpPr txBox="1"/>
          <p:nvPr/>
        </p:nvSpPr>
        <p:spPr>
          <a:xfrm>
            <a:off x="381219" y="963097"/>
            <a:ext cx="74847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증명 생성 </a:t>
            </a:r>
            <a:r>
              <a:rPr lang="en-US" altLang="ko-KR" sz="1400" dirty="0"/>
              <a:t>: </a:t>
            </a:r>
            <a:r>
              <a:rPr lang="ko-KR" altLang="en-US" sz="1400" dirty="0"/>
              <a:t>모든 </a:t>
            </a:r>
            <a:r>
              <a:rPr lang="en-US" altLang="ko-KR" sz="1400" dirty="0"/>
              <a:t>witness </a:t>
            </a:r>
            <a:r>
              <a:rPr lang="ko-KR" altLang="en-US" sz="1400" dirty="0"/>
              <a:t>값과 </a:t>
            </a:r>
            <a:r>
              <a:rPr lang="en-US" altLang="ko-KR" sz="1400" dirty="0"/>
              <a:t>proving key</a:t>
            </a:r>
            <a:r>
              <a:rPr lang="ko-KR" altLang="en-US" sz="1400" dirty="0"/>
              <a:t>를 사용하여 증명 생성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Field Element </a:t>
            </a:r>
            <a:r>
              <a:rPr lang="ko-KR" altLang="en-US" sz="1400" dirty="0"/>
              <a:t>→ 메모리</a:t>
            </a:r>
            <a:r>
              <a:rPr lang="en-US" altLang="ko-KR" sz="1400" dirty="0"/>
              <a:t> </a:t>
            </a:r>
            <a:r>
              <a:rPr lang="ko-KR" altLang="en-US" sz="1400" dirty="0"/>
              <a:t>상의 숫자로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회로 외부</a:t>
            </a:r>
            <a:r>
              <a:rPr lang="en-US" altLang="ko-KR" sz="1400" dirty="0"/>
              <a:t>) </a:t>
            </a:r>
            <a:r>
              <a:rPr lang="en-US" altLang="ko-KR" sz="1400" b="1" dirty="0">
                <a:solidFill>
                  <a:srgbClr val="FF0000"/>
                </a:solidFill>
              </a:rPr>
              <a:t>→ uint64 data[4]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Endian </a:t>
            </a:r>
            <a:r>
              <a:rPr lang="ko-KR" altLang="en-US" sz="1400" dirty="0"/>
              <a:t>변환</a:t>
            </a:r>
            <a:r>
              <a:rPr lang="en-US" altLang="ko-KR" sz="1400" dirty="0"/>
              <a:t>(</a:t>
            </a:r>
            <a:r>
              <a:rPr lang="ko-KR" altLang="en-US" sz="1400" dirty="0"/>
              <a:t>일반적으로 </a:t>
            </a:r>
            <a:r>
              <a:rPr lang="en-US" altLang="ko-KR" sz="1400" dirty="0"/>
              <a:t>Little Endian </a:t>
            </a:r>
            <a:r>
              <a:rPr lang="ko-KR" altLang="en-US" sz="1400" dirty="0"/>
              <a:t>사용</a:t>
            </a:r>
            <a:r>
              <a:rPr lang="en-US" altLang="ko-KR" sz="1400" dirty="0"/>
              <a:t>) </a:t>
            </a:r>
            <a:r>
              <a:rPr lang="ko-KR" altLang="en-US" sz="1400" dirty="0"/>
              <a:t>및 </a:t>
            </a:r>
            <a:r>
              <a:rPr lang="en-US" altLang="ko-KR" sz="1400" dirty="0"/>
              <a:t>Buffer </a:t>
            </a:r>
            <a:r>
              <a:rPr lang="ko-KR" altLang="en-US" sz="1400" dirty="0"/>
              <a:t>할당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Data</a:t>
            </a:r>
            <a:r>
              <a:rPr lang="ko-KR" altLang="en-US" sz="1400" dirty="0"/>
              <a:t> </a:t>
            </a:r>
            <a:r>
              <a:rPr lang="en-US" altLang="ko-KR" sz="1400" dirty="0"/>
              <a:t>Filling,</a:t>
            </a:r>
            <a:r>
              <a:rPr lang="ko-KR" altLang="en-US" sz="1400" dirty="0"/>
              <a:t> </a:t>
            </a:r>
            <a:r>
              <a:rPr lang="en-US" altLang="ko-KR" sz="1400" dirty="0"/>
              <a:t>0-padding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</p:txBody>
      </p:sp>
      <p:pic>
        <p:nvPicPr>
          <p:cNvPr id="13" name="그림 12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FEDBE4-A509-DDEB-2810-62337C0FBB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30" y="4641787"/>
            <a:ext cx="3355064" cy="1312234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5DF5ADBB-C466-7BB5-F56E-510F87E11C52}"/>
              </a:ext>
            </a:extLst>
          </p:cNvPr>
          <p:cNvGrpSpPr/>
          <p:nvPr/>
        </p:nvGrpSpPr>
        <p:grpSpPr>
          <a:xfrm>
            <a:off x="3780309" y="4458110"/>
            <a:ext cx="1410422" cy="576835"/>
            <a:chOff x="4866569" y="4396369"/>
            <a:chExt cx="1687842" cy="77619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F4DF6D0-15C6-CA9E-C1F2-EB775DBFD1C1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E1D0D76-71B8-7B90-B57E-E54499980912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6580D715-6A94-B9B3-3DB5-9C8417A4B53A}"/>
                </a:ext>
              </a:extLst>
            </p:cNvPr>
            <p:cNvCxnSpPr>
              <a:cxnSpLocks/>
              <a:stCxn id="56" idx="0"/>
              <a:endCxn id="54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1A3655-0E5A-CD26-6CEB-F86FA6ACEE0D}"/>
                  </a:ext>
                </a:extLst>
              </p:cNvPr>
              <p:cNvSpPr txBox="1"/>
              <p:nvPr/>
            </p:nvSpPr>
            <p:spPr>
              <a:xfrm>
                <a:off x="5937600" y="5194796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1A3655-0E5A-CD26-6CEB-F86FA6ACE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00" y="5194796"/>
                <a:ext cx="505271" cy="246221"/>
              </a:xfrm>
              <a:prstGeom prst="rect">
                <a:avLst/>
              </a:prstGeom>
              <a:blipFill>
                <a:blip r:embed="rId8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직사각형 44">
            <a:extLst>
              <a:ext uri="{FF2B5EF4-FFF2-40B4-BE49-F238E27FC236}">
                <a16:creationId xmlns:a16="http://schemas.microsoft.com/office/drawing/2014/main" id="{339E8710-9E86-261F-F9D3-08BE1C0001A2}"/>
              </a:ext>
            </a:extLst>
          </p:cNvPr>
          <p:cNvSpPr/>
          <p:nvPr/>
        </p:nvSpPr>
        <p:spPr>
          <a:xfrm>
            <a:off x="6273298" y="521055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data2[0]</a:t>
            </a:r>
            <a:endParaRPr lang="ko-KR" altLang="en-US" sz="9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14A5AAE-838B-BFDF-3A7A-36A82BFE48F2}"/>
              </a:ext>
            </a:extLst>
          </p:cNvPr>
          <p:cNvSpPr/>
          <p:nvPr/>
        </p:nvSpPr>
        <p:spPr>
          <a:xfrm>
            <a:off x="6836474" y="5210550"/>
            <a:ext cx="569920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data2[1]</a:t>
            </a:r>
            <a:endParaRPr lang="ko-KR" altLang="en-US" sz="9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1F7D7A2-B9DE-C8B6-B6AC-E553DEEE8C5A}"/>
              </a:ext>
            </a:extLst>
          </p:cNvPr>
          <p:cNvSpPr/>
          <p:nvPr/>
        </p:nvSpPr>
        <p:spPr>
          <a:xfrm>
            <a:off x="7386384" y="521055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data2[2]</a:t>
            </a:r>
            <a:endParaRPr lang="ko-KR" altLang="en-US" sz="9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DF9B72F-8187-D02B-0783-E21D908E40FF}"/>
              </a:ext>
            </a:extLst>
          </p:cNvPr>
          <p:cNvSpPr/>
          <p:nvPr/>
        </p:nvSpPr>
        <p:spPr>
          <a:xfrm>
            <a:off x="7949559" y="5210550"/>
            <a:ext cx="592253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data2[3]</a:t>
            </a:r>
            <a:endParaRPr lang="ko-KR" altLang="en-US" sz="900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0E05ACD-6A9F-D605-87C6-691C9FC77FE3}"/>
              </a:ext>
            </a:extLst>
          </p:cNvPr>
          <p:cNvSpPr/>
          <p:nvPr/>
        </p:nvSpPr>
        <p:spPr>
          <a:xfrm>
            <a:off x="7991852" y="5210891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14D8F6-BB44-4C92-4191-E5FF878AE3B9}"/>
              </a:ext>
            </a:extLst>
          </p:cNvPr>
          <p:cNvSpPr txBox="1"/>
          <p:nvPr/>
        </p:nvSpPr>
        <p:spPr>
          <a:xfrm>
            <a:off x="9726692" y="5767670"/>
            <a:ext cx="522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F5AD4A85-D4B9-5D86-B329-2D8B2A9D66D2}"/>
              </a:ext>
            </a:extLst>
          </p:cNvPr>
          <p:cNvCxnSpPr>
            <a:cxnSpLocks/>
          </p:cNvCxnSpPr>
          <p:nvPr/>
        </p:nvCxnSpPr>
        <p:spPr>
          <a:xfrm>
            <a:off x="7386384" y="5524097"/>
            <a:ext cx="1177623" cy="12149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47F8CB5-7BAD-7B61-8A55-15D0F348CBC4}"/>
              </a:ext>
            </a:extLst>
          </p:cNvPr>
          <p:cNvSpPr/>
          <p:nvPr/>
        </p:nvSpPr>
        <p:spPr>
          <a:xfrm>
            <a:off x="8638687" y="4873996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buf_h1[0]</a:t>
            </a:r>
            <a:endParaRPr lang="ko-KR" altLang="en-US" sz="9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82D6915-BE3E-5A59-1A66-636DA3954F23}"/>
              </a:ext>
            </a:extLst>
          </p:cNvPr>
          <p:cNvSpPr/>
          <p:nvPr/>
        </p:nvSpPr>
        <p:spPr>
          <a:xfrm>
            <a:off x="9340111" y="4873996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buf_h1[1]</a:t>
            </a:r>
            <a:endParaRPr lang="ko-KR" altLang="en-US" sz="900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5BCB10D1-79FC-D608-FE59-EFA99640E847}"/>
              </a:ext>
            </a:extLst>
          </p:cNvPr>
          <p:cNvSpPr/>
          <p:nvPr/>
        </p:nvSpPr>
        <p:spPr>
          <a:xfrm>
            <a:off x="8764028" y="4863249"/>
            <a:ext cx="517633" cy="230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41BF283-6B30-6889-AD97-6E097EBFB28E}"/>
              </a:ext>
            </a:extLst>
          </p:cNvPr>
          <p:cNvSpPr/>
          <p:nvPr/>
        </p:nvSpPr>
        <p:spPr>
          <a:xfrm>
            <a:off x="8638687" y="5611857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4B90B8C-F8EE-E7D2-6414-F35F8A90A8C7}"/>
              </a:ext>
            </a:extLst>
          </p:cNvPr>
          <p:cNvSpPr/>
          <p:nvPr/>
        </p:nvSpPr>
        <p:spPr>
          <a:xfrm>
            <a:off x="9340111" y="5611857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buf_h2[1]</a:t>
            </a:r>
            <a:endParaRPr lang="ko-KR" altLang="en-US" sz="9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253EACE8-7BD7-0E85-6C7C-2E9DD9676314}"/>
              </a:ext>
            </a:extLst>
          </p:cNvPr>
          <p:cNvSpPr/>
          <p:nvPr/>
        </p:nvSpPr>
        <p:spPr>
          <a:xfrm>
            <a:off x="10075470" y="5611857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008B8C6-700D-9EA8-5CF6-1C16A3178E38}"/>
              </a:ext>
            </a:extLst>
          </p:cNvPr>
          <p:cNvSpPr/>
          <p:nvPr/>
        </p:nvSpPr>
        <p:spPr>
          <a:xfrm>
            <a:off x="8634760" y="6070226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buf_h2[28]</a:t>
            </a:r>
            <a:endParaRPr lang="ko-KR" altLang="en-US" sz="900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3BC96B5A-8CC4-5672-54A4-BDD69FAF1576}"/>
              </a:ext>
            </a:extLst>
          </p:cNvPr>
          <p:cNvSpPr/>
          <p:nvPr/>
        </p:nvSpPr>
        <p:spPr>
          <a:xfrm>
            <a:off x="9336184" y="6070226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buf_h2[29]</a:t>
            </a:r>
            <a:endParaRPr lang="ko-KR" altLang="en-US" sz="9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F768BC3-1CC5-980B-29D5-3CFF98DD7725}"/>
              </a:ext>
            </a:extLst>
          </p:cNvPr>
          <p:cNvSpPr/>
          <p:nvPr/>
        </p:nvSpPr>
        <p:spPr>
          <a:xfrm>
            <a:off x="10071543" y="6070226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buf_h2[30]</a:t>
            </a:r>
            <a:endParaRPr lang="ko-KR" altLang="en-US" sz="9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2C207986-AC7F-9EC4-B934-8BE4C3531F7A}"/>
              </a:ext>
            </a:extLst>
          </p:cNvPr>
          <p:cNvSpPr/>
          <p:nvPr/>
        </p:nvSpPr>
        <p:spPr>
          <a:xfrm>
            <a:off x="10762325" y="6070226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buf_h2[31]</a:t>
            </a:r>
            <a:endParaRPr lang="ko-KR" altLang="en-US" sz="900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F2524FDE-78DE-28F7-9044-09AF3A24AEE6}"/>
              </a:ext>
            </a:extLst>
          </p:cNvPr>
          <p:cNvSpPr/>
          <p:nvPr/>
        </p:nvSpPr>
        <p:spPr>
          <a:xfrm>
            <a:off x="10786626" y="6064728"/>
            <a:ext cx="657541" cy="230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BB35054E-B39C-4AB8-DBDE-C39F78D7E21B}"/>
              </a:ext>
            </a:extLst>
          </p:cNvPr>
          <p:cNvCxnSpPr>
            <a:cxnSpLocks/>
            <a:stCxn id="122" idx="0"/>
            <a:endCxn id="65" idx="2"/>
          </p:cNvCxnSpPr>
          <p:nvPr/>
        </p:nvCxnSpPr>
        <p:spPr>
          <a:xfrm flipH="1" flipV="1">
            <a:off x="10461518" y="4048363"/>
            <a:ext cx="653879" cy="20163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B78BF09-B462-55D2-E160-FB70826C8495}"/>
              </a:ext>
            </a:extLst>
          </p:cNvPr>
          <p:cNvSpPr/>
          <p:nvPr/>
        </p:nvSpPr>
        <p:spPr>
          <a:xfrm>
            <a:off x="10766252" y="5611857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09B1AD-B152-17F3-E190-BD9020425A84}"/>
              </a:ext>
            </a:extLst>
          </p:cNvPr>
          <p:cNvSpPr/>
          <p:nvPr/>
        </p:nvSpPr>
        <p:spPr>
          <a:xfrm>
            <a:off x="10762325" y="5324069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buf_h1[31]</a:t>
            </a:r>
            <a:endParaRPr lang="ko-KR" altLang="en-US" sz="9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3AE2FF-7063-25D8-229A-D361E3ACBD08}"/>
              </a:ext>
            </a:extLst>
          </p:cNvPr>
          <p:cNvSpPr/>
          <p:nvPr/>
        </p:nvSpPr>
        <p:spPr>
          <a:xfrm>
            <a:off x="10766252" y="4873996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buf_h1[3]</a:t>
            </a:r>
            <a:endParaRPr lang="ko-KR" altLang="en-US" sz="9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026F02F-4AD9-1345-3148-21B8D9503890}"/>
              </a:ext>
            </a:extLst>
          </p:cNvPr>
          <p:cNvSpPr/>
          <p:nvPr/>
        </p:nvSpPr>
        <p:spPr>
          <a:xfrm>
            <a:off x="10075470" y="4873996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buf_h1[2]</a:t>
            </a:r>
            <a:endParaRPr lang="ko-KR" altLang="en-US" sz="900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A69CFC3-DE8D-6F0E-2EFB-D357F1989860}"/>
              </a:ext>
            </a:extLst>
          </p:cNvPr>
          <p:cNvSpPr/>
          <p:nvPr/>
        </p:nvSpPr>
        <p:spPr>
          <a:xfrm>
            <a:off x="10801523" y="5316437"/>
            <a:ext cx="657541" cy="230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B11AAA25-D104-5021-F999-268A236DF2CD}"/>
              </a:ext>
            </a:extLst>
          </p:cNvPr>
          <p:cNvSpPr/>
          <p:nvPr/>
        </p:nvSpPr>
        <p:spPr>
          <a:xfrm>
            <a:off x="3785874" y="5073174"/>
            <a:ext cx="231414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2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00-708B-E6D1-EED9-8D08D35A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6465D-A887-6FD0-DBAA-09D83351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40C1D2-2AEA-8DBD-95A4-7D292485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08AE3C-B634-217E-5210-64FD633E8AC3}"/>
              </a:ext>
            </a:extLst>
          </p:cNvPr>
          <p:cNvSpPr txBox="1"/>
          <p:nvPr/>
        </p:nvSpPr>
        <p:spPr>
          <a:xfrm>
            <a:off x="390525" y="997663"/>
            <a:ext cx="107994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</a:p>
          <a:p>
            <a:endParaRPr lang="en-US" altLang="ko-KR" sz="1400" dirty="0"/>
          </a:p>
          <a:p>
            <a:pPr marL="342900" indent="-342900">
              <a:buAutoNum type="arabicPeriod" startAt="7"/>
            </a:pPr>
            <a:r>
              <a:rPr lang="en-US" altLang="ko-KR" sz="1400" dirty="0"/>
              <a:t>ABI Encoding : </a:t>
            </a: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[0]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[3] : </a:t>
            </a:r>
            <a:r>
              <a:rPr lang="ko-KR" altLang="en-US" sz="1400" dirty="0"/>
              <a:t>함수 </a:t>
            </a:r>
            <a:r>
              <a:rPr lang="en-US" altLang="ko-KR" sz="1400" dirty="0"/>
              <a:t>Indicator</a:t>
            </a:r>
            <a:r>
              <a:rPr lang="ko-KR" altLang="en-US" sz="1400" dirty="0"/>
              <a:t>의 </a:t>
            </a:r>
            <a:r>
              <a:rPr lang="en-US" altLang="ko-KR" sz="1400" dirty="0"/>
              <a:t>4-byte </a:t>
            </a:r>
            <a:r>
              <a:rPr lang="ko-KR" altLang="en-US" sz="1400" dirty="0"/>
              <a:t>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저장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[4]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[35] : buf_h2[32]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변경</a:t>
            </a:r>
            <a:r>
              <a:rPr lang="en-US" altLang="ko-KR" sz="1400" dirty="0"/>
              <a:t>(Poseidon hash </a:t>
            </a:r>
            <a:r>
              <a:rPr lang="ko-KR" altLang="en-US" sz="1400" dirty="0"/>
              <a:t>결과값 </a:t>
            </a:r>
            <a:r>
              <a:rPr lang="en-US" altLang="ko-KR" sz="1400" dirty="0"/>
              <a:t>h1)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[36]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[67] : buf_h2[32]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변경</a:t>
            </a:r>
            <a:r>
              <a:rPr lang="en-US" altLang="ko-KR" sz="1400" dirty="0"/>
              <a:t>(Poseidon hash </a:t>
            </a:r>
            <a:r>
              <a:rPr lang="ko-KR" altLang="en-US" sz="1400" dirty="0"/>
              <a:t>결과값 </a:t>
            </a:r>
            <a:r>
              <a:rPr lang="en-US" altLang="ko-KR" sz="1400" dirty="0"/>
              <a:t>h2)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이 외의 정보 </a:t>
            </a:r>
            <a:r>
              <a:rPr lang="en-US" altLang="ko-KR" sz="1400" dirty="0"/>
              <a:t>: proving</a:t>
            </a:r>
            <a:r>
              <a:rPr lang="ko-KR" altLang="en-US" sz="1400" dirty="0"/>
              <a:t> </a:t>
            </a:r>
            <a:r>
              <a:rPr lang="en-US" altLang="ko-KR" sz="1400" dirty="0"/>
              <a:t>key</a:t>
            </a:r>
            <a:r>
              <a:rPr lang="ko-KR" altLang="en-US" sz="1400" dirty="0"/>
              <a:t> 기반으로 생성된 </a:t>
            </a:r>
            <a:r>
              <a:rPr lang="en-US" altLang="ko-KR" sz="1400" dirty="0"/>
              <a:t>3</a:t>
            </a:r>
            <a:r>
              <a:rPr lang="ko-KR" altLang="en-US" sz="1400" dirty="0"/>
              <a:t>개의 타원곡선 점 좌표 정보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수식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600" b="1" dirty="0"/>
              <a:t>전송</a:t>
            </a:r>
            <a:r>
              <a:rPr lang="en-US" altLang="ko-KR" sz="1400" b="1" dirty="0"/>
              <a:t>(Transmission)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400" dirty="0"/>
              <a:t>증명자가 검증자에게 데이터 패킷 전송</a:t>
            </a:r>
            <a:endParaRPr lang="en-US" altLang="ko-KR" sz="14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EC0A520-2C03-DAF5-9BB6-5191FC25736E}"/>
              </a:ext>
            </a:extLst>
          </p:cNvPr>
          <p:cNvSpPr/>
          <p:nvPr/>
        </p:nvSpPr>
        <p:spPr>
          <a:xfrm>
            <a:off x="390525" y="3517903"/>
            <a:ext cx="10984230" cy="31636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525918-7954-32D4-603E-011EF5D2E8AA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62F303D-C02F-1FC6-EF71-E3023C333D61}"/>
              </a:ext>
            </a:extLst>
          </p:cNvPr>
          <p:cNvSpPr/>
          <p:nvPr/>
        </p:nvSpPr>
        <p:spPr>
          <a:xfrm>
            <a:off x="1304925" y="4240676"/>
            <a:ext cx="6570345" cy="2266391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B95AD9F-9B2D-9CC8-A406-C4F0CDAF356C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397BD8-B83B-E6D5-CBDA-3D3F770533C7}"/>
              </a:ext>
            </a:extLst>
          </p:cNvPr>
          <p:cNvSpPr/>
          <p:nvPr/>
        </p:nvSpPr>
        <p:spPr>
          <a:xfrm>
            <a:off x="5374155" y="485947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[4]</a:t>
            </a:r>
            <a:endParaRPr lang="ko-KR" altLang="en-US" sz="900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782CF97-18C1-0F1A-662D-64FD14A1F240}"/>
              </a:ext>
            </a:extLst>
          </p:cNvPr>
          <p:cNvSpPr/>
          <p:nvPr/>
        </p:nvSpPr>
        <p:spPr>
          <a:xfrm>
            <a:off x="5943681" y="485947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[5]</a:t>
            </a:r>
            <a:endParaRPr lang="ko-KR" altLang="en-US" sz="900" dirty="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5EDA34A-5185-8435-761D-3C5AFBE2E4F1}"/>
              </a:ext>
            </a:extLst>
          </p:cNvPr>
          <p:cNvSpPr/>
          <p:nvPr/>
        </p:nvSpPr>
        <p:spPr>
          <a:xfrm>
            <a:off x="6480891" y="485947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[6]</a:t>
            </a:r>
            <a:endParaRPr lang="ko-KR" altLang="en-US" sz="900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A74C86F-71BE-1A57-46A2-26BFB7EE7021}"/>
              </a:ext>
            </a:extLst>
          </p:cNvPr>
          <p:cNvSpPr/>
          <p:nvPr/>
        </p:nvSpPr>
        <p:spPr>
          <a:xfrm>
            <a:off x="7044067" y="485947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[7]</a:t>
            </a:r>
            <a:endParaRPr lang="ko-KR" altLang="en-US" sz="9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50CF505-425B-1385-549C-D7403ED21396}"/>
              </a:ext>
            </a:extLst>
          </p:cNvPr>
          <p:cNvSpPr/>
          <p:nvPr/>
        </p:nvSpPr>
        <p:spPr>
          <a:xfrm>
            <a:off x="5365487" y="529540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[32]</a:t>
            </a:r>
            <a:endParaRPr lang="ko-KR" altLang="en-US" sz="9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6558501F-23F9-5756-69E7-37CCDF24F94E}"/>
              </a:ext>
            </a:extLst>
          </p:cNvPr>
          <p:cNvSpPr/>
          <p:nvPr/>
        </p:nvSpPr>
        <p:spPr>
          <a:xfrm>
            <a:off x="5935013" y="529540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[33]</a:t>
            </a:r>
            <a:endParaRPr lang="ko-KR" altLang="en-US" sz="9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C0A4E03-DD5C-7748-122D-8DAB9E6DC492}"/>
              </a:ext>
            </a:extLst>
          </p:cNvPr>
          <p:cNvSpPr/>
          <p:nvPr/>
        </p:nvSpPr>
        <p:spPr>
          <a:xfrm>
            <a:off x="6472223" y="529540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[34]</a:t>
            </a:r>
            <a:endParaRPr lang="ko-KR" altLang="en-US" sz="900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F8A98BD-D285-9393-878F-C73EBA85D8E2}"/>
              </a:ext>
            </a:extLst>
          </p:cNvPr>
          <p:cNvSpPr/>
          <p:nvPr/>
        </p:nvSpPr>
        <p:spPr>
          <a:xfrm>
            <a:off x="7035399" y="529540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[35]</a:t>
            </a:r>
            <a:endParaRPr lang="ko-KR" altLang="en-US" sz="9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0B84B09-8DCE-E407-A4E2-27582B4203ED}"/>
              </a:ext>
            </a:extLst>
          </p:cNvPr>
          <p:cNvSpPr txBox="1"/>
          <p:nvPr/>
        </p:nvSpPr>
        <p:spPr>
          <a:xfrm>
            <a:off x="6254774" y="5008095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5B36892C-9290-813C-62EE-0BEA0C58780C}"/>
              </a:ext>
            </a:extLst>
          </p:cNvPr>
          <p:cNvCxnSpPr>
            <a:cxnSpLocks/>
          </p:cNvCxnSpPr>
          <p:nvPr/>
        </p:nvCxnSpPr>
        <p:spPr>
          <a:xfrm flipV="1">
            <a:off x="4313356" y="5414204"/>
            <a:ext cx="962372" cy="27699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72E4C9D-5463-BAD1-5CC9-E2F0CC81B7D3}"/>
              </a:ext>
            </a:extLst>
          </p:cNvPr>
          <p:cNvSpPr txBox="1"/>
          <p:nvPr/>
        </p:nvSpPr>
        <p:spPr>
          <a:xfrm>
            <a:off x="4375351" y="5710718"/>
            <a:ext cx="8357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Big Endian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4834335-9BD1-153A-AE43-3EAAF0472AA5}"/>
              </a:ext>
            </a:extLst>
          </p:cNvPr>
          <p:cNvSpPr/>
          <p:nvPr/>
        </p:nvSpPr>
        <p:spPr>
          <a:xfrm>
            <a:off x="5362343" y="44117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8DB30E3-06C7-AE61-19D1-FE92663B4793}"/>
              </a:ext>
            </a:extLst>
          </p:cNvPr>
          <p:cNvSpPr/>
          <p:nvPr/>
        </p:nvSpPr>
        <p:spPr>
          <a:xfrm>
            <a:off x="5931869" y="44117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74C1B1E-4B6B-A759-D2BD-41C1D01DB098}"/>
              </a:ext>
            </a:extLst>
          </p:cNvPr>
          <p:cNvSpPr/>
          <p:nvPr/>
        </p:nvSpPr>
        <p:spPr>
          <a:xfrm>
            <a:off x="6469079" y="44117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81ACB8BF-4B61-0B28-4B34-F1E45DE7F462}"/>
              </a:ext>
            </a:extLst>
          </p:cNvPr>
          <p:cNvSpPr/>
          <p:nvPr/>
        </p:nvSpPr>
        <p:spPr>
          <a:xfrm>
            <a:off x="7032255" y="44117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ECD56B5-30B8-2C44-AB3C-60F4CA838846}"/>
              </a:ext>
            </a:extLst>
          </p:cNvPr>
          <p:cNvSpPr/>
          <p:nvPr/>
        </p:nvSpPr>
        <p:spPr>
          <a:xfrm>
            <a:off x="5317036" y="4318930"/>
            <a:ext cx="2320109" cy="4314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E98938BA-81BA-939F-832A-AC18DB7CED54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6477091" y="3814848"/>
            <a:ext cx="515908" cy="504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C76ED376-35C6-8742-CA1A-2E8A1FF07C21}"/>
              </a:ext>
            </a:extLst>
          </p:cNvPr>
          <p:cNvSpPr txBox="1"/>
          <p:nvPr/>
        </p:nvSpPr>
        <p:spPr>
          <a:xfrm>
            <a:off x="6992999" y="3582078"/>
            <a:ext cx="397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식별자 포함</a:t>
            </a:r>
            <a:r>
              <a:rPr lang="en-US" altLang="ko-KR" sz="1200" dirty="0"/>
              <a:t>, </a:t>
            </a:r>
            <a:r>
              <a:rPr lang="ko-KR" altLang="en-US" sz="1200" dirty="0"/>
              <a:t>여러 정보를 담아 데이터 패킷으로 구성</a:t>
            </a:r>
            <a:r>
              <a:rPr lang="en-US" altLang="ko-KR" sz="1200" dirty="0"/>
              <a:t>(byte </a:t>
            </a:r>
            <a:r>
              <a:rPr lang="ko-KR" altLang="en-US" sz="1200" dirty="0"/>
              <a:t>단위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D6D88A0-BC95-8707-D127-F91939159AAA}"/>
              </a:ext>
            </a:extLst>
          </p:cNvPr>
          <p:cNvSpPr txBox="1"/>
          <p:nvPr/>
        </p:nvSpPr>
        <p:spPr>
          <a:xfrm>
            <a:off x="6267149" y="5760178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4B27C23-C0A5-3160-B8C7-45C499AD146A}"/>
              </a:ext>
            </a:extLst>
          </p:cNvPr>
          <p:cNvCxnSpPr>
            <a:cxnSpLocks/>
          </p:cNvCxnSpPr>
          <p:nvPr/>
        </p:nvCxnSpPr>
        <p:spPr>
          <a:xfrm>
            <a:off x="7875270" y="5116697"/>
            <a:ext cx="141985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725B841-A8AA-8AC1-4EC7-6B18D385974B}"/>
              </a:ext>
            </a:extLst>
          </p:cNvPr>
          <p:cNvSpPr/>
          <p:nvPr/>
        </p:nvSpPr>
        <p:spPr>
          <a:xfrm>
            <a:off x="9295123" y="4240676"/>
            <a:ext cx="1939743" cy="2266391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검증키 이미 보유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9433CF9-4F04-6CDE-E30F-1F4041961F98}"/>
              </a:ext>
            </a:extLst>
          </p:cNvPr>
          <p:cNvSpPr txBox="1"/>
          <p:nvPr/>
        </p:nvSpPr>
        <p:spPr>
          <a:xfrm>
            <a:off x="7875270" y="4605622"/>
            <a:ext cx="1419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데이터</a:t>
            </a:r>
            <a:r>
              <a:rPr lang="en-US" altLang="ko-KR" sz="1200" dirty="0"/>
              <a:t> </a:t>
            </a:r>
            <a:r>
              <a:rPr lang="ko-KR" altLang="en-US" sz="1200" dirty="0"/>
              <a:t>패킷으로 전송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B4C846-E381-E946-44D3-1DE3BC6A1260}"/>
              </a:ext>
            </a:extLst>
          </p:cNvPr>
          <p:cNvSpPr/>
          <p:nvPr/>
        </p:nvSpPr>
        <p:spPr>
          <a:xfrm>
            <a:off x="5317036" y="4813638"/>
            <a:ext cx="2320109" cy="14728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BD3FA9-C61F-7359-FF77-21265E3F09AC}"/>
              </a:ext>
            </a:extLst>
          </p:cNvPr>
          <p:cNvSpPr/>
          <p:nvPr/>
        </p:nvSpPr>
        <p:spPr>
          <a:xfrm>
            <a:off x="1406748" y="5100951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buf_h1[28]</a:t>
            </a:r>
            <a:endParaRPr lang="ko-KR" altLang="en-US" sz="9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B04D9D-0756-113C-B648-648EA044B983}"/>
              </a:ext>
            </a:extLst>
          </p:cNvPr>
          <p:cNvSpPr/>
          <p:nvPr/>
        </p:nvSpPr>
        <p:spPr>
          <a:xfrm>
            <a:off x="2108172" y="5100951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buf_h1[29]</a:t>
            </a:r>
            <a:endParaRPr lang="ko-KR" altLang="en-US" sz="9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A62D5B-ED8F-DBEB-BA5F-08C3DFF9EC47}"/>
              </a:ext>
            </a:extLst>
          </p:cNvPr>
          <p:cNvSpPr/>
          <p:nvPr/>
        </p:nvSpPr>
        <p:spPr>
          <a:xfrm>
            <a:off x="2843531" y="5100951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buf_h1[30]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F9478-E73F-4A0A-2F98-BD61BA58256D}"/>
              </a:ext>
            </a:extLst>
          </p:cNvPr>
          <p:cNvSpPr txBox="1"/>
          <p:nvPr/>
        </p:nvSpPr>
        <p:spPr>
          <a:xfrm>
            <a:off x="2498680" y="4813638"/>
            <a:ext cx="522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E0D16-4DC0-E56B-42B0-86FAA0AE135C}"/>
              </a:ext>
            </a:extLst>
          </p:cNvPr>
          <p:cNvSpPr txBox="1"/>
          <p:nvPr/>
        </p:nvSpPr>
        <p:spPr>
          <a:xfrm>
            <a:off x="2498680" y="5544552"/>
            <a:ext cx="522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B3C627-4599-5689-E7A7-70F140BF7C16}"/>
              </a:ext>
            </a:extLst>
          </p:cNvPr>
          <p:cNvSpPr/>
          <p:nvPr/>
        </p:nvSpPr>
        <p:spPr>
          <a:xfrm>
            <a:off x="1410675" y="4650878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buf_h1[0]</a:t>
            </a:r>
            <a:endParaRPr lang="ko-KR" altLang="en-US" sz="9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EB6E74-D4B3-7293-B6D1-895C2C17A72C}"/>
              </a:ext>
            </a:extLst>
          </p:cNvPr>
          <p:cNvSpPr/>
          <p:nvPr/>
        </p:nvSpPr>
        <p:spPr>
          <a:xfrm>
            <a:off x="2112099" y="4650878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buf_h1[1]</a:t>
            </a:r>
            <a:endParaRPr lang="ko-KR" altLang="en-US" sz="9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81B541-0459-E023-46E3-ED9D7D3E56E6}"/>
              </a:ext>
            </a:extLst>
          </p:cNvPr>
          <p:cNvSpPr/>
          <p:nvPr/>
        </p:nvSpPr>
        <p:spPr>
          <a:xfrm>
            <a:off x="5350889" y="4843260"/>
            <a:ext cx="517633" cy="230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01845B-73E5-A254-1673-49F660B8D568}"/>
              </a:ext>
            </a:extLst>
          </p:cNvPr>
          <p:cNvSpPr/>
          <p:nvPr/>
        </p:nvSpPr>
        <p:spPr>
          <a:xfrm>
            <a:off x="1410675" y="5388739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439DC9-2A5B-2E5F-710C-0864A821CA1F}"/>
              </a:ext>
            </a:extLst>
          </p:cNvPr>
          <p:cNvSpPr/>
          <p:nvPr/>
        </p:nvSpPr>
        <p:spPr>
          <a:xfrm>
            <a:off x="2112099" y="5388739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buf_h2[1]</a:t>
            </a:r>
            <a:endParaRPr lang="ko-KR" altLang="en-US" sz="9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8D9A2E-776A-40CD-525E-1ED3F6972FDB}"/>
              </a:ext>
            </a:extLst>
          </p:cNvPr>
          <p:cNvSpPr/>
          <p:nvPr/>
        </p:nvSpPr>
        <p:spPr>
          <a:xfrm>
            <a:off x="2847458" y="5388739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4CE6AA-750A-BEFE-3B8F-EA0504C3C538}"/>
              </a:ext>
            </a:extLst>
          </p:cNvPr>
          <p:cNvSpPr/>
          <p:nvPr/>
        </p:nvSpPr>
        <p:spPr>
          <a:xfrm>
            <a:off x="1406748" y="5847108"/>
            <a:ext cx="70663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buf_h2[28]</a:t>
            </a:r>
            <a:endParaRPr lang="ko-KR" altLang="en-US" sz="9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94508C-CC0F-A130-9554-140211E98991}"/>
              </a:ext>
            </a:extLst>
          </p:cNvPr>
          <p:cNvSpPr/>
          <p:nvPr/>
        </p:nvSpPr>
        <p:spPr>
          <a:xfrm>
            <a:off x="2108172" y="5847108"/>
            <a:ext cx="74525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buf_h2[29]</a:t>
            </a:r>
            <a:endParaRPr lang="ko-KR" altLang="en-US" sz="9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1192A6-3D94-8428-3431-7C5972687094}"/>
              </a:ext>
            </a:extLst>
          </p:cNvPr>
          <p:cNvSpPr/>
          <p:nvPr/>
        </p:nvSpPr>
        <p:spPr>
          <a:xfrm>
            <a:off x="2843531" y="5847108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buf_h2[30]</a:t>
            </a:r>
            <a:endParaRPr lang="ko-KR" altLang="en-US" sz="9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1F3AD9-05D9-A99C-9961-969EF5A112BA}"/>
              </a:ext>
            </a:extLst>
          </p:cNvPr>
          <p:cNvSpPr/>
          <p:nvPr/>
        </p:nvSpPr>
        <p:spPr>
          <a:xfrm>
            <a:off x="3534313" y="5847108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buf_h2[31]</a:t>
            </a:r>
            <a:endParaRPr lang="ko-KR" altLang="en-US" sz="9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AAAE505-DFBC-3673-7FF2-1DB6ADF45910}"/>
              </a:ext>
            </a:extLst>
          </p:cNvPr>
          <p:cNvSpPr/>
          <p:nvPr/>
        </p:nvSpPr>
        <p:spPr>
          <a:xfrm>
            <a:off x="6150919" y="6294251"/>
            <a:ext cx="584126" cy="218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A1F621-5054-DD96-16DE-B1409CE9C9F8}"/>
              </a:ext>
            </a:extLst>
          </p:cNvPr>
          <p:cNvSpPr/>
          <p:nvPr/>
        </p:nvSpPr>
        <p:spPr>
          <a:xfrm>
            <a:off x="3538240" y="5388739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buf_h2[0]</a:t>
            </a:r>
            <a:endParaRPr lang="ko-KR" altLang="en-US" sz="9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DF3DB2-A677-78CE-0090-524EB5BAB737}"/>
              </a:ext>
            </a:extLst>
          </p:cNvPr>
          <p:cNvSpPr/>
          <p:nvPr/>
        </p:nvSpPr>
        <p:spPr>
          <a:xfrm>
            <a:off x="3534313" y="5100951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buf_h1[31]</a:t>
            </a:r>
            <a:endParaRPr lang="ko-KR" altLang="en-US" sz="9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32A729-9313-3090-A97C-24C4F42A2425}"/>
              </a:ext>
            </a:extLst>
          </p:cNvPr>
          <p:cNvSpPr/>
          <p:nvPr/>
        </p:nvSpPr>
        <p:spPr>
          <a:xfrm>
            <a:off x="3538240" y="4650878"/>
            <a:ext cx="726665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buf_h1[3]</a:t>
            </a:r>
            <a:endParaRPr lang="ko-KR" altLang="en-US" sz="9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62FD31-EE39-8717-FEEB-CA6F4451F300}"/>
              </a:ext>
            </a:extLst>
          </p:cNvPr>
          <p:cNvSpPr/>
          <p:nvPr/>
        </p:nvSpPr>
        <p:spPr>
          <a:xfrm>
            <a:off x="2847458" y="4650878"/>
            <a:ext cx="706634" cy="219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buf_h1[2]</a:t>
            </a:r>
            <a:endParaRPr lang="ko-KR" altLang="en-US" sz="9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CB68AC-CAB2-7BB0-130C-8658A235C020}"/>
              </a:ext>
            </a:extLst>
          </p:cNvPr>
          <p:cNvSpPr/>
          <p:nvPr/>
        </p:nvSpPr>
        <p:spPr>
          <a:xfrm>
            <a:off x="5362343" y="599589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[64]</a:t>
            </a:r>
            <a:endParaRPr lang="ko-KR" altLang="en-US" sz="9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4459472-0474-E8F1-DC7C-ECF52E596545}"/>
              </a:ext>
            </a:extLst>
          </p:cNvPr>
          <p:cNvSpPr/>
          <p:nvPr/>
        </p:nvSpPr>
        <p:spPr>
          <a:xfrm>
            <a:off x="5931869" y="599589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[65]</a:t>
            </a:r>
            <a:endParaRPr lang="ko-KR" alt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74B0F9E-E959-D280-C11B-7A03B6904DC2}"/>
              </a:ext>
            </a:extLst>
          </p:cNvPr>
          <p:cNvSpPr/>
          <p:nvPr/>
        </p:nvSpPr>
        <p:spPr>
          <a:xfrm>
            <a:off x="6469079" y="599589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[66]</a:t>
            </a:r>
            <a:endParaRPr lang="ko-KR" altLang="en-US" sz="9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05F56AF-40C6-3840-4AEA-17D892EDD773}"/>
              </a:ext>
            </a:extLst>
          </p:cNvPr>
          <p:cNvSpPr/>
          <p:nvPr/>
        </p:nvSpPr>
        <p:spPr>
          <a:xfrm>
            <a:off x="7032255" y="599589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[67]</a:t>
            </a:r>
            <a:endParaRPr lang="ko-KR" altLang="en-US" sz="9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6201BD-5541-FF6D-FD0F-0C44C86374E2}"/>
              </a:ext>
            </a:extLst>
          </p:cNvPr>
          <p:cNvSpPr txBox="1"/>
          <p:nvPr/>
        </p:nvSpPr>
        <p:spPr>
          <a:xfrm>
            <a:off x="6264005" y="6203486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6CD8547-8A99-80DA-A65F-FFAFBC38001B}"/>
              </a:ext>
            </a:extLst>
          </p:cNvPr>
          <p:cNvCxnSpPr>
            <a:cxnSpLocks/>
            <a:stCxn id="22" idx="6"/>
          </p:cNvCxnSpPr>
          <p:nvPr/>
        </p:nvCxnSpPr>
        <p:spPr>
          <a:xfrm flipV="1">
            <a:off x="6735045" y="6286499"/>
            <a:ext cx="1370377" cy="1167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445EBE7-CC25-F902-A62D-6D85E12B245C}"/>
              </a:ext>
            </a:extLst>
          </p:cNvPr>
          <p:cNvSpPr txBox="1"/>
          <p:nvPr/>
        </p:nvSpPr>
        <p:spPr>
          <a:xfrm>
            <a:off x="8079743" y="6144952"/>
            <a:ext cx="1419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좌표 정보 등</a:t>
            </a:r>
            <a:endParaRPr lang="en-US" altLang="ko-KR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B684218-C890-C12F-35BD-E27F6A464C3E}"/>
              </a:ext>
            </a:extLst>
          </p:cNvPr>
          <p:cNvSpPr/>
          <p:nvPr/>
        </p:nvSpPr>
        <p:spPr>
          <a:xfrm>
            <a:off x="5362343" y="5572987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[36]</a:t>
            </a:r>
            <a:endParaRPr lang="ko-KR" altLang="en-US" sz="9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5A6B1C0-2E9F-4CC4-B901-6E2441F097AC}"/>
              </a:ext>
            </a:extLst>
          </p:cNvPr>
          <p:cNvSpPr/>
          <p:nvPr/>
        </p:nvSpPr>
        <p:spPr>
          <a:xfrm>
            <a:off x="5931869" y="5572987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[37]</a:t>
            </a:r>
            <a:endParaRPr lang="ko-KR" altLang="en-US" sz="9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6382131-D9A9-FA6B-CD64-5189ED126DCC}"/>
              </a:ext>
            </a:extLst>
          </p:cNvPr>
          <p:cNvSpPr/>
          <p:nvPr/>
        </p:nvSpPr>
        <p:spPr>
          <a:xfrm>
            <a:off x="6469079" y="5572987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[38]</a:t>
            </a:r>
            <a:endParaRPr lang="ko-KR" altLang="en-US" sz="9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EA690-EA42-38D2-8525-124686BF129D}"/>
              </a:ext>
            </a:extLst>
          </p:cNvPr>
          <p:cNvSpPr/>
          <p:nvPr/>
        </p:nvSpPr>
        <p:spPr>
          <a:xfrm>
            <a:off x="7032255" y="5572987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[39]</a:t>
            </a:r>
            <a:endParaRPr lang="ko-KR" altLang="en-US" sz="9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417CA4B-164D-4303-BAA0-52BB450B1C02}"/>
              </a:ext>
            </a:extLst>
          </p:cNvPr>
          <p:cNvSpPr/>
          <p:nvPr/>
        </p:nvSpPr>
        <p:spPr>
          <a:xfrm>
            <a:off x="5324170" y="5567722"/>
            <a:ext cx="657541" cy="230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067EA79-8BB4-8BA2-5002-6929101AE555}"/>
              </a:ext>
            </a:extLst>
          </p:cNvPr>
          <p:cNvCxnSpPr>
            <a:cxnSpLocks/>
          </p:cNvCxnSpPr>
          <p:nvPr/>
        </p:nvCxnSpPr>
        <p:spPr>
          <a:xfrm flipH="1">
            <a:off x="4808613" y="4953909"/>
            <a:ext cx="542276" cy="129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7E4229D-1737-1C4D-1F4A-740C58DD9D5A}"/>
              </a:ext>
            </a:extLst>
          </p:cNvPr>
          <p:cNvCxnSpPr>
            <a:cxnSpLocks/>
          </p:cNvCxnSpPr>
          <p:nvPr/>
        </p:nvCxnSpPr>
        <p:spPr>
          <a:xfrm flipH="1" flipV="1">
            <a:off x="4846218" y="4987996"/>
            <a:ext cx="647374" cy="5758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628A017-0241-00D0-EE9E-E24FE89015C0}"/>
              </a:ext>
            </a:extLst>
          </p:cNvPr>
          <p:cNvSpPr txBox="1"/>
          <p:nvPr/>
        </p:nvSpPr>
        <p:spPr>
          <a:xfrm>
            <a:off x="4249613" y="4564889"/>
            <a:ext cx="1038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2-bit</a:t>
            </a:r>
          </a:p>
          <a:p>
            <a:r>
              <a:rPr lang="en-US" altLang="ko-KR" sz="1000" dirty="0">
                <a:solidFill>
                  <a:schemeClr val="bg1"/>
                </a:solidFill>
              </a:rPr>
              <a:t>Zero-padding</a:t>
            </a:r>
          </a:p>
        </p:txBody>
      </p:sp>
    </p:spTree>
    <p:extLst>
      <p:ext uri="{BB962C8B-B14F-4D97-AF65-F5344CB8AC3E}">
        <p14:creationId xmlns:p14="http://schemas.microsoft.com/office/powerpoint/2010/main" val="215032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FA85-467A-B3FD-D3F5-341DD656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B384B-7A95-3D9B-D5DA-C6100606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1D9BA-8B35-89E5-D0D9-D96E5FA8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C97E6E-D49B-ABF2-DC9E-52EE93006C93}"/>
              </a:ext>
            </a:extLst>
          </p:cNvPr>
          <p:cNvSpPr txBox="1"/>
          <p:nvPr/>
        </p:nvSpPr>
        <p:spPr>
          <a:xfrm>
            <a:off x="390525" y="1214833"/>
            <a:ext cx="581596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검증자의 </a:t>
            </a:r>
            <a:r>
              <a:rPr lang="ko-KR" altLang="en-US" sz="1600" b="1" dirty="0" err="1"/>
              <a:t>전처리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수신한 바이트 단위 정보를 타원 곡선 점 좌표 및 스칼라로 복원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검증을 위한 사전 준비 과정</a:t>
            </a:r>
            <a:r>
              <a:rPr lang="en-US" altLang="ko-KR" sz="1400" dirty="0"/>
              <a:t>(</a:t>
            </a:r>
            <a:r>
              <a:rPr lang="ko-KR" altLang="en-US" sz="1400" dirty="0"/>
              <a:t>좌표 부정</a:t>
            </a:r>
            <a:r>
              <a:rPr lang="en-US" altLang="ko-KR" sz="1400" dirty="0"/>
              <a:t>, </a:t>
            </a:r>
            <a:r>
              <a:rPr lang="ko-KR" altLang="en-US" sz="1400" dirty="0"/>
              <a:t>공개 입력 선형 결합</a:t>
            </a:r>
            <a:r>
              <a:rPr lang="en-US" altLang="ko-KR" sz="1400" dirty="0"/>
              <a:t>, VK </a:t>
            </a:r>
            <a:r>
              <a:rPr lang="ko-KR" altLang="en-US" sz="1400" dirty="0"/>
              <a:t>키 준비 등</a:t>
            </a:r>
            <a:r>
              <a:rPr lang="en-US" altLang="ko-KR" sz="1400" dirty="0"/>
              <a:t>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0AABB11-2725-3B65-810D-8DC402EF2CBD}"/>
              </a:ext>
            </a:extLst>
          </p:cNvPr>
          <p:cNvSpPr/>
          <p:nvPr/>
        </p:nvSpPr>
        <p:spPr>
          <a:xfrm>
            <a:off x="390525" y="3517903"/>
            <a:ext cx="10984230" cy="31636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67A9BF-2FCD-2E77-4946-F9A5CAD9C7C6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3830A8A-6974-6A3B-ECAF-BA3EBC8F6C45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A615468-1C12-9125-BAB0-B8F6D78D8201}"/>
              </a:ext>
            </a:extLst>
          </p:cNvPr>
          <p:cNvSpPr/>
          <p:nvPr/>
        </p:nvSpPr>
        <p:spPr>
          <a:xfrm>
            <a:off x="1548546" y="4137799"/>
            <a:ext cx="9504264" cy="2463026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3A58AA9-EA75-935D-5736-65A5D1AD2895}"/>
              </a:ext>
            </a:extLst>
          </p:cNvPr>
          <p:cNvCxnSpPr>
            <a:cxnSpLocks/>
          </p:cNvCxnSpPr>
          <p:nvPr/>
        </p:nvCxnSpPr>
        <p:spPr>
          <a:xfrm>
            <a:off x="4019550" y="4998439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8DD10F-08DC-C517-00D1-E4B4B89E047A}"/>
              </a:ext>
            </a:extLst>
          </p:cNvPr>
          <p:cNvSpPr/>
          <p:nvPr/>
        </p:nvSpPr>
        <p:spPr>
          <a:xfrm>
            <a:off x="4750365" y="4596489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A </a:t>
            </a:r>
            <a:r>
              <a:rPr lang="ko-KR" altLang="en-US" sz="900" dirty="0"/>
              <a:t>좌표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C455A8-FCA4-D01D-2141-5D4A6A7E835A}"/>
              </a:ext>
            </a:extLst>
          </p:cNvPr>
          <p:cNvSpPr/>
          <p:nvPr/>
        </p:nvSpPr>
        <p:spPr>
          <a:xfrm>
            <a:off x="4750365" y="489413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B </a:t>
            </a:r>
            <a:r>
              <a:rPr lang="ko-KR" altLang="en-US" sz="900" dirty="0"/>
              <a:t>좌표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591D31-1C0A-28A3-2361-05C8A63BA83F}"/>
              </a:ext>
            </a:extLst>
          </p:cNvPr>
          <p:cNvSpPr/>
          <p:nvPr/>
        </p:nvSpPr>
        <p:spPr>
          <a:xfrm>
            <a:off x="4750365" y="521569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C </a:t>
            </a:r>
            <a:r>
              <a:rPr lang="ko-KR" altLang="en-US" sz="900" dirty="0"/>
              <a:t>좌표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7F39D7-DCFC-E2A4-4FE4-EBA94310DE2A}"/>
              </a:ext>
            </a:extLst>
          </p:cNvPr>
          <p:cNvSpPr/>
          <p:nvPr/>
        </p:nvSpPr>
        <p:spPr>
          <a:xfrm>
            <a:off x="4750365" y="5524695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h </a:t>
            </a:r>
            <a:r>
              <a:rPr lang="ko-KR" altLang="en-US" sz="900" dirty="0"/>
              <a:t>값</a:t>
            </a:r>
            <a:r>
              <a:rPr lang="en-US" altLang="ko-KR" sz="900" dirty="0"/>
              <a:t>(scalar)</a:t>
            </a:r>
            <a:endParaRPr lang="ko-KR" altLang="en-US" sz="9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AC3B980-4ACE-AAFC-5FFF-7C847C2DDED2}"/>
              </a:ext>
            </a:extLst>
          </p:cNvPr>
          <p:cNvCxnSpPr>
            <a:cxnSpLocks/>
          </p:cNvCxnSpPr>
          <p:nvPr/>
        </p:nvCxnSpPr>
        <p:spPr>
          <a:xfrm>
            <a:off x="6332220" y="2276194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DCB8823-1418-A700-0FC3-EC59D596CBB4}"/>
              </a:ext>
            </a:extLst>
          </p:cNvPr>
          <p:cNvSpPr txBox="1"/>
          <p:nvPr/>
        </p:nvSpPr>
        <p:spPr>
          <a:xfrm>
            <a:off x="7210467" y="2120732"/>
            <a:ext cx="767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</a:t>
            </a:r>
            <a:endParaRPr lang="en-US" altLang="ko-KR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4F0EE9-E805-EFDF-4A64-5C3CE3470BAB}"/>
              </a:ext>
            </a:extLst>
          </p:cNvPr>
          <p:cNvSpPr txBox="1"/>
          <p:nvPr/>
        </p:nvSpPr>
        <p:spPr>
          <a:xfrm>
            <a:off x="6181270" y="4815583"/>
            <a:ext cx="668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…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416796F-5E88-325F-B0AC-3FB26FCF5F41}"/>
              </a:ext>
            </a:extLst>
          </p:cNvPr>
          <p:cNvGrpSpPr/>
          <p:nvPr/>
        </p:nvGrpSpPr>
        <p:grpSpPr>
          <a:xfrm>
            <a:off x="1699441" y="4243006"/>
            <a:ext cx="2320109" cy="2193396"/>
            <a:chOff x="5317036" y="4318930"/>
            <a:chExt cx="2320109" cy="219339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1C8DD8E-CBC4-F2E2-2C0D-D2209A4194F1}"/>
                </a:ext>
              </a:extLst>
            </p:cNvPr>
            <p:cNvSpPr/>
            <p:nvPr/>
          </p:nvSpPr>
          <p:spPr>
            <a:xfrm>
              <a:off x="5374155" y="4859476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[4]</a:t>
              </a:r>
              <a:endParaRPr lang="ko-KR" altLang="en-US" sz="900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1F3DE72-2C77-DFAB-E7B3-1C103997A179}"/>
                </a:ext>
              </a:extLst>
            </p:cNvPr>
            <p:cNvSpPr/>
            <p:nvPr/>
          </p:nvSpPr>
          <p:spPr>
            <a:xfrm>
              <a:off x="5943681" y="4859476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[5]</a:t>
              </a:r>
              <a:endParaRPr lang="ko-KR" altLang="en-US" sz="9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7D89797-705A-5C8B-5392-6031DCFC5809}"/>
                </a:ext>
              </a:extLst>
            </p:cNvPr>
            <p:cNvSpPr/>
            <p:nvPr/>
          </p:nvSpPr>
          <p:spPr>
            <a:xfrm>
              <a:off x="6480891" y="4859476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[6]</a:t>
              </a:r>
              <a:endParaRPr lang="ko-KR" altLang="en-US" sz="900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5D784C0-0096-958A-8C6A-F657D2D77AB3}"/>
                </a:ext>
              </a:extLst>
            </p:cNvPr>
            <p:cNvSpPr/>
            <p:nvPr/>
          </p:nvSpPr>
          <p:spPr>
            <a:xfrm>
              <a:off x="7044067" y="4859476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[7]</a:t>
              </a:r>
              <a:endParaRPr lang="ko-KR" altLang="en-US" sz="900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8547C6B-535A-82E2-C105-2C878AFA42F2}"/>
                </a:ext>
              </a:extLst>
            </p:cNvPr>
            <p:cNvSpPr/>
            <p:nvPr/>
          </p:nvSpPr>
          <p:spPr>
            <a:xfrm>
              <a:off x="5365487" y="5295408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[32]</a:t>
              </a:r>
              <a:endParaRPr lang="ko-KR" altLang="en-US" sz="9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488D752-7464-A00B-F0FA-774FC444ABD0}"/>
                </a:ext>
              </a:extLst>
            </p:cNvPr>
            <p:cNvSpPr/>
            <p:nvPr/>
          </p:nvSpPr>
          <p:spPr>
            <a:xfrm>
              <a:off x="5935013" y="5295408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[33]</a:t>
              </a:r>
              <a:endParaRPr lang="ko-KR" altLang="en-US" sz="900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F3684CD-15F5-DDEB-6B36-1DFA38969725}"/>
                </a:ext>
              </a:extLst>
            </p:cNvPr>
            <p:cNvSpPr/>
            <p:nvPr/>
          </p:nvSpPr>
          <p:spPr>
            <a:xfrm>
              <a:off x="6472223" y="5295408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[34]</a:t>
              </a:r>
              <a:endParaRPr lang="ko-KR" altLang="en-US" sz="900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0C476A3-B4A7-50B2-F5D4-2D30BA8A63CE}"/>
                </a:ext>
              </a:extLst>
            </p:cNvPr>
            <p:cNvSpPr/>
            <p:nvPr/>
          </p:nvSpPr>
          <p:spPr>
            <a:xfrm>
              <a:off x="7035399" y="5295408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[35]</a:t>
              </a:r>
              <a:endParaRPr lang="ko-KR" altLang="en-US" sz="9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A2C642-EC5D-E8E9-A950-10FBEF42D5C6}"/>
                </a:ext>
              </a:extLst>
            </p:cNvPr>
            <p:cNvSpPr txBox="1"/>
            <p:nvPr/>
          </p:nvSpPr>
          <p:spPr>
            <a:xfrm>
              <a:off x="6254774" y="5008095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68AB916-A0DC-F56F-F9ED-C982E8C18636}"/>
                </a:ext>
              </a:extLst>
            </p:cNvPr>
            <p:cNvSpPr/>
            <p:nvPr/>
          </p:nvSpPr>
          <p:spPr>
            <a:xfrm>
              <a:off x="5362343" y="4411749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[0]</a:t>
              </a:r>
              <a:endParaRPr lang="ko-KR" altLang="en-US" sz="900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5EA7B90-E01E-2C89-E642-8A364E3DCC3B}"/>
                </a:ext>
              </a:extLst>
            </p:cNvPr>
            <p:cNvSpPr/>
            <p:nvPr/>
          </p:nvSpPr>
          <p:spPr>
            <a:xfrm>
              <a:off x="5931869" y="4411749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[1]</a:t>
              </a:r>
              <a:endParaRPr lang="ko-KR" altLang="en-US" sz="900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4E1CBD0-6BDA-D2EE-9A08-61C15A14BB36}"/>
                </a:ext>
              </a:extLst>
            </p:cNvPr>
            <p:cNvSpPr/>
            <p:nvPr/>
          </p:nvSpPr>
          <p:spPr>
            <a:xfrm>
              <a:off x="6469079" y="4411749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[2]</a:t>
              </a:r>
              <a:endParaRPr lang="ko-KR" altLang="en-US" sz="900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B32BE58-8501-58A2-E5F2-F6C4404E535F}"/>
                </a:ext>
              </a:extLst>
            </p:cNvPr>
            <p:cNvSpPr/>
            <p:nvPr/>
          </p:nvSpPr>
          <p:spPr>
            <a:xfrm>
              <a:off x="7032255" y="4411749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[3]</a:t>
              </a:r>
              <a:endParaRPr lang="ko-KR" altLang="en-US" sz="900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EE9C1EE-577D-6BF0-55FB-C0D8A124C275}"/>
                </a:ext>
              </a:extLst>
            </p:cNvPr>
            <p:cNvSpPr/>
            <p:nvPr/>
          </p:nvSpPr>
          <p:spPr>
            <a:xfrm>
              <a:off x="5317036" y="4318930"/>
              <a:ext cx="2320109" cy="4314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3456C3E-9F01-F842-1576-EC3BE35A38B4}"/>
                </a:ext>
              </a:extLst>
            </p:cNvPr>
            <p:cNvSpPr txBox="1"/>
            <p:nvPr/>
          </p:nvSpPr>
          <p:spPr>
            <a:xfrm>
              <a:off x="6267149" y="5760178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6E8331F-5FC6-FE20-E328-64D72E72CA36}"/>
                </a:ext>
              </a:extLst>
            </p:cNvPr>
            <p:cNvSpPr/>
            <p:nvPr/>
          </p:nvSpPr>
          <p:spPr>
            <a:xfrm>
              <a:off x="5317036" y="4813638"/>
              <a:ext cx="2320109" cy="14728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2AA05E8-EE3F-3089-DB4C-6173802DCA55}"/>
                </a:ext>
              </a:extLst>
            </p:cNvPr>
            <p:cNvSpPr/>
            <p:nvPr/>
          </p:nvSpPr>
          <p:spPr>
            <a:xfrm>
              <a:off x="5350889" y="4843260"/>
              <a:ext cx="517633" cy="23065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17D959AA-6E30-B149-B04C-551FDC8F4B57}"/>
                </a:ext>
              </a:extLst>
            </p:cNvPr>
            <p:cNvSpPr/>
            <p:nvPr/>
          </p:nvSpPr>
          <p:spPr>
            <a:xfrm>
              <a:off x="6150919" y="6294251"/>
              <a:ext cx="584126" cy="21807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380C153-1C44-94AB-D8B0-0DF4B2055FDC}"/>
                </a:ext>
              </a:extLst>
            </p:cNvPr>
            <p:cNvSpPr/>
            <p:nvPr/>
          </p:nvSpPr>
          <p:spPr>
            <a:xfrm>
              <a:off x="5362343" y="5995891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[64]</a:t>
              </a:r>
              <a:endParaRPr lang="ko-KR" altLang="en-US" sz="9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8239716-C31A-C1BA-8C37-D6C4D369F5A4}"/>
                </a:ext>
              </a:extLst>
            </p:cNvPr>
            <p:cNvSpPr/>
            <p:nvPr/>
          </p:nvSpPr>
          <p:spPr>
            <a:xfrm>
              <a:off x="5931869" y="5995891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[65]</a:t>
              </a:r>
              <a:endParaRPr lang="ko-KR" altLang="en-US" sz="900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6344668-5D4B-AE5D-1DA5-B18705A9E134}"/>
                </a:ext>
              </a:extLst>
            </p:cNvPr>
            <p:cNvSpPr/>
            <p:nvPr/>
          </p:nvSpPr>
          <p:spPr>
            <a:xfrm>
              <a:off x="6469079" y="5995891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[66]</a:t>
              </a:r>
              <a:endParaRPr lang="ko-KR" altLang="en-US" sz="900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736977B-BA85-7F65-4818-E3A0C06273AE}"/>
                </a:ext>
              </a:extLst>
            </p:cNvPr>
            <p:cNvSpPr/>
            <p:nvPr/>
          </p:nvSpPr>
          <p:spPr>
            <a:xfrm>
              <a:off x="7032255" y="5995891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[67]</a:t>
              </a:r>
              <a:endParaRPr lang="ko-KR" altLang="en-US" sz="9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348917C-89D4-3826-1F59-78ABAAE0EB42}"/>
                </a:ext>
              </a:extLst>
            </p:cNvPr>
            <p:cNvSpPr txBox="1"/>
            <p:nvPr/>
          </p:nvSpPr>
          <p:spPr>
            <a:xfrm>
              <a:off x="6264005" y="6203486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C3B8FCB-DE0A-33F1-9728-84E007E36CF7}"/>
                </a:ext>
              </a:extLst>
            </p:cNvPr>
            <p:cNvSpPr/>
            <p:nvPr/>
          </p:nvSpPr>
          <p:spPr>
            <a:xfrm>
              <a:off x="5362343" y="5572987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[36]</a:t>
              </a:r>
              <a:endParaRPr lang="ko-KR" altLang="en-US" sz="900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CE3F494-5CC4-DAC5-ABED-AAEC9B1E8DC5}"/>
                </a:ext>
              </a:extLst>
            </p:cNvPr>
            <p:cNvSpPr/>
            <p:nvPr/>
          </p:nvSpPr>
          <p:spPr>
            <a:xfrm>
              <a:off x="5931869" y="5572987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[37]</a:t>
              </a:r>
              <a:endParaRPr lang="ko-KR" altLang="en-US" sz="900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B5A9CF0-F1AF-10A0-ACB3-61B1B88179BC}"/>
                </a:ext>
              </a:extLst>
            </p:cNvPr>
            <p:cNvSpPr/>
            <p:nvPr/>
          </p:nvSpPr>
          <p:spPr>
            <a:xfrm>
              <a:off x="6469079" y="5572987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[38]</a:t>
              </a:r>
              <a:endParaRPr lang="ko-KR" altLang="en-US" sz="900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C8B73A1-9F8F-DE71-0C8C-162772FEB1AB}"/>
                </a:ext>
              </a:extLst>
            </p:cNvPr>
            <p:cNvSpPr/>
            <p:nvPr/>
          </p:nvSpPr>
          <p:spPr>
            <a:xfrm>
              <a:off x="7032255" y="5572987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[39]</a:t>
              </a:r>
              <a:endParaRPr lang="ko-KR" altLang="en-US" sz="900" dirty="0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4A44B0CF-4064-678E-208F-03409B45ADDE}"/>
                </a:ext>
              </a:extLst>
            </p:cNvPr>
            <p:cNvSpPr/>
            <p:nvPr/>
          </p:nvSpPr>
          <p:spPr>
            <a:xfrm>
              <a:off x="5324170" y="5567722"/>
              <a:ext cx="657541" cy="23065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364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454E-BC12-0607-EA7E-C00766F9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7C52C-CC00-9330-E90D-7E92F991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E8778-8EA1-FAAB-6753-B8B1391B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3598AE-CF7E-376A-257B-78A722B902DB}"/>
              </a:ext>
            </a:extLst>
          </p:cNvPr>
          <p:cNvSpPr txBox="1"/>
          <p:nvPr/>
        </p:nvSpPr>
        <p:spPr>
          <a:xfrm>
            <a:off x="390525" y="1214833"/>
            <a:ext cx="106622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해싱의</a:t>
            </a:r>
            <a:r>
              <a:rPr lang="ko-KR" altLang="en-US" sz="1600" b="1" dirty="0"/>
              <a:t> 결과가 </a:t>
            </a:r>
            <a:r>
              <a:rPr lang="en-US" altLang="ko-KR" sz="1600" b="1" dirty="0"/>
              <a:t>ID</a:t>
            </a:r>
            <a:r>
              <a:rPr lang="ko-KR" altLang="en-US" sz="1600" b="1" dirty="0"/>
              <a:t>로 사용되는 예시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b="1" dirty="0" err="1"/>
              <a:t>zcash</a:t>
            </a:r>
            <a:r>
              <a:rPr lang="en-US" altLang="ko-KR" sz="1400" dirty="0"/>
              <a:t>, semaphore, ERC-721/1155 NFT ID, Tornado Cash, Dusk Network </a:t>
            </a:r>
            <a:r>
              <a:rPr lang="ko-KR" altLang="en-US" sz="1400" dirty="0"/>
              <a:t>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zcash</a:t>
            </a:r>
            <a:r>
              <a:rPr lang="en-US" altLang="ko-KR" sz="1600" dirty="0"/>
              <a:t>&gt;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Zcash</a:t>
            </a:r>
            <a:r>
              <a:rPr lang="ko-KR" altLang="en-US" sz="1400" dirty="0"/>
              <a:t>는 해시함수의 결과값을 사용하여 </a:t>
            </a:r>
            <a:r>
              <a:rPr lang="en-US" altLang="ko-KR" sz="1400" dirty="0"/>
              <a:t>Nullifier</a:t>
            </a:r>
            <a:r>
              <a:rPr lang="ko-KR" altLang="en-US" sz="1400" dirty="0"/>
              <a:t>나 </a:t>
            </a:r>
            <a:r>
              <a:rPr lang="en-US" altLang="ko-KR" sz="1400" dirty="0"/>
              <a:t>Commitment Trapdoor </a:t>
            </a:r>
            <a:r>
              <a:rPr lang="ko-KR" altLang="en-US" sz="1400" dirty="0"/>
              <a:t>만듦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Nullifier</a:t>
            </a:r>
            <a:r>
              <a:rPr lang="ko-KR" altLang="en-US" sz="1400" dirty="0"/>
              <a:t>가 특정 자산이 사용되었음을 나타내는 </a:t>
            </a:r>
            <a:r>
              <a:rPr lang="en-US" altLang="ko-KR" sz="1400" dirty="0"/>
              <a:t>ID</a:t>
            </a:r>
            <a:r>
              <a:rPr lang="ko-KR" altLang="en-US" sz="1400" dirty="0"/>
              <a:t>로 작용 → </a:t>
            </a:r>
            <a:r>
              <a:rPr lang="en-US" altLang="ko-KR" sz="1400" dirty="0"/>
              <a:t>DB</a:t>
            </a:r>
            <a:r>
              <a:rPr lang="ko-KR" altLang="en-US" sz="1400" dirty="0"/>
              <a:t>에 이미 사용된 </a:t>
            </a:r>
            <a:r>
              <a:rPr lang="en-US" altLang="ko-KR" sz="1400" dirty="0"/>
              <a:t>ID</a:t>
            </a:r>
            <a:r>
              <a:rPr lang="ko-KR" altLang="en-US" sz="1400" dirty="0"/>
              <a:t>로 기록되는 것이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600" dirty="0"/>
              <a:t>동작 방식</a:t>
            </a:r>
            <a:endParaRPr lang="en-US" altLang="ko-KR" sz="16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회로 내부에서 비밀번호와 자산 정보를 </a:t>
            </a:r>
            <a:r>
              <a:rPr lang="ko-KR" altLang="en-US" sz="1400" dirty="0" err="1"/>
              <a:t>해싱한</a:t>
            </a:r>
            <a:r>
              <a:rPr lang="ko-KR" altLang="en-US" sz="1400" dirty="0"/>
              <a:t> 결과 </a:t>
            </a:r>
            <a:r>
              <a:rPr lang="en-US" altLang="ko-KR" sz="1400" dirty="0"/>
              <a:t>h </a:t>
            </a:r>
            <a:r>
              <a:rPr lang="ko-KR" altLang="en-US" sz="1400" dirty="0"/>
              <a:t>계산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</a:t>
            </a:r>
            <a:r>
              <a:rPr lang="ko-KR" altLang="en-US" sz="1400" dirty="0"/>
              <a:t>를 회로 밖으로 </a:t>
            </a:r>
            <a:r>
              <a:rPr lang="en-US" altLang="ko-KR" sz="1400" dirty="0"/>
              <a:t>export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블록체인 네트워크가 </a:t>
            </a:r>
            <a:r>
              <a:rPr lang="en-US" altLang="ko-KR" sz="1400" dirty="0"/>
              <a:t>h</a:t>
            </a:r>
            <a:r>
              <a:rPr lang="ko-KR" altLang="en-US" sz="1400" dirty="0"/>
              <a:t>를 </a:t>
            </a:r>
            <a:r>
              <a:rPr lang="en-US" altLang="ko-KR" sz="1400" dirty="0"/>
              <a:t>ID</a:t>
            </a:r>
            <a:r>
              <a:rPr lang="ko-KR" altLang="en-US" sz="1400" dirty="0"/>
              <a:t>로 저장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후에 똑같은 </a:t>
            </a:r>
            <a:r>
              <a:rPr lang="en-US" altLang="ko-KR" sz="1400" dirty="0"/>
              <a:t>h</a:t>
            </a:r>
            <a:r>
              <a:rPr lang="ko-KR" altLang="en-US" sz="1400" dirty="0"/>
              <a:t>가 제출되면 </a:t>
            </a:r>
            <a:r>
              <a:rPr lang="en-US" altLang="ko-KR" sz="1400" dirty="0"/>
              <a:t>“</a:t>
            </a:r>
            <a:r>
              <a:rPr lang="ko-KR" altLang="en-US" sz="1400" dirty="0"/>
              <a:t>사용된 </a:t>
            </a:r>
            <a:r>
              <a:rPr lang="en-US" altLang="ko-KR" sz="1400" dirty="0"/>
              <a:t>ID”</a:t>
            </a:r>
            <a:r>
              <a:rPr lang="ko-KR" altLang="en-US" sz="1400" dirty="0"/>
              <a:t>로 거절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4056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6312C-4853-1974-A0FD-80433652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DB2F0-3661-0B0C-CB82-00D5EF5E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E642D1-5101-38CE-2A4A-36D131F3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E7695-7EFC-A459-8EEC-096C48FD8A3F}"/>
              </a:ext>
            </a:extLst>
          </p:cNvPr>
          <p:cNvSpPr txBox="1"/>
          <p:nvPr/>
        </p:nvSpPr>
        <p:spPr>
          <a:xfrm>
            <a:off x="390525" y="1214833"/>
            <a:ext cx="1066228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Zcash</a:t>
            </a:r>
            <a:r>
              <a:rPr lang="en-US" altLang="ko-KR" b="1" dirty="0"/>
              <a:t> </a:t>
            </a:r>
            <a:r>
              <a:rPr lang="ko-KR" altLang="en-US" b="1" dirty="0"/>
              <a:t>예시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비밀키</a:t>
            </a:r>
            <a:r>
              <a:rPr lang="en-US" altLang="ko-KR" sz="1400" dirty="0"/>
              <a:t>, </a:t>
            </a:r>
            <a:r>
              <a:rPr lang="ko-KR" altLang="en-US" sz="1400" dirty="0"/>
              <a:t>일련번호 등을 입력으로 </a:t>
            </a:r>
            <a:r>
              <a:rPr lang="en-US" altLang="ko-KR" sz="1400" dirty="0"/>
              <a:t>Poseidon hashing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결과값 </a:t>
            </a:r>
            <a:r>
              <a:rPr lang="en-US" altLang="ko-KR" sz="1400" dirty="0"/>
              <a:t>h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공개값으로</a:t>
            </a:r>
            <a:r>
              <a:rPr lang="ko-KR" altLang="en-US" sz="1400" dirty="0"/>
              <a:t> 설정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</a:t>
            </a:r>
            <a:r>
              <a:rPr lang="ko-KR" altLang="en-US" sz="1400" dirty="0"/>
              <a:t>를 읽어 </a:t>
            </a:r>
            <a:r>
              <a:rPr lang="en-US" altLang="ko-KR" sz="1400" dirty="0"/>
              <a:t>uint64[4] </a:t>
            </a:r>
            <a:r>
              <a:rPr lang="ko-KR" altLang="en-US" sz="1400" dirty="0"/>
              <a:t>배열에 담음</a:t>
            </a:r>
            <a:r>
              <a:rPr lang="en-US" altLang="ko-KR" sz="1400" dirty="0"/>
              <a:t>(data[4])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32-byte </a:t>
            </a:r>
            <a:r>
              <a:rPr lang="ko-KR" altLang="en-US" sz="1400" dirty="0"/>
              <a:t>배열 생성 및 </a:t>
            </a:r>
            <a:r>
              <a:rPr lang="en-US" altLang="ko-KR" sz="1400" dirty="0"/>
              <a:t>data filling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0-padding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32-byte </a:t>
            </a:r>
            <a:r>
              <a:rPr lang="ko-KR" altLang="en-US" sz="1400" dirty="0"/>
              <a:t>배열</a:t>
            </a:r>
            <a:r>
              <a:rPr lang="en-US" altLang="ko-KR" sz="1400" dirty="0"/>
              <a:t>(Nullifier ID) </a:t>
            </a:r>
            <a:r>
              <a:rPr lang="ko-KR" altLang="en-US" sz="1400" dirty="0"/>
              <a:t>형태로 블록체인 트랜잭션에 포함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ID </a:t>
            </a:r>
            <a:r>
              <a:rPr lang="ko-KR" altLang="en-US" sz="1400" dirty="0"/>
              <a:t>식별 및 거절</a:t>
            </a:r>
            <a:endParaRPr lang="en-US" altLang="ko-KR" sz="14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7676FA-9A85-90B0-F750-BBD355C7AA69}"/>
              </a:ext>
            </a:extLst>
          </p:cNvPr>
          <p:cNvSpPr/>
          <p:nvPr/>
        </p:nvSpPr>
        <p:spPr>
          <a:xfrm>
            <a:off x="272152" y="3488269"/>
            <a:ext cx="10984230" cy="313901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5D0F46E-83C2-EDE6-B748-C614EC80DCF6}"/>
              </a:ext>
            </a:extLst>
          </p:cNvPr>
          <p:cNvSpPr/>
          <p:nvPr/>
        </p:nvSpPr>
        <p:spPr>
          <a:xfrm>
            <a:off x="397882" y="4321810"/>
            <a:ext cx="4530090" cy="18971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2" name="그림 51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F7FBD-E794-940B-FDFA-16AF36C2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6" y="4621298"/>
            <a:ext cx="4113381" cy="150246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53FEB58-0857-EEB9-4B45-151B74DD1B1F}"/>
              </a:ext>
            </a:extLst>
          </p:cNvPr>
          <p:cNvSpPr txBox="1"/>
          <p:nvPr/>
        </p:nvSpPr>
        <p:spPr>
          <a:xfrm>
            <a:off x="2063716" y="4352155"/>
            <a:ext cx="1452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영지식</a:t>
            </a:r>
            <a:r>
              <a:rPr lang="ko-KR" altLang="en-US" sz="1200" dirty="0"/>
              <a:t> 증명 회로</a:t>
            </a:r>
            <a:endParaRPr lang="en-US" altLang="ko-KR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ADEB70-A438-3570-5F45-A683F7D3E7F8}"/>
              </a:ext>
            </a:extLst>
          </p:cNvPr>
          <p:cNvSpPr txBox="1"/>
          <p:nvPr/>
        </p:nvSpPr>
        <p:spPr>
          <a:xfrm>
            <a:off x="5316277" y="3510280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DCDCC52-DF7D-A811-43E3-CEFE0F041061}"/>
              </a:ext>
            </a:extLst>
          </p:cNvPr>
          <p:cNvSpPr/>
          <p:nvPr/>
        </p:nvSpPr>
        <p:spPr>
          <a:xfrm>
            <a:off x="4322175" y="5237270"/>
            <a:ext cx="272402" cy="2705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91EB95F-6ED1-735C-1CF7-0007C97441EF}"/>
              </a:ext>
            </a:extLst>
          </p:cNvPr>
          <p:cNvSpPr/>
          <p:nvPr/>
        </p:nvSpPr>
        <p:spPr>
          <a:xfrm>
            <a:off x="6710915" y="4412206"/>
            <a:ext cx="2572933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1423372-09D7-F02F-4606-B8F43F57DE4B}"/>
              </a:ext>
            </a:extLst>
          </p:cNvPr>
          <p:cNvSpPr/>
          <p:nvPr/>
        </p:nvSpPr>
        <p:spPr>
          <a:xfrm>
            <a:off x="5811685" y="3780198"/>
            <a:ext cx="672152" cy="34309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/>
              <a:t>RAM</a:t>
            </a: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5F8B06A1-1B8C-543D-1F45-1D90925FA5D8}"/>
              </a:ext>
            </a:extLst>
          </p:cNvPr>
          <p:cNvCxnSpPr>
            <a:endCxn id="60" idx="2"/>
          </p:cNvCxnSpPr>
          <p:nvPr/>
        </p:nvCxnSpPr>
        <p:spPr>
          <a:xfrm flipV="1">
            <a:off x="4594577" y="4123290"/>
            <a:ext cx="1553184" cy="127061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9FB5915B-EAA9-E6F1-A308-27676935516B}"/>
              </a:ext>
            </a:extLst>
          </p:cNvPr>
          <p:cNvCxnSpPr>
            <a:cxnSpLocks/>
            <a:stCxn id="60" idx="3"/>
            <a:endCxn id="59" idx="1"/>
          </p:cNvCxnSpPr>
          <p:nvPr/>
        </p:nvCxnSpPr>
        <p:spPr>
          <a:xfrm>
            <a:off x="6483837" y="3951744"/>
            <a:ext cx="227078" cy="1309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8A7AA6C-2642-5672-499E-EDBA03F573CE}"/>
                  </a:ext>
                </a:extLst>
              </p:cNvPr>
              <p:cNvSpPr txBox="1"/>
              <p:nvPr/>
            </p:nvSpPr>
            <p:spPr>
              <a:xfrm>
                <a:off x="5215420" y="5361798"/>
                <a:ext cx="14439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  <a:p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zero-padding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256-bit </a:t>
                </a:r>
                <a:r>
                  <a:rPr lang="ko-KR" altLang="en-US" sz="1200" dirty="0"/>
                  <a:t>단위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Uint64 data[4]</a:t>
                </a: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8A7AA6C-2642-5672-499E-EDBA03F57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420" y="5361798"/>
                <a:ext cx="1443990" cy="1015663"/>
              </a:xfrm>
              <a:prstGeom prst="rect">
                <a:avLst/>
              </a:prstGeom>
              <a:blipFill>
                <a:blip r:embed="rId4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E8BEC54-39E0-C773-B584-09AB2F40CD6F}"/>
                  </a:ext>
                </a:extLst>
              </p:cNvPr>
              <p:cNvSpPr txBox="1"/>
              <p:nvPr/>
            </p:nvSpPr>
            <p:spPr>
              <a:xfrm>
                <a:off x="6681985" y="4849514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E8BEC54-39E0-C773-B584-09AB2F40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985" y="4849514"/>
                <a:ext cx="505271" cy="246221"/>
              </a:xfrm>
              <a:prstGeom prst="rect">
                <a:avLst/>
              </a:prstGeom>
              <a:blipFill>
                <a:blip r:embed="rId5"/>
                <a:stretch>
                  <a:fillRect t="-2500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직사각형 64">
            <a:extLst>
              <a:ext uri="{FF2B5EF4-FFF2-40B4-BE49-F238E27FC236}">
                <a16:creationId xmlns:a16="http://schemas.microsoft.com/office/drawing/2014/main" id="{A42564C0-FED7-63D7-32F2-B4076F2A5E93}"/>
              </a:ext>
            </a:extLst>
          </p:cNvPr>
          <p:cNvSpPr/>
          <p:nvPr/>
        </p:nvSpPr>
        <p:spPr>
          <a:xfrm>
            <a:off x="7017683" y="486526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29EF159-DE75-D6D6-F4BE-E8AFD016C75C}"/>
              </a:ext>
            </a:extLst>
          </p:cNvPr>
          <p:cNvSpPr/>
          <p:nvPr/>
        </p:nvSpPr>
        <p:spPr>
          <a:xfrm>
            <a:off x="7580859" y="486526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8251080-FC6D-7BDB-1C32-9ADD6F00B9ED}"/>
              </a:ext>
            </a:extLst>
          </p:cNvPr>
          <p:cNvSpPr/>
          <p:nvPr/>
        </p:nvSpPr>
        <p:spPr>
          <a:xfrm>
            <a:off x="8130769" y="486526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data[2]</a:t>
            </a:r>
            <a:endParaRPr lang="ko-KR" altLang="en-US" sz="9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E4B39CD-185B-64AA-0EC0-AA4A0E909936}"/>
              </a:ext>
            </a:extLst>
          </p:cNvPr>
          <p:cNvSpPr/>
          <p:nvPr/>
        </p:nvSpPr>
        <p:spPr>
          <a:xfrm>
            <a:off x="8693945" y="486526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data[3]</a:t>
            </a:r>
            <a:endParaRPr lang="ko-KR" altLang="en-US"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DD1C126-8C22-4A4F-1D59-1785760CA849}"/>
                  </a:ext>
                </a:extLst>
              </p:cNvPr>
              <p:cNvSpPr txBox="1"/>
              <p:nvPr/>
            </p:nvSpPr>
            <p:spPr>
              <a:xfrm>
                <a:off x="6550565" y="4040437"/>
                <a:ext cx="452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DD1C126-8C22-4A4F-1D59-1785760C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565" y="4040437"/>
                <a:ext cx="45223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C8FC2B8-B797-4867-303B-562FF29B209B}"/>
              </a:ext>
            </a:extLst>
          </p:cNvPr>
          <p:cNvCxnSpPr>
            <a:cxnSpLocks/>
          </p:cNvCxnSpPr>
          <p:nvPr/>
        </p:nvCxnSpPr>
        <p:spPr>
          <a:xfrm>
            <a:off x="8130769" y="5137096"/>
            <a:ext cx="0" cy="220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FBDC0A-99A0-35D3-7CEE-7FAE0E97B7D1}"/>
              </a:ext>
            </a:extLst>
          </p:cNvPr>
          <p:cNvSpPr/>
          <p:nvPr/>
        </p:nvSpPr>
        <p:spPr>
          <a:xfrm>
            <a:off x="7032701" y="537966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025D269-8017-F04B-3FC3-5846F89239AE}"/>
              </a:ext>
            </a:extLst>
          </p:cNvPr>
          <p:cNvSpPr/>
          <p:nvPr/>
        </p:nvSpPr>
        <p:spPr>
          <a:xfrm>
            <a:off x="7602227" y="537966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333D7C0-1FC8-52A2-DC1C-6601CD832C5A}"/>
              </a:ext>
            </a:extLst>
          </p:cNvPr>
          <p:cNvSpPr/>
          <p:nvPr/>
        </p:nvSpPr>
        <p:spPr>
          <a:xfrm>
            <a:off x="8139437" y="537966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1E02CE8-8E40-BC39-E1DB-8565C60E1B8E}"/>
              </a:ext>
            </a:extLst>
          </p:cNvPr>
          <p:cNvSpPr/>
          <p:nvPr/>
        </p:nvSpPr>
        <p:spPr>
          <a:xfrm>
            <a:off x="8702613" y="537966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F741427-E96F-4938-C954-3E4935E32A88}"/>
              </a:ext>
            </a:extLst>
          </p:cNvPr>
          <p:cNvSpPr/>
          <p:nvPr/>
        </p:nvSpPr>
        <p:spPr>
          <a:xfrm>
            <a:off x="7024033" y="581559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[28]</a:t>
            </a:r>
            <a:endParaRPr lang="ko-KR" altLang="en-US" sz="9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E06E96E-A9AB-8BCB-2580-4F9E53B8FFBD}"/>
              </a:ext>
            </a:extLst>
          </p:cNvPr>
          <p:cNvSpPr/>
          <p:nvPr/>
        </p:nvSpPr>
        <p:spPr>
          <a:xfrm>
            <a:off x="7593559" y="581559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[29]</a:t>
            </a:r>
            <a:endParaRPr lang="ko-KR" altLang="en-US" sz="9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E84493D-A046-B64A-8443-A38A794E8541}"/>
              </a:ext>
            </a:extLst>
          </p:cNvPr>
          <p:cNvSpPr/>
          <p:nvPr/>
        </p:nvSpPr>
        <p:spPr>
          <a:xfrm>
            <a:off x="8130769" y="581559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[30]</a:t>
            </a:r>
            <a:endParaRPr lang="ko-KR" altLang="en-US" sz="9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719BF6A-E8A1-9032-7C6B-F81DDA20FE7C}"/>
              </a:ext>
            </a:extLst>
          </p:cNvPr>
          <p:cNvSpPr/>
          <p:nvPr/>
        </p:nvSpPr>
        <p:spPr>
          <a:xfrm>
            <a:off x="8693945" y="581559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[31]</a:t>
            </a:r>
            <a:endParaRPr lang="ko-KR" altLang="en-US" sz="9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36B91A-FCD1-43D4-F203-E3F6CFE6CB67}"/>
              </a:ext>
            </a:extLst>
          </p:cNvPr>
          <p:cNvSpPr txBox="1"/>
          <p:nvPr/>
        </p:nvSpPr>
        <p:spPr>
          <a:xfrm>
            <a:off x="7913320" y="5528279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BB5861-2FEC-47A8-4F53-BA716445BC55}"/>
              </a:ext>
            </a:extLst>
          </p:cNvPr>
          <p:cNvSpPr txBox="1"/>
          <p:nvPr/>
        </p:nvSpPr>
        <p:spPr>
          <a:xfrm>
            <a:off x="8208089" y="5097504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04D45A-CF53-6EE0-1DC0-3C455A433BF7}"/>
              </a:ext>
            </a:extLst>
          </p:cNvPr>
          <p:cNvSpPr txBox="1"/>
          <p:nvPr/>
        </p:nvSpPr>
        <p:spPr>
          <a:xfrm>
            <a:off x="6492483" y="6307807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465998F-FFF5-CC55-9CC5-41CCC075C0FE}"/>
              </a:ext>
            </a:extLst>
          </p:cNvPr>
          <p:cNvSpPr/>
          <p:nvPr/>
        </p:nvSpPr>
        <p:spPr>
          <a:xfrm>
            <a:off x="7086165" y="5804845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589C9F8-85FE-2059-49E8-F6F83AEFD04D}"/>
              </a:ext>
            </a:extLst>
          </p:cNvPr>
          <p:cNvCxnSpPr>
            <a:cxnSpLocks/>
            <a:stCxn id="82" idx="4"/>
            <a:endCxn id="81" idx="0"/>
          </p:cNvCxnSpPr>
          <p:nvPr/>
        </p:nvCxnSpPr>
        <p:spPr>
          <a:xfrm flipH="1">
            <a:off x="6934620" y="6030306"/>
            <a:ext cx="368023" cy="2775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F4116C40-F6FF-77AD-1BA8-95A8B72E4CD8}"/>
              </a:ext>
            </a:extLst>
          </p:cNvPr>
          <p:cNvSpPr/>
          <p:nvPr/>
        </p:nvSpPr>
        <p:spPr>
          <a:xfrm>
            <a:off x="8736237" y="486560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2B479F0A-2D25-4A99-4DDD-86ADE2CAA91B}"/>
              </a:ext>
            </a:extLst>
          </p:cNvPr>
          <p:cNvCxnSpPr>
            <a:cxnSpLocks/>
            <a:stCxn id="84" idx="0"/>
            <a:endCxn id="86" idx="2"/>
          </p:cNvCxnSpPr>
          <p:nvPr/>
        </p:nvCxnSpPr>
        <p:spPr>
          <a:xfrm flipV="1">
            <a:off x="8952715" y="4349272"/>
            <a:ext cx="544302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BED048D-A104-5493-3550-66026C7829EF}"/>
              </a:ext>
            </a:extLst>
          </p:cNvPr>
          <p:cNvSpPr txBox="1"/>
          <p:nvPr/>
        </p:nvSpPr>
        <p:spPr>
          <a:xfrm>
            <a:off x="8610348" y="4072273"/>
            <a:ext cx="1773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64-bit </a:t>
            </a:r>
            <a:r>
              <a:rPr lang="ko-KR" altLang="en-US" sz="1200" dirty="0"/>
              <a:t>단위</a:t>
            </a:r>
            <a:r>
              <a:rPr lang="en-US" altLang="ko-KR" sz="1200" dirty="0"/>
              <a:t>(little endian)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BEE9EDA3-CB83-A4F7-13DB-857132C61B15}"/>
              </a:ext>
            </a:extLst>
          </p:cNvPr>
          <p:cNvSpPr/>
          <p:nvPr/>
        </p:nvSpPr>
        <p:spPr>
          <a:xfrm>
            <a:off x="8736237" y="579015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C557ABD-5916-D2CF-E213-E495BDD9C767}"/>
              </a:ext>
            </a:extLst>
          </p:cNvPr>
          <p:cNvCxnSpPr>
            <a:cxnSpLocks/>
            <a:stCxn id="87" idx="4"/>
          </p:cNvCxnSpPr>
          <p:nvPr/>
        </p:nvCxnSpPr>
        <p:spPr>
          <a:xfrm>
            <a:off x="8952715" y="6015620"/>
            <a:ext cx="235983" cy="394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BA876B1-B4F3-5C38-569F-4C5206FFAE49}"/>
              </a:ext>
            </a:extLst>
          </p:cNvPr>
          <p:cNvSpPr txBox="1"/>
          <p:nvPr/>
        </p:nvSpPr>
        <p:spPr>
          <a:xfrm>
            <a:off x="8139436" y="6404558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2CDDC27-2FC1-7D26-4EF0-409A2FA31AF2}"/>
              </a:ext>
            </a:extLst>
          </p:cNvPr>
          <p:cNvSpPr/>
          <p:nvPr/>
        </p:nvSpPr>
        <p:spPr>
          <a:xfrm>
            <a:off x="6970714" y="5374170"/>
            <a:ext cx="2320109" cy="736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30CEE54D-689B-BF3E-E1C3-9516DD2F603E}"/>
              </a:ext>
            </a:extLst>
          </p:cNvPr>
          <p:cNvCxnSpPr>
            <a:cxnSpLocks/>
          </p:cNvCxnSpPr>
          <p:nvPr/>
        </p:nvCxnSpPr>
        <p:spPr>
          <a:xfrm flipV="1">
            <a:off x="9267216" y="5189607"/>
            <a:ext cx="663928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D776F68-A73C-356E-16E2-73A90DE62680}"/>
              </a:ext>
            </a:extLst>
          </p:cNvPr>
          <p:cNvSpPr txBox="1"/>
          <p:nvPr/>
        </p:nvSpPr>
        <p:spPr>
          <a:xfrm>
            <a:off x="9301347" y="4919277"/>
            <a:ext cx="1962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블록체인 트랜잭션에 포함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68965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48517</TotalTime>
  <Words>2028</Words>
  <Application>Microsoft Office PowerPoint</Application>
  <PresentationFormat>와이드스크린</PresentationFormat>
  <Paragraphs>469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영지식 증명 - Poseidon</vt:lpstr>
      <vt:lpstr>영지식 증명</vt:lpstr>
      <vt:lpstr>PowerPoint 프레젠테이션</vt:lpstr>
      <vt:lpstr>영지식 증명</vt:lpstr>
      <vt:lpstr>영지식 증명</vt:lpstr>
      <vt:lpstr>영지식 증명</vt:lpstr>
      <vt:lpstr>영지식 증명</vt:lpstr>
      <vt:lpstr>PowerPoint 프레젠테이션</vt:lpstr>
      <vt:lpstr>영지식 증명</vt:lpstr>
      <vt:lpstr>영지식 증명</vt:lpstr>
      <vt:lpstr>영지식 증명</vt:lpstr>
      <vt:lpstr>영지식 증명</vt:lpstr>
      <vt:lpstr>영지식 증명</vt:lpstr>
      <vt:lpstr>영지식 증명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2455</cp:revision>
  <dcterms:created xsi:type="dcterms:W3CDTF">2023-03-06T16:32:37Z</dcterms:created>
  <dcterms:modified xsi:type="dcterms:W3CDTF">2026-03-24T13:47:10Z</dcterms:modified>
</cp:coreProperties>
</file>