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368" r:id="rId3"/>
    <p:sldId id="356" r:id="rId4"/>
    <p:sldId id="369" r:id="rId5"/>
    <p:sldId id="370" r:id="rId6"/>
    <p:sldId id="371" r:id="rId7"/>
    <p:sldId id="3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F0F0F0"/>
    <a:srgbClr val="0F386B"/>
    <a:srgbClr val="00CC00"/>
    <a:srgbClr val="DD802B"/>
    <a:srgbClr val="CC99FF"/>
    <a:srgbClr val="F4B183"/>
    <a:srgbClr val="2E75B6"/>
    <a:srgbClr val="3366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8" autoAdjust="0"/>
    <p:restoredTop sz="75987" autoAdjust="0"/>
  </p:normalViewPr>
  <p:slideViewPr>
    <p:cSldViewPr snapToGrid="0">
      <p:cViewPr varScale="1">
        <p:scale>
          <a:sx n="85" d="100"/>
          <a:sy n="85" d="100"/>
        </p:scale>
        <p:origin x="90" y="8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5191-99DC-CF74-716F-9EE7E4E7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8ADED4-9E02-7590-8FE3-AB819269C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0337E6-023D-B7DB-98DC-56341348D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 회로에서는 모든 데이터를 거대한 숫자 하나로 취급하는 특별한 세팅이 되어 있음</a:t>
            </a:r>
            <a:r>
              <a:rPr lang="en-US" altLang="ko-KR" dirty="0"/>
              <a:t>. </a:t>
            </a:r>
            <a:r>
              <a:rPr lang="ko-KR" altLang="en-US" dirty="0"/>
              <a:t>실제 </a:t>
            </a:r>
            <a:r>
              <a:rPr lang="en-US" altLang="ko-KR" dirty="0"/>
              <a:t>SW(ex. </a:t>
            </a:r>
            <a:r>
              <a:rPr lang="en-US" altLang="ko-KR" dirty="0" err="1"/>
              <a:t>Circom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을 조합하여 사용한다고 하더라도</a:t>
            </a:r>
            <a:r>
              <a:rPr lang="en-US" altLang="ko-KR" dirty="0"/>
              <a:t> </a:t>
            </a:r>
            <a:r>
              <a:rPr lang="ko-KR" altLang="en-US" dirty="0"/>
              <a:t>일반적인 계산을 하는 것이 아님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방정식의 목록을 만들고 </a:t>
            </a:r>
            <a:r>
              <a:rPr lang="en-US" altLang="ko-KR" dirty="0"/>
              <a:t>uint64[4]</a:t>
            </a:r>
            <a:r>
              <a:rPr lang="ko-KR" altLang="en-US" dirty="0"/>
              <a:t>를 하나의 숫자로 간주하는 규칙을 설정</a:t>
            </a:r>
            <a:r>
              <a:rPr lang="en-US" altLang="ko-KR" dirty="0"/>
              <a:t>. </a:t>
            </a:r>
            <a:r>
              <a:rPr lang="ko-KR" altLang="en-US" dirty="0"/>
              <a:t>숫자로 설정이 되어 있는 경우 수학적인 방정식으로만 분해가 가능 </a:t>
            </a:r>
            <a:r>
              <a:rPr lang="en-US" altLang="ko-KR" dirty="0"/>
              <a:t>-&gt; </a:t>
            </a:r>
            <a:r>
              <a:rPr lang="ko-KR" altLang="en-US" dirty="0"/>
              <a:t>비트 단위 접근이 비쌈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영지식</a:t>
            </a:r>
            <a:r>
              <a:rPr lang="ko-KR" altLang="en-US" dirty="0"/>
              <a:t> 증명이 수학적 방정식으로만 진행하도록 설정한 이유</a:t>
            </a:r>
            <a:endParaRPr lang="en-US" altLang="ko-KR" dirty="0"/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영지식</a:t>
            </a:r>
            <a:r>
              <a:rPr lang="ko-KR" altLang="en-US" dirty="0"/>
              <a:t> 증명의 핵심 </a:t>
            </a:r>
            <a:r>
              <a:rPr lang="en-US" altLang="ko-KR" dirty="0"/>
              <a:t>– </a:t>
            </a:r>
            <a:r>
              <a:rPr lang="ko-KR" altLang="en-US" dirty="0"/>
              <a:t>답을 보여주지 않고 답을 알고 있다는 사실만 증명하는 것 </a:t>
            </a:r>
            <a:r>
              <a:rPr lang="en-US" altLang="ko-KR" dirty="0"/>
              <a:t>-&gt; </a:t>
            </a:r>
            <a:r>
              <a:rPr lang="ko-KR" altLang="en-US" dirty="0"/>
              <a:t>이걸 위해 다항식을 선택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여러 계산 과정을 하나의 다항식으로 만들 수 있음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많은 계산을 일일이 확인할 필요 </a:t>
            </a:r>
            <a:r>
              <a:rPr lang="en-US" altLang="ko-KR" dirty="0"/>
              <a:t>X. </a:t>
            </a:r>
            <a:r>
              <a:rPr lang="ko-KR" altLang="en-US" dirty="0"/>
              <a:t>다항식</a:t>
            </a:r>
            <a:r>
              <a:rPr lang="en-US" altLang="ko-KR" dirty="0"/>
              <a:t> </a:t>
            </a:r>
            <a:r>
              <a:rPr lang="ko-KR" altLang="en-US" dirty="0"/>
              <a:t>위의 특정한 점만 확인하면 전체 계산이 맞았다고 확신 가능</a:t>
            </a:r>
            <a:endParaRPr lang="en-US" altLang="ko-KR" dirty="0"/>
          </a:p>
          <a:p>
            <a:pPr marL="228600" indent="-228600">
              <a:buAutoNum type="arabicPeriod" startAt="2"/>
            </a:pPr>
            <a:r>
              <a:rPr lang="ko-KR" altLang="en-US" dirty="0"/>
              <a:t>동형 </a:t>
            </a:r>
            <a:r>
              <a:rPr lang="ko-KR" altLang="en-US" dirty="0" err="1"/>
              <a:t>암호적</a:t>
            </a:r>
            <a:r>
              <a:rPr lang="ko-KR" altLang="en-US" dirty="0"/>
              <a:t> 성질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암호화된 값을 사용할 </a:t>
            </a:r>
            <a:r>
              <a:rPr lang="ko-KR" altLang="en-US" dirty="0" err="1"/>
              <a:t>떄</a:t>
            </a:r>
            <a:r>
              <a:rPr lang="ko-KR" altLang="en-US" dirty="0"/>
              <a:t> 덧셈 및 곱셈 연산의 용이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가지고 있는 비밀 정보를 숨긴 상태에서 계산이 가능</a:t>
            </a:r>
            <a:r>
              <a:rPr lang="en-US" altLang="ko-KR" dirty="0"/>
              <a:t>(</a:t>
            </a:r>
            <a:r>
              <a:rPr lang="ko-KR" altLang="en-US" dirty="0"/>
              <a:t>덧셈</a:t>
            </a:r>
            <a:r>
              <a:rPr lang="en-US" altLang="ko-KR" dirty="0"/>
              <a:t>, </a:t>
            </a:r>
            <a:r>
              <a:rPr lang="ko-KR" altLang="en-US" dirty="0"/>
              <a:t>곱셈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 startAt="3"/>
            </a:pPr>
            <a:r>
              <a:rPr lang="ko-KR" altLang="en-US" dirty="0" err="1"/>
              <a:t>유한체</a:t>
            </a:r>
            <a:r>
              <a:rPr lang="ko-KR" altLang="en-US" dirty="0"/>
              <a:t> 위에서 정의하기 위해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1200" dirty="0"/>
              <a:t>semaphore, ERC-721/1155 NFT ID, Tornado Cash, Dusk Network – </a:t>
            </a:r>
            <a:r>
              <a:rPr lang="ko-KR" altLang="en-US" sz="1200" dirty="0"/>
              <a:t>검증이 필요함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3BF3F-8612-6AAB-C32E-AE9391C3B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92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E34A-4EDF-FD7B-22CE-F7D5D6C0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ADC20A-91D0-3546-A9DD-F938A9925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5A0C77-88CA-4ABA-DA96-35453AE64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990AE2-3428-CE74-0E4C-40EAF7A66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32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C04B-BCAB-5B88-4803-D20D972C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A13510-37A1-99D5-D430-4F1AF020D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84B7A0-D519-3432-228E-32A9028B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D86B7-1583-D327-3274-7047C5FCF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191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691DA-B7DD-36FC-0C4A-FC2C4F7C3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5641EB-5D0B-0C97-2B33-CBED0B0B1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8C29E3-02B3-7259-B163-239FCB6EA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725AA-8464-AD91-E4DD-3A3E5C887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166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62399-D816-0B84-305E-82F4BF70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D0B9A7-60EF-CA35-EEAD-08AF7C66C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9728E3-33D0-84D8-7B13-D40D196E7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262A62-F9C0-EB8C-5A8E-3ED40E0FC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284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006ED-8C59-A45B-46E7-3FDD61CC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D4078C-9FD7-7495-A325-2059133DA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47F67D-1225-AEDA-23C9-BB071C269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2EC4F-5893-E3AF-CB04-117857B8C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74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36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영지식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증명 </a:t>
            </a:r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– Poseidon(3)</a:t>
            </a:r>
            <a:endParaRPr lang="ko-KR" altLang="en-US" sz="36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04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21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454E-BC12-0607-EA7E-C00766F9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7C52C-CC00-9330-E90D-7E92F991D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과 </a:t>
            </a:r>
            <a:r>
              <a:rPr lang="en-US" altLang="ko-KR" dirty="0"/>
              <a:t>ID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9E8778-8EA1-FAAB-6753-B8B1391B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3598AE-CF7E-376A-257B-78A722B902DB}"/>
              </a:ext>
            </a:extLst>
          </p:cNvPr>
          <p:cNvSpPr txBox="1"/>
          <p:nvPr/>
        </p:nvSpPr>
        <p:spPr>
          <a:xfrm>
            <a:off x="390525" y="1214833"/>
            <a:ext cx="1066228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해싱의</a:t>
            </a:r>
            <a:r>
              <a:rPr lang="ko-KR" altLang="en-US" sz="1600" b="1" dirty="0"/>
              <a:t> 결과가 </a:t>
            </a:r>
            <a:r>
              <a:rPr lang="en-US" altLang="ko-KR" sz="1600" b="1" dirty="0"/>
              <a:t>ID</a:t>
            </a:r>
            <a:r>
              <a:rPr lang="ko-KR" altLang="en-US" sz="1600" b="1" dirty="0"/>
              <a:t>로 사용되는 예시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b="1" dirty="0" err="1"/>
              <a:t>zcash</a:t>
            </a:r>
            <a:r>
              <a:rPr lang="en-US" altLang="ko-KR" sz="1400" dirty="0"/>
              <a:t>, semaphore </a:t>
            </a:r>
            <a:r>
              <a:rPr lang="ko-KR" altLang="en-US" sz="1400" dirty="0"/>
              <a:t>및 </a:t>
            </a:r>
            <a:r>
              <a:rPr lang="en-US" altLang="ko-KR" sz="1400" dirty="0" err="1"/>
              <a:t>worldcoin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Filecoin</a:t>
            </a:r>
            <a:r>
              <a:rPr lang="en-US" altLang="ko-KR" sz="1400" dirty="0"/>
              <a:t>, Tornado Cash Nova </a:t>
            </a:r>
            <a:r>
              <a:rPr lang="ko-KR" altLang="en-US" sz="1400" dirty="0"/>
              <a:t>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sz="1600" dirty="0"/>
              <a:t>&lt;</a:t>
            </a:r>
            <a:r>
              <a:rPr lang="en-US" altLang="ko-KR" sz="1600" dirty="0" err="1"/>
              <a:t>zcash</a:t>
            </a:r>
            <a:r>
              <a:rPr lang="en-US" altLang="ko-KR" sz="1600" dirty="0"/>
              <a:t>&gt;</a:t>
            </a: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Zcash</a:t>
            </a:r>
            <a:r>
              <a:rPr lang="ko-KR" altLang="en-US" sz="1400" dirty="0"/>
              <a:t>는 해시함수의 결과값을 사용하여 </a:t>
            </a:r>
            <a:r>
              <a:rPr lang="en-US" altLang="ko-KR" sz="1400" dirty="0"/>
              <a:t>Nullifier</a:t>
            </a:r>
            <a:r>
              <a:rPr lang="ko-KR" altLang="en-US" sz="1400" dirty="0"/>
              <a:t>나 </a:t>
            </a:r>
            <a:r>
              <a:rPr lang="en-US" altLang="ko-KR" sz="1400" dirty="0"/>
              <a:t>Commitment Trapdoor </a:t>
            </a:r>
            <a:r>
              <a:rPr lang="ko-KR" altLang="en-US" sz="1400" dirty="0"/>
              <a:t>만듦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Nullifier</a:t>
            </a:r>
            <a:r>
              <a:rPr lang="ko-KR" altLang="en-US" sz="1400" dirty="0"/>
              <a:t>가 특정 자산이 사용되었음을 나타내는 </a:t>
            </a:r>
            <a:r>
              <a:rPr lang="en-US" altLang="ko-KR" sz="1400" dirty="0"/>
              <a:t>ID</a:t>
            </a:r>
            <a:r>
              <a:rPr lang="ko-KR" altLang="en-US" sz="1400" dirty="0"/>
              <a:t>로 작용 → </a:t>
            </a:r>
            <a:r>
              <a:rPr lang="en-US" altLang="ko-KR" sz="1400" dirty="0"/>
              <a:t>DB</a:t>
            </a:r>
            <a:r>
              <a:rPr lang="ko-KR" altLang="en-US" sz="1400" dirty="0"/>
              <a:t>에 이미 사용된 </a:t>
            </a:r>
            <a:r>
              <a:rPr lang="en-US" altLang="ko-KR" sz="1400" dirty="0"/>
              <a:t>ID</a:t>
            </a:r>
            <a:r>
              <a:rPr lang="ko-KR" altLang="en-US" sz="1400" dirty="0"/>
              <a:t>로 기록되는 것이 필요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zcash</a:t>
            </a:r>
            <a:r>
              <a:rPr lang="ko-KR" altLang="en-US" sz="1400" dirty="0"/>
              <a:t>의 </a:t>
            </a:r>
            <a:r>
              <a:rPr lang="en-US" altLang="ko-KR" sz="1400" dirty="0"/>
              <a:t>nullifier Design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nf</a:t>
            </a:r>
            <a:r>
              <a:rPr lang="en-US" altLang="ko-KR" sz="1400" dirty="0"/>
              <a:t> : Nullifier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EA533F-A728-2B6D-20CF-588F184D4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13" y="3805698"/>
            <a:ext cx="4618051" cy="53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69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FC0B-26F1-0C03-F542-399F91C1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007F9-F4DD-DD09-B7CB-220634FA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 Hashing output</a:t>
            </a:r>
            <a:r>
              <a:rPr lang="ko-KR" altLang="en-US" dirty="0"/>
              <a:t>을 </a:t>
            </a:r>
            <a:r>
              <a:rPr lang="en-US" altLang="ko-KR" dirty="0"/>
              <a:t>ID</a:t>
            </a:r>
            <a:r>
              <a:rPr lang="ko-KR" altLang="en-US" dirty="0"/>
              <a:t>로 사용하는 경우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846A7-4199-3C49-42B3-E5CF2BF6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A8FAB-4A1B-7345-37B7-F2CBC7AF4CE7}"/>
              </a:ext>
            </a:extLst>
          </p:cNvPr>
          <p:cNvSpPr txBox="1"/>
          <p:nvPr/>
        </p:nvSpPr>
        <p:spPr>
          <a:xfrm>
            <a:off x="390525" y="1579982"/>
            <a:ext cx="1141094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Poseidon Hashing output</a:t>
            </a:r>
            <a:r>
              <a:rPr lang="ko-KR" altLang="en-US" sz="1600" b="1" dirty="0"/>
              <a:t>을 </a:t>
            </a:r>
            <a:r>
              <a:rPr lang="en-US" altLang="ko-KR" sz="1600" b="1" dirty="0"/>
              <a:t>ID</a:t>
            </a:r>
            <a:r>
              <a:rPr lang="ko-KR" altLang="en-US" sz="1600" b="1" dirty="0"/>
              <a:t>로 사용하는 경우</a:t>
            </a:r>
            <a:endParaRPr lang="en-US" altLang="ko-KR" sz="1600" b="1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Semaphore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 err="1"/>
              <a:t>Worldcoin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 err="1"/>
              <a:t>Filecoin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Tornado Cash Nova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65545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5055-1BD8-234E-7E81-A866EC83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26CBF-9672-01FC-A8E8-05A1BE24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 Hashing output</a:t>
            </a:r>
            <a:r>
              <a:rPr lang="ko-KR" altLang="en-US" dirty="0"/>
              <a:t>을 </a:t>
            </a:r>
            <a:r>
              <a:rPr lang="en-US" altLang="ko-KR" dirty="0"/>
              <a:t>ID</a:t>
            </a:r>
            <a:r>
              <a:rPr lang="ko-KR" altLang="en-US" dirty="0"/>
              <a:t>로 사용하는 경우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459B0A-94B9-6A26-ADC6-3FC5A2FC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0D0617-A9D5-D68A-ED70-4F3DDC004985}"/>
                  </a:ext>
                </a:extLst>
              </p:cNvPr>
              <p:cNvSpPr txBox="1"/>
              <p:nvPr/>
            </p:nvSpPr>
            <p:spPr>
              <a:xfrm>
                <a:off x="390525" y="1579982"/>
                <a:ext cx="11410949" cy="295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 sz="1600" b="1" dirty="0"/>
                  <a:t>Semaphore</a:t>
                </a:r>
              </a:p>
              <a:p>
                <a:endParaRPr lang="en-US" altLang="ko-KR" sz="1600" b="1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Identity : Private Key, Secret Scalar, 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Public Key, Commitment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모두 </a:t>
                </a:r>
                <a:r>
                  <a:rPr lang="en-US" altLang="ko-KR" sz="1400" dirty="0"/>
                  <a:t>32-byte </a:t>
                </a:r>
                <a:r>
                  <a:rPr lang="ko-KR" altLang="en-US" sz="1400" dirty="0"/>
                  <a:t>크기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Public Key(Nullifier), Commitment</a:t>
                </a:r>
                <a:r>
                  <a:rPr lang="ko-KR" altLang="en-US" sz="1400" dirty="0"/>
                  <a:t>는 </a:t>
                </a:r>
                <a:r>
                  <a:rPr lang="en-US" altLang="ko-KR" sz="1400" dirty="0"/>
                  <a:t>Poseidon Hashing Output</a:t>
                </a:r>
                <a:r>
                  <a:rPr lang="ko-KR" altLang="en-US" sz="1400" dirty="0"/>
                  <a:t>을 그대로 사용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Nullifier : </a:t>
                </a:r>
                <a:r>
                  <a:rPr lang="ko-KR" altLang="en-US" sz="1400" dirty="0"/>
                  <a:t>이중 지불이나 이중 투표를 막는데 사용하는 </a:t>
                </a:r>
                <a:r>
                  <a:rPr lang="en-US" altLang="ko-KR" sz="1400" dirty="0"/>
                  <a:t>Public ID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 err="1"/>
                  <a:t>Commutment</a:t>
                </a:r>
                <a:r>
                  <a:rPr lang="en-US" altLang="ko-KR" sz="1400" dirty="0"/>
                  <a:t> : group</a:t>
                </a:r>
                <a:r>
                  <a:rPr lang="ko-KR" altLang="en-US" sz="1400" dirty="0"/>
                  <a:t>의 일원인지 판별하기 위해 사용되는 값</a:t>
                </a:r>
                <a:r>
                  <a:rPr lang="en-US" altLang="ko-KR" sz="1400" dirty="0"/>
                  <a:t>(Merkle Tree)</a:t>
                </a:r>
              </a:p>
              <a:p>
                <a:endParaRPr lang="en-US" altLang="ko-KR" sz="1400" dirty="0"/>
              </a:p>
              <a:p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𝑁𝑢𝑙𝑙𝑖𝑓𝑖𝑒𝑟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𝑃𝑜𝑠𝑒𝑖𝑑𝑜𝑛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𝑆𝑐𝑜𝑝𝑒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𝑠𝑒𝑐𝑟𝑒𝑡𝑆𝑐𝑎𝑙𝑎𝑟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 </a:t>
                </a:r>
              </a:p>
              <a:p>
                <a:endParaRPr lang="en-US" altLang="ko-KR" sz="1400" dirty="0"/>
              </a:p>
              <a:p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𝐶𝑜𝑚𝑚𝑖𝑡𝑚𝑒𝑛𝑡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𝑃𝑜𝑠𝑒𝑖𝑑𝑜𝑛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𝐴𝑦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 </a:t>
                </a:r>
              </a:p>
              <a:p>
                <a:endParaRPr lang="en-US" altLang="ko-KR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0D0617-A9D5-D68A-ED70-4F3DDC004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5" y="1579982"/>
                <a:ext cx="11410949" cy="2954655"/>
              </a:xfrm>
              <a:prstGeom prst="rect">
                <a:avLst/>
              </a:prstGeom>
              <a:blipFill>
                <a:blip r:embed="rId3"/>
                <a:stretch>
                  <a:fillRect l="-214" t="-6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106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2C0E-25BD-8743-43CF-89F064B0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1B651-EB54-CC67-ECA4-812DE0C8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 Hashing output</a:t>
            </a:r>
            <a:r>
              <a:rPr lang="ko-KR" altLang="en-US" dirty="0"/>
              <a:t>을 </a:t>
            </a:r>
            <a:r>
              <a:rPr lang="en-US" altLang="ko-KR" dirty="0"/>
              <a:t>ID</a:t>
            </a:r>
            <a:r>
              <a:rPr lang="ko-KR" altLang="en-US" dirty="0"/>
              <a:t>로 사용하는 경우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943132-E13E-3049-78DF-1EF80E24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26F65C-9D57-956B-9777-E176413699EB}"/>
              </a:ext>
            </a:extLst>
          </p:cNvPr>
          <p:cNvSpPr txBox="1"/>
          <p:nvPr/>
        </p:nvSpPr>
        <p:spPr>
          <a:xfrm>
            <a:off x="390525" y="1579982"/>
            <a:ext cx="1141094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US" altLang="ko-KR" sz="1600" b="1" dirty="0" err="1"/>
              <a:t>Worldcoin</a:t>
            </a:r>
            <a:endParaRPr lang="en-US" altLang="ko-KR" sz="1600" b="1" dirty="0"/>
          </a:p>
          <a:p>
            <a:endParaRPr lang="en-US" altLang="ko-KR" sz="1600" b="1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온라인상의 존재가 진짜 인물인지 판별하기 위해 설계된 오픈 소스 프로토콜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Semaphore </a:t>
            </a:r>
            <a:r>
              <a:rPr lang="ko-KR" altLang="en-US" sz="1400" dirty="0"/>
              <a:t>기반 아키텍처 채택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Identity Commitment </a:t>
            </a:r>
            <a:r>
              <a:rPr lang="ko-KR" altLang="en-US" sz="1400" dirty="0"/>
              <a:t>생성 시 </a:t>
            </a:r>
            <a:r>
              <a:rPr lang="en-US" altLang="ko-KR" sz="1400" dirty="0"/>
              <a:t>Poseidon Hash </a:t>
            </a:r>
            <a:r>
              <a:rPr lang="ko-KR" altLang="en-US" sz="1400" dirty="0"/>
              <a:t>사용 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049512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8D6F-1AB3-CBF8-CCA4-9D52AA8B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BB943-19E2-9B09-C27D-A8298354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 Hashing output</a:t>
            </a:r>
            <a:r>
              <a:rPr lang="ko-KR" altLang="en-US" dirty="0"/>
              <a:t>을 </a:t>
            </a:r>
            <a:r>
              <a:rPr lang="en-US" altLang="ko-KR" dirty="0"/>
              <a:t>ID</a:t>
            </a:r>
            <a:r>
              <a:rPr lang="ko-KR" altLang="en-US" dirty="0"/>
              <a:t>로 사용하는 경우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C34B4-D48F-D901-F2D0-9EA8EFDC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00F38F-058D-9E88-B531-0DFB651CE5E0}"/>
                  </a:ext>
                </a:extLst>
              </p:cNvPr>
              <p:cNvSpPr txBox="1"/>
              <p:nvPr/>
            </p:nvSpPr>
            <p:spPr>
              <a:xfrm>
                <a:off x="390525" y="1579982"/>
                <a:ext cx="1141094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 startAt="3"/>
                </a:pPr>
                <a:r>
                  <a:rPr lang="en-US" altLang="ko-KR" sz="1600" b="1" dirty="0"/>
                  <a:t>Filecoin</a:t>
                </a:r>
              </a:p>
              <a:p>
                <a:endParaRPr lang="en-US" altLang="ko-KR" sz="1600" b="1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 err="1"/>
                  <a:t>영지식</a:t>
                </a:r>
                <a:r>
                  <a:rPr lang="ko-KR" altLang="en-US" sz="1400" dirty="0"/>
                  <a:t> 증명을 실전에 투입한 분산형 저장 네트워크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IPFS(Inter Planetary File System)</a:t>
                </a:r>
                <a:r>
                  <a:rPr lang="ko-KR" altLang="en-US" sz="1400" dirty="0"/>
                  <a:t>라는 프로토콜 위에 경제적 보상 계층을 얹은 형태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데이터를 저장해주는 노드에게 </a:t>
                </a:r>
                <a:r>
                  <a:rPr lang="en-US" altLang="ko-KR" sz="1400" dirty="0"/>
                  <a:t>FIL </a:t>
                </a:r>
                <a:r>
                  <a:rPr lang="ko-KR" altLang="en-US" sz="1400" dirty="0"/>
                  <a:t>토큰을 보상으로 주어 데이터가 사라지지 않고 영구히 보존되도록 경제적 유인 제공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최종 식별자 </a:t>
                </a:r>
                <a:r>
                  <a:rPr lang="en-US" altLang="ko-KR" sz="1400" dirty="0" err="1"/>
                  <a:t>CommR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생성 시 </a:t>
                </a:r>
                <a:r>
                  <a:rPr lang="en-US" altLang="ko-KR" sz="1400" dirty="0"/>
                  <a:t>Poseidon Hash </a:t>
                </a:r>
                <a:r>
                  <a:rPr lang="ko-KR" altLang="en-US" sz="1400" dirty="0"/>
                  <a:t>사용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𝐶𝑜𝑚𝑚𝑅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𝑃𝑜𝑠𝑒𝑖𝑑𝑜𝑛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𝐶𝑜𝑚𝑚𝐶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𝐶𝑜𝑚𝑚𝑅𝐿𝑎𝑠𝑡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/>
                  <a:t> </a:t>
                </a:r>
              </a:p>
              <a:p>
                <a:endParaRPr lang="en-US" altLang="ko-KR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00F38F-058D-9E88-B531-0DFB651CE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5" y="1579982"/>
                <a:ext cx="11410949" cy="2308324"/>
              </a:xfrm>
              <a:prstGeom prst="rect">
                <a:avLst/>
              </a:prstGeom>
              <a:blipFill>
                <a:blip r:embed="rId3"/>
                <a:stretch>
                  <a:fillRect l="-214" t="-7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82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C6E4-296F-3358-88BC-60BC9590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51D28-7D9F-8977-CAEC-D7CF52D3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 Hashing output</a:t>
            </a:r>
            <a:r>
              <a:rPr lang="ko-KR" altLang="en-US" dirty="0"/>
              <a:t>을 </a:t>
            </a:r>
            <a:r>
              <a:rPr lang="en-US" altLang="ko-KR" dirty="0"/>
              <a:t>ID</a:t>
            </a:r>
            <a:r>
              <a:rPr lang="ko-KR" altLang="en-US" dirty="0"/>
              <a:t>로 사용하는 경우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60BDC4-A2BA-33C1-BD20-9F3730C5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C8EBF0-F80A-E432-6C86-1418296DBC04}"/>
                  </a:ext>
                </a:extLst>
              </p:cNvPr>
              <p:cNvSpPr txBox="1"/>
              <p:nvPr/>
            </p:nvSpPr>
            <p:spPr>
              <a:xfrm>
                <a:off x="390525" y="1579982"/>
                <a:ext cx="1141094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 startAt="4"/>
                </a:pPr>
                <a:r>
                  <a:rPr lang="en-US" altLang="ko-KR" sz="1600" b="1" dirty="0"/>
                  <a:t>Tornado Cash Nova</a:t>
                </a:r>
              </a:p>
              <a:p>
                <a:endParaRPr lang="en-US" altLang="ko-KR" sz="1600" b="1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 err="1"/>
                  <a:t>영지식</a:t>
                </a:r>
                <a:r>
                  <a:rPr lang="ko-KR" altLang="en-US" sz="1400" dirty="0"/>
                  <a:t> 증명 기반의 익명 송금 프로토콜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Nullifier </a:t>
                </a:r>
                <a:r>
                  <a:rPr lang="ko-KR" altLang="en-US" sz="1400" dirty="0"/>
                  <a:t>생성에 </a:t>
                </a:r>
                <a:r>
                  <a:rPr lang="en-US" altLang="ko-KR" sz="1400" dirty="0"/>
                  <a:t>Poseidon Hash</a:t>
                </a:r>
                <a:r>
                  <a:rPr lang="ko-KR" altLang="en-US" sz="1400" dirty="0"/>
                  <a:t>가 사용 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Nullifier : </a:t>
                </a:r>
                <a:r>
                  <a:rPr lang="ko-KR" altLang="en-US" sz="1400" dirty="0"/>
                  <a:t>예치된 자산의 소유권 증명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이중 지불을 방지하기 위해 특정 코인이 사용되었는지 여부를 나타내는 식별자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𝐶𝑜𝑚𝑚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𝑖𝑡𝑚𝑒𝑛𝑡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𝑃𝑜𝑠𝑒𝑖𝑑𝑜𝑛</m:t>
                    </m:r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𝑝𝑟𝑖𝑣𝑎𝑡𝑒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𝑘𝑒𝑦</m:t>
                        </m:r>
                      </m:e>
                    </m:d>
                  </m:oMath>
                </a14:m>
                <a:r>
                  <a:rPr lang="en-US" altLang="ko-KR" sz="1400" dirty="0"/>
                  <a:t> 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V : </a:t>
                </a:r>
                <a:r>
                  <a:rPr lang="ko-KR" altLang="en-US" sz="1400" dirty="0"/>
                  <a:t>금액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K : Public Key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C8EBF0-F80A-E432-6C86-1418296DB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5" y="1579982"/>
                <a:ext cx="11410949" cy="2308324"/>
              </a:xfrm>
              <a:prstGeom prst="rect">
                <a:avLst/>
              </a:prstGeom>
              <a:blipFill>
                <a:blip r:embed="rId3"/>
                <a:stretch>
                  <a:fillRect l="-214" t="-792" b="-1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180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51010</TotalTime>
  <Words>494</Words>
  <Application>Microsoft Office PowerPoint</Application>
  <PresentationFormat>와이드스크린</PresentationFormat>
  <Paragraphs>101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Cambria Math</vt:lpstr>
      <vt:lpstr>Office 테마</vt:lpstr>
      <vt:lpstr>영지식 증명 – Poseidon(3)</vt:lpstr>
      <vt:lpstr>Poseidon과 ID</vt:lpstr>
      <vt:lpstr>Poseidon Hashing output을 ID로 사용하는 경우</vt:lpstr>
      <vt:lpstr>Poseidon Hashing output을 ID로 사용하는 경우</vt:lpstr>
      <vt:lpstr>Poseidon Hashing output을 ID로 사용하는 경우</vt:lpstr>
      <vt:lpstr>Poseidon Hashing output을 ID로 사용하는 경우</vt:lpstr>
      <vt:lpstr>Poseidon Hashing output을 ID로 사용하는 경우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2498</cp:revision>
  <dcterms:created xsi:type="dcterms:W3CDTF">2023-03-06T16:32:37Z</dcterms:created>
  <dcterms:modified xsi:type="dcterms:W3CDTF">2026-03-31T14:53:14Z</dcterms:modified>
</cp:coreProperties>
</file>