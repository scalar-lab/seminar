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9"/>
  </p:notesMasterIdLst>
  <p:sldIdLst>
    <p:sldId id="256" r:id="rId2"/>
    <p:sldId id="270" r:id="rId3"/>
    <p:sldId id="283" r:id="rId4"/>
    <p:sldId id="289" r:id="rId5"/>
    <p:sldId id="287" r:id="rId6"/>
    <p:sldId id="286" r:id="rId7"/>
    <p:sldId id="288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002C62"/>
    <a:srgbClr val="CC99FF"/>
    <a:srgbClr val="2156A4"/>
    <a:srgbClr val="336699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549" autoAdjust="0"/>
    <p:restoredTop sz="83709" autoAdjust="0"/>
  </p:normalViewPr>
  <p:slideViewPr>
    <p:cSldViewPr snapToGrid="0">
      <p:cViewPr varScale="1">
        <p:scale>
          <a:sx n="95" d="100"/>
          <a:sy n="95" d="100"/>
        </p:scale>
        <p:origin x="600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2026. 5. 13.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572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72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3C1F0-F292-4285-A95F-A15DE7C15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C59FB0-B0C5-D787-DC4E-1F0A56A5C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4C69EA-D81C-D4E4-C6A7-2F25A8BC5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818B6E-E98E-11DB-78AE-6AB4F56346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744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DB0E2-0A9B-5451-5333-AF572604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788E9E-5D7A-36C1-0AAE-62BB30AB49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5A38DC-E349-FBA7-4130-50DA80ACC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6596FB-4141-14C0-88F6-BF6E24AB1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55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F8939-E811-BAA3-D8E1-C6AF074D5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F6CB4A-C803-8756-F7D9-CBA3D7A2C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D35A58-FF9C-B813-5072-67FD837AD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9DD421-993F-D04A-3C9A-CE7B8CA083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8494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37914-4781-B11F-1C35-D6B2365DF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358E46-5F20-87FA-FBAE-615971920D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2EFF28-2E4C-500F-1020-7AF754691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B2A519-F73C-94DB-0D55-B2E989F683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799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FB66D-7D05-CF63-E828-E7F4A0AE7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7E56A7-B781-20BE-A9CA-F2C9364B53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8493FB-D43F-B923-013D-DD411ABF07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196B89-6C37-A596-DAD3-8790D2C783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349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2026. 5. 13.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2026. 5. 13.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2026. 5. 13.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2026. 5. 13.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2026. 5. 13.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2026. 5. 13.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2026. 5. 13.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2026. 5. 13.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2026. 5. 13.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2026. 5. 13.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2026. 5. 13.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2026. 5. 13.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Suhyeon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3200" b="1" dirty="0" err="1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EoMT</a:t>
            </a:r>
            <a:r>
              <a:rPr lang="en-US" altLang="ko-KR" sz="32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Apple Neural Engine (10)</a:t>
            </a:r>
            <a:endParaRPr lang="ko-KR" altLang="en-US" sz="32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71364" y="1666695"/>
            <a:ext cx="2023092" cy="42798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>
                <a:solidFill>
                  <a:srgbClr val="002C62"/>
                </a:solidFill>
              </a:rPr>
              <a:t>  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5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13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01D89-421D-20CC-6D5F-47FC8C6A5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340BEB-8E46-868C-99E7-95D8BC5B3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목표 및 진행사항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2E4903-A5AB-F7E3-2412-5136BFF43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0DA4B2-EC6E-F008-6710-245906C12FE5}"/>
              </a:ext>
            </a:extLst>
          </p:cNvPr>
          <p:cNvSpPr txBox="1"/>
          <p:nvPr/>
        </p:nvSpPr>
        <p:spPr>
          <a:xfrm>
            <a:off x="898782" y="1550792"/>
            <a:ext cx="9666514" cy="40113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altLang="ko-KR" sz="1600" dirty="0"/>
          </a:p>
          <a:p>
            <a:r>
              <a:rPr lang="ko-KR" altLang="en-US" sz="2000" b="1" dirty="0"/>
              <a:t>목표 </a:t>
            </a:r>
            <a:r>
              <a:rPr lang="en-US" altLang="ko-KR" sz="2000" b="1" dirty="0"/>
              <a:t>(</a:t>
            </a:r>
            <a:r>
              <a:rPr lang="en-US" altLang="ko-KR" b="1" dirty="0"/>
              <a:t>~6월)</a:t>
            </a:r>
            <a:endParaRPr lang="ko-KR" altLang="en-US" b="1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altLang="ko-KR" dirty="0"/>
              <a:t>iOS </a:t>
            </a:r>
            <a:r>
              <a:rPr lang="ko-KR" altLang="en-US" dirty="0"/>
              <a:t>환경에서 </a:t>
            </a:r>
            <a:r>
              <a:rPr lang="en-US" altLang="ko-KR" dirty="0"/>
              <a:t>panoptic segmentation</a:t>
            </a:r>
            <a:r>
              <a:rPr lang="ko-KR" altLang="en-US" dirty="0"/>
              <a:t>이 가능한 </a:t>
            </a:r>
            <a:r>
              <a:rPr lang="en-US" altLang="ko-KR" dirty="0" err="1"/>
              <a:t>EoMT</a:t>
            </a:r>
            <a:r>
              <a:rPr lang="en-US" altLang="ko-KR" dirty="0"/>
              <a:t> </a:t>
            </a:r>
            <a:r>
              <a:rPr lang="ko-KR" altLang="en-US" dirty="0"/>
              <a:t>모델 최적화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ko-KR" altLang="en-US" dirty="0"/>
              <a:t>ANE</a:t>
            </a:r>
            <a:r>
              <a:rPr lang="ko-KR" dirty="0"/>
              <a:t>(Apple </a:t>
            </a:r>
            <a:r>
              <a:rPr lang="ko-KR" dirty="0" err="1"/>
              <a:t>Neural</a:t>
            </a:r>
            <a:r>
              <a:rPr lang="ko-KR" dirty="0"/>
              <a:t> </a:t>
            </a:r>
            <a:r>
              <a:rPr lang="ko-KR" dirty="0" err="1"/>
              <a:t>Engine</a:t>
            </a:r>
            <a:r>
              <a:rPr lang="ko-KR" dirty="0"/>
              <a:t>)</a:t>
            </a:r>
            <a:r>
              <a:rPr lang="ko-KR" altLang="en-US" dirty="0"/>
              <a:t> </a:t>
            </a:r>
            <a:r>
              <a:rPr lang="ko-KR" altLang="en-US" dirty="0" err="1"/>
              <a:t>friendly</a:t>
            </a:r>
            <a:r>
              <a:rPr lang="ko-KR" altLang="en-US" dirty="0"/>
              <a:t> </a:t>
            </a:r>
            <a:r>
              <a:rPr lang="ko-KR" altLang="en-US" dirty="0" err="1"/>
              <a:t>transformer</a:t>
            </a:r>
            <a:endParaRPr lang="en-US" altLang="ko-KR" dirty="0" err="1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/>
              <a:t>Panoptic segmentation:</a:t>
            </a:r>
            <a:r>
              <a:rPr lang="ko-KR" altLang="en-US" sz="1400" dirty="0"/>
              <a:t> 어떤 사물인지</a:t>
            </a:r>
            <a:r>
              <a:rPr lang="en-US" altLang="ko-KR" sz="1400" dirty="0"/>
              <a:t>, </a:t>
            </a:r>
            <a:r>
              <a:rPr lang="ko-KR" altLang="en-US" sz="1400" dirty="0"/>
              <a:t>개별 객체인지를 동시에 구분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2400" b="1" dirty="0"/>
          </a:p>
          <a:p>
            <a:pPr>
              <a:lnSpc>
                <a:spcPct val="150000"/>
              </a:lnSpc>
            </a:pPr>
            <a:r>
              <a:rPr lang="ko-KR" altLang="en-US" sz="2000" b="1" dirty="0"/>
              <a:t>진행사항</a:t>
            </a:r>
            <a:endParaRPr lang="en-US" altLang="ko-KR" sz="20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cs typeface="Arial"/>
              </a:rPr>
              <a:t>Swin Transformer small base, large </a:t>
            </a:r>
            <a:r>
              <a:rPr lang="ko-KR" altLang="en-US" dirty="0">
                <a:cs typeface="Arial"/>
              </a:rPr>
              <a:t>크기별 </a:t>
            </a:r>
            <a:r>
              <a:rPr lang="en-US" altLang="ko-KR" dirty="0">
                <a:cs typeface="Arial"/>
              </a:rPr>
              <a:t>prediction time</a:t>
            </a:r>
            <a:r>
              <a:rPr lang="ko-KR" altLang="en-US" dirty="0">
                <a:cs typeface="Arial"/>
              </a:rPr>
              <a:t> 비교 </a:t>
            </a:r>
            <a:endParaRPr lang="en-US" altLang="ko-KR" dirty="0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cs typeface="Arial"/>
              </a:rPr>
              <a:t>Input size:</a:t>
            </a:r>
            <a:r>
              <a:rPr lang="ko-KR" altLang="en-US" dirty="0">
                <a:cs typeface="Arial"/>
              </a:rPr>
              <a:t> </a:t>
            </a:r>
            <a:r>
              <a:rPr lang="en-US" altLang="ko-KR" dirty="0">
                <a:cs typeface="Arial"/>
              </a:rPr>
              <a:t>224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cs typeface="Arial"/>
              </a:rPr>
              <a:t>model: </a:t>
            </a:r>
            <a:r>
              <a:rPr lang="en" altLang="ko-KR" dirty="0" err="1"/>
              <a:t>swin</a:t>
            </a:r>
            <a:r>
              <a:rPr lang="en" altLang="ko-KR" dirty="0"/>
              <a:t>_{</a:t>
            </a:r>
            <a:r>
              <a:rPr lang="en" altLang="ko-KR" dirty="0" err="1"/>
              <a:t>model_size</a:t>
            </a:r>
            <a:r>
              <a:rPr lang="en" altLang="ko-KR" dirty="0"/>
              <a:t>}_patch4_window7_224</a:t>
            </a:r>
          </a:p>
        </p:txBody>
      </p:sp>
    </p:spTree>
    <p:extLst>
      <p:ext uri="{BB962C8B-B14F-4D97-AF65-F5344CB8AC3E}">
        <p14:creationId xmlns:p14="http://schemas.microsoft.com/office/powerpoint/2010/main" val="973672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8A358-86C2-C65C-130A-37B42C55B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CA901E-0722-66D4-1063-4C1A9721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ANE transformers – </a:t>
            </a:r>
            <a:r>
              <a:rPr lang="ko-KR" altLang="en-US" dirty="0"/>
              <a:t>원리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3A921F-E2D1-2908-5D59-30C686B3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2F446F-E08D-B3A3-A1DC-CE08A8A549E3}"/>
              </a:ext>
            </a:extLst>
          </p:cNvPr>
          <p:cNvSpPr txBox="1"/>
          <p:nvPr/>
        </p:nvSpPr>
        <p:spPr>
          <a:xfrm>
            <a:off x="1083543" y="1268760"/>
            <a:ext cx="7464210" cy="5771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1. Picking the Right Data format </a:t>
            </a:r>
            <a:endParaRPr lang="en-US" altLang="ko-KR" sz="1200" dirty="0">
              <a:solidFill>
                <a:srgbClr val="474747"/>
              </a:solidFill>
              <a:highlight>
                <a:srgbClr val="FFFFFF"/>
              </a:highlight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altLang="ko-KR" sz="1600" dirty="0"/>
              <a:t>Linear</a:t>
            </a:r>
            <a:r>
              <a:rPr lang="ko-KR" altLang="en-US" sz="1400" dirty="0"/>
              <a:t> 레이어를 모두 </a:t>
            </a:r>
            <a:r>
              <a:rPr lang="en-US" altLang="ko-KR" sz="1600" dirty="0"/>
              <a:t>Conv2d</a:t>
            </a:r>
            <a:r>
              <a:rPr lang="ko-KR" altLang="en-US" sz="1400" dirty="0"/>
              <a:t> 레이어로 교체</a:t>
            </a:r>
            <a:endParaRPr lang="en-US" altLang="ko-KR" sz="1400" dirty="0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/>
              <a:t>(B, S, C) → (B, C, 1, S) 	</a:t>
            </a:r>
            <a:endParaRPr lang="en-US" altLang="ko-KR" sz="1400" b="1" dirty="0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b="1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cs typeface="Arial"/>
              </a:rPr>
              <a:t>2. Chunking Large Intermediate Tensors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dirty="0">
                <a:cs typeface="Arial"/>
              </a:rPr>
              <a:t>Multi Head Attention</a:t>
            </a:r>
            <a:r>
              <a:rPr lang="ko-KR" altLang="en-US" sz="1400" dirty="0">
                <a:cs typeface="Arial"/>
              </a:rPr>
              <a:t>에서 </a:t>
            </a:r>
            <a:r>
              <a:rPr lang="en-US" sz="1400" dirty="0">
                <a:cs typeface="Arial"/>
              </a:rPr>
              <a:t>query, key, value</a:t>
            </a:r>
            <a:r>
              <a:rPr lang="en-US" altLang="ko-KR" sz="1400" dirty="0">
                <a:cs typeface="Arial"/>
              </a:rPr>
              <a:t> </a:t>
            </a:r>
            <a:r>
              <a:rPr lang="ko-KR" altLang="en-US" sz="1400" b="1" dirty="0" err="1">
                <a:cs typeface="Arial"/>
              </a:rPr>
              <a:t>텐서를</a:t>
            </a:r>
            <a:r>
              <a:rPr lang="ko-KR" altLang="en-US" sz="1400" b="1" dirty="0">
                <a:cs typeface="Arial"/>
              </a:rPr>
              <a:t> </a:t>
            </a:r>
            <a:r>
              <a:rPr lang="en-US" sz="1400" b="1" dirty="0">
                <a:cs typeface="Arial"/>
              </a:rPr>
              <a:t>head</a:t>
            </a:r>
            <a:r>
              <a:rPr lang="ko-KR" altLang="en-US" sz="1400" b="1" dirty="0">
                <a:cs typeface="Arial"/>
              </a:rPr>
              <a:t> 단위로 분리</a:t>
            </a:r>
            <a:endParaRPr lang="en-US" sz="1400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ko-KR" altLang="en-US" sz="1400" b="1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ko-KR" b="1" dirty="0">
                <a:cs typeface="Arial"/>
              </a:rPr>
              <a:t>3. </a:t>
            </a:r>
            <a:r>
              <a:rPr lang="ko-KR" b="1" dirty="0" err="1">
                <a:cs typeface="Arial"/>
              </a:rPr>
              <a:t>Minimizing</a:t>
            </a:r>
            <a:r>
              <a:rPr lang="ko-KR" b="1" dirty="0">
                <a:cs typeface="Arial"/>
              </a:rPr>
              <a:t> </a:t>
            </a:r>
            <a:r>
              <a:rPr lang="ko-KR" b="1" dirty="0" err="1">
                <a:cs typeface="Arial"/>
              </a:rPr>
              <a:t>Memory</a:t>
            </a:r>
            <a:r>
              <a:rPr lang="ko-KR" b="1" dirty="0">
                <a:cs typeface="Arial"/>
              </a:rPr>
              <a:t> </a:t>
            </a:r>
            <a:r>
              <a:rPr lang="ko-KR" b="1" dirty="0" err="1">
                <a:cs typeface="Arial"/>
              </a:rPr>
              <a:t>Copies</a:t>
            </a:r>
            <a:endParaRPr lang="ko-KR" b="1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dirty="0">
                <a:cs typeface="Arial"/>
              </a:rPr>
              <a:t>Reshape</a:t>
            </a:r>
            <a:r>
              <a:rPr lang="ko-KR" altLang="en-US" sz="1400" dirty="0">
                <a:cs typeface="Arial"/>
              </a:rPr>
              <a:t>과</a:t>
            </a:r>
            <a:r>
              <a:rPr lang="en-US" sz="1400" dirty="0">
                <a:cs typeface="Arial"/>
              </a:rPr>
              <a:t> transpose </a:t>
            </a:r>
            <a:r>
              <a:rPr lang="ko-KR" altLang="en-US" sz="1400" dirty="0">
                <a:cs typeface="Arial"/>
              </a:rPr>
              <a:t>연산</a:t>
            </a:r>
            <a:r>
              <a:rPr lang="en-US" sz="1400" dirty="0">
                <a:cs typeface="Arial"/>
              </a:rPr>
              <a:t> </a:t>
            </a:r>
            <a:r>
              <a:rPr lang="ko-KR" altLang="en-US" sz="1400" dirty="0">
                <a:cs typeface="Arial"/>
              </a:rPr>
              <a:t>최소화</a:t>
            </a:r>
            <a:r>
              <a:rPr lang="en-US" sz="1400" dirty="0">
                <a:cs typeface="Arial"/>
              </a:rPr>
              <a:t> - </a:t>
            </a:r>
            <a:r>
              <a:rPr lang="en-US" sz="1400" b="1" dirty="0" err="1">
                <a:cs typeface="Arial"/>
              </a:rPr>
              <a:t>einsum</a:t>
            </a:r>
            <a:r>
              <a:rPr lang="en-US" sz="1400" b="1" dirty="0">
                <a:cs typeface="Arial"/>
              </a:rPr>
              <a:t> </a:t>
            </a:r>
            <a:r>
              <a:rPr lang="ko-KR" sz="1400" b="1" dirty="0">
                <a:cs typeface="Arial"/>
              </a:rPr>
              <a:t>공식</a:t>
            </a:r>
            <a:r>
              <a:rPr lang="ko-KR" sz="1400" dirty="0">
                <a:cs typeface="Arial"/>
              </a:rPr>
              <a:t> 활용</a:t>
            </a:r>
            <a:endParaRPr lang="en-US" sz="1400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ko-KR" sz="1400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altLang="ko-KR" b="1" dirty="0">
                <a:cs typeface="Arial"/>
              </a:rPr>
              <a:t>4.</a:t>
            </a:r>
            <a:r>
              <a:rPr lang="ko-KR" altLang="en-US" b="1" dirty="0">
                <a:cs typeface="Arial"/>
              </a:rPr>
              <a:t> </a:t>
            </a:r>
            <a:r>
              <a:rPr lang="en-US" altLang="ko-KR" b="1" dirty="0">
                <a:cs typeface="Arial"/>
              </a:rPr>
              <a:t>Handling</a:t>
            </a:r>
            <a:r>
              <a:rPr lang="ko-KR" altLang="en-US" b="1" dirty="0">
                <a:cs typeface="Arial"/>
              </a:rPr>
              <a:t> </a:t>
            </a:r>
            <a:r>
              <a:rPr lang="en-US" altLang="ko-KR" b="1" dirty="0">
                <a:cs typeface="Arial"/>
              </a:rPr>
              <a:t>Bandwidth-Boundness</a:t>
            </a:r>
            <a:endParaRPr lang="ko-KR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ko-KR" altLang="en-US" sz="1200" dirty="0">
                <a:cs typeface="Arial"/>
              </a:rPr>
              <a:t>배치 크기 증가</a:t>
            </a:r>
            <a:r>
              <a:rPr lang="en-US" sz="1200" dirty="0">
                <a:cs typeface="Arial"/>
              </a:rPr>
              <a:t> </a:t>
            </a:r>
            <a:r>
              <a:rPr lang="en-US" altLang="ko-KR" sz="1200" dirty="0">
                <a:cs typeface="Arial"/>
              </a:rPr>
              <a:t>or </a:t>
            </a:r>
            <a:r>
              <a:rPr lang="ko-KR" altLang="en-US" sz="1200" dirty="0">
                <a:cs typeface="Arial"/>
              </a:rPr>
              <a:t>파라미터 </a:t>
            </a:r>
            <a:r>
              <a:rPr lang="ko-KR" altLang="en-US" sz="1200" dirty="0" err="1">
                <a:cs typeface="Arial"/>
              </a:rPr>
              <a:t>텐서</a:t>
            </a:r>
            <a:r>
              <a:rPr lang="ko-KR" altLang="en-US" sz="1200" dirty="0">
                <a:cs typeface="Arial"/>
              </a:rPr>
              <a:t> 크기 감소</a:t>
            </a:r>
            <a:endParaRPr lang="en-US" sz="1200" dirty="0">
              <a:cs typeface="Arial"/>
            </a:endParaRPr>
          </a:p>
          <a:p>
            <a:pPr>
              <a:lnSpc>
                <a:spcPct val="150000"/>
              </a:lnSpc>
            </a:pPr>
            <a:endParaRPr lang="ko-KR" altLang="en-US" sz="1600" dirty="0">
              <a:cs typeface="Arial"/>
            </a:endParaRPr>
          </a:p>
          <a:p>
            <a:pPr>
              <a:lnSpc>
                <a:spcPct val="150000"/>
              </a:lnSpc>
            </a:pPr>
            <a:endParaRPr lang="ko-KR" altLang="en-US" sz="1600" dirty="0">
              <a:cs typeface="Arial"/>
            </a:endParaRPr>
          </a:p>
          <a:p>
            <a:pPr lvl="1">
              <a:lnSpc>
                <a:spcPct val="150000"/>
              </a:lnSpc>
            </a:pPr>
            <a:endParaRPr lang="en-US" altLang="ko-KR" sz="1600" dirty="0">
              <a:cs typeface="Arial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343DF-F19A-4250-F9F6-BE52CDB35130}"/>
              </a:ext>
            </a:extLst>
          </p:cNvPr>
          <p:cNvSpPr txBox="1"/>
          <p:nvPr/>
        </p:nvSpPr>
        <p:spPr>
          <a:xfrm>
            <a:off x="1083543" y="6400297"/>
            <a:ext cx="70532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Apple ML Research, "Deploying Transformers on the ANE", 2022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137920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A75A0-5AB0-8CE0-0628-D09DA2D36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51AB8-30AB-05E8-8FA3-34DFBC174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" altLang="ko-KR" dirty="0"/>
              <a:t>Swin Transformer</a:t>
            </a:r>
            <a:r>
              <a:rPr lang="ko-KR" altLang="en-US" dirty="0" err="1"/>
              <a:t>에</a:t>
            </a:r>
            <a:r>
              <a:rPr lang="ko-KR" altLang="en-US" dirty="0"/>
              <a:t> </a:t>
            </a:r>
            <a:r>
              <a:rPr lang="en" altLang="ko-KR" dirty="0"/>
              <a:t>ANE </a:t>
            </a:r>
            <a:r>
              <a:rPr lang="ko-KR" altLang="en-US" dirty="0"/>
              <a:t>원칙 적용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5B60E1-962E-B633-3532-7A9D90F9D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E01FD2-9646-BCC2-CFCF-215BD3A3B5F5}"/>
              </a:ext>
            </a:extLst>
          </p:cNvPr>
          <p:cNvSpPr txBox="1"/>
          <p:nvPr/>
        </p:nvSpPr>
        <p:spPr>
          <a:xfrm>
            <a:off x="1083543" y="1268760"/>
            <a:ext cx="10024914" cy="70639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1. Picking the Right Data format -</a:t>
            </a:r>
            <a:r>
              <a:rPr lang="ko-KR" altLang="en-US" b="1" dirty="0"/>
              <a:t> 제약</a:t>
            </a:r>
            <a:endParaRPr lang="en-US" altLang="ko-KR" sz="1200" dirty="0">
              <a:solidFill>
                <a:srgbClr val="474747"/>
              </a:solidFill>
              <a:highlight>
                <a:srgbClr val="FFFFFF"/>
              </a:highlight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altLang="ko-KR" sz="1600" dirty="0"/>
              <a:t>Linear</a:t>
            </a:r>
            <a:r>
              <a:rPr lang="ko-KR" altLang="en-US" sz="1400" dirty="0"/>
              <a:t> 레이어를 모두 </a:t>
            </a:r>
            <a:r>
              <a:rPr lang="en-US" altLang="ko-KR" sz="1600" dirty="0"/>
              <a:t>Conv2d</a:t>
            </a:r>
            <a:r>
              <a:rPr lang="ko-KR" altLang="en-US" sz="1400" dirty="0"/>
              <a:t> 레이어로 교체</a:t>
            </a:r>
            <a:endParaRPr lang="en-US" altLang="ko-KR" sz="1400" dirty="0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/>
              <a:t>(B, S, C) → (B, C, 1, S) 	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sz="1400" dirty="0" err="1">
                <a:solidFill>
                  <a:schemeClr val="accent1"/>
                </a:solidFill>
              </a:rPr>
              <a:t>WindowAttention</a:t>
            </a:r>
            <a:r>
              <a:rPr lang="en" altLang="ko-KR" sz="1400" dirty="0">
                <a:solidFill>
                  <a:schemeClr val="accent1"/>
                </a:solidFill>
              </a:rPr>
              <a:t> </a:t>
            </a:r>
            <a:r>
              <a:rPr lang="ko-KR" altLang="en-US" sz="1400" dirty="0">
                <a:solidFill>
                  <a:schemeClr val="accent1"/>
                </a:solidFill>
              </a:rPr>
              <a:t>내부에서만 </a:t>
            </a:r>
            <a:r>
              <a:rPr lang="en-US" altLang="ko-KR" sz="1400" dirty="0">
                <a:solidFill>
                  <a:schemeClr val="accent1"/>
                </a:solidFill>
              </a:rPr>
              <a:t>(</a:t>
            </a:r>
            <a:r>
              <a:rPr lang="en" altLang="ko-KR" sz="1400" dirty="0">
                <a:solidFill>
                  <a:schemeClr val="accent1"/>
                </a:solidFill>
              </a:rPr>
              <a:t>B, C, 1, N) layout </a:t>
            </a:r>
            <a:r>
              <a:rPr lang="ko-KR" altLang="en-US" sz="1400" dirty="0">
                <a:solidFill>
                  <a:schemeClr val="accent1"/>
                </a:solidFill>
              </a:rPr>
              <a:t>적용 가능 </a:t>
            </a:r>
            <a:r>
              <a:rPr lang="en" altLang="ko-KR" sz="1400" dirty="0" err="1">
                <a:solidFill>
                  <a:schemeClr val="accent1"/>
                </a:solidFill>
              </a:rPr>
              <a:t>ViT</a:t>
            </a:r>
            <a:r>
              <a:rPr lang="en" altLang="ko-KR" sz="1400" dirty="0">
                <a:solidFill>
                  <a:schemeClr val="accent1"/>
                </a:solidFill>
              </a:rPr>
              <a:t>: </a:t>
            </a:r>
            <a:r>
              <a:rPr lang="ko-KR" altLang="en-US" sz="1400" dirty="0">
                <a:solidFill>
                  <a:schemeClr val="accent1"/>
                </a:solidFill>
              </a:rPr>
              <a:t>처음</a:t>
            </a:r>
            <a:r>
              <a:rPr lang="en-US" altLang="ko-KR" sz="1400" dirty="0">
                <a:solidFill>
                  <a:schemeClr val="accent1"/>
                </a:solidFill>
              </a:rPr>
              <a:t>~</a:t>
            </a:r>
            <a:r>
              <a:rPr lang="ko-KR" altLang="en-US" sz="1400" dirty="0">
                <a:solidFill>
                  <a:schemeClr val="accent1"/>
                </a:solidFill>
              </a:rPr>
              <a:t>끝 </a:t>
            </a:r>
            <a:r>
              <a:rPr lang="en-US" altLang="ko-KR" sz="1400" dirty="0">
                <a:solidFill>
                  <a:schemeClr val="accent1"/>
                </a:solidFill>
              </a:rPr>
              <a:t>(</a:t>
            </a:r>
            <a:r>
              <a:rPr lang="en" altLang="ko-KR" sz="1400" dirty="0">
                <a:solidFill>
                  <a:schemeClr val="accent1"/>
                </a:solidFill>
              </a:rPr>
              <a:t>B, C, 1, S) </a:t>
            </a:r>
            <a:r>
              <a:rPr lang="ko-KR" altLang="en-US" sz="1400" dirty="0">
                <a:solidFill>
                  <a:schemeClr val="accent1"/>
                </a:solidFill>
              </a:rPr>
              <a:t>유지 → </a:t>
            </a:r>
            <a:r>
              <a:rPr lang="en" altLang="ko-KR" sz="1400" dirty="0">
                <a:solidFill>
                  <a:schemeClr val="accent1"/>
                </a:solidFill>
              </a:rPr>
              <a:t>reshape 1</a:t>
            </a:r>
            <a:r>
              <a:rPr lang="ko-KR" altLang="en-US" sz="1400" dirty="0">
                <a:solidFill>
                  <a:schemeClr val="accent1"/>
                </a:solidFill>
              </a:rPr>
              <a:t>회</a:t>
            </a:r>
            <a:endParaRPr lang="en-US" altLang="ko-KR" sz="1400" dirty="0">
              <a:solidFill>
                <a:schemeClr val="accent1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sz="1400" dirty="0">
                <a:solidFill>
                  <a:schemeClr val="accent1"/>
                </a:solidFill>
              </a:rPr>
              <a:t>Swin: window</a:t>
            </a:r>
            <a:r>
              <a:rPr lang="ko-KR" altLang="en-US" sz="1400" dirty="0">
                <a:solidFill>
                  <a:schemeClr val="accent1"/>
                </a:solidFill>
              </a:rPr>
              <a:t> </a:t>
            </a:r>
            <a:r>
              <a:rPr lang="en" altLang="ko-KR" sz="1400" dirty="0">
                <a:solidFill>
                  <a:schemeClr val="accent1"/>
                </a:solidFill>
              </a:rPr>
              <a:t>partition</a:t>
            </a:r>
            <a:r>
              <a:rPr lang="ko-KR" altLang="en-US" sz="1400" dirty="0">
                <a:solidFill>
                  <a:schemeClr val="accent1"/>
                </a:solidFill>
              </a:rPr>
              <a:t>이 매 블록마다 공간 구조 </a:t>
            </a:r>
            <a:r>
              <a:rPr lang="en-US" altLang="ko-KR" sz="1400" dirty="0">
                <a:solidFill>
                  <a:schemeClr val="accent1"/>
                </a:solidFill>
              </a:rPr>
              <a:t>(</a:t>
            </a:r>
            <a:r>
              <a:rPr lang="en" altLang="ko-KR" sz="1400" dirty="0">
                <a:solidFill>
                  <a:schemeClr val="accent1"/>
                </a:solidFill>
              </a:rPr>
              <a:t>H, W)</a:t>
            </a:r>
            <a:r>
              <a:rPr lang="ko-KR" altLang="en-US" sz="1400" dirty="0" err="1">
                <a:solidFill>
                  <a:schemeClr val="accent1"/>
                </a:solidFill>
              </a:rPr>
              <a:t>를</a:t>
            </a:r>
            <a:r>
              <a:rPr lang="ko-KR" altLang="en-US" sz="1400" dirty="0">
                <a:solidFill>
                  <a:schemeClr val="accent1"/>
                </a:solidFill>
              </a:rPr>
              <a:t> 요구 → 블록당 진입</a:t>
            </a:r>
            <a:r>
              <a:rPr lang="en-US" altLang="ko-KR" sz="1400" dirty="0">
                <a:solidFill>
                  <a:schemeClr val="accent1"/>
                </a:solidFill>
              </a:rPr>
              <a:t>/</a:t>
            </a:r>
            <a:r>
              <a:rPr lang="ko-KR" altLang="en-US" sz="1400" dirty="0">
                <a:solidFill>
                  <a:schemeClr val="accent1"/>
                </a:solidFill>
              </a:rPr>
              <a:t>퇴장 </a:t>
            </a:r>
            <a:r>
              <a:rPr lang="en" altLang="ko-KR" sz="1400" dirty="0">
                <a:solidFill>
                  <a:schemeClr val="accent1"/>
                </a:solidFill>
              </a:rPr>
              <a:t>reshape 2</a:t>
            </a:r>
            <a:r>
              <a:rPr lang="ko-KR" altLang="en-US" sz="1400" dirty="0">
                <a:solidFill>
                  <a:schemeClr val="accent1"/>
                </a:solidFill>
              </a:rPr>
              <a:t>회 추가</a:t>
            </a:r>
            <a:endParaRPr lang="en-US" altLang="ko-KR" sz="1400" dirty="0">
              <a:solidFill>
                <a:schemeClr val="accent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b="1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cs typeface="Arial"/>
              </a:rPr>
              <a:t>2. Chunking Large Intermediate Tensors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dirty="0">
                <a:cs typeface="Arial"/>
              </a:rPr>
              <a:t>Multi Head Attention</a:t>
            </a:r>
            <a:r>
              <a:rPr lang="ko-KR" altLang="en-US" sz="1400" dirty="0">
                <a:cs typeface="Arial"/>
              </a:rPr>
              <a:t>에서 </a:t>
            </a:r>
            <a:r>
              <a:rPr lang="en-US" sz="1400" dirty="0">
                <a:cs typeface="Arial"/>
              </a:rPr>
              <a:t>query, key, value</a:t>
            </a:r>
            <a:r>
              <a:rPr lang="en-US" altLang="ko-KR" sz="1400" dirty="0">
                <a:cs typeface="Arial"/>
              </a:rPr>
              <a:t> </a:t>
            </a:r>
            <a:r>
              <a:rPr lang="ko-KR" altLang="en-US" sz="1400" b="1" dirty="0" err="1">
                <a:cs typeface="Arial"/>
              </a:rPr>
              <a:t>텐서를</a:t>
            </a:r>
            <a:r>
              <a:rPr lang="ko-KR" altLang="en-US" sz="1400" b="1" dirty="0">
                <a:cs typeface="Arial"/>
              </a:rPr>
              <a:t> </a:t>
            </a:r>
            <a:r>
              <a:rPr lang="en-US" sz="1400" b="1" dirty="0">
                <a:cs typeface="Arial"/>
              </a:rPr>
              <a:t>head</a:t>
            </a:r>
            <a:r>
              <a:rPr lang="ko-KR" altLang="en-US" sz="1400" b="1" dirty="0">
                <a:cs typeface="Arial"/>
              </a:rPr>
              <a:t> 단위로 분리</a:t>
            </a:r>
            <a:endParaRPr lang="en-US" altLang="ko-KR" sz="1400" b="1" dirty="0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" altLang="ko-KR" sz="1400" dirty="0">
                <a:solidFill>
                  <a:schemeClr val="accent1"/>
                </a:solidFill>
              </a:rPr>
              <a:t>window </a:t>
            </a:r>
            <a:r>
              <a:rPr lang="ko-KR" altLang="en-US" sz="1400" dirty="0">
                <a:solidFill>
                  <a:schemeClr val="accent1"/>
                </a:solidFill>
              </a:rPr>
              <a:t>크기 고정</a:t>
            </a:r>
            <a:r>
              <a:rPr lang="en-US" altLang="ko-KR" sz="1400" dirty="0">
                <a:solidFill>
                  <a:schemeClr val="accent1"/>
                </a:solidFill>
              </a:rPr>
              <a:t>(7×7) → </a:t>
            </a:r>
            <a:r>
              <a:rPr lang="en" altLang="ko-KR" sz="1400" dirty="0">
                <a:solidFill>
                  <a:schemeClr val="accent1"/>
                </a:solidFill>
              </a:rPr>
              <a:t>attention </a:t>
            </a:r>
            <a:r>
              <a:rPr lang="ko-KR" altLang="en-US" sz="1400" dirty="0">
                <a:solidFill>
                  <a:schemeClr val="accent1"/>
                </a:solidFill>
              </a:rPr>
              <a:t>행렬 </a:t>
            </a:r>
            <a:r>
              <a:rPr lang="en-US" altLang="ko-KR" sz="1400" dirty="0">
                <a:solidFill>
                  <a:schemeClr val="accent1"/>
                </a:solidFill>
              </a:rPr>
              <a:t>= 49×49 → </a:t>
            </a:r>
            <a:r>
              <a:rPr lang="en" altLang="ko-KR" sz="1400" dirty="0">
                <a:solidFill>
                  <a:schemeClr val="accent1"/>
                </a:solidFill>
              </a:rPr>
              <a:t>head</a:t>
            </a:r>
            <a:r>
              <a:rPr lang="ko-KR" altLang="en-US" sz="1400" dirty="0">
                <a:solidFill>
                  <a:schemeClr val="accent1"/>
                </a:solidFill>
              </a:rPr>
              <a:t>당 </a:t>
            </a:r>
            <a:r>
              <a:rPr lang="en-US" altLang="ko-KR" sz="1400" dirty="0">
                <a:solidFill>
                  <a:schemeClr val="accent1"/>
                </a:solidFill>
              </a:rPr>
              <a:t>4.7 </a:t>
            </a:r>
            <a:r>
              <a:rPr lang="en" altLang="ko-KR" sz="1400" dirty="0">
                <a:solidFill>
                  <a:schemeClr val="accent1"/>
                </a:solidFill>
              </a:rPr>
              <a:t>KiB (FP16) </a:t>
            </a:r>
            <a:br>
              <a:rPr lang="en" altLang="ko-KR" sz="1400" dirty="0">
                <a:solidFill>
                  <a:schemeClr val="accent1"/>
                </a:solidFill>
              </a:rPr>
            </a:br>
            <a:r>
              <a:rPr lang="en" altLang="ko-KR" sz="1400" dirty="0">
                <a:solidFill>
                  <a:schemeClr val="accent1"/>
                </a:solidFill>
              </a:rPr>
              <a:t>ANE SRAM(~32 MB) </a:t>
            </a:r>
            <a:r>
              <a:rPr lang="ko-KR" altLang="en-US" sz="1400" dirty="0">
                <a:solidFill>
                  <a:schemeClr val="accent1"/>
                </a:solidFill>
              </a:rPr>
              <a:t>대비 극히 작아 </a:t>
            </a:r>
            <a:r>
              <a:rPr lang="en" altLang="ko-KR" sz="1400" dirty="0">
                <a:solidFill>
                  <a:schemeClr val="accent1"/>
                </a:solidFill>
              </a:rPr>
              <a:t>chunking </a:t>
            </a:r>
            <a:r>
              <a:rPr lang="ko-KR" altLang="en-US" sz="1400" dirty="0">
                <a:solidFill>
                  <a:schemeClr val="accent1"/>
                </a:solidFill>
              </a:rPr>
              <a:t>이득 없음</a:t>
            </a:r>
            <a:endParaRPr lang="en-US" sz="1400" dirty="0">
              <a:solidFill>
                <a:schemeClr val="accent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ko-KR" altLang="en-US" sz="1400" b="1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ko-KR" b="1" dirty="0">
                <a:cs typeface="Arial"/>
              </a:rPr>
              <a:t>3. </a:t>
            </a:r>
            <a:r>
              <a:rPr lang="ko-KR" b="1" dirty="0" err="1">
                <a:cs typeface="Arial"/>
              </a:rPr>
              <a:t>Minimizing</a:t>
            </a:r>
            <a:r>
              <a:rPr lang="ko-KR" b="1" dirty="0">
                <a:cs typeface="Arial"/>
              </a:rPr>
              <a:t> </a:t>
            </a:r>
            <a:r>
              <a:rPr lang="ko-KR" b="1" dirty="0" err="1">
                <a:cs typeface="Arial"/>
              </a:rPr>
              <a:t>Memory</a:t>
            </a:r>
            <a:r>
              <a:rPr lang="ko-KR" b="1" dirty="0">
                <a:cs typeface="Arial"/>
              </a:rPr>
              <a:t> </a:t>
            </a:r>
            <a:r>
              <a:rPr lang="ko-KR" b="1" dirty="0" err="1">
                <a:cs typeface="Arial"/>
              </a:rPr>
              <a:t>Copies</a:t>
            </a:r>
            <a:endParaRPr lang="ko-KR" b="1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dirty="0">
                <a:cs typeface="Arial"/>
              </a:rPr>
              <a:t>Reshape</a:t>
            </a:r>
            <a:r>
              <a:rPr lang="ko-KR" altLang="en-US" sz="1400" dirty="0">
                <a:cs typeface="Arial"/>
              </a:rPr>
              <a:t>과</a:t>
            </a:r>
            <a:r>
              <a:rPr lang="en-US" sz="1400" dirty="0">
                <a:cs typeface="Arial"/>
              </a:rPr>
              <a:t> transpose </a:t>
            </a:r>
            <a:r>
              <a:rPr lang="ko-KR" altLang="en-US" sz="1400" dirty="0">
                <a:cs typeface="Arial"/>
              </a:rPr>
              <a:t>연산</a:t>
            </a:r>
            <a:r>
              <a:rPr lang="en-US" sz="1400" dirty="0">
                <a:cs typeface="Arial"/>
              </a:rPr>
              <a:t> </a:t>
            </a:r>
            <a:r>
              <a:rPr lang="ko-KR" altLang="en-US" sz="1400" dirty="0">
                <a:cs typeface="Arial"/>
              </a:rPr>
              <a:t>최소화</a:t>
            </a:r>
            <a:r>
              <a:rPr lang="en-US" sz="1400" dirty="0">
                <a:cs typeface="Arial"/>
              </a:rPr>
              <a:t> - </a:t>
            </a:r>
            <a:r>
              <a:rPr lang="en-US" sz="1400" b="1" dirty="0" err="1">
                <a:cs typeface="Arial"/>
              </a:rPr>
              <a:t>einsum</a:t>
            </a:r>
            <a:r>
              <a:rPr lang="en-US" sz="1400" b="1" dirty="0">
                <a:cs typeface="Arial"/>
              </a:rPr>
              <a:t> </a:t>
            </a:r>
            <a:r>
              <a:rPr lang="ko-KR" sz="1400" b="1" dirty="0">
                <a:cs typeface="Arial"/>
              </a:rPr>
              <a:t>공식</a:t>
            </a:r>
            <a:r>
              <a:rPr lang="ko-KR" sz="1400" dirty="0">
                <a:cs typeface="Arial"/>
              </a:rPr>
              <a:t> 활용</a:t>
            </a:r>
            <a:endParaRPr lang="en-US" altLang="ko-KR" sz="1400" dirty="0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" altLang="ko-KR" sz="1400" dirty="0" err="1">
                <a:solidFill>
                  <a:schemeClr val="accent1"/>
                </a:solidFill>
              </a:rPr>
              <a:t>einsum</a:t>
            </a:r>
            <a:r>
              <a:rPr lang="en" altLang="ko-KR" sz="1400" dirty="0">
                <a:solidFill>
                  <a:schemeClr val="accent1"/>
                </a:solidFill>
              </a:rPr>
              <a:t> </a:t>
            </a:r>
            <a:r>
              <a:rPr lang="ko-KR" altLang="en-US" sz="1400" dirty="0">
                <a:solidFill>
                  <a:schemeClr val="accent1"/>
                </a:solidFill>
              </a:rPr>
              <a:t>적용 자체는 수학적으로 동치</a:t>
            </a:r>
            <a:r>
              <a:rPr lang="en-US" altLang="ko-KR" sz="1400" dirty="0">
                <a:solidFill>
                  <a:schemeClr val="accent1"/>
                </a:solidFill>
              </a:rPr>
              <a:t>, </a:t>
            </a:r>
            <a:r>
              <a:rPr lang="ko-KR" altLang="en-US" sz="1400" dirty="0">
                <a:solidFill>
                  <a:schemeClr val="accent1"/>
                </a:solidFill>
              </a:rPr>
              <a:t>변환 가능 </a:t>
            </a:r>
            <a:r>
              <a:rPr lang="en" altLang="ko-KR" sz="1400" dirty="0" err="1">
                <a:solidFill>
                  <a:schemeClr val="accent1"/>
                </a:solidFill>
              </a:rPr>
              <a:t>ViT</a:t>
            </a:r>
            <a:r>
              <a:rPr lang="en" altLang="ko-KR" sz="1400" dirty="0">
                <a:solidFill>
                  <a:schemeClr val="accent1"/>
                </a:solidFill>
              </a:rPr>
              <a:t>: S</a:t>
            </a:r>
            <a:r>
              <a:rPr lang="ko-KR" altLang="en-US" sz="1400" dirty="0">
                <a:solidFill>
                  <a:schemeClr val="accent1"/>
                </a:solidFill>
              </a:rPr>
              <a:t>가 클수록 </a:t>
            </a:r>
            <a:r>
              <a:rPr lang="en" altLang="ko-KR" sz="1400" dirty="0">
                <a:solidFill>
                  <a:schemeClr val="accent1"/>
                </a:solidFill>
              </a:rPr>
              <a:t>transpose memory copy </a:t>
            </a:r>
            <a:r>
              <a:rPr lang="ko-KR" altLang="en-US" sz="1400" dirty="0">
                <a:solidFill>
                  <a:schemeClr val="accent1"/>
                </a:solidFill>
              </a:rPr>
              <a:t>절감 효과 큼</a:t>
            </a:r>
            <a:endParaRPr lang="en-US" altLang="ko-KR" sz="1400" dirty="0">
              <a:solidFill>
                <a:schemeClr val="accent1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" altLang="ko-KR" sz="1400" dirty="0">
                <a:solidFill>
                  <a:schemeClr val="accent1"/>
                </a:solidFill>
              </a:rPr>
              <a:t>Swin: S = 49 </a:t>
            </a:r>
            <a:r>
              <a:rPr lang="ko-KR" altLang="en-US" sz="1400" dirty="0">
                <a:solidFill>
                  <a:schemeClr val="accent1"/>
                </a:solidFill>
              </a:rPr>
              <a:t>고정 → 절감할 </a:t>
            </a:r>
            <a:r>
              <a:rPr lang="en" altLang="ko-KR" sz="1400" dirty="0">
                <a:solidFill>
                  <a:schemeClr val="accent1"/>
                </a:solidFill>
              </a:rPr>
              <a:t>memory copy </a:t>
            </a:r>
            <a:r>
              <a:rPr lang="ko-KR" altLang="en-US" sz="1400" dirty="0">
                <a:solidFill>
                  <a:schemeClr val="accent1"/>
                </a:solidFill>
              </a:rPr>
              <a:t>자체가 작음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ko-KR" altLang="en-US" sz="1600" dirty="0"/>
          </a:p>
          <a:p>
            <a:pPr>
              <a:lnSpc>
                <a:spcPct val="150000"/>
              </a:lnSpc>
            </a:pPr>
            <a:endParaRPr lang="ko-KR" altLang="en-US" sz="1600" dirty="0">
              <a:cs typeface="Arial"/>
            </a:endParaRPr>
          </a:p>
          <a:p>
            <a:pPr>
              <a:lnSpc>
                <a:spcPct val="150000"/>
              </a:lnSpc>
            </a:pPr>
            <a:endParaRPr lang="ko-KR" altLang="en-US" sz="1600" dirty="0">
              <a:cs typeface="Arial"/>
            </a:endParaRPr>
          </a:p>
          <a:p>
            <a:pPr lvl="1">
              <a:lnSpc>
                <a:spcPct val="150000"/>
              </a:lnSpc>
            </a:pPr>
            <a:endParaRPr lang="en-US" altLang="ko-KR" sz="1600" dirty="0">
              <a:cs typeface="Arial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EF0F7A-8922-EAA6-325A-DB28820FEB3E}"/>
              </a:ext>
            </a:extLst>
          </p:cNvPr>
          <p:cNvSpPr txBox="1"/>
          <p:nvPr/>
        </p:nvSpPr>
        <p:spPr>
          <a:xfrm>
            <a:off x="1083543" y="6400297"/>
            <a:ext cx="70532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Apple ML Research, "Deploying Transformers on the ANE", 2022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952565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D2EA7-98EF-332A-9095-B4723442E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6E2AC3-0806-62A3-D8E5-C25659FD4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SwinT-224 </a:t>
            </a:r>
            <a:r>
              <a:rPr lang="ko-KR" altLang="en-US" dirty="0"/>
              <a:t>모델 크기별 비교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929668-C915-5326-463D-B49F8490F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571E48A-098E-533D-6743-C8B3B83EA1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560"/>
          <a:stretch>
            <a:fillRect/>
          </a:stretch>
        </p:blipFill>
        <p:spPr>
          <a:xfrm>
            <a:off x="2310181" y="1190892"/>
            <a:ext cx="7938719" cy="5330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817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26781-4380-477C-B8CB-3BC542E1D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148D3F-6A63-D91C-C203-6BD9F93E8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SwinT-224 </a:t>
            </a:r>
            <a:r>
              <a:rPr lang="ko-KR" altLang="en-US" dirty="0"/>
              <a:t>모델 크기별 비교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84D9B4-61A3-E4D3-BEF4-0297842DE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E822E13-902C-82E4-5BD9-B81EC301A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364" y="1174400"/>
            <a:ext cx="8772226" cy="48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748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49D10-C97B-9C95-1663-15BDD8352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478348-8984-0DF0-BD72-09F05DD52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GUI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F9576F-D4A7-17CF-0338-6D48EDEE8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F48527B-FAAE-3D6B-784A-837A51C83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0542" y="505036"/>
            <a:ext cx="7187653" cy="620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690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8638</TotalTime>
  <Words>406</Words>
  <Application>Microsoft Macintosh PowerPoint</Application>
  <PresentationFormat>와이드스크린</PresentationFormat>
  <Paragraphs>66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Arial,Sans-Serif</vt:lpstr>
      <vt:lpstr>Arial</vt:lpstr>
      <vt:lpstr>Office 테마</vt:lpstr>
      <vt:lpstr>EoMT Apple Neural Engine (10)</vt:lpstr>
      <vt:lpstr>목표 및 진행사항</vt:lpstr>
      <vt:lpstr>ANE transformers – 원리 </vt:lpstr>
      <vt:lpstr>Swin Transformer에 ANE 원칙 적용</vt:lpstr>
      <vt:lpstr>SwinT-224 모델 크기별 비교(1)</vt:lpstr>
      <vt:lpstr>SwinT-224 모델 크기별 비교(2)</vt:lpstr>
      <vt:lpstr>GUI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이수현</cp:lastModifiedBy>
  <cp:revision>1858</cp:revision>
  <dcterms:created xsi:type="dcterms:W3CDTF">2023-03-06T16:32:37Z</dcterms:created>
  <dcterms:modified xsi:type="dcterms:W3CDTF">2026-05-13T08:16:42Z</dcterms:modified>
</cp:coreProperties>
</file>