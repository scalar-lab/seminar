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83" r:id="rId4"/>
    <p:sldId id="285" r:id="rId5"/>
    <p:sldId id="292" r:id="rId6"/>
    <p:sldId id="29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83718" autoAdjust="0"/>
  </p:normalViewPr>
  <p:slideViewPr>
    <p:cSldViewPr snapToGrid="0">
      <p:cViewPr varScale="1">
        <p:scale>
          <a:sx n="89" d="100"/>
          <a:sy n="89" d="100"/>
        </p:scale>
        <p:origin x="96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7A12-B46E-28E4-55AF-4890CCEB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5D3393-12C9-E812-777E-5BEC92329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93A55-FD62-2B31-BBDF-22C382B2A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10105-BB9F-B543-82C0-82B9389D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EA33-1EB0-E3D6-C154-9B3DB9F1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050708-8EFA-44E7-D4A2-BB676A2AB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BD97C-2102-F17F-6EF1-64110383B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76E572-E8A4-6538-6D12-B1C66AB71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555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</a:t>
            </a:r>
            <a:r>
              <a:rPr lang="en-US" altLang="ko-KR" sz="32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Engine (4)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3</a:t>
            </a:r>
            <a:r>
              <a:rPr lang="ko-KR" altLang="en-US" b="1" dirty="0">
                <a:solidFill>
                  <a:srgbClr val="002C62"/>
                </a:solidFill>
              </a:rPr>
              <a:t>월 1</a:t>
            </a:r>
            <a:r>
              <a:rPr lang="en-US" altLang="ko-KR" b="1">
                <a:solidFill>
                  <a:srgbClr val="002C62"/>
                </a:solidFill>
              </a:rPr>
              <a:t>8</a:t>
            </a:r>
            <a:r>
              <a:rPr lang="ko-KR" altLang="en-US" b="1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48423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 transformer</a:t>
            </a:r>
            <a:r>
              <a:rPr lang="ko-KR" altLang="en-US" dirty="0"/>
              <a:t>의 원리를 적용한 </a:t>
            </a:r>
            <a:r>
              <a:rPr lang="en-US" altLang="ko-KR" dirty="0"/>
              <a:t>EoMT_p1p2p3 model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수정한 </a:t>
            </a:r>
            <a:r>
              <a:rPr lang="en-US" altLang="ko-KR" dirty="0"/>
              <a:t>후 </a:t>
            </a:r>
            <a:r>
              <a:rPr lang="ko-KR" altLang="en-US" dirty="0"/>
              <a:t>성능</a:t>
            </a:r>
            <a:r>
              <a:rPr lang="en-US" altLang="ko-KR" dirty="0"/>
              <a:t>(</a:t>
            </a:r>
            <a:r>
              <a:rPr lang="ko-KR" altLang="en-US" dirty="0"/>
              <a:t>속도</a:t>
            </a:r>
            <a:r>
              <a:rPr lang="en-US" altLang="ko-KR" dirty="0"/>
              <a:t>, </a:t>
            </a:r>
            <a:r>
              <a:rPr lang="ko-KR" altLang="en-US" dirty="0"/>
              <a:t>정확도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 err="1"/>
              <a:t>비교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ANE-transformer </a:t>
            </a:r>
            <a:r>
              <a:rPr lang="ko-KR" altLang="en-US" dirty="0"/>
              <a:t>방식을 </a:t>
            </a:r>
            <a:r>
              <a:rPr lang="en-US" altLang="ko-KR" dirty="0" err="1"/>
              <a:t>ViT</a:t>
            </a:r>
            <a:r>
              <a:rPr lang="ko-KR" altLang="en-US" dirty="0"/>
              <a:t>에 적용 → </a:t>
            </a:r>
            <a:r>
              <a:rPr lang="en-US" altLang="ko-KR" dirty="0"/>
              <a:t>dino-v2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5641F-1DF3-55A6-CF36-D6C67691180E}"/>
              </a:ext>
            </a:extLst>
          </p:cNvPr>
          <p:cNvSpPr txBox="1"/>
          <p:nvPr/>
        </p:nvSpPr>
        <p:spPr>
          <a:xfrm>
            <a:off x="1627829" y="863604"/>
            <a:ext cx="4860626" cy="785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Performance Report – (median)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>
                <a:cs typeface="Arial"/>
              </a:rPr>
              <a:t>P1: linear -&gt; conv2d, P2: ​split head, P3: </a:t>
            </a:r>
            <a:r>
              <a:rPr lang="en-US" altLang="ko-KR" sz="1600" dirty="0" err="1">
                <a:cs typeface="Arial"/>
              </a:rPr>
              <a:t>einsum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88705"/>
              </p:ext>
            </p:extLst>
          </p:nvPr>
        </p:nvGraphicFramePr>
        <p:xfrm>
          <a:off x="1752600" y="1648947"/>
          <a:ext cx="8423938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91">
                  <a:extLst>
                    <a:ext uri="{9D8B030D-6E8A-4147-A177-3AD203B41FA5}">
                      <a16:colId xmlns:a16="http://schemas.microsoft.com/office/drawing/2014/main" val="2428669688"/>
                    </a:ext>
                  </a:extLst>
                </a:gridCol>
                <a:gridCol w="1563987">
                  <a:extLst>
                    <a:ext uri="{9D8B030D-6E8A-4147-A177-3AD203B41FA5}">
                      <a16:colId xmlns:a16="http://schemas.microsoft.com/office/drawing/2014/main" val="3490613576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403990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38150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err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r>
                        <a:rPr lang="ko-KR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lang="ko-KR" sz="180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48064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(FP16)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ANE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CPU: 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ANE: 330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62.49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22.14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65.44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48064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GPU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CPU: 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GPU: 334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45.75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23.33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64.49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  <a:tr h="48064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P1 &amp; P2 &amp; P3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ANE: 691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50.56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30.39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95.35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6278"/>
                  </a:ext>
                </a:extLst>
              </a:tr>
              <a:tr h="48064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 and GPU</a:t>
                      </a:r>
                      <a:endParaRPr lang="ko-KR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692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81.44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35.27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97.56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3627"/>
                  </a:ext>
                </a:extLst>
              </a:tr>
              <a:tr h="579120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P1 &amp; P2 &amp; P3 (</a:t>
                      </a:r>
                      <a:r>
                        <a:rPr lang="ko-KR" altLang="en-US" sz="1600" dirty="0"/>
                        <a:t>수정</a:t>
                      </a:r>
                      <a:r>
                        <a:rPr lang="en-US" altLang="ko-KR" sz="1600" dirty="0"/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ANE: 566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49.82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28.04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90.77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2989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 and GPU</a:t>
                      </a:r>
                      <a:endParaRPr lang="ko-KR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 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567</a:t>
                      </a:r>
                      <a:endParaRPr lang="ko-KR" altLang="en-US" sz="1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83.15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36.73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92.64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30309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All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600" b="0" dirty="0"/>
                        <a:t>CPU: 3</a:t>
                      </a:r>
                      <a:br>
                        <a:rPr lang="en-US" altLang="ko-KR" sz="1600" b="0" dirty="0"/>
                      </a:br>
                      <a:r>
                        <a:rPr lang="en-US" altLang="ko-KR" sz="1600" b="0" dirty="0"/>
                        <a:t>ANE: 566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49.87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91.49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85275"/>
                  </a:ext>
                </a:extLst>
              </a:tr>
              <a:tr h="579120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600" dirty="0"/>
                        <a:t>CPU: 569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127.38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25.38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102.77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89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2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ACDC-02B1-E855-F986-E29247B0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9449-9D19-E2A9-D5FD-354248E4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9F3EE-F697-83CE-D594-070D7DCF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E38B0C-2DD8-12A5-E386-42031AC8E23B}"/>
              </a:ext>
            </a:extLst>
          </p:cNvPr>
          <p:cNvSpPr txBox="1"/>
          <p:nvPr/>
        </p:nvSpPr>
        <p:spPr>
          <a:xfrm>
            <a:off x="1083543" y="1268760"/>
            <a:ext cx="10376559" cy="785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cs typeface="Arial"/>
              </a:rPr>
              <a:t>embeddings에서의</a:t>
            </a:r>
            <a:r>
              <a:rPr lang="ko-KR" altLang="en-US" sz="1600" dirty="0">
                <a:cs typeface="Arial"/>
              </a:rPr>
              <a:t> </a:t>
            </a:r>
            <a:r>
              <a:rPr lang="ko-KR" altLang="en-US" sz="1600" dirty="0" err="1">
                <a:cs typeface="Arial"/>
              </a:rPr>
              <a:t>concat</a:t>
            </a:r>
            <a:r>
              <a:rPr lang="ko-KR" altLang="en-US" sz="1600" dirty="0">
                <a:cs typeface="Arial"/>
              </a:rPr>
              <a:t> 순서 변경 적용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Arial"/>
              </a:rPr>
              <a:t> </a:t>
            </a:r>
            <a:r>
              <a:rPr lang="ko-KR" altLang="en-US" sz="1600" dirty="0" err="1">
                <a:cs typeface="Arial"/>
              </a:rPr>
              <a:t>cls_token</a:t>
            </a:r>
            <a:r>
              <a:rPr lang="ko-KR" altLang="en-US" sz="1600" dirty="0">
                <a:cs typeface="Arial"/>
              </a:rPr>
              <a:t>(1) + </a:t>
            </a:r>
            <a:r>
              <a:rPr lang="ko-KR" altLang="en-US" sz="1600" dirty="0" err="1">
                <a:cs typeface="Arial"/>
              </a:rPr>
              <a:t>register_token</a:t>
            </a:r>
            <a:r>
              <a:rPr lang="ko-KR" altLang="en-US" sz="1600" dirty="0">
                <a:cs typeface="Arial"/>
              </a:rPr>
              <a:t>(5) + </a:t>
            </a:r>
            <a:r>
              <a:rPr lang="ko-KR" altLang="en-US" sz="1600" dirty="0" err="1">
                <a:cs typeface="Arial"/>
              </a:rPr>
              <a:t>patch</a:t>
            </a:r>
            <a:r>
              <a:rPr lang="ko-KR" altLang="en-US" sz="1600" dirty="0">
                <a:cs typeface="Arial"/>
              </a:rPr>
              <a:t>(1600) -&gt; </a:t>
            </a:r>
            <a:r>
              <a:rPr lang="ko-KR" sz="1600" dirty="0" err="1">
                <a:cs typeface="Arial"/>
              </a:rPr>
              <a:t>cls_token</a:t>
            </a:r>
            <a:r>
              <a:rPr lang="ko-KR" sz="1600" dirty="0">
                <a:cs typeface="Arial"/>
              </a:rPr>
              <a:t>(1) + </a:t>
            </a:r>
            <a:r>
              <a:rPr lang="ko-KR" sz="1600" dirty="0" err="1">
                <a:cs typeface="Arial"/>
              </a:rPr>
              <a:t>patch</a:t>
            </a:r>
            <a:r>
              <a:rPr lang="ko-KR" sz="1600" dirty="0">
                <a:cs typeface="Arial"/>
              </a:rPr>
              <a:t>(1600) </a:t>
            </a:r>
            <a:r>
              <a:rPr lang="en-US" altLang="ko-KR" sz="1600" dirty="0">
                <a:cs typeface="Arial"/>
              </a:rPr>
              <a:t>+ </a:t>
            </a:r>
            <a:r>
              <a:rPr lang="en-US" altLang="ko-KR" sz="1600" dirty="0" err="1">
                <a:cs typeface="Arial"/>
              </a:rPr>
              <a:t>register_token</a:t>
            </a:r>
            <a:r>
              <a:rPr lang="en-US" altLang="ko-KR" sz="1600" dirty="0">
                <a:cs typeface="Arial"/>
              </a:rPr>
              <a:t>(5)</a:t>
            </a:r>
            <a:endParaRPr lang="ko-KR" sz="1600" dirty="0">
              <a:cs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4C7D6B-CC22-0792-FDE3-2BAF28F51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53254"/>
              </p:ext>
            </p:extLst>
          </p:nvPr>
        </p:nvGraphicFramePr>
        <p:xfrm>
          <a:off x="3018522" y="2979057"/>
          <a:ext cx="6154956" cy="27384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1059188567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4205353929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3097251778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2638372366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Model​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PQ (%)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SQ (%)</a:t>
                      </a:r>
                      <a:endParaRPr lang="ko-KR" altLang="en-US" dirty="0"/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ffectLst/>
                        </a:rPr>
                        <a:t>RQ (%)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748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Arial"/>
                        </a:rPr>
                        <a:t>순서 변경 FP16</a:t>
                      </a:r>
                      <a:br>
                        <a:rPr lang="en-US" altLang="ko-KR" sz="1600" dirty="0">
                          <a:effectLst/>
                          <a:latin typeface="Arial"/>
                        </a:rPr>
                      </a:br>
                      <a:r>
                        <a:rPr lang="ko-KR" altLang="en-US" sz="1600" dirty="0">
                          <a:effectLst/>
                          <a:latin typeface="Arial"/>
                        </a:rPr>
                        <a:t> CPU and ANE</a:t>
                      </a:r>
                      <a:endParaRPr lang="ko-KR" alt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42.14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81.24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51.48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08878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FP16</a:t>
                      </a:r>
                      <a:br>
                        <a:rPr lang="en-US" sz="1600" dirty="0">
                          <a:effectLst/>
                          <a:latin typeface="Arial"/>
                        </a:rPr>
                      </a:br>
                      <a:r>
                        <a:rPr lang="en-US" sz="1600" dirty="0">
                          <a:effectLst/>
                          <a:latin typeface="Arial"/>
                        </a:rPr>
                        <a:t>CPU and ANE</a:t>
                      </a:r>
                      <a:endParaRPr 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14.31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44.72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22.34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48993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FP16​</a:t>
                      </a:r>
                      <a:br>
                        <a:rPr lang="en-US" sz="1600" dirty="0">
                          <a:effectLst/>
                          <a:latin typeface="Arial"/>
                        </a:rPr>
                      </a:br>
                      <a:r>
                        <a:rPr lang="en-US" sz="1600" dirty="0">
                          <a:effectLst/>
                          <a:latin typeface="Arial"/>
                        </a:rPr>
                        <a:t>CPU and GPU</a:t>
                      </a:r>
                      <a:endParaRPr 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44.74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84.15</a:t>
                      </a:r>
                      <a:endParaRPr lang="ko-KR" altLang="en-US" dirty="0"/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52.92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06623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P1&amp;P2&amp;P3 (</a:t>
                      </a:r>
                      <a:r>
                        <a:rPr lang="ko-KR" altLang="en-US" sz="1600" dirty="0">
                          <a:effectLst/>
                          <a:latin typeface="Arial"/>
                        </a:rPr>
                        <a:t>수정</a:t>
                      </a:r>
                      <a:r>
                        <a:rPr lang="en-US" altLang="ko-KR" sz="1600" dirty="0">
                          <a:effectLst/>
                          <a:latin typeface="Arial"/>
                        </a:rPr>
                        <a:t>)</a:t>
                      </a:r>
                    </a:p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CPU and ANE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41.10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82.46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49.35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>
                      <a:solidFill>
                        <a:srgbClr val="000000"/>
                      </a:solidFill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25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6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34D0-4E46-21F4-5CDA-6FDF37C3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83333-799C-BCBA-1F44-04CA5388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B65913-35F7-F01D-0843-01FD9BFA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5E6A8-DA57-741B-BC6A-9A6B0DA4BE40}"/>
              </a:ext>
            </a:extLst>
          </p:cNvPr>
          <p:cNvSpPr txBox="1"/>
          <p:nvPr/>
        </p:nvSpPr>
        <p:spPr>
          <a:xfrm>
            <a:off x="1083543" y="1268760"/>
            <a:ext cx="6893234" cy="300133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/>
              </a:rPr>
              <a:t>Subclassing</a:t>
            </a:r>
            <a:r>
              <a:rPr lang="ko-KR" altLang="en-US" sz="1600" dirty="0">
                <a:cs typeface="Arial"/>
              </a:rPr>
              <a:t> 방식 </a:t>
            </a:r>
            <a:r>
              <a:rPr lang="ko-KR" altLang="en-US" sz="1600" dirty="0"/>
              <a:t>→</a:t>
            </a:r>
            <a:r>
              <a:rPr lang="ko-KR" altLang="en-US" sz="1600" dirty="0">
                <a:cs typeface="Arial"/>
              </a:rPr>
              <a:t> 무의미</a:t>
            </a:r>
            <a:endParaRPr lang="en-US" altLang="ko-KR" sz="16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cs typeface="Arial"/>
              </a:rPr>
              <a:t>torch.jit.trace</a:t>
            </a:r>
            <a:endParaRPr lang="en-US" altLang="ko-KR" sz="16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/>
              </a:rPr>
              <a:t>Iphone13</a:t>
            </a:r>
            <a:r>
              <a:rPr lang="ko-KR" altLang="en-US" sz="1600" dirty="0">
                <a:cs typeface="Arial"/>
              </a:rPr>
              <a:t>에서 </a:t>
            </a:r>
            <a:r>
              <a:rPr lang="en-US" altLang="ko-KR" sz="1600" dirty="0">
                <a:cs typeface="Arial"/>
              </a:rPr>
              <a:t>inference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/>
              </a:rPr>
              <a:t>ANE </a:t>
            </a:r>
            <a:r>
              <a:rPr lang="ko-KR" altLang="en-US" sz="1600" dirty="0">
                <a:cs typeface="Arial"/>
              </a:rPr>
              <a:t>사용 모드에서 </a:t>
            </a:r>
            <a:r>
              <a:rPr lang="en-US" altLang="ko-KR" sz="1600" dirty="0">
                <a:cs typeface="Arial"/>
              </a:rPr>
              <a:t>Prediction time</a:t>
            </a:r>
            <a:r>
              <a:rPr lang="ko-KR" altLang="en-US" sz="1600" dirty="0">
                <a:cs typeface="Arial"/>
              </a:rPr>
              <a:t>이 </a:t>
            </a:r>
            <a:r>
              <a:rPr lang="en-US" altLang="ko-KR" sz="1600" dirty="0">
                <a:cs typeface="Arial"/>
              </a:rPr>
              <a:t>iphone17</a:t>
            </a:r>
            <a:r>
              <a:rPr lang="ko-KR" altLang="en-US" sz="1600" dirty="0">
                <a:cs typeface="Arial"/>
              </a:rPr>
              <a:t>보다</a:t>
            </a:r>
            <a:r>
              <a:rPr lang="en-US" altLang="ko-KR" sz="1600" dirty="0">
                <a:cs typeface="Arial"/>
              </a:rPr>
              <a:t> 6~7ms </a:t>
            </a:r>
            <a:r>
              <a:rPr lang="ko-KR" altLang="en-US" sz="1600" dirty="0">
                <a:cs typeface="Arial"/>
              </a:rPr>
              <a:t>더 긺</a:t>
            </a:r>
            <a:r>
              <a:rPr lang="en-US" altLang="ko-KR" sz="1600" dirty="0">
                <a:cs typeface="Arial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Arial"/>
              </a:rPr>
              <a:t>다른 </a:t>
            </a:r>
            <a:r>
              <a:rPr lang="en-US" altLang="ko-KR" sz="1600" dirty="0" err="1">
                <a:cs typeface="Arial"/>
              </a:rPr>
              <a:t>ViT</a:t>
            </a:r>
            <a:r>
              <a:rPr lang="en-US" altLang="ko-KR" sz="1600" dirty="0">
                <a:cs typeface="Arial"/>
              </a:rPr>
              <a:t> </a:t>
            </a:r>
            <a:r>
              <a:rPr lang="ko-KR" altLang="en-US" sz="1600" dirty="0">
                <a:cs typeface="Arial"/>
              </a:rPr>
              <a:t>모델에서의 적용 고려 중</a:t>
            </a:r>
            <a:endParaRPr lang="en-US" altLang="ko-KR" sz="16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/>
              </a:rPr>
              <a:t>dino-v2</a:t>
            </a:r>
            <a:endParaRPr lang="ko-KR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920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6166</TotalTime>
  <Words>472</Words>
  <Application>Microsoft Office PowerPoint</Application>
  <PresentationFormat>와이드스크린</PresentationFormat>
  <Paragraphs>127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Arial,Sans-Serif</vt:lpstr>
      <vt:lpstr>맑은 고딕</vt:lpstr>
      <vt:lpstr>Arial</vt:lpstr>
      <vt:lpstr>Office 테마</vt:lpstr>
      <vt:lpstr>EoMT Apple Neural Engine (4)</vt:lpstr>
      <vt:lpstr>목표 및 진행사항</vt:lpstr>
      <vt:lpstr>ANE transformers – 원리 </vt:lpstr>
      <vt:lpstr>EoMT ANE</vt:lpstr>
      <vt:lpstr>EoMT ANE</vt:lpstr>
      <vt:lpstr>EoMT ANE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1777</cp:revision>
  <dcterms:created xsi:type="dcterms:W3CDTF">2023-03-06T16:32:37Z</dcterms:created>
  <dcterms:modified xsi:type="dcterms:W3CDTF">2026-03-18T08:53:09Z</dcterms:modified>
</cp:coreProperties>
</file>