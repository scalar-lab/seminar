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83" r:id="rId4"/>
    <p:sldId id="287" r:id="rId5"/>
    <p:sldId id="286" r:id="rId6"/>
    <p:sldId id="289" r:id="rId7"/>
    <p:sldId id="29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4" autoAdjust="0"/>
    <p:restoredTop sz="83676" autoAdjust="0"/>
  </p:normalViewPr>
  <p:slideViewPr>
    <p:cSldViewPr snapToGrid="0">
      <p:cViewPr varScale="1">
        <p:scale>
          <a:sx n="84" d="100"/>
          <a:sy n="84" d="100"/>
        </p:scale>
        <p:origin x="200" y="4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8939-E811-BAA3-D8E1-C6AF074D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6CB4A-C803-8756-F7D9-CBA3D7A2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35A58-FF9C-B813-5072-67FD837AD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DD421-993F-D04A-3C9A-CE7B8CA0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49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4-4781-B11F-1C35-D6B2365D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358E46-5F20-87FA-FBAE-615971920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2EFF28-2E4C-500F-1020-7AF754691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2A519-F73C-94DB-0D55-B2E989F68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99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626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2026. 4. 8.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Apple Neural </a:t>
            </a:r>
            <a:r>
              <a:rPr lang="en-US" altLang="ko-KR" sz="32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Engine (7)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4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8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550792"/>
            <a:ext cx="9666514" cy="31799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~6월)</a:t>
            </a:r>
            <a:endParaRPr lang="ko-KR" altLang="en-US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dirty="0"/>
              <a:t>ANE</a:t>
            </a:r>
            <a:r>
              <a:rPr lang="ko-KR" dirty="0"/>
              <a:t>(Apple </a:t>
            </a:r>
            <a:r>
              <a:rPr lang="ko-KR" dirty="0" err="1"/>
              <a:t>Neural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altLang="en-US" dirty="0"/>
              <a:t> </a:t>
            </a:r>
            <a:r>
              <a:rPr lang="ko-KR" altLang="en-US" dirty="0" err="1"/>
              <a:t>friendly</a:t>
            </a:r>
            <a:r>
              <a:rPr lang="ko-KR" altLang="en-US" dirty="0"/>
              <a:t> </a:t>
            </a:r>
            <a:r>
              <a:rPr lang="ko-KR" altLang="en-US" dirty="0" err="1"/>
              <a:t>transformer</a:t>
            </a:r>
            <a:endParaRPr lang="en-US" altLang="ko-KR" dirty="0" err="1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cs typeface="Arial"/>
              </a:rPr>
              <a:t>모델 크기별 비교</a:t>
            </a:r>
            <a:endParaRPr lang="en-US" altLang="ko-KR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464210" cy="5771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sz="14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Arial"/>
              </a:rPr>
              <a:t>4.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Handling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Bandwidth-Boundness</a:t>
            </a:r>
            <a:endParaRPr 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ko-KR" altLang="en-US" sz="1200" dirty="0">
                <a:cs typeface="Arial"/>
              </a:rPr>
              <a:t>배치 크기 증가</a:t>
            </a:r>
            <a:r>
              <a:rPr lang="en-US" sz="1200" dirty="0">
                <a:cs typeface="Arial"/>
              </a:rPr>
              <a:t> </a:t>
            </a:r>
            <a:r>
              <a:rPr lang="en-US" altLang="ko-KR" sz="1200" dirty="0">
                <a:cs typeface="Arial"/>
              </a:rPr>
              <a:t>or </a:t>
            </a:r>
            <a:r>
              <a:rPr lang="ko-KR" altLang="en-US" sz="1200" dirty="0">
                <a:cs typeface="Arial"/>
              </a:rPr>
              <a:t>파라미터 </a:t>
            </a:r>
            <a:r>
              <a:rPr lang="ko-KR" altLang="en-US" sz="1200" dirty="0" err="1">
                <a:cs typeface="Arial"/>
              </a:rPr>
              <a:t>텐서</a:t>
            </a:r>
            <a:r>
              <a:rPr lang="ko-KR" altLang="en-US" sz="1200" dirty="0">
                <a:cs typeface="Arial"/>
              </a:rPr>
              <a:t> 크기 감소</a:t>
            </a:r>
            <a:endParaRPr lang="en-US" sz="12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2EA7-98EF-332A-9095-B4723442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E2AC3-0806-62A3-D8E5-C25659FD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r>
              <a:rPr lang="ko-KR" altLang="en-US" dirty="0"/>
              <a:t> 원칙 적용 </a:t>
            </a:r>
            <a:r>
              <a:rPr lang="en-US" altLang="ko-KR" dirty="0"/>
              <a:t>-</a:t>
            </a:r>
            <a:r>
              <a:rPr lang="ko-KR" altLang="en-US" dirty="0"/>
              <a:t> 전체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29668-C915-5326-463D-B49F8490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06610A-9381-9D3B-5EE2-BA496E8139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61"/>
          <a:stretch>
            <a:fillRect/>
          </a:stretch>
        </p:blipFill>
        <p:spPr>
          <a:xfrm>
            <a:off x="2573383" y="731375"/>
            <a:ext cx="6741157" cy="575720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01A0514-3DC6-7AD9-3FE1-043B484806E5}"/>
              </a:ext>
            </a:extLst>
          </p:cNvPr>
          <p:cNvSpPr/>
          <p:nvPr/>
        </p:nvSpPr>
        <p:spPr>
          <a:xfrm>
            <a:off x="6313714" y="5586694"/>
            <a:ext cx="670560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661826-0258-053B-379D-4B613A30C0B9}"/>
              </a:ext>
            </a:extLst>
          </p:cNvPr>
          <p:cNvSpPr/>
          <p:nvPr/>
        </p:nvSpPr>
        <p:spPr>
          <a:xfrm>
            <a:off x="6313714" y="1480603"/>
            <a:ext cx="670560" cy="6096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3817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6781-4380-477C-B8CB-3BC542E1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48D3F-6A63-D91C-C203-6BD9F93E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r>
              <a:rPr lang="ko-KR" altLang="en-US" dirty="0"/>
              <a:t> 원칙 적용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Prediction Time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4D9B4-61A3-E4D3-BEF4-0297842D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F9B2E9-BC32-6D0F-D403-F4887889D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070" y="959829"/>
            <a:ext cx="7772400" cy="46202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6A34B7-4C09-3EB9-3993-67123A103108}"/>
              </a:ext>
            </a:extLst>
          </p:cNvPr>
          <p:cNvSpPr txBox="1"/>
          <p:nvPr/>
        </p:nvSpPr>
        <p:spPr>
          <a:xfrm>
            <a:off x="2295070" y="5987018"/>
            <a:ext cx="638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p1p2p3</a:t>
            </a:r>
            <a:r>
              <a:rPr kumimoji="1" lang="ko-KR" altLang="en-US" dirty="0"/>
              <a:t>을</a:t>
            </a:r>
            <a:r>
              <a:rPr kumimoji="1" lang="en-US" altLang="ko-KR" dirty="0"/>
              <a:t> </a:t>
            </a:r>
            <a:r>
              <a:rPr kumimoji="1" lang="ko-KR" altLang="en-US" dirty="0"/>
              <a:t>적용했을 때</a:t>
            </a:r>
            <a:r>
              <a:rPr kumimoji="1" lang="en-US" altLang="ko-KR" dirty="0"/>
              <a:t> CPU and ANE</a:t>
            </a:r>
            <a:r>
              <a:rPr kumimoji="1" lang="ko-KR" altLang="en-US" dirty="0"/>
              <a:t> 추론 시간이 더 단축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B84ECB-918E-0361-E940-4B3231D8DBF4}"/>
              </a:ext>
            </a:extLst>
          </p:cNvPr>
          <p:cNvSpPr/>
          <p:nvPr/>
        </p:nvSpPr>
        <p:spPr>
          <a:xfrm>
            <a:off x="7532914" y="1358537"/>
            <a:ext cx="670560" cy="41017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9F288B-2FC8-B385-537B-509EF7F56243}"/>
              </a:ext>
            </a:extLst>
          </p:cNvPr>
          <p:cNvSpPr/>
          <p:nvPr/>
        </p:nvSpPr>
        <p:spPr>
          <a:xfrm>
            <a:off x="2747554" y="3222170"/>
            <a:ext cx="670560" cy="223810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674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44A58-CD74-BFEB-9E9A-0364255F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EoMT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모델 크기별 비교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전체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25F0EC-6AD9-F0FC-580A-A499D333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0EA6585-07D6-658F-36A7-4080D74F87C3}"/>
              </a:ext>
            </a:extLst>
          </p:cNvPr>
          <p:cNvGrpSpPr/>
          <p:nvPr/>
        </p:nvGrpSpPr>
        <p:grpSpPr>
          <a:xfrm>
            <a:off x="2420455" y="1287569"/>
            <a:ext cx="8396117" cy="4964278"/>
            <a:chOff x="1897941" y="1392072"/>
            <a:chExt cx="8396117" cy="496427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F6058E3-B11C-E764-D6E4-6BC439FF4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4798" b="6454"/>
            <a:stretch>
              <a:fillRect/>
            </a:stretch>
          </p:blipFill>
          <p:spPr>
            <a:xfrm>
              <a:off x="1897941" y="1392072"/>
              <a:ext cx="8396117" cy="496427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DF4076E-1950-4CE0-BF20-83CCDC3588D6}"/>
                </a:ext>
              </a:extLst>
            </p:cNvPr>
            <p:cNvSpPr/>
            <p:nvPr/>
          </p:nvSpPr>
          <p:spPr>
            <a:xfrm>
              <a:off x="1972491" y="1936228"/>
              <a:ext cx="8269315" cy="21263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0D75ACF-ED25-0AA7-DDF5-351D9355136C}"/>
                </a:ext>
              </a:extLst>
            </p:cNvPr>
            <p:cNvSpPr/>
            <p:nvPr/>
          </p:nvSpPr>
          <p:spPr>
            <a:xfrm>
              <a:off x="1972491" y="4062549"/>
              <a:ext cx="8269315" cy="21263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FB32DF3-ECD7-3B52-DBA6-24AFD06BFA2A}"/>
              </a:ext>
            </a:extLst>
          </p:cNvPr>
          <p:cNvSpPr txBox="1"/>
          <p:nvPr/>
        </p:nvSpPr>
        <p:spPr>
          <a:xfrm>
            <a:off x="548641" y="1354671"/>
            <a:ext cx="1410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Model size</a:t>
            </a:r>
            <a:br>
              <a:rPr kumimoji="1" lang="en-US" altLang="ko-KR" sz="1400" dirty="0"/>
            </a:br>
            <a:r>
              <a:rPr kumimoji="1" lang="en-US" altLang="ko-KR" sz="1400" dirty="0"/>
              <a:t>small – 24M </a:t>
            </a:r>
          </a:p>
          <a:p>
            <a:r>
              <a:rPr kumimoji="1" lang="en-US" altLang="ko-KR" sz="1400" dirty="0"/>
              <a:t>base – 93M</a:t>
            </a:r>
          </a:p>
          <a:p>
            <a:r>
              <a:rPr kumimoji="1" lang="en-US" altLang="ko-KR" sz="1400" dirty="0"/>
              <a:t>large – 316M</a:t>
            </a:r>
          </a:p>
        </p:txBody>
      </p:sp>
    </p:spTree>
    <p:extLst>
      <p:ext uri="{BB962C8B-B14F-4D97-AF65-F5344CB8AC3E}">
        <p14:creationId xmlns:p14="http://schemas.microsoft.com/office/powerpoint/2010/main" val="149511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68DA-67B3-B656-14D4-C313D2AC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C2EC7-ABA5-26C9-3A44-65070F61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EoMT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모델 크기별 비교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Prediction Time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712648-3A04-D6EA-B7A1-869F938E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55E936-0F59-5690-BB75-7044CFD407BD}"/>
              </a:ext>
            </a:extLst>
          </p:cNvPr>
          <p:cNvSpPr txBox="1"/>
          <p:nvPr/>
        </p:nvSpPr>
        <p:spPr>
          <a:xfrm>
            <a:off x="548641" y="1354671"/>
            <a:ext cx="1410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Model size</a:t>
            </a:r>
            <a:br>
              <a:rPr kumimoji="1" lang="en-US" altLang="ko-KR" sz="1400" dirty="0"/>
            </a:br>
            <a:r>
              <a:rPr kumimoji="1" lang="en-US" altLang="ko-KR" sz="1400" dirty="0"/>
              <a:t>small – 24M </a:t>
            </a:r>
          </a:p>
          <a:p>
            <a:r>
              <a:rPr kumimoji="1" lang="en-US" altLang="ko-KR" sz="1400" dirty="0"/>
              <a:t>base – 93M</a:t>
            </a:r>
          </a:p>
          <a:p>
            <a:r>
              <a:rPr kumimoji="1" lang="en-US" altLang="ko-KR" sz="1400" dirty="0"/>
              <a:t>large – 316M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22BDD1F-6971-929F-E9FC-3F3A86C8E984}"/>
              </a:ext>
            </a:extLst>
          </p:cNvPr>
          <p:cNvGrpSpPr/>
          <p:nvPr/>
        </p:nvGrpSpPr>
        <p:grpSpPr>
          <a:xfrm>
            <a:off x="2611043" y="1193216"/>
            <a:ext cx="8211872" cy="4947316"/>
            <a:chOff x="2392679" y="1153039"/>
            <a:chExt cx="8211872" cy="494731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0C7174B-F35F-0B50-14BE-E2388A198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2679" y="1153039"/>
              <a:ext cx="8211872" cy="494731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9557B3B-0FC0-1C36-6CD7-10427139E42C}"/>
                </a:ext>
              </a:extLst>
            </p:cNvPr>
            <p:cNvSpPr/>
            <p:nvPr/>
          </p:nvSpPr>
          <p:spPr>
            <a:xfrm>
              <a:off x="2934268" y="1583141"/>
              <a:ext cx="2811439" cy="4104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BB84A4A-9A1F-96E8-1E99-F47710272BF3}"/>
                </a:ext>
              </a:extLst>
            </p:cNvPr>
            <p:cNvSpPr/>
            <p:nvPr/>
          </p:nvSpPr>
          <p:spPr>
            <a:xfrm>
              <a:off x="5773002" y="1587313"/>
              <a:ext cx="2844000" cy="4104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5708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8059</TotalTime>
  <Words>224</Words>
  <Application>Microsoft Macintosh PowerPoint</Application>
  <PresentationFormat>와이드스크린</PresentationFormat>
  <Paragraphs>52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Arial,Sans-Serif</vt:lpstr>
      <vt:lpstr>Arial</vt:lpstr>
      <vt:lpstr>Office 테마</vt:lpstr>
      <vt:lpstr>EoMT Apple Neural Engine (7)</vt:lpstr>
      <vt:lpstr>목표 및 진행사항</vt:lpstr>
      <vt:lpstr>ANE transformers – 원리 </vt:lpstr>
      <vt:lpstr>EoMT ANE 원칙 적용 - 전체</vt:lpstr>
      <vt:lpstr>EoMT ANE 원칙 적용 - Prediction Time </vt:lpstr>
      <vt:lpstr>EoMT 모델 크기별 비교 – 전체</vt:lpstr>
      <vt:lpstr>EoMT 모델 크기별 비교 – Prediction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이수현</cp:lastModifiedBy>
  <cp:revision>1803</cp:revision>
  <dcterms:created xsi:type="dcterms:W3CDTF">2023-03-06T16:32:37Z</dcterms:created>
  <dcterms:modified xsi:type="dcterms:W3CDTF">2026-04-08T10:52:02Z</dcterms:modified>
</cp:coreProperties>
</file>