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4"/>
  </p:notesMasterIdLst>
  <p:sldIdLst>
    <p:sldId id="256" r:id="rId2"/>
    <p:sldId id="298" r:id="rId3"/>
    <p:sldId id="300" r:id="rId4"/>
    <p:sldId id="308" r:id="rId5"/>
    <p:sldId id="301" r:id="rId6"/>
    <p:sldId id="304" r:id="rId7"/>
    <p:sldId id="307" r:id="rId8"/>
    <p:sldId id="299" r:id="rId9"/>
    <p:sldId id="310" r:id="rId10"/>
    <p:sldId id="313" r:id="rId11"/>
    <p:sldId id="314" r:id="rId12"/>
    <p:sldId id="315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66CC"/>
    <a:srgbClr val="CC99FF"/>
    <a:srgbClr val="2156A4"/>
    <a:srgbClr val="336699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81281" autoAdjust="0"/>
  </p:normalViewPr>
  <p:slideViewPr>
    <p:cSldViewPr snapToGrid="0">
      <p:cViewPr varScale="1">
        <p:scale>
          <a:sx n="130" d="100"/>
          <a:sy n="130" d="100"/>
        </p:scale>
        <p:origin x="1506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64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D38A6-422B-B9EE-7AE8-AAE5219F0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EA48B3-3083-05D8-4A25-49A8706C4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8EF97F-1186-D7FE-5665-E9C523918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기존 신경망에서는 가중치</a:t>
            </a:r>
            <a:r>
              <a:rPr lang="en-US" altLang="ko-KR" dirty="0"/>
              <a:t>(Weight)</a:t>
            </a:r>
            <a:r>
              <a:rPr lang="ko-KR" altLang="en-US" dirty="0"/>
              <a:t>와 활성화</a:t>
            </a:r>
            <a:r>
              <a:rPr lang="en-US" altLang="ko-KR" dirty="0"/>
              <a:t>(Activation)</a:t>
            </a:r>
            <a:r>
              <a:rPr lang="ko-KR" altLang="en-US" dirty="0"/>
              <a:t>가 </a:t>
            </a:r>
            <a:r>
              <a:rPr lang="en-US" altLang="ko-KR" dirty="0"/>
              <a:t>32-bit </a:t>
            </a:r>
            <a:r>
              <a:rPr lang="ko-KR" altLang="en-US" dirty="0"/>
              <a:t>부동소수점으로 표현되어</a:t>
            </a:r>
            <a:r>
              <a:rPr lang="en-US" altLang="ko-KR" dirty="0"/>
              <a:t>, </a:t>
            </a:r>
            <a:r>
              <a:rPr lang="ko-KR" altLang="en-US" dirty="0"/>
              <a:t>한 번의 곱셈</a:t>
            </a:r>
            <a:r>
              <a:rPr lang="en-US" altLang="ko-KR" dirty="0"/>
              <a:t>-</a:t>
            </a:r>
            <a:r>
              <a:rPr lang="ko-KR" altLang="en-US" dirty="0"/>
              <a:t>덧셈</a:t>
            </a:r>
            <a:r>
              <a:rPr lang="en-US" altLang="ko-KR" dirty="0"/>
              <a:t>(MAC) </a:t>
            </a:r>
            <a:r>
              <a:rPr lang="ko-KR" altLang="en-US" dirty="0"/>
              <a:t>연산에 상당한 메모리와 연산 자원이 소모됨</a:t>
            </a:r>
            <a:endParaRPr lang="en-US" altLang="ko-KR" dirty="0"/>
          </a:p>
          <a:p>
            <a:endParaRPr kumimoji="1"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메모리 절약</a:t>
            </a:r>
            <a:r>
              <a:rPr lang="en-US" altLang="ko-KR" dirty="0"/>
              <a:t>: 32bit → 1bit = </a:t>
            </a:r>
            <a:r>
              <a:rPr lang="ko-KR" altLang="en-US" dirty="0"/>
              <a:t>약 </a:t>
            </a:r>
            <a:r>
              <a:rPr lang="en-US" altLang="ko-KR" dirty="0"/>
              <a:t>32</a:t>
            </a:r>
            <a:r>
              <a:rPr lang="ko-KR" altLang="en-US" dirty="0"/>
              <a:t>배 절감 </a:t>
            </a:r>
            <a:r>
              <a:rPr lang="en-US" altLang="ko-KR" dirty="0"/>
              <a:t>- </a:t>
            </a:r>
            <a:r>
              <a:rPr lang="ko-KR" altLang="en-US" dirty="0"/>
              <a:t>연산 속도</a:t>
            </a:r>
            <a:r>
              <a:rPr lang="en-US" altLang="ko-KR" dirty="0"/>
              <a:t>: XNOR</a:t>
            </a:r>
            <a:r>
              <a:rPr lang="ko-KR" altLang="en-US" dirty="0"/>
              <a:t>은 </a:t>
            </a:r>
            <a:r>
              <a:rPr lang="en-US" altLang="ko-KR" dirty="0"/>
              <a:t>64bit </a:t>
            </a:r>
            <a:r>
              <a:rPr lang="ko-KR" altLang="en-US" dirty="0"/>
              <a:t>단위로 병렬 처리 가능 </a:t>
            </a:r>
            <a:r>
              <a:rPr lang="en-US" altLang="ko-KR" dirty="0"/>
              <a:t>= </a:t>
            </a:r>
            <a:r>
              <a:rPr lang="ko-KR" altLang="en-US" dirty="0"/>
              <a:t>약 </a:t>
            </a:r>
            <a:r>
              <a:rPr lang="en-US" altLang="ko-KR" dirty="0"/>
              <a:t>58</a:t>
            </a:r>
            <a:r>
              <a:rPr lang="ko-KR" altLang="en-US" dirty="0"/>
              <a:t>배 빠름 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정확도 손실</a:t>
            </a:r>
            <a:r>
              <a:rPr lang="en-US" altLang="ko-KR" dirty="0"/>
              <a:t>: ImageNet </a:t>
            </a:r>
            <a:r>
              <a:rPr lang="ko-KR" altLang="en-US" dirty="0"/>
              <a:t>기준 약 </a:t>
            </a:r>
            <a:r>
              <a:rPr lang="en-US" altLang="ko-KR" dirty="0"/>
              <a:t>12~15%p </a:t>
            </a:r>
            <a:r>
              <a:rPr lang="ko-KR" altLang="en-US" dirty="0"/>
              <a:t>하락 </a:t>
            </a:r>
            <a:r>
              <a:rPr lang="en-US" altLang="ko-KR" dirty="0"/>
              <a:t>(</a:t>
            </a:r>
            <a:r>
              <a:rPr lang="en-US" altLang="ko-KR" dirty="0" err="1"/>
              <a:t>AlexNet</a:t>
            </a:r>
            <a:r>
              <a:rPr lang="en-US" altLang="ko-KR" dirty="0"/>
              <a:t> 56.7% → 44.2%) 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정확도를 일부 희생하는 대신 메모리와 </a:t>
            </a:r>
            <a:r>
              <a:rPr lang="ko-KR" altLang="en-US" dirty="0" err="1"/>
              <a:t>연산량을</a:t>
            </a:r>
            <a:r>
              <a:rPr lang="ko-KR" altLang="en-US" dirty="0"/>
              <a:t> 극단적으로 줄여서</a:t>
            </a:r>
            <a:r>
              <a:rPr lang="en-US" altLang="ko-KR" dirty="0"/>
              <a:t>, </a:t>
            </a:r>
            <a:r>
              <a:rPr lang="ko-KR" altLang="en-US" dirty="0" err="1"/>
              <a:t>엣지</a:t>
            </a:r>
            <a:r>
              <a:rPr lang="ko-KR" altLang="en-US" dirty="0"/>
              <a:t> 디바이스</a:t>
            </a:r>
            <a:r>
              <a:rPr lang="en-US" altLang="ko-KR" dirty="0"/>
              <a:t>, IoT, </a:t>
            </a:r>
            <a:r>
              <a:rPr lang="ko-KR" altLang="en-US" dirty="0"/>
              <a:t>모바일 등 자원이 제한된 환경에서 </a:t>
            </a:r>
            <a:r>
              <a:rPr lang="en-US" altLang="ko-KR" dirty="0"/>
              <a:t>AI </a:t>
            </a:r>
            <a:r>
              <a:rPr lang="ko-KR" altLang="en-US" dirty="0"/>
              <a:t>추론을 가능하게 함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C51C28-5B2A-5D46-81B0-F82CCB9CF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831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C7ADF-A0C9-8818-AF3A-3F9EDC675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31D611-4596-AC7C-D197-534538D49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F838D-6D31-2DE9-1997-3D2682976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r>
              <a:rPr lang="ko-KR" altLang="en-US" dirty="0"/>
              <a:t>내적 복원 공식</a:t>
            </a:r>
            <a:r>
              <a:rPr lang="en-US" altLang="ko-KR" dirty="0"/>
              <a:t>: dot = 2 × </a:t>
            </a:r>
            <a:r>
              <a:rPr lang="en-US" altLang="ko-KR" dirty="0" err="1"/>
              <a:t>popcount</a:t>
            </a:r>
            <a:r>
              <a:rPr lang="en-US" altLang="ko-KR" dirty="0"/>
              <a:t> – n (0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로 표현할 경우</a:t>
            </a:r>
            <a:r>
              <a:rPr lang="en-US" altLang="ko-KR" dirty="0"/>
              <a:t>)</a:t>
            </a:r>
          </a:p>
          <a:p>
            <a:pPr marL="171450" indent="-171450">
              <a:buFontTx/>
              <a:buChar char="-"/>
            </a:pPr>
            <a:r>
              <a:rPr kumimoji="1" lang="en-US" altLang="ko-KR" dirty="0"/>
              <a:t>Scaling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Binarization</a:t>
            </a:r>
            <a:r>
              <a:rPr kumimoji="1" lang="ko-KR" altLang="en-US" dirty="0"/>
              <a:t> 과정에서 </a:t>
            </a:r>
            <a:r>
              <a:rPr kumimoji="1" lang="ko-KR" altLang="en-US" dirty="0" err="1"/>
              <a:t>실수값의</a:t>
            </a:r>
            <a:r>
              <a:rPr kumimoji="1" lang="ko-KR" altLang="en-US" dirty="0"/>
              <a:t> </a:t>
            </a:r>
            <a:r>
              <a:rPr kumimoji="1" lang="en-US" altLang="ko-KR" dirty="0"/>
              <a:t>magnitude </a:t>
            </a:r>
            <a:r>
              <a:rPr kumimoji="1" lang="ko-KR" altLang="en-US" dirty="0"/>
              <a:t>정보가 사라졌음 </a:t>
            </a:r>
            <a:r>
              <a:rPr kumimoji="1" lang="en-US" altLang="ko-KR" dirty="0"/>
              <a:t>-&gt; </a:t>
            </a:r>
            <a:r>
              <a:rPr kumimoji="1" lang="ko-KR" altLang="en-US" dirty="0"/>
              <a:t>보충하기 위해 스케일링 </a:t>
            </a:r>
            <a:r>
              <a:rPr kumimoji="1" lang="ko-KR" altLang="en-US" dirty="0" err="1"/>
              <a:t>펙터</a:t>
            </a:r>
            <a:r>
              <a:rPr kumimoji="1" lang="ko-KR" altLang="en-US" dirty="0"/>
              <a:t> </a:t>
            </a:r>
            <a:r>
              <a:rPr kumimoji="1" lang="en-US" altLang="ko-KR" dirty="0"/>
              <a:t>alpha</a:t>
            </a:r>
            <a:r>
              <a:rPr kumimoji="1" lang="ko-KR" altLang="en-US" dirty="0"/>
              <a:t>를 </a:t>
            </a:r>
            <a:r>
              <a:rPr kumimoji="1" lang="ko-KR" altLang="en-US" dirty="0" err="1"/>
              <a:t>곱해줌</a:t>
            </a:r>
            <a:endParaRPr kumimoji="1" lang="en-US" altLang="ko-KR" dirty="0"/>
          </a:p>
          <a:p>
            <a:pPr marL="171450" indent="-171450">
              <a:buFontTx/>
              <a:buChar char="-"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A2F9B6-290F-CB1F-9E40-96C45C484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089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CF73B-D225-D197-6F16-C08C317DE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D65F4E-85E8-B840-F8A8-CC20CB8334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33B093-525E-9E1C-8506-38DE7DC75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kumimoji="1" lang="en-US" altLang="ko-KR" dirty="0"/>
              <a:t>Batch </a:t>
            </a:r>
            <a:r>
              <a:rPr kumimoji="1" lang="en-US" altLang="ko-KR" dirty="0" err="1"/>
              <a:t>Normaliation</a:t>
            </a:r>
            <a:r>
              <a:rPr kumimoji="1" lang="en-US" altLang="ko-KR" dirty="0"/>
              <a:t>(</a:t>
            </a:r>
            <a:r>
              <a:rPr kumimoji="1" lang="ko-KR" altLang="en-US" dirty="0"/>
              <a:t>배치 정규화</a:t>
            </a:r>
            <a:r>
              <a:rPr kumimoji="1" lang="en-US" altLang="ko-KR" dirty="0"/>
              <a:t>) : </a:t>
            </a:r>
            <a:r>
              <a:rPr kumimoji="1" lang="ko-KR" altLang="en-US" dirty="0"/>
              <a:t>학습 과정에서 레이어 출력의 분포를 안정화 시키는 연산</a:t>
            </a:r>
            <a:endParaRPr kumimoji="1" lang="en-US" altLang="ko-KR" dirty="0"/>
          </a:p>
          <a:p>
            <a:pPr marL="0" indent="0">
              <a:buFontTx/>
              <a:buNone/>
            </a:pPr>
            <a:endParaRPr kumimoji="1" lang="en-US" altLang="ko-KR" dirty="0"/>
          </a:p>
          <a:p>
            <a:pPr marL="0" indent="0">
              <a:buFontTx/>
              <a:buNone/>
            </a:pPr>
            <a:r>
              <a:rPr kumimoji="1" lang="ko-KR" altLang="en-US" dirty="0"/>
              <a:t>감마 </a:t>
            </a:r>
            <a:r>
              <a:rPr kumimoji="1" lang="en-US" altLang="ko-KR" dirty="0"/>
              <a:t>: scale </a:t>
            </a:r>
            <a:r>
              <a:rPr kumimoji="1" lang="ko-KR" altLang="en-US" dirty="0"/>
              <a:t>용</a:t>
            </a:r>
            <a:r>
              <a:rPr kumimoji="1" lang="en-US" altLang="ko-KR" dirty="0"/>
              <a:t>. </a:t>
            </a:r>
            <a:r>
              <a:rPr kumimoji="1" lang="ko-KR" altLang="en-US" dirty="0" err="1"/>
              <a:t>정규화된</a:t>
            </a:r>
            <a:r>
              <a:rPr kumimoji="1" lang="ko-KR" altLang="en-US" dirty="0"/>
              <a:t> 데이터의 분포를 다시 확장하거나 축소하는 스케일 조절 파라미터</a:t>
            </a:r>
            <a:endParaRPr kumimoji="1" lang="en-US" altLang="ko-KR" dirty="0"/>
          </a:p>
          <a:p>
            <a:pPr marL="0" indent="0">
              <a:buFontTx/>
              <a:buNone/>
            </a:pPr>
            <a:r>
              <a:rPr kumimoji="1" lang="ko-KR" altLang="en-US" dirty="0"/>
              <a:t>베타 </a:t>
            </a:r>
            <a:r>
              <a:rPr kumimoji="1" lang="en-US" altLang="ko-KR" dirty="0"/>
              <a:t>: shift</a:t>
            </a:r>
            <a:r>
              <a:rPr kumimoji="1" lang="ko-KR" altLang="en-US" dirty="0"/>
              <a:t> 용</a:t>
            </a:r>
            <a:r>
              <a:rPr kumimoji="1" lang="en-US" altLang="ko-KR" dirty="0"/>
              <a:t>. </a:t>
            </a:r>
            <a:r>
              <a:rPr kumimoji="1" lang="ko-KR" altLang="en-US" dirty="0"/>
              <a:t>데이터의 분포를 양옆으로 이동시키는 </a:t>
            </a:r>
            <a:r>
              <a:rPr kumimoji="1" lang="en-US" altLang="ko-KR" dirty="0"/>
              <a:t>Bias </a:t>
            </a:r>
            <a:r>
              <a:rPr kumimoji="1" lang="ko-KR" altLang="en-US" dirty="0"/>
              <a:t>역할의 파라미터</a:t>
            </a:r>
            <a:endParaRPr kumimoji="1" lang="en-US" altLang="ko-KR" dirty="0"/>
          </a:p>
          <a:p>
            <a:pPr marL="0" indent="0">
              <a:buFontTx/>
              <a:buNone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3B5DA0-8AE8-7463-D41C-5266F64503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711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68E5B-D07A-6EBD-8D98-10374C48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DA84B5-0A90-F28F-F620-470AA4E507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BE09C4-C63A-2ABC-E9E2-5F775E76A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C0BB80-E518-0DF0-7B48-E7F0B53026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3302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C6399-E373-3A5F-7DAA-29798FED8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154E7C-4D34-47F6-1581-C9465F84F8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E19482-CFF9-9738-E36F-45E07BCBE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BD8851-0859-F285-FC24-55701D0800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902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A2910-6DDB-81B8-65C6-B6AFFC225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D3D5C5-11D9-9D4C-9CD8-0E041A548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42344E-35F4-0A24-AC07-FBE622DB6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64D765-C8D7-5824-ED12-8D51774CF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622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D07D1-DA6C-2512-7F6C-0CF543423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C19D0D-38D4-1355-075B-038328C67D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4F33AE-48E1-547D-CC21-62BB80170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D4667B-6320-2A95-6336-774C0E0753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555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49AAC-3576-E11B-00A3-0F99014EB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9624BD-A0A4-AFDE-D17B-99AF6D9A4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7BD80E-514F-EA65-208D-40356925D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F1AF49-F588-3EFB-4323-28690FDD8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3721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BE255-224C-17B6-6B20-3A9D18F3D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5EF4C6-5A2E-EA91-9C36-AAE041031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40FB54-8054-1B1E-7080-D8A461AA1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13BB17-0F66-FAF3-6F54-A25ABFB21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70078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385BF-343D-072B-596D-A52A83C6C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2184FC-4FEE-DBDA-9F8A-E188F2C16E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325FAE-4414-389E-BC9E-90844EB8C4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82AC9F-F871-8923-35D6-3DC79F2C10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5531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32D44-338C-5244-3182-2CE67863A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333A77-F9EF-13F9-9633-538CA0D3F9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C52C3E-4F70-01F9-B60B-173E9BC9D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07613E-6CA4-8C5E-8DDB-07E8623832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580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655" y="2463266"/>
            <a:ext cx="10453006" cy="1604508"/>
          </a:xfrm>
        </p:spPr>
        <p:txBody>
          <a:bodyPr lIns="90000" anchor="ctr" anchorCtr="0">
            <a:normAutofit/>
          </a:bodyPr>
          <a:lstStyle/>
          <a:p>
            <a:r>
              <a:rPr lang="en-US" altLang="ko-KR" sz="3200" b="1" dirty="0" err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PopBin</a:t>
            </a:r>
            <a:r>
              <a:rPr lang="en-US" altLang="ko-KR" sz="32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+ Hierarchical Majority Voter</a:t>
            </a:r>
            <a:endParaRPr lang="ko-KR" altLang="en-US" sz="24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774195" y="1666695"/>
            <a:ext cx="2120261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04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15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9C265-0B32-4F10-3B3E-D9A9C3123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B98776-BF81-1963-CAFF-FC9FFB2B3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BNN(Binary Neural Network)</a:t>
            </a:r>
            <a:endParaRPr lang="ko-KR" altLang="en-US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1FA393-EBCB-C4A0-487A-C9B7E1B937D3}"/>
              </a:ext>
            </a:extLst>
          </p:cNvPr>
          <p:cNvSpPr txBox="1"/>
          <p:nvPr/>
        </p:nvSpPr>
        <p:spPr>
          <a:xfrm>
            <a:off x="1378485" y="4818320"/>
            <a:ext cx="873929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BNN(Binary Neural Network)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32-bit Real-Value</a:t>
            </a:r>
            <a:r>
              <a:rPr lang="ko-KR" altLang="en-US" sz="1400" dirty="0"/>
              <a:t>로 표현되는 </a:t>
            </a:r>
            <a:r>
              <a:rPr lang="en-US" altLang="ko-KR" sz="1400" dirty="0"/>
              <a:t>Inputs</a:t>
            </a:r>
            <a:r>
              <a:rPr lang="ko-KR" altLang="en-US" sz="1400" dirty="0"/>
              <a:t>과 </a:t>
            </a:r>
            <a:r>
              <a:rPr lang="en-US" altLang="ko-KR" sz="1400" dirty="0"/>
              <a:t>Weights</a:t>
            </a:r>
            <a:r>
              <a:rPr lang="ko-KR" altLang="en-US" sz="1400" dirty="0"/>
              <a:t>를 </a:t>
            </a:r>
            <a:r>
              <a:rPr lang="en-US" altLang="ko-KR" sz="1400" dirty="0"/>
              <a:t>1-bit</a:t>
            </a:r>
            <a:r>
              <a:rPr lang="ko-KR" altLang="en-US" sz="1400" dirty="0"/>
              <a:t>로 표현한 </a:t>
            </a:r>
            <a:r>
              <a:rPr lang="en-US" altLang="ko-KR" sz="1400" dirty="0"/>
              <a:t>Neural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곱셈 연산 → </a:t>
            </a:r>
            <a:r>
              <a:rPr lang="en-US" altLang="ko-KR" sz="1400" dirty="0"/>
              <a:t>Bit-wise XNOR </a:t>
            </a:r>
            <a:r>
              <a:rPr lang="ko-KR" altLang="en-US" sz="1400" dirty="0"/>
              <a:t>연산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덧셈 연산 → </a:t>
            </a:r>
            <a:r>
              <a:rPr lang="en-US" altLang="ko-KR" sz="1400" dirty="0" err="1"/>
              <a:t>Popcount</a:t>
            </a:r>
            <a:r>
              <a:rPr lang="en-US" altLang="ko-KR" sz="1400" dirty="0"/>
              <a:t> </a:t>
            </a:r>
            <a:r>
              <a:rPr lang="ko-KR" altLang="en-US" sz="1400" dirty="0"/>
              <a:t>연산</a:t>
            </a:r>
            <a:r>
              <a:rPr lang="en-US" altLang="ko-KR" sz="1400" dirty="0"/>
              <a:t> </a:t>
            </a:r>
          </a:p>
        </p:txBody>
      </p:sp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8C503A-F244-75F5-67E5-664304C47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598" y="1393349"/>
            <a:ext cx="9878804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643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FCAA0-B045-2E9D-DB49-B2F4CF74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A2640F-6825-A326-EFA4-BEE9C2A2E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Binary Conv</a:t>
            </a:r>
            <a:endParaRPr lang="ko-KR" altLang="en-US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8C0C76-94E1-3FA8-0362-D7963D3FE521}"/>
              </a:ext>
            </a:extLst>
          </p:cNvPr>
          <p:cNvSpPr txBox="1"/>
          <p:nvPr/>
        </p:nvSpPr>
        <p:spPr>
          <a:xfrm>
            <a:off x="1057708" y="3521368"/>
            <a:ext cx="555754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Binary Conv</a:t>
            </a:r>
            <a:r>
              <a:rPr lang="ko-KR" altLang="en-US" b="1" dirty="0"/>
              <a:t> 연산 예시</a:t>
            </a:r>
            <a:endParaRPr lang="en-US" altLang="ko-KR" b="1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3218400-127B-1EDF-5028-FCD45BA86C08}"/>
              </a:ext>
            </a:extLst>
          </p:cNvPr>
          <p:cNvGrpSpPr/>
          <p:nvPr/>
        </p:nvGrpSpPr>
        <p:grpSpPr>
          <a:xfrm>
            <a:off x="1352676" y="1293288"/>
            <a:ext cx="9278961" cy="2042142"/>
            <a:chOff x="1175679" y="1293288"/>
            <a:chExt cx="9278961" cy="204214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077385C-D30B-27D0-31FC-14ADDDC46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8443"/>
            <a:stretch>
              <a:fillRect/>
            </a:stretch>
          </p:blipFill>
          <p:spPr>
            <a:xfrm>
              <a:off x="1175679" y="1293288"/>
              <a:ext cx="9278961" cy="1612458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7166AA2-30FB-054F-E938-E8D5BF0953CE}"/>
                </a:ext>
              </a:extLst>
            </p:cNvPr>
            <p:cNvSpPr txBox="1"/>
            <p:nvPr/>
          </p:nvSpPr>
          <p:spPr>
            <a:xfrm>
              <a:off x="4800298" y="3058431"/>
              <a:ext cx="202972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00" dirty="0"/>
                <a:t>일반적인 </a:t>
              </a:r>
              <a:r>
                <a:rPr lang="en-US" altLang="ko-KR" sz="1200" dirty="0"/>
                <a:t>Binary Conv </a:t>
              </a:r>
              <a:r>
                <a:rPr lang="ko-KR" altLang="en-US" sz="1200" dirty="0"/>
                <a:t>연산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E4D02EB-6C9E-543A-3006-6F4F4EAC82B3}"/>
              </a:ext>
            </a:extLst>
          </p:cNvPr>
          <p:cNvGrpSpPr/>
          <p:nvPr/>
        </p:nvGrpSpPr>
        <p:grpSpPr>
          <a:xfrm>
            <a:off x="867922" y="4058471"/>
            <a:ext cx="953855" cy="861774"/>
            <a:chOff x="867922" y="4058471"/>
            <a:chExt cx="953855" cy="861774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172318A-5FBE-00D5-A238-D2F0DCA600DA}"/>
                </a:ext>
              </a:extLst>
            </p:cNvPr>
            <p:cNvSpPr/>
            <p:nvPr/>
          </p:nvSpPr>
          <p:spPr>
            <a:xfrm>
              <a:off x="913708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 dirty="0">
                <a:solidFill>
                  <a:schemeClr val="bg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86A5D76-A2D5-61C4-0221-013A37FB1D11}"/>
                </a:ext>
              </a:extLst>
            </p:cNvPr>
            <p:cNvSpPr/>
            <p:nvPr/>
          </p:nvSpPr>
          <p:spPr>
            <a:xfrm>
              <a:off x="1199151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A4C74C2-6DF5-F4BC-AF81-DD0DB2BAA5A8}"/>
                </a:ext>
              </a:extLst>
            </p:cNvPr>
            <p:cNvSpPr/>
            <p:nvPr/>
          </p:nvSpPr>
          <p:spPr>
            <a:xfrm>
              <a:off x="1487151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91DFC97-5115-B475-2BF9-EAA51D20E740}"/>
                </a:ext>
              </a:extLst>
            </p:cNvPr>
            <p:cNvSpPr/>
            <p:nvPr/>
          </p:nvSpPr>
          <p:spPr>
            <a:xfrm>
              <a:off x="913708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5F30E33-1ADE-BB5D-7502-4324CA65D185}"/>
                </a:ext>
              </a:extLst>
            </p:cNvPr>
            <p:cNvSpPr/>
            <p:nvPr/>
          </p:nvSpPr>
          <p:spPr>
            <a:xfrm>
              <a:off x="1199151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F931AAE-5284-0701-6743-7CF0C7F658FC}"/>
                </a:ext>
              </a:extLst>
            </p:cNvPr>
            <p:cNvSpPr/>
            <p:nvPr/>
          </p:nvSpPr>
          <p:spPr>
            <a:xfrm>
              <a:off x="1487151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43F99C8-FDA0-4879-6AD2-0FC47EB0D2D1}"/>
                </a:ext>
              </a:extLst>
            </p:cNvPr>
            <p:cNvSpPr/>
            <p:nvPr/>
          </p:nvSpPr>
          <p:spPr>
            <a:xfrm>
              <a:off x="913708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9C68202-6298-64EF-FEFD-5BC7C3662EC0}"/>
                </a:ext>
              </a:extLst>
            </p:cNvPr>
            <p:cNvSpPr/>
            <p:nvPr/>
          </p:nvSpPr>
          <p:spPr>
            <a:xfrm>
              <a:off x="1199151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5CA6FD14-0C29-EC55-2428-BDB30A0731DE}"/>
                </a:ext>
              </a:extLst>
            </p:cNvPr>
            <p:cNvSpPr/>
            <p:nvPr/>
          </p:nvSpPr>
          <p:spPr>
            <a:xfrm>
              <a:off x="1487151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AA0CA833-9631-BDDB-3DA4-BCDB1D6C09D6}"/>
                </a:ext>
              </a:extLst>
            </p:cNvPr>
            <p:cNvGrpSpPr/>
            <p:nvPr/>
          </p:nvGrpSpPr>
          <p:grpSpPr>
            <a:xfrm>
              <a:off x="871319" y="4079360"/>
              <a:ext cx="950458" cy="223138"/>
              <a:chOff x="871319" y="4079360"/>
              <a:chExt cx="950458" cy="223138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1E20160-784E-3A63-B015-C4477F6D13D6}"/>
                  </a:ext>
                </a:extLst>
              </p:cNvPr>
              <p:cNvSpPr txBox="1"/>
              <p:nvPr/>
            </p:nvSpPr>
            <p:spPr>
              <a:xfrm>
                <a:off x="871319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0.3</a:t>
                </a:r>
                <a:endParaRPr lang="ko-KR" altLang="en-US" sz="850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8E70FE6-F9A9-4191-0B85-826B055A7554}"/>
                  </a:ext>
                </a:extLst>
              </p:cNvPr>
              <p:cNvSpPr txBox="1"/>
              <p:nvPr/>
            </p:nvSpPr>
            <p:spPr>
              <a:xfrm>
                <a:off x="1156762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-0.7</a:t>
                </a:r>
                <a:endParaRPr lang="ko-KR" altLang="en-US" sz="850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5B01DBC-0170-DBE2-D4BB-21438B1F2B31}"/>
                  </a:ext>
                </a:extLst>
              </p:cNvPr>
              <p:cNvSpPr txBox="1"/>
              <p:nvPr/>
            </p:nvSpPr>
            <p:spPr>
              <a:xfrm>
                <a:off x="1448999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0.2</a:t>
                </a:r>
                <a:endParaRPr lang="ko-KR" altLang="en-US" sz="850" dirty="0"/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7B765F05-32AD-383E-E802-DE5295AA1C4C}"/>
                </a:ext>
              </a:extLst>
            </p:cNvPr>
            <p:cNvGrpSpPr/>
            <p:nvPr/>
          </p:nvGrpSpPr>
          <p:grpSpPr>
            <a:xfrm>
              <a:off x="867922" y="4365134"/>
              <a:ext cx="950458" cy="227901"/>
              <a:chOff x="1023719" y="4231760"/>
              <a:chExt cx="950458" cy="227901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64AE9CA-9006-3B15-55DF-50EA2C07DBEF}"/>
                  </a:ext>
                </a:extLst>
              </p:cNvPr>
              <p:cNvSpPr txBox="1"/>
              <p:nvPr/>
            </p:nvSpPr>
            <p:spPr>
              <a:xfrm>
                <a:off x="1023719" y="42317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-0.5</a:t>
                </a:r>
                <a:endParaRPr lang="ko-KR" altLang="en-US" sz="850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5A40EE1-7728-96B9-E00F-4DE0B5EF7A89}"/>
                  </a:ext>
                </a:extLst>
              </p:cNvPr>
              <p:cNvSpPr txBox="1"/>
              <p:nvPr/>
            </p:nvSpPr>
            <p:spPr>
              <a:xfrm>
                <a:off x="1328214" y="4236523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0.9</a:t>
                </a:r>
                <a:endParaRPr lang="ko-KR" altLang="en-US" sz="850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13FAFFD-FF61-3CCA-07FE-3045CFA77C13}"/>
                  </a:ext>
                </a:extLst>
              </p:cNvPr>
              <p:cNvSpPr txBox="1"/>
              <p:nvPr/>
            </p:nvSpPr>
            <p:spPr>
              <a:xfrm>
                <a:off x="1601399" y="42317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-0.1</a:t>
                </a:r>
                <a:endParaRPr lang="ko-KR" altLang="en-US" sz="850" dirty="0"/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6B76F947-C214-2B25-8B19-50A2FA172200}"/>
                </a:ext>
              </a:extLst>
            </p:cNvPr>
            <p:cNvGrpSpPr/>
            <p:nvPr/>
          </p:nvGrpSpPr>
          <p:grpSpPr>
            <a:xfrm>
              <a:off x="867922" y="4650908"/>
              <a:ext cx="950458" cy="223138"/>
              <a:chOff x="867922" y="4650908"/>
              <a:chExt cx="950458" cy="223138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130EFD7-ECB7-41E6-C67C-EEF8FA7011CA}"/>
                  </a:ext>
                </a:extLst>
              </p:cNvPr>
              <p:cNvSpPr txBox="1"/>
              <p:nvPr/>
            </p:nvSpPr>
            <p:spPr>
              <a:xfrm>
                <a:off x="867922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0.4</a:t>
                </a:r>
                <a:endParaRPr lang="ko-KR" altLang="en-US" sz="850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D2B2FEC-0864-2B2C-44CF-93E272F53F0E}"/>
                  </a:ext>
                </a:extLst>
              </p:cNvPr>
              <p:cNvSpPr txBox="1"/>
              <p:nvPr/>
            </p:nvSpPr>
            <p:spPr>
              <a:xfrm>
                <a:off x="1153365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-0.6</a:t>
                </a:r>
                <a:endParaRPr lang="ko-KR" altLang="en-US" sz="850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366630A-F1B4-F5FD-8071-930C3BBC47A8}"/>
                  </a:ext>
                </a:extLst>
              </p:cNvPr>
              <p:cNvSpPr txBox="1"/>
              <p:nvPr/>
            </p:nvSpPr>
            <p:spPr>
              <a:xfrm>
                <a:off x="1445602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0.8</a:t>
                </a:r>
                <a:endParaRPr lang="ko-KR" altLang="en-US" sz="850" dirty="0"/>
              </a:p>
            </p:txBody>
          </p:sp>
        </p:grp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871BDEB0-0C75-271D-3E57-FD11F83FA7BE}"/>
              </a:ext>
            </a:extLst>
          </p:cNvPr>
          <p:cNvGrpSpPr/>
          <p:nvPr/>
        </p:nvGrpSpPr>
        <p:grpSpPr>
          <a:xfrm>
            <a:off x="860455" y="5238839"/>
            <a:ext cx="953855" cy="861774"/>
            <a:chOff x="867922" y="4058471"/>
            <a:chExt cx="953855" cy="861774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F6820559-99A1-5DC4-4AC9-A72BF9E57B4C}"/>
                </a:ext>
              </a:extLst>
            </p:cNvPr>
            <p:cNvSpPr/>
            <p:nvPr/>
          </p:nvSpPr>
          <p:spPr>
            <a:xfrm>
              <a:off x="913708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 dirty="0">
                <a:solidFill>
                  <a:schemeClr val="bg1"/>
                </a:solidFill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6FB7E704-EBCB-E4A4-8D6B-97FCA056A087}"/>
                </a:ext>
              </a:extLst>
            </p:cNvPr>
            <p:cNvSpPr/>
            <p:nvPr/>
          </p:nvSpPr>
          <p:spPr>
            <a:xfrm>
              <a:off x="1199151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BBD1CC56-2DA2-BB2D-9649-6424F554EFE2}"/>
                </a:ext>
              </a:extLst>
            </p:cNvPr>
            <p:cNvSpPr/>
            <p:nvPr/>
          </p:nvSpPr>
          <p:spPr>
            <a:xfrm>
              <a:off x="1487151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B040CC6C-2186-2D6B-B742-6F583FE5BF50}"/>
                </a:ext>
              </a:extLst>
            </p:cNvPr>
            <p:cNvSpPr/>
            <p:nvPr/>
          </p:nvSpPr>
          <p:spPr>
            <a:xfrm>
              <a:off x="913708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AE4F4737-9E7C-62B7-08B2-3C225431622C}"/>
                </a:ext>
              </a:extLst>
            </p:cNvPr>
            <p:cNvSpPr/>
            <p:nvPr/>
          </p:nvSpPr>
          <p:spPr>
            <a:xfrm>
              <a:off x="1199151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810AA8F8-C47D-9DE8-E019-5F36F1E6688E}"/>
                </a:ext>
              </a:extLst>
            </p:cNvPr>
            <p:cNvSpPr/>
            <p:nvPr/>
          </p:nvSpPr>
          <p:spPr>
            <a:xfrm>
              <a:off x="1487151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CFC957FE-5257-89C1-B8B0-299617F8FA69}"/>
                </a:ext>
              </a:extLst>
            </p:cNvPr>
            <p:cNvSpPr/>
            <p:nvPr/>
          </p:nvSpPr>
          <p:spPr>
            <a:xfrm>
              <a:off x="913708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E5FE0200-A5EF-647B-1E93-D07E00D86239}"/>
                </a:ext>
              </a:extLst>
            </p:cNvPr>
            <p:cNvSpPr/>
            <p:nvPr/>
          </p:nvSpPr>
          <p:spPr>
            <a:xfrm>
              <a:off x="1199151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9F3F03C1-9AF0-0BA0-A4F6-D388F31A8CB8}"/>
                </a:ext>
              </a:extLst>
            </p:cNvPr>
            <p:cNvSpPr/>
            <p:nvPr/>
          </p:nvSpPr>
          <p:spPr>
            <a:xfrm>
              <a:off x="1487151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62F1A12C-B310-4271-35D8-F7EEB63B545C}"/>
                </a:ext>
              </a:extLst>
            </p:cNvPr>
            <p:cNvGrpSpPr/>
            <p:nvPr/>
          </p:nvGrpSpPr>
          <p:grpSpPr>
            <a:xfrm>
              <a:off x="871319" y="4079360"/>
              <a:ext cx="950458" cy="223138"/>
              <a:chOff x="871319" y="4079360"/>
              <a:chExt cx="950458" cy="223138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9757740-7E28-C80C-80DA-C71332F25544}"/>
                  </a:ext>
                </a:extLst>
              </p:cNvPr>
              <p:cNvSpPr txBox="1"/>
              <p:nvPr/>
            </p:nvSpPr>
            <p:spPr>
              <a:xfrm>
                <a:off x="871319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0.5</a:t>
                </a:r>
                <a:endParaRPr lang="ko-KR" altLang="en-US" sz="850" dirty="0"/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620F7AF-4172-E09A-2B21-25A19FC4A683}"/>
                  </a:ext>
                </a:extLst>
              </p:cNvPr>
              <p:cNvSpPr txBox="1"/>
              <p:nvPr/>
            </p:nvSpPr>
            <p:spPr>
              <a:xfrm>
                <a:off x="1156762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-1.2</a:t>
                </a:r>
                <a:endParaRPr lang="ko-KR" altLang="en-US" sz="850" dirty="0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F5EEF5F-D288-4480-E11B-D066F8BA9C46}"/>
                  </a:ext>
                </a:extLst>
              </p:cNvPr>
              <p:cNvSpPr txBox="1"/>
              <p:nvPr/>
            </p:nvSpPr>
            <p:spPr>
              <a:xfrm>
                <a:off x="1448999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0.8</a:t>
                </a:r>
                <a:endParaRPr lang="ko-KR" altLang="en-US" sz="850" dirty="0"/>
              </a:p>
            </p:txBody>
          </p:sp>
        </p:grp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BA4E8309-A07D-A350-9485-FF640CE449D0}"/>
                </a:ext>
              </a:extLst>
            </p:cNvPr>
            <p:cNvGrpSpPr/>
            <p:nvPr/>
          </p:nvGrpSpPr>
          <p:grpSpPr>
            <a:xfrm>
              <a:off x="867922" y="4365134"/>
              <a:ext cx="950458" cy="227901"/>
              <a:chOff x="1023719" y="4231760"/>
              <a:chExt cx="950458" cy="227901"/>
            </a:xfrm>
          </p:grpSpPr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76701BB-65B0-C984-5CF1-3A97F6CA1C60}"/>
                  </a:ext>
                </a:extLst>
              </p:cNvPr>
              <p:cNvSpPr txBox="1"/>
              <p:nvPr/>
            </p:nvSpPr>
            <p:spPr>
              <a:xfrm>
                <a:off x="1023719" y="42317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-0.6</a:t>
                </a:r>
                <a:endParaRPr lang="ko-KR" altLang="en-US" sz="850" dirty="0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A67A2E0-FE86-9F3F-0132-968C90C3D2DF}"/>
                  </a:ext>
                </a:extLst>
              </p:cNvPr>
              <p:cNvSpPr txBox="1"/>
              <p:nvPr/>
            </p:nvSpPr>
            <p:spPr>
              <a:xfrm>
                <a:off x="1328214" y="4236523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2.1</a:t>
                </a:r>
                <a:endParaRPr lang="ko-KR" altLang="en-US" sz="850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67D33C2-22A0-B946-CFC5-D323B616DCB7}"/>
                  </a:ext>
                </a:extLst>
              </p:cNvPr>
              <p:cNvSpPr txBox="1"/>
              <p:nvPr/>
            </p:nvSpPr>
            <p:spPr>
              <a:xfrm>
                <a:off x="1601399" y="42317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-0.4</a:t>
                </a:r>
                <a:endParaRPr lang="ko-KR" altLang="en-US" sz="850" dirty="0"/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28129306-728D-6BC7-4462-A4093179A48F}"/>
                </a:ext>
              </a:extLst>
            </p:cNvPr>
            <p:cNvGrpSpPr/>
            <p:nvPr/>
          </p:nvGrpSpPr>
          <p:grpSpPr>
            <a:xfrm>
              <a:off x="867922" y="4650908"/>
              <a:ext cx="950458" cy="223138"/>
              <a:chOff x="867922" y="4650908"/>
              <a:chExt cx="950458" cy="223138"/>
            </a:xfrm>
          </p:grpSpPr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71163EC-C169-F4C3-63E2-B78DFF00A26D}"/>
                  </a:ext>
                </a:extLst>
              </p:cNvPr>
              <p:cNvSpPr txBox="1"/>
              <p:nvPr/>
            </p:nvSpPr>
            <p:spPr>
              <a:xfrm>
                <a:off x="867922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1.0</a:t>
                </a:r>
                <a:endParaRPr lang="ko-KR" altLang="en-US" sz="850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11F3715-491D-DE4D-BD0E-4DC46F8413C0}"/>
                  </a:ext>
                </a:extLst>
              </p:cNvPr>
              <p:cNvSpPr txBox="1"/>
              <p:nvPr/>
            </p:nvSpPr>
            <p:spPr>
              <a:xfrm>
                <a:off x="1153365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0.7</a:t>
                </a:r>
                <a:endParaRPr lang="ko-KR" altLang="en-US" sz="850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27BD9CA-FF07-29C9-0940-67E476F64A1E}"/>
                  </a:ext>
                </a:extLst>
              </p:cNvPr>
              <p:cNvSpPr txBox="1"/>
              <p:nvPr/>
            </p:nvSpPr>
            <p:spPr>
              <a:xfrm>
                <a:off x="1445602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-0.3</a:t>
                </a:r>
                <a:endParaRPr lang="ko-KR" altLang="en-US" sz="850" dirty="0"/>
              </a:p>
            </p:txBody>
          </p:sp>
        </p:grp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CE10A467-08BC-6BE1-0893-4E7FA882CE0B}"/>
              </a:ext>
            </a:extLst>
          </p:cNvPr>
          <p:cNvSpPr txBox="1"/>
          <p:nvPr/>
        </p:nvSpPr>
        <p:spPr>
          <a:xfrm>
            <a:off x="1046844" y="4927496"/>
            <a:ext cx="5934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weight</a:t>
            </a:r>
            <a:endParaRPr lang="ko-KR" altLang="en-US" sz="105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7855D0C-6BC3-1467-F011-8E151668F225}"/>
              </a:ext>
            </a:extLst>
          </p:cNvPr>
          <p:cNvSpPr txBox="1"/>
          <p:nvPr/>
        </p:nvSpPr>
        <p:spPr>
          <a:xfrm>
            <a:off x="954619" y="6100613"/>
            <a:ext cx="7553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activation</a:t>
            </a:r>
            <a:endParaRPr lang="ko-KR" altLang="en-US" sz="1050" dirty="0"/>
          </a:p>
        </p:txBody>
      </p:sp>
      <p:sp>
        <p:nvSpPr>
          <p:cNvPr id="76" name="화살표: 오른쪽 75">
            <a:extLst>
              <a:ext uri="{FF2B5EF4-FFF2-40B4-BE49-F238E27FC236}">
                <a16:creationId xmlns:a16="http://schemas.microsoft.com/office/drawing/2014/main" id="{A98E9DA2-96FF-106A-3BB1-6AD6452F8D52}"/>
              </a:ext>
            </a:extLst>
          </p:cNvPr>
          <p:cNvSpPr/>
          <p:nvPr/>
        </p:nvSpPr>
        <p:spPr>
          <a:xfrm>
            <a:off x="2089075" y="4875436"/>
            <a:ext cx="791251" cy="261610"/>
          </a:xfrm>
          <a:prstGeom prst="rightArrow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1376482-7D1E-6239-89A6-38646F0CE6D2}"/>
              </a:ext>
            </a:extLst>
          </p:cNvPr>
          <p:cNvSpPr txBox="1"/>
          <p:nvPr/>
        </p:nvSpPr>
        <p:spPr>
          <a:xfrm>
            <a:off x="2099753" y="5144539"/>
            <a:ext cx="67358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Binarize</a:t>
            </a:r>
            <a:endParaRPr lang="ko-KR" altLang="en-US" sz="105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DC03C33-9EE5-EAF0-065D-B5F68A8AC560}"/>
              </a:ext>
            </a:extLst>
          </p:cNvPr>
          <p:cNvSpPr txBox="1"/>
          <p:nvPr/>
        </p:nvSpPr>
        <p:spPr>
          <a:xfrm>
            <a:off x="2130211" y="4547066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Sign(x)</a:t>
            </a:r>
            <a:endParaRPr lang="ko-KR" altLang="en-US" sz="1050" dirty="0"/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2A6DC7EA-2A4E-C027-8763-06CE3A35C280}"/>
              </a:ext>
            </a:extLst>
          </p:cNvPr>
          <p:cNvGrpSpPr/>
          <p:nvPr/>
        </p:nvGrpSpPr>
        <p:grpSpPr>
          <a:xfrm>
            <a:off x="2982860" y="4058471"/>
            <a:ext cx="953855" cy="861774"/>
            <a:chOff x="867922" y="4058471"/>
            <a:chExt cx="953855" cy="861774"/>
          </a:xfrm>
        </p:grpSpPr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5724ADA9-DB0D-51E6-7E65-E810657BCEA9}"/>
                </a:ext>
              </a:extLst>
            </p:cNvPr>
            <p:cNvSpPr/>
            <p:nvPr/>
          </p:nvSpPr>
          <p:spPr>
            <a:xfrm>
              <a:off x="913708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 dirty="0">
                <a:solidFill>
                  <a:schemeClr val="bg1"/>
                </a:solidFill>
              </a:endParaRPr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FC607893-A1A2-1AAB-82D7-819A0D7A4E86}"/>
                </a:ext>
              </a:extLst>
            </p:cNvPr>
            <p:cNvSpPr/>
            <p:nvPr/>
          </p:nvSpPr>
          <p:spPr>
            <a:xfrm>
              <a:off x="1199151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AE9F4713-6C47-CB60-E3A5-9F8114F7F244}"/>
                </a:ext>
              </a:extLst>
            </p:cNvPr>
            <p:cNvSpPr/>
            <p:nvPr/>
          </p:nvSpPr>
          <p:spPr>
            <a:xfrm>
              <a:off x="1487151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94FDCCCD-D932-4F70-9D6C-DE02D99BFE8B}"/>
                </a:ext>
              </a:extLst>
            </p:cNvPr>
            <p:cNvSpPr/>
            <p:nvPr/>
          </p:nvSpPr>
          <p:spPr>
            <a:xfrm>
              <a:off x="913708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38C228A1-B67C-125C-6614-2983FFF486E3}"/>
                </a:ext>
              </a:extLst>
            </p:cNvPr>
            <p:cNvSpPr/>
            <p:nvPr/>
          </p:nvSpPr>
          <p:spPr>
            <a:xfrm>
              <a:off x="1199151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FF03F916-E04B-5DAE-CD29-532CD20F1FE5}"/>
                </a:ext>
              </a:extLst>
            </p:cNvPr>
            <p:cNvSpPr/>
            <p:nvPr/>
          </p:nvSpPr>
          <p:spPr>
            <a:xfrm>
              <a:off x="1487151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7FACCB18-FD48-F68C-72E9-BDD0F841C2D9}"/>
                </a:ext>
              </a:extLst>
            </p:cNvPr>
            <p:cNvSpPr/>
            <p:nvPr/>
          </p:nvSpPr>
          <p:spPr>
            <a:xfrm>
              <a:off x="913708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C3EBF793-6166-6F39-71E9-7D03B71853A6}"/>
                </a:ext>
              </a:extLst>
            </p:cNvPr>
            <p:cNvSpPr/>
            <p:nvPr/>
          </p:nvSpPr>
          <p:spPr>
            <a:xfrm>
              <a:off x="1199151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E2CC263F-F157-C2FD-B9AA-A24322E2E669}"/>
                </a:ext>
              </a:extLst>
            </p:cNvPr>
            <p:cNvSpPr/>
            <p:nvPr/>
          </p:nvSpPr>
          <p:spPr>
            <a:xfrm>
              <a:off x="1487151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9D050B8B-47E9-73C2-36B5-ABE93E7B626A}"/>
                </a:ext>
              </a:extLst>
            </p:cNvPr>
            <p:cNvGrpSpPr/>
            <p:nvPr/>
          </p:nvGrpSpPr>
          <p:grpSpPr>
            <a:xfrm>
              <a:off x="871319" y="4079360"/>
              <a:ext cx="950458" cy="223138"/>
              <a:chOff x="871319" y="4079360"/>
              <a:chExt cx="950458" cy="223138"/>
            </a:xfrm>
          </p:grpSpPr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6E54DC9E-44A7-B3DF-A1C6-DF025959530F}"/>
                  </a:ext>
                </a:extLst>
              </p:cNvPr>
              <p:cNvSpPr txBox="1"/>
              <p:nvPr/>
            </p:nvSpPr>
            <p:spPr>
              <a:xfrm>
                <a:off x="871319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81FEC082-FC4B-3FCB-1CBC-8500BEAB0043}"/>
                  </a:ext>
                </a:extLst>
              </p:cNvPr>
              <p:cNvSpPr txBox="1"/>
              <p:nvPr/>
            </p:nvSpPr>
            <p:spPr>
              <a:xfrm>
                <a:off x="1156762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-1</a:t>
                </a:r>
                <a:endParaRPr lang="ko-KR" altLang="en-US" sz="850" dirty="0"/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181BBEF8-D410-DECE-F443-1277AEED7836}"/>
                  </a:ext>
                </a:extLst>
              </p:cNvPr>
              <p:cNvSpPr txBox="1"/>
              <p:nvPr/>
            </p:nvSpPr>
            <p:spPr>
              <a:xfrm>
                <a:off x="1448999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</p:grp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3BC7292B-4AC7-6149-9948-C3E366474442}"/>
                </a:ext>
              </a:extLst>
            </p:cNvPr>
            <p:cNvGrpSpPr/>
            <p:nvPr/>
          </p:nvGrpSpPr>
          <p:grpSpPr>
            <a:xfrm>
              <a:off x="867922" y="4365134"/>
              <a:ext cx="950458" cy="227901"/>
              <a:chOff x="1023719" y="4231760"/>
              <a:chExt cx="950458" cy="227901"/>
            </a:xfrm>
          </p:grpSpPr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1418043-A963-195C-398D-28738014F9CB}"/>
                  </a:ext>
                </a:extLst>
              </p:cNvPr>
              <p:cNvSpPr txBox="1"/>
              <p:nvPr/>
            </p:nvSpPr>
            <p:spPr>
              <a:xfrm>
                <a:off x="1023719" y="42317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-1</a:t>
                </a:r>
                <a:endParaRPr lang="ko-KR" altLang="en-US" sz="850" dirty="0"/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BCBB07BC-80DA-8414-B65F-727C869BA62A}"/>
                  </a:ext>
                </a:extLst>
              </p:cNvPr>
              <p:cNvSpPr txBox="1"/>
              <p:nvPr/>
            </p:nvSpPr>
            <p:spPr>
              <a:xfrm>
                <a:off x="1328214" y="4236523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5D820C9F-1702-5E0D-82DA-F97391538650}"/>
                  </a:ext>
                </a:extLst>
              </p:cNvPr>
              <p:cNvSpPr txBox="1"/>
              <p:nvPr/>
            </p:nvSpPr>
            <p:spPr>
              <a:xfrm>
                <a:off x="1601399" y="42317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-1</a:t>
                </a:r>
                <a:endParaRPr lang="ko-KR" altLang="en-US" sz="850" dirty="0"/>
              </a:p>
            </p:txBody>
          </p:sp>
        </p:grp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ACB5960C-2450-192F-D8E6-B5082AE6C081}"/>
                </a:ext>
              </a:extLst>
            </p:cNvPr>
            <p:cNvGrpSpPr/>
            <p:nvPr/>
          </p:nvGrpSpPr>
          <p:grpSpPr>
            <a:xfrm>
              <a:off x="867922" y="4650908"/>
              <a:ext cx="950458" cy="223138"/>
              <a:chOff x="867922" y="4650908"/>
              <a:chExt cx="950458" cy="223138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F0338926-B6E5-178E-6F7F-788BF4153088}"/>
                  </a:ext>
                </a:extLst>
              </p:cNvPr>
              <p:cNvSpPr txBox="1"/>
              <p:nvPr/>
            </p:nvSpPr>
            <p:spPr>
              <a:xfrm>
                <a:off x="867922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ED877F30-E04D-EF9B-7151-7E7B4EFD78D0}"/>
                  </a:ext>
                </a:extLst>
              </p:cNvPr>
              <p:cNvSpPr txBox="1"/>
              <p:nvPr/>
            </p:nvSpPr>
            <p:spPr>
              <a:xfrm>
                <a:off x="1153365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-1</a:t>
                </a:r>
                <a:endParaRPr lang="ko-KR" altLang="en-US" sz="850" dirty="0"/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0EA313D-3251-14ED-CF3C-ECB15AC7AAD7}"/>
                  </a:ext>
                </a:extLst>
              </p:cNvPr>
              <p:cNvSpPr txBox="1"/>
              <p:nvPr/>
            </p:nvSpPr>
            <p:spPr>
              <a:xfrm>
                <a:off x="1445602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</p:grp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F3152EA9-8B1D-B174-E547-EA98FCCE0C64}"/>
              </a:ext>
            </a:extLst>
          </p:cNvPr>
          <p:cNvGrpSpPr/>
          <p:nvPr/>
        </p:nvGrpSpPr>
        <p:grpSpPr>
          <a:xfrm>
            <a:off x="2975393" y="5238839"/>
            <a:ext cx="953855" cy="861774"/>
            <a:chOff x="867922" y="4058471"/>
            <a:chExt cx="953855" cy="861774"/>
          </a:xfrm>
        </p:grpSpPr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A5051153-B17D-DD39-B200-CDA270AE4C16}"/>
                </a:ext>
              </a:extLst>
            </p:cNvPr>
            <p:cNvSpPr/>
            <p:nvPr/>
          </p:nvSpPr>
          <p:spPr>
            <a:xfrm>
              <a:off x="913708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 dirty="0">
                <a:solidFill>
                  <a:schemeClr val="bg1"/>
                </a:solidFill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1C80A9F6-2728-0A8C-CE14-EA2EDAE9A2BC}"/>
                </a:ext>
              </a:extLst>
            </p:cNvPr>
            <p:cNvSpPr/>
            <p:nvPr/>
          </p:nvSpPr>
          <p:spPr>
            <a:xfrm>
              <a:off x="1199151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C36E47AB-A612-691A-4EEF-C04CF1A60932}"/>
                </a:ext>
              </a:extLst>
            </p:cNvPr>
            <p:cNvSpPr/>
            <p:nvPr/>
          </p:nvSpPr>
          <p:spPr>
            <a:xfrm>
              <a:off x="1487151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C1FE7BF1-B5E6-4CFB-FB60-D9831620AA59}"/>
                </a:ext>
              </a:extLst>
            </p:cNvPr>
            <p:cNvSpPr/>
            <p:nvPr/>
          </p:nvSpPr>
          <p:spPr>
            <a:xfrm>
              <a:off x="913708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B98FFCC6-D400-BB9C-8944-29EA80304AFB}"/>
                </a:ext>
              </a:extLst>
            </p:cNvPr>
            <p:cNvSpPr/>
            <p:nvPr/>
          </p:nvSpPr>
          <p:spPr>
            <a:xfrm>
              <a:off x="1199151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96421507-8ECD-B29B-C614-5F1639008F10}"/>
                </a:ext>
              </a:extLst>
            </p:cNvPr>
            <p:cNvSpPr/>
            <p:nvPr/>
          </p:nvSpPr>
          <p:spPr>
            <a:xfrm>
              <a:off x="1487151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0D63C6B6-3E23-DDAA-C0CD-389464EDFBED}"/>
                </a:ext>
              </a:extLst>
            </p:cNvPr>
            <p:cNvSpPr/>
            <p:nvPr/>
          </p:nvSpPr>
          <p:spPr>
            <a:xfrm>
              <a:off x="913708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55E7D42B-C882-AB7C-30AC-68C497B4F4F4}"/>
                </a:ext>
              </a:extLst>
            </p:cNvPr>
            <p:cNvSpPr/>
            <p:nvPr/>
          </p:nvSpPr>
          <p:spPr>
            <a:xfrm>
              <a:off x="1199151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3F4168E2-AB58-7DDB-68B7-7BDFCCDECC48}"/>
                </a:ext>
              </a:extLst>
            </p:cNvPr>
            <p:cNvSpPr/>
            <p:nvPr/>
          </p:nvSpPr>
          <p:spPr>
            <a:xfrm>
              <a:off x="1487151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86BCEC23-23EB-0663-A17D-A027DBE33FE5}"/>
                </a:ext>
              </a:extLst>
            </p:cNvPr>
            <p:cNvGrpSpPr/>
            <p:nvPr/>
          </p:nvGrpSpPr>
          <p:grpSpPr>
            <a:xfrm>
              <a:off x="871319" y="4079360"/>
              <a:ext cx="950458" cy="223138"/>
              <a:chOff x="871319" y="4079360"/>
              <a:chExt cx="950458" cy="223138"/>
            </a:xfrm>
          </p:grpSpPr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147BEF59-188C-2423-D60A-4675CD7374C7}"/>
                  </a:ext>
                </a:extLst>
              </p:cNvPr>
              <p:cNvSpPr txBox="1"/>
              <p:nvPr/>
            </p:nvSpPr>
            <p:spPr>
              <a:xfrm>
                <a:off x="871319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C80DA3FA-384B-3C01-1313-DD705AED016F}"/>
                  </a:ext>
                </a:extLst>
              </p:cNvPr>
              <p:cNvSpPr txBox="1"/>
              <p:nvPr/>
            </p:nvSpPr>
            <p:spPr>
              <a:xfrm>
                <a:off x="1156762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-1</a:t>
                </a:r>
                <a:endParaRPr lang="ko-KR" altLang="en-US" sz="850" dirty="0"/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815530F-EC8F-33EA-DAD1-29FE2B7D6C82}"/>
                  </a:ext>
                </a:extLst>
              </p:cNvPr>
              <p:cNvSpPr txBox="1"/>
              <p:nvPr/>
            </p:nvSpPr>
            <p:spPr>
              <a:xfrm>
                <a:off x="1448999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</p:grp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EB5C513B-E599-6E3A-DFA7-835861E02144}"/>
                </a:ext>
              </a:extLst>
            </p:cNvPr>
            <p:cNvGrpSpPr/>
            <p:nvPr/>
          </p:nvGrpSpPr>
          <p:grpSpPr>
            <a:xfrm>
              <a:off x="867922" y="4365134"/>
              <a:ext cx="950458" cy="227901"/>
              <a:chOff x="1023719" y="4231760"/>
              <a:chExt cx="950458" cy="227901"/>
            </a:xfrm>
          </p:grpSpPr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AC675A7-81E6-CB1F-4484-41FF57874CE4}"/>
                  </a:ext>
                </a:extLst>
              </p:cNvPr>
              <p:cNvSpPr txBox="1"/>
              <p:nvPr/>
            </p:nvSpPr>
            <p:spPr>
              <a:xfrm>
                <a:off x="1023719" y="42317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-1</a:t>
                </a:r>
                <a:endParaRPr lang="ko-KR" altLang="en-US" sz="850" dirty="0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3E4D5076-2CAE-3E35-5F6B-0BD9B7ABF03E}"/>
                  </a:ext>
                </a:extLst>
              </p:cNvPr>
              <p:cNvSpPr txBox="1"/>
              <p:nvPr/>
            </p:nvSpPr>
            <p:spPr>
              <a:xfrm>
                <a:off x="1328214" y="4236523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BDFF4008-1405-B71C-59FA-6C6A11F3759A}"/>
                  </a:ext>
                </a:extLst>
              </p:cNvPr>
              <p:cNvSpPr txBox="1"/>
              <p:nvPr/>
            </p:nvSpPr>
            <p:spPr>
              <a:xfrm>
                <a:off x="1601399" y="42317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-1</a:t>
                </a:r>
                <a:endParaRPr lang="ko-KR" altLang="en-US" sz="850" dirty="0"/>
              </a:p>
            </p:txBody>
          </p:sp>
        </p:grp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632F6085-A1B2-F14B-3A04-387DF90CF106}"/>
                </a:ext>
              </a:extLst>
            </p:cNvPr>
            <p:cNvGrpSpPr/>
            <p:nvPr/>
          </p:nvGrpSpPr>
          <p:grpSpPr>
            <a:xfrm>
              <a:off x="867922" y="4650908"/>
              <a:ext cx="950458" cy="223138"/>
              <a:chOff x="867922" y="4650908"/>
              <a:chExt cx="950458" cy="223138"/>
            </a:xfrm>
          </p:grpSpPr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D9272878-B2E5-4BA4-21EC-B44A6DA8E710}"/>
                  </a:ext>
                </a:extLst>
              </p:cNvPr>
              <p:cNvSpPr txBox="1"/>
              <p:nvPr/>
            </p:nvSpPr>
            <p:spPr>
              <a:xfrm>
                <a:off x="867922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6A2808A0-2CE5-AA53-EC27-3802AD210761}"/>
                  </a:ext>
                </a:extLst>
              </p:cNvPr>
              <p:cNvSpPr txBox="1"/>
              <p:nvPr/>
            </p:nvSpPr>
            <p:spPr>
              <a:xfrm>
                <a:off x="1153365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7382C17-29CA-78F6-F79D-6E2C5CEC32B2}"/>
                  </a:ext>
                </a:extLst>
              </p:cNvPr>
              <p:cNvSpPr txBox="1"/>
              <p:nvPr/>
            </p:nvSpPr>
            <p:spPr>
              <a:xfrm>
                <a:off x="1445602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-1</a:t>
                </a:r>
                <a:endParaRPr lang="ko-KR" altLang="en-US" sz="850" dirty="0"/>
              </a:p>
            </p:txBody>
          </p:sp>
        </p:grp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CF0CA1B2-E775-B6DE-77CF-463914C4F41B}"/>
              </a:ext>
            </a:extLst>
          </p:cNvPr>
          <p:cNvSpPr txBox="1"/>
          <p:nvPr/>
        </p:nvSpPr>
        <p:spPr>
          <a:xfrm>
            <a:off x="3161782" y="4927496"/>
            <a:ext cx="5934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weight</a:t>
            </a:r>
            <a:endParaRPr lang="ko-KR" altLang="en-US" sz="105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F6A7FC9-9929-7950-E6F5-2CEFA77965C5}"/>
              </a:ext>
            </a:extLst>
          </p:cNvPr>
          <p:cNvSpPr txBox="1"/>
          <p:nvPr/>
        </p:nvSpPr>
        <p:spPr>
          <a:xfrm>
            <a:off x="3069557" y="6100613"/>
            <a:ext cx="7553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activation</a:t>
            </a:r>
            <a:endParaRPr lang="ko-KR" altLang="en-US" sz="1050" dirty="0"/>
          </a:p>
        </p:txBody>
      </p:sp>
      <p:sp>
        <p:nvSpPr>
          <p:cNvPr id="127" name="화살표: 오른쪽 126">
            <a:extLst>
              <a:ext uri="{FF2B5EF4-FFF2-40B4-BE49-F238E27FC236}">
                <a16:creationId xmlns:a16="http://schemas.microsoft.com/office/drawing/2014/main" id="{3A0165FE-B6A9-039B-F654-B9F02510481A}"/>
              </a:ext>
            </a:extLst>
          </p:cNvPr>
          <p:cNvSpPr/>
          <p:nvPr/>
        </p:nvSpPr>
        <p:spPr>
          <a:xfrm>
            <a:off x="4088162" y="4875436"/>
            <a:ext cx="791251" cy="261610"/>
          </a:xfrm>
          <a:prstGeom prst="rightArrow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D4460E7-CE47-2FB1-C32E-F58AE4EDC6DA}"/>
              </a:ext>
            </a:extLst>
          </p:cNvPr>
          <p:cNvSpPr txBox="1"/>
          <p:nvPr/>
        </p:nvSpPr>
        <p:spPr>
          <a:xfrm>
            <a:off x="4148535" y="5144539"/>
            <a:ext cx="5741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XNOR</a:t>
            </a:r>
            <a:endParaRPr lang="ko-KR" altLang="en-US" sz="1050" dirty="0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76036EB7-2D96-5462-C48D-95A7605FC329}"/>
              </a:ext>
            </a:extLst>
          </p:cNvPr>
          <p:cNvGrpSpPr/>
          <p:nvPr/>
        </p:nvGrpSpPr>
        <p:grpSpPr>
          <a:xfrm>
            <a:off x="4956398" y="4639484"/>
            <a:ext cx="953855" cy="861774"/>
            <a:chOff x="867922" y="4058471"/>
            <a:chExt cx="953855" cy="861774"/>
          </a:xfrm>
        </p:grpSpPr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C6115ABF-A135-DC9B-F1B3-C286CD6EE37A}"/>
                </a:ext>
              </a:extLst>
            </p:cNvPr>
            <p:cNvSpPr/>
            <p:nvPr/>
          </p:nvSpPr>
          <p:spPr>
            <a:xfrm>
              <a:off x="913708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 dirty="0">
                <a:solidFill>
                  <a:schemeClr val="bg1"/>
                </a:solidFill>
              </a:endParaRPr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BEDC0D97-CF8A-0040-ABD4-86DBE68E67AF}"/>
                </a:ext>
              </a:extLst>
            </p:cNvPr>
            <p:cNvSpPr/>
            <p:nvPr/>
          </p:nvSpPr>
          <p:spPr>
            <a:xfrm>
              <a:off x="1199151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7F8E8687-9841-6F13-7F2A-54327F6FA4F6}"/>
                </a:ext>
              </a:extLst>
            </p:cNvPr>
            <p:cNvSpPr/>
            <p:nvPr/>
          </p:nvSpPr>
          <p:spPr>
            <a:xfrm>
              <a:off x="1487151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17437D47-D3A2-3581-2572-79975B1B46F0}"/>
                </a:ext>
              </a:extLst>
            </p:cNvPr>
            <p:cNvSpPr/>
            <p:nvPr/>
          </p:nvSpPr>
          <p:spPr>
            <a:xfrm>
              <a:off x="913708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3B3C87DF-CD78-971B-B559-04AD9C23D517}"/>
                </a:ext>
              </a:extLst>
            </p:cNvPr>
            <p:cNvSpPr/>
            <p:nvPr/>
          </p:nvSpPr>
          <p:spPr>
            <a:xfrm>
              <a:off x="1199151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8F163B9F-46C0-AE09-6DD1-A75BB784321F}"/>
                </a:ext>
              </a:extLst>
            </p:cNvPr>
            <p:cNvSpPr/>
            <p:nvPr/>
          </p:nvSpPr>
          <p:spPr>
            <a:xfrm>
              <a:off x="1487151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CC2D5162-7550-B7A8-4BB1-815DDF136C7A}"/>
                </a:ext>
              </a:extLst>
            </p:cNvPr>
            <p:cNvSpPr/>
            <p:nvPr/>
          </p:nvSpPr>
          <p:spPr>
            <a:xfrm>
              <a:off x="913708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48920385-10BD-B55C-EF4C-DB6036136C04}"/>
                </a:ext>
              </a:extLst>
            </p:cNvPr>
            <p:cNvSpPr/>
            <p:nvPr/>
          </p:nvSpPr>
          <p:spPr>
            <a:xfrm>
              <a:off x="1199151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DA2E73FF-D6B1-B784-B2AC-F649A5DFCA75}"/>
                </a:ext>
              </a:extLst>
            </p:cNvPr>
            <p:cNvSpPr/>
            <p:nvPr/>
          </p:nvSpPr>
          <p:spPr>
            <a:xfrm>
              <a:off x="1487151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grpSp>
          <p:nvGrpSpPr>
            <p:cNvPr id="139" name="그룹 138">
              <a:extLst>
                <a:ext uri="{FF2B5EF4-FFF2-40B4-BE49-F238E27FC236}">
                  <a16:creationId xmlns:a16="http://schemas.microsoft.com/office/drawing/2014/main" id="{DED1212F-E2EC-7DA2-A388-F9D3618CFEA3}"/>
                </a:ext>
              </a:extLst>
            </p:cNvPr>
            <p:cNvGrpSpPr/>
            <p:nvPr/>
          </p:nvGrpSpPr>
          <p:grpSpPr>
            <a:xfrm>
              <a:off x="871319" y="4079360"/>
              <a:ext cx="950458" cy="223138"/>
              <a:chOff x="871319" y="4079360"/>
              <a:chExt cx="950458" cy="223138"/>
            </a:xfrm>
          </p:grpSpPr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0D198AC8-A38E-DFD1-12E7-B923123AA9AA}"/>
                  </a:ext>
                </a:extLst>
              </p:cNvPr>
              <p:cNvSpPr txBox="1"/>
              <p:nvPr/>
            </p:nvSpPr>
            <p:spPr>
              <a:xfrm>
                <a:off x="871319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FD68E8F5-C988-614D-6AB5-341652B27ED5}"/>
                  </a:ext>
                </a:extLst>
              </p:cNvPr>
              <p:cNvSpPr txBox="1"/>
              <p:nvPr/>
            </p:nvSpPr>
            <p:spPr>
              <a:xfrm>
                <a:off x="1156762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DA87F5DA-ADBF-FBDB-0B40-EB7021D52A2F}"/>
                  </a:ext>
                </a:extLst>
              </p:cNvPr>
              <p:cNvSpPr txBox="1"/>
              <p:nvPr/>
            </p:nvSpPr>
            <p:spPr>
              <a:xfrm>
                <a:off x="1448999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</p:grpSp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6C37EE48-17EE-9844-BA36-CE9AD729F115}"/>
                </a:ext>
              </a:extLst>
            </p:cNvPr>
            <p:cNvGrpSpPr/>
            <p:nvPr/>
          </p:nvGrpSpPr>
          <p:grpSpPr>
            <a:xfrm>
              <a:off x="867922" y="4365134"/>
              <a:ext cx="950458" cy="227901"/>
              <a:chOff x="1023719" y="4231760"/>
              <a:chExt cx="950458" cy="227901"/>
            </a:xfrm>
          </p:grpSpPr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DAC0412A-6648-7605-3374-24EB9BD27A35}"/>
                  </a:ext>
                </a:extLst>
              </p:cNvPr>
              <p:cNvSpPr txBox="1"/>
              <p:nvPr/>
            </p:nvSpPr>
            <p:spPr>
              <a:xfrm>
                <a:off x="1023719" y="42317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177C6C36-4722-F660-28AD-A95A6BF5825A}"/>
                  </a:ext>
                </a:extLst>
              </p:cNvPr>
              <p:cNvSpPr txBox="1"/>
              <p:nvPr/>
            </p:nvSpPr>
            <p:spPr>
              <a:xfrm>
                <a:off x="1328214" y="4236523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BBD2ECB7-0D94-C5CB-F9F0-9827582D2722}"/>
                  </a:ext>
                </a:extLst>
              </p:cNvPr>
              <p:cNvSpPr txBox="1"/>
              <p:nvPr/>
            </p:nvSpPr>
            <p:spPr>
              <a:xfrm>
                <a:off x="1601399" y="42317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</p:grpSp>
        <p:grpSp>
          <p:nvGrpSpPr>
            <p:cNvPr id="141" name="그룹 140">
              <a:extLst>
                <a:ext uri="{FF2B5EF4-FFF2-40B4-BE49-F238E27FC236}">
                  <a16:creationId xmlns:a16="http://schemas.microsoft.com/office/drawing/2014/main" id="{AD9145BD-CC13-EC0B-C835-1D7C8CB3833C}"/>
                </a:ext>
              </a:extLst>
            </p:cNvPr>
            <p:cNvGrpSpPr/>
            <p:nvPr/>
          </p:nvGrpSpPr>
          <p:grpSpPr>
            <a:xfrm>
              <a:off x="867922" y="4650908"/>
              <a:ext cx="950458" cy="223138"/>
              <a:chOff x="867922" y="4650908"/>
              <a:chExt cx="950458" cy="223138"/>
            </a:xfrm>
          </p:grpSpPr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9044DE9E-7D2B-D08E-FEA7-72D2C1DB28BA}"/>
                  </a:ext>
                </a:extLst>
              </p:cNvPr>
              <p:cNvSpPr txBox="1"/>
              <p:nvPr/>
            </p:nvSpPr>
            <p:spPr>
              <a:xfrm>
                <a:off x="867922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5440C495-D7C2-48F6-B773-D05E9B0428B7}"/>
                  </a:ext>
                </a:extLst>
              </p:cNvPr>
              <p:cNvSpPr txBox="1"/>
              <p:nvPr/>
            </p:nvSpPr>
            <p:spPr>
              <a:xfrm>
                <a:off x="1153365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0</a:t>
                </a:r>
                <a:endParaRPr lang="ko-KR" altLang="en-US" sz="850" dirty="0"/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615FF5F5-647B-15D5-3D14-DD2F51C34809}"/>
                  </a:ext>
                </a:extLst>
              </p:cNvPr>
              <p:cNvSpPr txBox="1"/>
              <p:nvPr/>
            </p:nvSpPr>
            <p:spPr>
              <a:xfrm>
                <a:off x="1445602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0</a:t>
                </a:r>
                <a:endParaRPr lang="ko-KR" altLang="en-US" sz="850" dirty="0"/>
              </a:p>
            </p:txBody>
          </p:sp>
        </p:grpSp>
      </p:grpSp>
      <p:sp>
        <p:nvSpPr>
          <p:cNvPr id="152" name="화살표: 오른쪽 151">
            <a:extLst>
              <a:ext uri="{FF2B5EF4-FFF2-40B4-BE49-F238E27FC236}">
                <a16:creationId xmlns:a16="http://schemas.microsoft.com/office/drawing/2014/main" id="{64D93B04-5FF9-C504-D1DD-0A4F6431F83F}"/>
              </a:ext>
            </a:extLst>
          </p:cNvPr>
          <p:cNvSpPr/>
          <p:nvPr/>
        </p:nvSpPr>
        <p:spPr>
          <a:xfrm>
            <a:off x="5992744" y="4868197"/>
            <a:ext cx="791251" cy="261610"/>
          </a:xfrm>
          <a:prstGeom prst="rightArrow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266C2C60-532E-FE1D-7D74-B22683E8B24F}"/>
              </a:ext>
            </a:extLst>
          </p:cNvPr>
          <p:cNvSpPr txBox="1"/>
          <p:nvPr/>
        </p:nvSpPr>
        <p:spPr>
          <a:xfrm>
            <a:off x="5969764" y="5137300"/>
            <a:ext cx="74090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 err="1"/>
              <a:t>popcount</a:t>
            </a:r>
            <a:endParaRPr lang="ko-KR" altLang="en-US" sz="1050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7AB5D21D-3DDC-A8E9-4BC4-02FD13DDD89C}"/>
              </a:ext>
            </a:extLst>
          </p:cNvPr>
          <p:cNvSpPr txBox="1"/>
          <p:nvPr/>
        </p:nvSpPr>
        <p:spPr>
          <a:xfrm>
            <a:off x="6045908" y="4338146"/>
            <a:ext cx="58862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0 </a:t>
            </a:r>
            <a:r>
              <a:rPr lang="ko-KR" altLang="en-US" sz="1050" dirty="0"/>
              <a:t>→</a:t>
            </a:r>
            <a:r>
              <a:rPr lang="en-US" altLang="ko-KR" sz="1050" dirty="0"/>
              <a:t> -1</a:t>
            </a:r>
          </a:p>
          <a:p>
            <a:pPr algn="ctr"/>
            <a:r>
              <a:rPr lang="en-US" altLang="ko-KR" sz="1050" dirty="0"/>
              <a:t>1 </a:t>
            </a:r>
            <a:r>
              <a:rPr lang="ko-KR" altLang="en-US" sz="1050" dirty="0"/>
              <a:t>→ </a:t>
            </a:r>
            <a:r>
              <a:rPr lang="en-US" altLang="ko-KR" sz="1050" dirty="0"/>
              <a:t>1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41081B43-0FAB-7F58-C0AD-F638AB096F32}"/>
              </a:ext>
            </a:extLst>
          </p:cNvPr>
          <p:cNvSpPr txBox="1"/>
          <p:nvPr/>
        </p:nvSpPr>
        <p:spPr>
          <a:xfrm>
            <a:off x="6758347" y="4847844"/>
            <a:ext cx="595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5</a:t>
            </a:r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정수</a:t>
            </a:r>
            <a:r>
              <a:rPr lang="en-US" altLang="ko-KR" sz="1200" dirty="0"/>
              <a:t>)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64E9F7FE-DA4A-67AD-25DD-2C29813FD0F1}"/>
              </a:ext>
            </a:extLst>
          </p:cNvPr>
          <p:cNvSpPr txBox="1"/>
          <p:nvPr/>
        </p:nvSpPr>
        <p:spPr>
          <a:xfrm>
            <a:off x="2917717" y="6362008"/>
            <a:ext cx="10807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-1</a:t>
            </a:r>
            <a:r>
              <a:rPr lang="ko-KR" altLang="en-US" sz="1000" dirty="0"/>
              <a:t>은 </a:t>
            </a:r>
            <a:r>
              <a:rPr lang="en-US" altLang="ko-KR" sz="1000" dirty="0"/>
              <a:t>0</a:t>
            </a:r>
            <a:r>
              <a:rPr lang="ko-KR" altLang="en-US" sz="1000" dirty="0"/>
              <a:t>으로 표현</a:t>
            </a:r>
            <a:endParaRPr lang="en-US" altLang="ko-KR" sz="1000" dirty="0"/>
          </a:p>
          <a:p>
            <a:pPr algn="ctr"/>
            <a:r>
              <a:rPr lang="en-US" altLang="ko-KR" sz="1000" dirty="0"/>
              <a:t>1</a:t>
            </a:r>
            <a:r>
              <a:rPr lang="ko-KR" altLang="en-US" sz="1000" dirty="0"/>
              <a:t>은</a:t>
            </a:r>
            <a:r>
              <a:rPr lang="en-US" altLang="ko-KR" sz="1000" dirty="0"/>
              <a:t> 1</a:t>
            </a:r>
            <a:r>
              <a:rPr lang="ko-KR" altLang="en-US" sz="1000" dirty="0"/>
              <a:t>로 표현</a:t>
            </a:r>
            <a:endParaRPr lang="en-US" altLang="ko-KR" sz="1000" dirty="0"/>
          </a:p>
        </p:txBody>
      </p:sp>
      <p:sp>
        <p:nvSpPr>
          <p:cNvPr id="179" name="화살표: 오른쪽 178">
            <a:extLst>
              <a:ext uri="{FF2B5EF4-FFF2-40B4-BE49-F238E27FC236}">
                <a16:creationId xmlns:a16="http://schemas.microsoft.com/office/drawing/2014/main" id="{2A73C13E-DBF8-D80D-207C-F6E075E9FF34}"/>
              </a:ext>
            </a:extLst>
          </p:cNvPr>
          <p:cNvSpPr/>
          <p:nvPr/>
        </p:nvSpPr>
        <p:spPr>
          <a:xfrm>
            <a:off x="7401057" y="4875436"/>
            <a:ext cx="791251" cy="261610"/>
          </a:xfrm>
          <a:prstGeom prst="rightArrow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C669B35B-58B4-6A2F-1701-648F1A7F6F1A}"/>
              </a:ext>
            </a:extLst>
          </p:cNvPr>
          <p:cNvSpPr txBox="1"/>
          <p:nvPr/>
        </p:nvSpPr>
        <p:spPr>
          <a:xfrm>
            <a:off x="7445404" y="5144539"/>
            <a:ext cx="60625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scaling</a:t>
            </a:r>
            <a:endParaRPr lang="ko-KR" altLang="en-US" sz="1050" dirty="0"/>
          </a:p>
        </p:txBody>
      </p: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F8506121-100F-6513-6B1B-6E3941B63164}"/>
              </a:ext>
            </a:extLst>
          </p:cNvPr>
          <p:cNvGrpSpPr/>
          <p:nvPr/>
        </p:nvGrpSpPr>
        <p:grpSpPr>
          <a:xfrm>
            <a:off x="8462886" y="4013904"/>
            <a:ext cx="953855" cy="861774"/>
            <a:chOff x="867922" y="4058471"/>
            <a:chExt cx="953855" cy="861774"/>
          </a:xfrm>
        </p:grpSpPr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427799B-5354-3748-131F-825673700AC0}"/>
                </a:ext>
              </a:extLst>
            </p:cNvPr>
            <p:cNvSpPr/>
            <p:nvPr/>
          </p:nvSpPr>
          <p:spPr>
            <a:xfrm>
              <a:off x="913708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 dirty="0">
                <a:solidFill>
                  <a:schemeClr val="bg1"/>
                </a:solidFill>
              </a:endParaRPr>
            </a:p>
          </p:txBody>
        </p:sp>
        <p:sp>
          <p:nvSpPr>
            <p:cNvPr id="183" name="직사각형 182">
              <a:extLst>
                <a:ext uri="{FF2B5EF4-FFF2-40B4-BE49-F238E27FC236}">
                  <a16:creationId xmlns:a16="http://schemas.microsoft.com/office/drawing/2014/main" id="{D99CE0F3-BAD8-8108-57E5-2421023D54A5}"/>
                </a:ext>
              </a:extLst>
            </p:cNvPr>
            <p:cNvSpPr/>
            <p:nvPr/>
          </p:nvSpPr>
          <p:spPr>
            <a:xfrm>
              <a:off x="1199151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91BA4CE9-AD3D-9450-294B-64C9F4F5E491}"/>
                </a:ext>
              </a:extLst>
            </p:cNvPr>
            <p:cNvSpPr/>
            <p:nvPr/>
          </p:nvSpPr>
          <p:spPr>
            <a:xfrm>
              <a:off x="1487151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85" name="직사각형 184">
              <a:extLst>
                <a:ext uri="{FF2B5EF4-FFF2-40B4-BE49-F238E27FC236}">
                  <a16:creationId xmlns:a16="http://schemas.microsoft.com/office/drawing/2014/main" id="{CE3ABD44-0F19-A0AF-217F-30F5B91BAB3D}"/>
                </a:ext>
              </a:extLst>
            </p:cNvPr>
            <p:cNvSpPr/>
            <p:nvPr/>
          </p:nvSpPr>
          <p:spPr>
            <a:xfrm>
              <a:off x="913708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273B6E83-A8CA-0812-FD93-BC3A523994F4}"/>
                </a:ext>
              </a:extLst>
            </p:cNvPr>
            <p:cNvSpPr/>
            <p:nvPr/>
          </p:nvSpPr>
          <p:spPr>
            <a:xfrm>
              <a:off x="1199151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BF2AE0AF-6E43-11C2-6878-FD6CD537770D}"/>
                </a:ext>
              </a:extLst>
            </p:cNvPr>
            <p:cNvSpPr/>
            <p:nvPr/>
          </p:nvSpPr>
          <p:spPr>
            <a:xfrm>
              <a:off x="1487151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32441B95-14B7-98DD-5B89-F64F86ADE348}"/>
                </a:ext>
              </a:extLst>
            </p:cNvPr>
            <p:cNvSpPr/>
            <p:nvPr/>
          </p:nvSpPr>
          <p:spPr>
            <a:xfrm>
              <a:off x="913708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89" name="직사각형 188">
              <a:extLst>
                <a:ext uri="{FF2B5EF4-FFF2-40B4-BE49-F238E27FC236}">
                  <a16:creationId xmlns:a16="http://schemas.microsoft.com/office/drawing/2014/main" id="{56E78880-C701-6A65-888F-9573980A163B}"/>
                </a:ext>
              </a:extLst>
            </p:cNvPr>
            <p:cNvSpPr/>
            <p:nvPr/>
          </p:nvSpPr>
          <p:spPr>
            <a:xfrm>
              <a:off x="1199151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7133516A-7054-BCEA-17E5-9C9C4B5474A8}"/>
                </a:ext>
              </a:extLst>
            </p:cNvPr>
            <p:cNvSpPr/>
            <p:nvPr/>
          </p:nvSpPr>
          <p:spPr>
            <a:xfrm>
              <a:off x="1487151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grpSp>
          <p:nvGrpSpPr>
            <p:cNvPr id="191" name="그룹 190">
              <a:extLst>
                <a:ext uri="{FF2B5EF4-FFF2-40B4-BE49-F238E27FC236}">
                  <a16:creationId xmlns:a16="http://schemas.microsoft.com/office/drawing/2014/main" id="{70EBA8A4-699B-8933-1C86-74B3DFEF114F}"/>
                </a:ext>
              </a:extLst>
            </p:cNvPr>
            <p:cNvGrpSpPr/>
            <p:nvPr/>
          </p:nvGrpSpPr>
          <p:grpSpPr>
            <a:xfrm>
              <a:off x="871319" y="4079360"/>
              <a:ext cx="950458" cy="223138"/>
              <a:chOff x="871319" y="4079360"/>
              <a:chExt cx="950458" cy="223138"/>
            </a:xfrm>
          </p:grpSpPr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F41DFDC7-5221-CD03-CB65-93542D8F42ED}"/>
                  </a:ext>
                </a:extLst>
              </p:cNvPr>
              <p:cNvSpPr txBox="1"/>
              <p:nvPr/>
            </p:nvSpPr>
            <p:spPr>
              <a:xfrm>
                <a:off x="871319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0.3</a:t>
                </a:r>
                <a:endParaRPr lang="ko-KR" altLang="en-US" sz="850" dirty="0"/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E9C903C6-4B13-060D-BB8C-19B5997A7332}"/>
                  </a:ext>
                </a:extLst>
              </p:cNvPr>
              <p:cNvSpPr txBox="1"/>
              <p:nvPr/>
            </p:nvSpPr>
            <p:spPr>
              <a:xfrm>
                <a:off x="1156762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-0.7</a:t>
                </a:r>
                <a:endParaRPr lang="ko-KR" altLang="en-US" sz="850" dirty="0"/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1B06E731-36CF-CF57-51BE-6A2B7F2A9F1D}"/>
                  </a:ext>
                </a:extLst>
              </p:cNvPr>
              <p:cNvSpPr txBox="1"/>
              <p:nvPr/>
            </p:nvSpPr>
            <p:spPr>
              <a:xfrm>
                <a:off x="1448999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0.2</a:t>
                </a:r>
                <a:endParaRPr lang="ko-KR" altLang="en-US" sz="850" dirty="0"/>
              </a:p>
            </p:txBody>
          </p:sp>
        </p:grpSp>
        <p:grpSp>
          <p:nvGrpSpPr>
            <p:cNvPr id="192" name="그룹 191">
              <a:extLst>
                <a:ext uri="{FF2B5EF4-FFF2-40B4-BE49-F238E27FC236}">
                  <a16:creationId xmlns:a16="http://schemas.microsoft.com/office/drawing/2014/main" id="{97E47DC0-7EDA-8FC4-0473-5A8215B7C763}"/>
                </a:ext>
              </a:extLst>
            </p:cNvPr>
            <p:cNvGrpSpPr/>
            <p:nvPr/>
          </p:nvGrpSpPr>
          <p:grpSpPr>
            <a:xfrm>
              <a:off x="867922" y="4365134"/>
              <a:ext cx="950458" cy="227901"/>
              <a:chOff x="1023719" y="4231760"/>
              <a:chExt cx="950458" cy="227901"/>
            </a:xfrm>
          </p:grpSpPr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17F3440B-0F4B-66A4-5C80-AFA420783643}"/>
                  </a:ext>
                </a:extLst>
              </p:cNvPr>
              <p:cNvSpPr txBox="1"/>
              <p:nvPr/>
            </p:nvSpPr>
            <p:spPr>
              <a:xfrm>
                <a:off x="1023719" y="42317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-0.5</a:t>
                </a:r>
                <a:endParaRPr lang="ko-KR" altLang="en-US" sz="850" dirty="0"/>
              </a:p>
            </p:txBody>
          </p: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085A06FD-DD22-CA5F-B293-BBCAB11E4D95}"/>
                  </a:ext>
                </a:extLst>
              </p:cNvPr>
              <p:cNvSpPr txBox="1"/>
              <p:nvPr/>
            </p:nvSpPr>
            <p:spPr>
              <a:xfrm>
                <a:off x="1328214" y="4236523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0.9</a:t>
                </a:r>
                <a:endParaRPr lang="ko-KR" altLang="en-US" sz="850" dirty="0"/>
              </a:p>
            </p:txBody>
          </p:sp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3B2BB5C9-187B-3833-362F-36401F6058D6}"/>
                  </a:ext>
                </a:extLst>
              </p:cNvPr>
              <p:cNvSpPr txBox="1"/>
              <p:nvPr/>
            </p:nvSpPr>
            <p:spPr>
              <a:xfrm>
                <a:off x="1601399" y="42317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-0.1</a:t>
                </a:r>
                <a:endParaRPr lang="ko-KR" altLang="en-US" sz="850" dirty="0"/>
              </a:p>
            </p:txBody>
          </p:sp>
        </p:grpSp>
        <p:grpSp>
          <p:nvGrpSpPr>
            <p:cNvPr id="193" name="그룹 192">
              <a:extLst>
                <a:ext uri="{FF2B5EF4-FFF2-40B4-BE49-F238E27FC236}">
                  <a16:creationId xmlns:a16="http://schemas.microsoft.com/office/drawing/2014/main" id="{DF0F03DF-973C-2FA2-4AE9-2310CDED9342}"/>
                </a:ext>
              </a:extLst>
            </p:cNvPr>
            <p:cNvGrpSpPr/>
            <p:nvPr/>
          </p:nvGrpSpPr>
          <p:grpSpPr>
            <a:xfrm>
              <a:off x="867922" y="4650908"/>
              <a:ext cx="950458" cy="223138"/>
              <a:chOff x="867922" y="4650908"/>
              <a:chExt cx="950458" cy="223138"/>
            </a:xfrm>
          </p:grpSpPr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8B87A251-A016-E882-0489-6CF9A587B27B}"/>
                  </a:ext>
                </a:extLst>
              </p:cNvPr>
              <p:cNvSpPr txBox="1"/>
              <p:nvPr/>
            </p:nvSpPr>
            <p:spPr>
              <a:xfrm>
                <a:off x="867922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0.4</a:t>
                </a:r>
                <a:endParaRPr lang="ko-KR" altLang="en-US" sz="850" dirty="0"/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EB92692A-2E0A-9ACA-D138-AA37A91CC9AC}"/>
                  </a:ext>
                </a:extLst>
              </p:cNvPr>
              <p:cNvSpPr txBox="1"/>
              <p:nvPr/>
            </p:nvSpPr>
            <p:spPr>
              <a:xfrm>
                <a:off x="1153365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-0.6</a:t>
                </a:r>
                <a:endParaRPr lang="ko-KR" altLang="en-US" sz="850" dirty="0"/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2318CC4-0F20-AEFD-BDBB-AAFF1D1D9F37}"/>
                  </a:ext>
                </a:extLst>
              </p:cNvPr>
              <p:cNvSpPr txBox="1"/>
              <p:nvPr/>
            </p:nvSpPr>
            <p:spPr>
              <a:xfrm>
                <a:off x="1445602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0.8</a:t>
                </a:r>
                <a:endParaRPr lang="ko-KR" altLang="en-US" sz="850" dirty="0"/>
              </a:p>
            </p:txBody>
          </p:sp>
        </p:grpSp>
      </p:grpSp>
      <p:sp>
        <p:nvSpPr>
          <p:cNvPr id="203" name="TextBox 202">
            <a:extLst>
              <a:ext uri="{FF2B5EF4-FFF2-40B4-BE49-F238E27FC236}">
                <a16:creationId xmlns:a16="http://schemas.microsoft.com/office/drawing/2014/main" id="{9F09FDBD-3F74-0887-A549-CA2D3B9F7D24}"/>
              </a:ext>
            </a:extLst>
          </p:cNvPr>
          <p:cNvSpPr txBox="1"/>
          <p:nvPr/>
        </p:nvSpPr>
        <p:spPr>
          <a:xfrm>
            <a:off x="8641808" y="4882929"/>
            <a:ext cx="5934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weight</a:t>
            </a:r>
            <a:endParaRPr lang="ko-KR" altLang="en-US" sz="10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12F3E031-EE66-7416-30D9-928925A6EA36}"/>
                  </a:ext>
                </a:extLst>
              </p:cNvPr>
              <p:cNvSpPr txBox="1"/>
              <p:nvPr/>
            </p:nvSpPr>
            <p:spPr>
              <a:xfrm>
                <a:off x="9473871" y="4109180"/>
                <a:ext cx="2718118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Scaling factor </a:t>
                </a:r>
                <a14:m>
                  <m:oMath xmlns:m="http://schemas.openxmlformats.org/officeDocument/2006/math">
                    <m:r>
                      <a:rPr lang="ko-KR" altLang="en-US" sz="14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𝑚𝑒𝑎𝑛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ko-KR" sz="1400" b="0" dirty="0"/>
                  <a:t>,</a:t>
                </a:r>
              </a:p>
              <a:p>
                <a:pPr algn="ctr"/>
                <a:endParaRPr lang="en-US" altLang="ko-KR" sz="1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US" altLang="ko-KR" sz="1400" b="0" dirty="0"/>
              </a:p>
            </p:txBody>
          </p:sp>
        </mc:Choice>
        <mc:Fallback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12F3E031-EE66-7416-30D9-928925A6E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3871" y="4109180"/>
                <a:ext cx="2718118" cy="738664"/>
              </a:xfrm>
              <a:prstGeom prst="rect">
                <a:avLst/>
              </a:prstGeom>
              <a:blipFill>
                <a:blip r:embed="rId4"/>
                <a:stretch>
                  <a:fillRect t="-16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76837492-68A8-C52B-1344-1470CC3EC719}"/>
                  </a:ext>
                </a:extLst>
              </p:cNvPr>
              <p:cNvSpPr txBox="1"/>
              <p:nvPr/>
            </p:nvSpPr>
            <p:spPr>
              <a:xfrm>
                <a:off x="9226115" y="5419868"/>
                <a:ext cx="20006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40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ko-KR" sz="1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4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=2.5</m:t>
                    </m:r>
                  </m:oMath>
                </a14:m>
                <a:r>
                  <a:rPr lang="en-US" altLang="ko-KR" sz="1400" b="0" dirty="0"/>
                  <a:t> (</a:t>
                </a:r>
                <a:r>
                  <a:rPr lang="ko-KR" altLang="en-US" sz="1400" b="0" dirty="0"/>
                  <a:t>실수</a:t>
                </a:r>
                <a:r>
                  <a:rPr lang="en-US" altLang="ko-KR" sz="1400" b="0" dirty="0"/>
                  <a:t>)</a:t>
                </a:r>
              </a:p>
            </p:txBody>
          </p:sp>
        </mc:Choice>
        <mc:Fallback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76837492-68A8-C52B-1344-1470CC3EC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6115" y="5419868"/>
                <a:ext cx="2000675" cy="307777"/>
              </a:xfrm>
              <a:prstGeom prst="rect">
                <a:avLst/>
              </a:prstGeom>
              <a:blipFill>
                <a:blip r:embed="rId5"/>
                <a:stretch>
                  <a:fillRect t="-5882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7014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F8BDB-C428-876D-CF98-FA1FE71FF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25B9F-3282-9FC6-79E1-583B2C5B2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Binary Conv</a:t>
            </a:r>
            <a:endParaRPr lang="ko-KR" altLang="en-US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05A3CC-6F9A-6FD2-9B3B-A2CA5DFD2532}"/>
              </a:ext>
            </a:extLst>
          </p:cNvPr>
          <p:cNvSpPr txBox="1"/>
          <p:nvPr/>
        </p:nvSpPr>
        <p:spPr>
          <a:xfrm>
            <a:off x="1057708" y="3521368"/>
            <a:ext cx="555754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Binary Conv</a:t>
            </a:r>
            <a:r>
              <a:rPr lang="ko-KR" altLang="en-US" b="1" dirty="0"/>
              <a:t> 연산 예시</a:t>
            </a:r>
            <a:endParaRPr lang="en-US" altLang="ko-KR" b="1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2BAF51D-5C65-D3EB-0C05-4E0CB99C4385}"/>
              </a:ext>
            </a:extLst>
          </p:cNvPr>
          <p:cNvGrpSpPr/>
          <p:nvPr/>
        </p:nvGrpSpPr>
        <p:grpSpPr>
          <a:xfrm>
            <a:off x="1352676" y="1293288"/>
            <a:ext cx="9278961" cy="2042142"/>
            <a:chOff x="1175679" y="1293288"/>
            <a:chExt cx="9278961" cy="204214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A7D85DE-3539-6A24-3AF8-26159CC98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8443"/>
            <a:stretch>
              <a:fillRect/>
            </a:stretch>
          </p:blipFill>
          <p:spPr>
            <a:xfrm>
              <a:off x="1175679" y="1293288"/>
              <a:ext cx="9278961" cy="1612458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7EE652B-5857-E2FC-5B86-9CB8B951DBBC}"/>
                </a:ext>
              </a:extLst>
            </p:cNvPr>
            <p:cNvSpPr txBox="1"/>
            <p:nvPr/>
          </p:nvSpPr>
          <p:spPr>
            <a:xfrm>
              <a:off x="4800298" y="3058431"/>
              <a:ext cx="202972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00" dirty="0"/>
                <a:t>일반적인 </a:t>
              </a:r>
              <a:r>
                <a:rPr lang="en-US" altLang="ko-KR" sz="1200" dirty="0"/>
                <a:t>Binary Conv </a:t>
              </a:r>
              <a:r>
                <a:rPr lang="ko-KR" altLang="en-US" sz="1200" dirty="0"/>
                <a:t>연산</a:t>
              </a:r>
            </a:p>
          </p:txBody>
        </p:sp>
      </p:grpSp>
      <p:sp>
        <p:nvSpPr>
          <p:cNvPr id="179" name="화살표: 오른쪽 178">
            <a:extLst>
              <a:ext uri="{FF2B5EF4-FFF2-40B4-BE49-F238E27FC236}">
                <a16:creationId xmlns:a16="http://schemas.microsoft.com/office/drawing/2014/main" id="{D1BCA2A4-DEC5-6143-CC98-9AFA0DF2A1C2}"/>
              </a:ext>
            </a:extLst>
          </p:cNvPr>
          <p:cNvSpPr/>
          <p:nvPr/>
        </p:nvSpPr>
        <p:spPr>
          <a:xfrm>
            <a:off x="465867" y="5140985"/>
            <a:ext cx="791251" cy="261610"/>
          </a:xfrm>
          <a:prstGeom prst="rightArrow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EDEF1A92-4228-9DF6-196D-E969F8765D3B}"/>
              </a:ext>
            </a:extLst>
          </p:cNvPr>
          <p:cNvSpPr txBox="1"/>
          <p:nvPr/>
        </p:nvSpPr>
        <p:spPr>
          <a:xfrm>
            <a:off x="510214" y="5410088"/>
            <a:ext cx="60625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scaling</a:t>
            </a:r>
            <a:endParaRPr lang="ko-KR" altLang="en-US" sz="1050" dirty="0"/>
          </a:p>
        </p:txBody>
      </p: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FF88E2F9-B7C3-97F2-8062-9E6C0F28E86C}"/>
              </a:ext>
            </a:extLst>
          </p:cNvPr>
          <p:cNvGrpSpPr/>
          <p:nvPr/>
        </p:nvGrpSpPr>
        <p:grpSpPr>
          <a:xfrm>
            <a:off x="1527696" y="4279453"/>
            <a:ext cx="953855" cy="861774"/>
            <a:chOff x="867922" y="4058471"/>
            <a:chExt cx="953855" cy="861774"/>
          </a:xfrm>
        </p:grpSpPr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C09B7164-5CFB-A362-C611-2902F864A6A6}"/>
                </a:ext>
              </a:extLst>
            </p:cNvPr>
            <p:cNvSpPr/>
            <p:nvPr/>
          </p:nvSpPr>
          <p:spPr>
            <a:xfrm>
              <a:off x="913708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 dirty="0">
                <a:solidFill>
                  <a:schemeClr val="bg1"/>
                </a:solidFill>
              </a:endParaRPr>
            </a:p>
          </p:txBody>
        </p:sp>
        <p:sp>
          <p:nvSpPr>
            <p:cNvPr id="183" name="직사각형 182">
              <a:extLst>
                <a:ext uri="{FF2B5EF4-FFF2-40B4-BE49-F238E27FC236}">
                  <a16:creationId xmlns:a16="http://schemas.microsoft.com/office/drawing/2014/main" id="{F5CA37FD-C71D-ED95-233E-D3CDBF46E8E1}"/>
                </a:ext>
              </a:extLst>
            </p:cNvPr>
            <p:cNvSpPr/>
            <p:nvPr/>
          </p:nvSpPr>
          <p:spPr>
            <a:xfrm>
              <a:off x="1199151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FD7361F7-B0D2-080E-9FF8-5092CDB5B63D}"/>
                </a:ext>
              </a:extLst>
            </p:cNvPr>
            <p:cNvSpPr/>
            <p:nvPr/>
          </p:nvSpPr>
          <p:spPr>
            <a:xfrm>
              <a:off x="1487151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85" name="직사각형 184">
              <a:extLst>
                <a:ext uri="{FF2B5EF4-FFF2-40B4-BE49-F238E27FC236}">
                  <a16:creationId xmlns:a16="http://schemas.microsoft.com/office/drawing/2014/main" id="{B25664E3-2CE9-21C1-4FAD-264C88D98E67}"/>
                </a:ext>
              </a:extLst>
            </p:cNvPr>
            <p:cNvSpPr/>
            <p:nvPr/>
          </p:nvSpPr>
          <p:spPr>
            <a:xfrm>
              <a:off x="913708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B840EC02-9386-4414-BBE9-F96E207F61C5}"/>
                </a:ext>
              </a:extLst>
            </p:cNvPr>
            <p:cNvSpPr/>
            <p:nvPr/>
          </p:nvSpPr>
          <p:spPr>
            <a:xfrm>
              <a:off x="1199151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74577188-50B9-FCF6-DD76-195035725257}"/>
                </a:ext>
              </a:extLst>
            </p:cNvPr>
            <p:cNvSpPr/>
            <p:nvPr/>
          </p:nvSpPr>
          <p:spPr>
            <a:xfrm>
              <a:off x="1487151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56CC0578-D88E-A070-DB8C-377A912A7847}"/>
                </a:ext>
              </a:extLst>
            </p:cNvPr>
            <p:cNvSpPr/>
            <p:nvPr/>
          </p:nvSpPr>
          <p:spPr>
            <a:xfrm>
              <a:off x="913708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89" name="직사각형 188">
              <a:extLst>
                <a:ext uri="{FF2B5EF4-FFF2-40B4-BE49-F238E27FC236}">
                  <a16:creationId xmlns:a16="http://schemas.microsoft.com/office/drawing/2014/main" id="{DF2B308C-93FC-AA23-F3E1-AB8E1CEF0878}"/>
                </a:ext>
              </a:extLst>
            </p:cNvPr>
            <p:cNvSpPr/>
            <p:nvPr/>
          </p:nvSpPr>
          <p:spPr>
            <a:xfrm>
              <a:off x="1199151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DE5F2EF1-C7E7-59F0-32AD-1FA05E9AB4B7}"/>
                </a:ext>
              </a:extLst>
            </p:cNvPr>
            <p:cNvSpPr/>
            <p:nvPr/>
          </p:nvSpPr>
          <p:spPr>
            <a:xfrm>
              <a:off x="1487151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grpSp>
          <p:nvGrpSpPr>
            <p:cNvPr id="191" name="그룹 190">
              <a:extLst>
                <a:ext uri="{FF2B5EF4-FFF2-40B4-BE49-F238E27FC236}">
                  <a16:creationId xmlns:a16="http://schemas.microsoft.com/office/drawing/2014/main" id="{8D836C89-7B30-9B23-524B-BF2A6F4F8D8C}"/>
                </a:ext>
              </a:extLst>
            </p:cNvPr>
            <p:cNvGrpSpPr/>
            <p:nvPr/>
          </p:nvGrpSpPr>
          <p:grpSpPr>
            <a:xfrm>
              <a:off x="871319" y="4079360"/>
              <a:ext cx="950458" cy="223138"/>
              <a:chOff x="871319" y="4079360"/>
              <a:chExt cx="950458" cy="223138"/>
            </a:xfrm>
          </p:grpSpPr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9FC2683C-AA58-E892-9EA1-BFB1E03C03B0}"/>
                  </a:ext>
                </a:extLst>
              </p:cNvPr>
              <p:cNvSpPr txBox="1"/>
              <p:nvPr/>
            </p:nvSpPr>
            <p:spPr>
              <a:xfrm>
                <a:off x="871319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0.3</a:t>
                </a:r>
                <a:endParaRPr lang="ko-KR" altLang="en-US" sz="850" dirty="0"/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F40D3E1C-5865-B817-9328-BA4A3F9185A4}"/>
                  </a:ext>
                </a:extLst>
              </p:cNvPr>
              <p:cNvSpPr txBox="1"/>
              <p:nvPr/>
            </p:nvSpPr>
            <p:spPr>
              <a:xfrm>
                <a:off x="1156762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-0.7</a:t>
                </a:r>
                <a:endParaRPr lang="ko-KR" altLang="en-US" sz="850" dirty="0"/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F427AA89-F175-A317-AA7D-D06D7DE752A3}"/>
                  </a:ext>
                </a:extLst>
              </p:cNvPr>
              <p:cNvSpPr txBox="1"/>
              <p:nvPr/>
            </p:nvSpPr>
            <p:spPr>
              <a:xfrm>
                <a:off x="1448999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0.2</a:t>
                </a:r>
                <a:endParaRPr lang="ko-KR" altLang="en-US" sz="850" dirty="0"/>
              </a:p>
            </p:txBody>
          </p:sp>
        </p:grpSp>
        <p:grpSp>
          <p:nvGrpSpPr>
            <p:cNvPr id="192" name="그룹 191">
              <a:extLst>
                <a:ext uri="{FF2B5EF4-FFF2-40B4-BE49-F238E27FC236}">
                  <a16:creationId xmlns:a16="http://schemas.microsoft.com/office/drawing/2014/main" id="{941D22AF-6839-7885-E4B9-10BBA85191A8}"/>
                </a:ext>
              </a:extLst>
            </p:cNvPr>
            <p:cNvGrpSpPr/>
            <p:nvPr/>
          </p:nvGrpSpPr>
          <p:grpSpPr>
            <a:xfrm>
              <a:off x="867922" y="4365134"/>
              <a:ext cx="950458" cy="227901"/>
              <a:chOff x="1023719" y="4231760"/>
              <a:chExt cx="950458" cy="227901"/>
            </a:xfrm>
          </p:grpSpPr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FC99390D-2227-88C5-BCB9-FE2140671090}"/>
                  </a:ext>
                </a:extLst>
              </p:cNvPr>
              <p:cNvSpPr txBox="1"/>
              <p:nvPr/>
            </p:nvSpPr>
            <p:spPr>
              <a:xfrm>
                <a:off x="1023719" y="42317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-0.5</a:t>
                </a:r>
                <a:endParaRPr lang="ko-KR" altLang="en-US" sz="850" dirty="0"/>
              </a:p>
            </p:txBody>
          </p: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EE034B4F-CABE-3B14-E90B-8A982832526F}"/>
                  </a:ext>
                </a:extLst>
              </p:cNvPr>
              <p:cNvSpPr txBox="1"/>
              <p:nvPr/>
            </p:nvSpPr>
            <p:spPr>
              <a:xfrm>
                <a:off x="1328214" y="4236523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0.9</a:t>
                </a:r>
                <a:endParaRPr lang="ko-KR" altLang="en-US" sz="850" dirty="0"/>
              </a:p>
            </p:txBody>
          </p:sp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DA8F76FA-7677-5EE2-B431-8BEEE779E289}"/>
                  </a:ext>
                </a:extLst>
              </p:cNvPr>
              <p:cNvSpPr txBox="1"/>
              <p:nvPr/>
            </p:nvSpPr>
            <p:spPr>
              <a:xfrm>
                <a:off x="1601399" y="42317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-0.1</a:t>
                </a:r>
                <a:endParaRPr lang="ko-KR" altLang="en-US" sz="850" dirty="0"/>
              </a:p>
            </p:txBody>
          </p:sp>
        </p:grpSp>
        <p:grpSp>
          <p:nvGrpSpPr>
            <p:cNvPr id="193" name="그룹 192">
              <a:extLst>
                <a:ext uri="{FF2B5EF4-FFF2-40B4-BE49-F238E27FC236}">
                  <a16:creationId xmlns:a16="http://schemas.microsoft.com/office/drawing/2014/main" id="{35F95667-6C08-7112-B421-99AD2CC635C7}"/>
                </a:ext>
              </a:extLst>
            </p:cNvPr>
            <p:cNvGrpSpPr/>
            <p:nvPr/>
          </p:nvGrpSpPr>
          <p:grpSpPr>
            <a:xfrm>
              <a:off x="867922" y="4650908"/>
              <a:ext cx="950458" cy="223138"/>
              <a:chOff x="867922" y="4650908"/>
              <a:chExt cx="950458" cy="223138"/>
            </a:xfrm>
          </p:grpSpPr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4E031B4A-01C4-8D4F-4194-0C1528E4044E}"/>
                  </a:ext>
                </a:extLst>
              </p:cNvPr>
              <p:cNvSpPr txBox="1"/>
              <p:nvPr/>
            </p:nvSpPr>
            <p:spPr>
              <a:xfrm>
                <a:off x="867922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0.4</a:t>
                </a:r>
                <a:endParaRPr lang="ko-KR" altLang="en-US" sz="850" dirty="0"/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F8B0E91B-67D4-5EA7-7F05-77F782FF1D48}"/>
                  </a:ext>
                </a:extLst>
              </p:cNvPr>
              <p:cNvSpPr txBox="1"/>
              <p:nvPr/>
            </p:nvSpPr>
            <p:spPr>
              <a:xfrm>
                <a:off x="1153365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-0.6</a:t>
                </a:r>
                <a:endParaRPr lang="ko-KR" altLang="en-US" sz="850" dirty="0"/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03B4B877-C525-FA94-DF49-EB5AB8FA43D6}"/>
                  </a:ext>
                </a:extLst>
              </p:cNvPr>
              <p:cNvSpPr txBox="1"/>
              <p:nvPr/>
            </p:nvSpPr>
            <p:spPr>
              <a:xfrm>
                <a:off x="1445602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0.8</a:t>
                </a:r>
                <a:endParaRPr lang="ko-KR" altLang="en-US" sz="850" dirty="0"/>
              </a:p>
            </p:txBody>
          </p:sp>
        </p:grpSp>
      </p:grpSp>
      <p:sp>
        <p:nvSpPr>
          <p:cNvPr id="203" name="TextBox 202">
            <a:extLst>
              <a:ext uri="{FF2B5EF4-FFF2-40B4-BE49-F238E27FC236}">
                <a16:creationId xmlns:a16="http://schemas.microsoft.com/office/drawing/2014/main" id="{F3C583CC-7F11-D224-2774-3E63844709B6}"/>
              </a:ext>
            </a:extLst>
          </p:cNvPr>
          <p:cNvSpPr txBox="1"/>
          <p:nvPr/>
        </p:nvSpPr>
        <p:spPr>
          <a:xfrm>
            <a:off x="1706618" y="5148478"/>
            <a:ext cx="5934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weight</a:t>
            </a:r>
            <a:endParaRPr lang="ko-KR" altLang="en-US" sz="10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3B60786C-6E56-066B-515D-730DC50A5C02}"/>
                  </a:ext>
                </a:extLst>
              </p:cNvPr>
              <p:cNvSpPr txBox="1"/>
              <p:nvPr/>
            </p:nvSpPr>
            <p:spPr>
              <a:xfrm>
                <a:off x="2538681" y="4374729"/>
                <a:ext cx="2718118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Scaling factor </a:t>
                </a:r>
                <a14:m>
                  <m:oMath xmlns:m="http://schemas.openxmlformats.org/officeDocument/2006/math">
                    <m:r>
                      <a:rPr lang="ko-KR" altLang="en-US" sz="14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𝑚𝑒𝑎𝑛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ko-KR" sz="1400" b="0" dirty="0"/>
                  <a:t>,</a:t>
                </a:r>
              </a:p>
              <a:p>
                <a:pPr algn="ctr"/>
                <a:endParaRPr lang="en-US" altLang="ko-KR" sz="1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US" altLang="ko-KR" sz="1400" b="0" dirty="0"/>
              </a:p>
            </p:txBody>
          </p:sp>
        </mc:Choice>
        <mc:Fallback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3B60786C-6E56-066B-515D-730DC50A5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8681" y="4374729"/>
                <a:ext cx="2718118" cy="738664"/>
              </a:xfrm>
              <a:prstGeom prst="rect">
                <a:avLst/>
              </a:prstGeom>
              <a:blipFill>
                <a:blip r:embed="rId4"/>
                <a:stretch>
                  <a:fillRect t="-16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43485335-56B3-BF15-7E01-A08F776C0E09}"/>
                  </a:ext>
                </a:extLst>
              </p:cNvPr>
              <p:cNvSpPr txBox="1"/>
              <p:nvPr/>
            </p:nvSpPr>
            <p:spPr>
              <a:xfrm>
                <a:off x="2290925" y="5685417"/>
                <a:ext cx="20006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40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ko-KR" sz="1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4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=2.5</m:t>
                    </m:r>
                  </m:oMath>
                </a14:m>
                <a:r>
                  <a:rPr lang="en-US" altLang="ko-KR" sz="1400" b="0" dirty="0"/>
                  <a:t> (</a:t>
                </a:r>
                <a:r>
                  <a:rPr lang="ko-KR" altLang="en-US" sz="1400" b="0" dirty="0"/>
                  <a:t>실수</a:t>
                </a:r>
                <a:r>
                  <a:rPr lang="en-US" altLang="ko-KR" sz="1400" b="0" dirty="0"/>
                  <a:t>)</a:t>
                </a:r>
              </a:p>
            </p:txBody>
          </p:sp>
        </mc:Choice>
        <mc:Fallback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43485335-56B3-BF15-7E01-A08F776C0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925" y="5685417"/>
                <a:ext cx="2000675" cy="307777"/>
              </a:xfrm>
              <a:prstGeom prst="rect">
                <a:avLst/>
              </a:prstGeom>
              <a:blipFill>
                <a:blip r:embed="rId5"/>
                <a:stretch>
                  <a:fillRect t="-6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566E1748-D824-E917-5CD2-8D31BAF32D08}"/>
              </a:ext>
            </a:extLst>
          </p:cNvPr>
          <p:cNvSpPr/>
          <p:nvPr/>
        </p:nvSpPr>
        <p:spPr>
          <a:xfrm>
            <a:off x="5199942" y="5140985"/>
            <a:ext cx="791251" cy="261610"/>
          </a:xfrm>
          <a:prstGeom prst="rightArrow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72F08B-F02C-7D42-3DBB-8A3B6EDA8E8D}"/>
              </a:ext>
            </a:extLst>
          </p:cNvPr>
          <p:cNvSpPr txBox="1"/>
          <p:nvPr/>
        </p:nvSpPr>
        <p:spPr>
          <a:xfrm>
            <a:off x="5099220" y="5410088"/>
            <a:ext cx="8964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Batch Norm</a:t>
            </a:r>
            <a:endParaRPr lang="ko-KR" altLang="en-US" sz="10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BB5827FC-2A8D-009C-C107-9AA60F71AF70}"/>
                  </a:ext>
                </a:extLst>
              </p:cNvPr>
              <p:cNvSpPr txBox="1"/>
              <p:nvPr/>
            </p:nvSpPr>
            <p:spPr>
              <a:xfrm>
                <a:off x="6089749" y="4511241"/>
                <a:ext cx="3616226" cy="1278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4</a:t>
                </a:r>
                <a:r>
                  <a:rPr lang="ko-KR" altLang="en-US" sz="1400" dirty="0"/>
                  <a:t>개의 학습 파라미터</a:t>
                </a:r>
                <a:r>
                  <a:rPr lang="en-US" altLang="ko-KR" sz="14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l-GR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 altLang="ko-KR" sz="1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m:rPr>
                        <m:sty m:val="p"/>
                      </m:rPr>
                      <a:rPr lang="el-GR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ko-KR" sz="1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ko-KR" alt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altLang="ko-KR" sz="1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 b="0" dirty="0"/>
                  <a:t>,</a:t>
                </a:r>
              </a:p>
              <a:p>
                <a:endParaRPr lang="en-US" altLang="ko-KR" sz="1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𝐵𝑁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</m:t>
                        </m:r>
                        <m:r>
                          <m:rPr>
                            <m:sty m:val="p"/>
                          </m:rPr>
                          <a:rPr lang="el-GR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μ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ko-KR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ko-KR" alt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</m:rad>
                      </m:den>
                    </m:f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ko-KR" alt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ko-KR" sz="1400" b="0" dirty="0"/>
                  <a:t> </a:t>
                </a:r>
              </a:p>
              <a:p>
                <a:endParaRPr lang="en-US" altLang="ko-KR" sz="1400" dirty="0"/>
              </a:p>
              <a:p>
                <a:r>
                  <a:rPr lang="en-US" altLang="ko-KR" sz="1400" dirty="0"/>
                  <a:t>output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: 0.167(</a:t>
                </a:r>
                <a:r>
                  <a:rPr lang="ko-KR" altLang="en-US" sz="1400" dirty="0"/>
                  <a:t>실수</a:t>
                </a:r>
                <a:r>
                  <a:rPr lang="en-US" altLang="ko-KR" sz="1400" dirty="0"/>
                  <a:t>)</a:t>
                </a:r>
              </a:p>
            </p:txBody>
          </p:sp>
        </mc:Choice>
        <mc:Fallback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BB5827FC-2A8D-009C-C107-9AA60F71A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9749" y="4511241"/>
                <a:ext cx="3616226" cy="1278876"/>
              </a:xfrm>
              <a:prstGeom prst="rect">
                <a:avLst/>
              </a:prstGeom>
              <a:blipFill>
                <a:blip r:embed="rId6"/>
                <a:stretch>
                  <a:fillRect l="-506" t="-1429" b="-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화살표: 오른쪽 155">
            <a:extLst>
              <a:ext uri="{FF2B5EF4-FFF2-40B4-BE49-F238E27FC236}">
                <a16:creationId xmlns:a16="http://schemas.microsoft.com/office/drawing/2014/main" id="{80BC2232-535A-D4F5-A878-561569DB3A67}"/>
              </a:ext>
            </a:extLst>
          </p:cNvPr>
          <p:cNvSpPr/>
          <p:nvPr/>
        </p:nvSpPr>
        <p:spPr>
          <a:xfrm>
            <a:off x="8980038" y="5148478"/>
            <a:ext cx="791251" cy="261610"/>
          </a:xfrm>
          <a:prstGeom prst="rightArrow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07A8E5AD-6F38-C8DE-9625-261419FB3C8E}"/>
              </a:ext>
            </a:extLst>
          </p:cNvPr>
          <p:cNvSpPr txBox="1"/>
          <p:nvPr/>
        </p:nvSpPr>
        <p:spPr>
          <a:xfrm>
            <a:off x="8785585" y="5421533"/>
            <a:ext cx="113845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Skip connection</a:t>
            </a:r>
            <a:endParaRPr lang="ko-KR" altLang="en-US" sz="10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C612F7E-72AD-C2A7-39A6-EC452E5E79E4}"/>
              </a:ext>
            </a:extLst>
          </p:cNvPr>
          <p:cNvSpPr txBox="1"/>
          <p:nvPr/>
        </p:nvSpPr>
        <p:spPr>
          <a:xfrm>
            <a:off x="9759120" y="5093189"/>
            <a:ext cx="2432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output : </a:t>
            </a:r>
            <a:r>
              <a:rPr lang="ko-KR" altLang="en-US" sz="1400" dirty="0"/>
              <a:t>이전 결과값 </a:t>
            </a:r>
            <a:r>
              <a:rPr lang="en-US" altLang="ko-KR" sz="1400" dirty="0"/>
              <a:t>+ 0.167 </a:t>
            </a:r>
          </a:p>
        </p:txBody>
      </p:sp>
    </p:spTree>
    <p:extLst>
      <p:ext uri="{BB962C8B-B14F-4D97-AF65-F5344CB8AC3E}">
        <p14:creationId xmlns:p14="http://schemas.microsoft.com/office/powerpoint/2010/main" val="1500550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D7306-3C6B-3449-EA40-BB0FB4F0D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EF521-BDFA-EB88-E8B5-160BED0AD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PopBin</a:t>
            </a:r>
            <a:endParaRPr lang="ko-KR" altLang="en-US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2C5535-B526-CE86-A324-31DE23F59E12}"/>
              </a:ext>
            </a:extLst>
          </p:cNvPr>
          <p:cNvSpPr txBox="1"/>
          <p:nvPr/>
        </p:nvSpPr>
        <p:spPr>
          <a:xfrm>
            <a:off x="1319492" y="5153602"/>
            <a:ext cx="885320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PopBin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부동소수점 연산이 필요한 </a:t>
            </a:r>
            <a:r>
              <a:rPr lang="en-US" altLang="ko-KR" sz="1400" dirty="0"/>
              <a:t>Scaling, Batch Normalization </a:t>
            </a:r>
            <a:r>
              <a:rPr lang="ko-KR" altLang="en-US" sz="1400" dirty="0"/>
              <a:t>단계를 제거하고 </a:t>
            </a:r>
            <a:r>
              <a:rPr lang="en-US" altLang="ko-KR" sz="1400" dirty="0" err="1"/>
              <a:t>popcount</a:t>
            </a:r>
            <a:r>
              <a:rPr lang="en-US" altLang="ko-KR" sz="1400" dirty="0"/>
              <a:t> </a:t>
            </a:r>
            <a:r>
              <a:rPr lang="ko-KR" altLang="en-US" sz="1400" dirty="0"/>
              <a:t>결과를 바로 이진화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미리 계산된 </a:t>
            </a:r>
            <a:r>
              <a:rPr lang="en-US" altLang="ko-KR" sz="1400" dirty="0"/>
              <a:t>pre-fused constants</a:t>
            </a:r>
            <a:r>
              <a:rPr lang="ko-KR" altLang="en-US" sz="1400" dirty="0"/>
              <a:t> 값을 </a:t>
            </a:r>
            <a:r>
              <a:rPr lang="en-US" altLang="ko-KR" sz="1400" dirty="0"/>
              <a:t>Mux</a:t>
            </a:r>
            <a:r>
              <a:rPr lang="ko-KR" altLang="en-US" sz="1400" dirty="0"/>
              <a:t>에서 선택하는 것으로 대체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Learnable Division Factor </a:t>
            </a:r>
            <a:r>
              <a:rPr lang="ko-KR" altLang="en-US" sz="1400" dirty="0"/>
              <a:t>도입</a:t>
            </a:r>
            <a:endParaRPr lang="en-US" altLang="ko-KR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83A3019-8D6E-8089-E611-7A4AFDD80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13" y="1299020"/>
            <a:ext cx="9217830" cy="385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737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2CE9E-4A9E-1232-38A7-5F0355F2A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4327C2-FAEE-5E6F-860A-F419FF5F2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PopBin</a:t>
            </a:r>
            <a:r>
              <a:rPr lang="en-US" altLang="ko-KR" sz="4000" dirty="0"/>
              <a:t> </a:t>
            </a:r>
            <a:r>
              <a:rPr lang="ko-KR" altLang="en-US" sz="4000" dirty="0"/>
              <a:t>예시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98E376-D43A-9C65-767B-2CFAB68DBBBE}"/>
              </a:ext>
            </a:extLst>
          </p:cNvPr>
          <p:cNvSpPr txBox="1"/>
          <p:nvPr/>
        </p:nvSpPr>
        <p:spPr>
          <a:xfrm>
            <a:off x="3482552" y="2745893"/>
            <a:ext cx="8853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PopBin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1330C8B-C206-70D5-28E7-4D430B699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13" y="1299020"/>
            <a:ext cx="4776204" cy="1997245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B68566F4-CAF8-9EA0-3765-F8EC852169CA}"/>
              </a:ext>
            </a:extLst>
          </p:cNvPr>
          <p:cNvGrpSpPr/>
          <p:nvPr/>
        </p:nvGrpSpPr>
        <p:grpSpPr>
          <a:xfrm>
            <a:off x="1070166" y="3977910"/>
            <a:ext cx="953855" cy="861774"/>
            <a:chOff x="867922" y="4058471"/>
            <a:chExt cx="953855" cy="86177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22183FD-37B1-EFC2-A945-581594434DC4}"/>
                </a:ext>
              </a:extLst>
            </p:cNvPr>
            <p:cNvSpPr/>
            <p:nvPr/>
          </p:nvSpPr>
          <p:spPr>
            <a:xfrm>
              <a:off x="913708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 dirty="0">
                <a:solidFill>
                  <a:schemeClr val="bg1"/>
                </a:solidFill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FDF3A43-B50C-4E04-5C7C-A7E9221C5033}"/>
                </a:ext>
              </a:extLst>
            </p:cNvPr>
            <p:cNvSpPr/>
            <p:nvPr/>
          </p:nvSpPr>
          <p:spPr>
            <a:xfrm>
              <a:off x="1199151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44CCB97-4FAB-8C1A-DB8D-A24BD57490E9}"/>
                </a:ext>
              </a:extLst>
            </p:cNvPr>
            <p:cNvSpPr/>
            <p:nvPr/>
          </p:nvSpPr>
          <p:spPr>
            <a:xfrm>
              <a:off x="1487151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6C6EB77-75B6-5AEA-98B1-7E8C6B4A779B}"/>
                </a:ext>
              </a:extLst>
            </p:cNvPr>
            <p:cNvSpPr/>
            <p:nvPr/>
          </p:nvSpPr>
          <p:spPr>
            <a:xfrm>
              <a:off x="913708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D438352-9F2C-8BC8-5137-B5944494431B}"/>
                </a:ext>
              </a:extLst>
            </p:cNvPr>
            <p:cNvSpPr/>
            <p:nvPr/>
          </p:nvSpPr>
          <p:spPr>
            <a:xfrm>
              <a:off x="1199151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F526014-289A-DF62-4C12-D2F0A4201ABB}"/>
                </a:ext>
              </a:extLst>
            </p:cNvPr>
            <p:cNvSpPr/>
            <p:nvPr/>
          </p:nvSpPr>
          <p:spPr>
            <a:xfrm>
              <a:off x="1487151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21C9293-1F6E-66C9-5AFE-F59A1F93D049}"/>
                </a:ext>
              </a:extLst>
            </p:cNvPr>
            <p:cNvSpPr/>
            <p:nvPr/>
          </p:nvSpPr>
          <p:spPr>
            <a:xfrm>
              <a:off x="913708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38606A1-0874-A22F-1953-A9BF3769DD6D}"/>
                </a:ext>
              </a:extLst>
            </p:cNvPr>
            <p:cNvSpPr/>
            <p:nvPr/>
          </p:nvSpPr>
          <p:spPr>
            <a:xfrm>
              <a:off x="1199151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B0C4696-555B-85A3-5F96-FDCB1F5763C9}"/>
                </a:ext>
              </a:extLst>
            </p:cNvPr>
            <p:cNvSpPr/>
            <p:nvPr/>
          </p:nvSpPr>
          <p:spPr>
            <a:xfrm>
              <a:off x="1487151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68F8622F-EBE7-CF3B-A403-023AEA1BDBB0}"/>
                </a:ext>
              </a:extLst>
            </p:cNvPr>
            <p:cNvGrpSpPr/>
            <p:nvPr/>
          </p:nvGrpSpPr>
          <p:grpSpPr>
            <a:xfrm>
              <a:off x="871319" y="4079360"/>
              <a:ext cx="950458" cy="223138"/>
              <a:chOff x="871319" y="4079360"/>
              <a:chExt cx="950458" cy="22313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4796A34-3357-724F-A6E9-BD8835296D56}"/>
                  </a:ext>
                </a:extLst>
              </p:cNvPr>
              <p:cNvSpPr txBox="1"/>
              <p:nvPr/>
            </p:nvSpPr>
            <p:spPr>
              <a:xfrm>
                <a:off x="871319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56F5AB2-6FF4-D02C-8ED3-28992EDA7CD7}"/>
                  </a:ext>
                </a:extLst>
              </p:cNvPr>
              <p:cNvSpPr txBox="1"/>
              <p:nvPr/>
            </p:nvSpPr>
            <p:spPr>
              <a:xfrm>
                <a:off x="1156762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-1</a:t>
                </a:r>
                <a:endParaRPr lang="ko-KR" altLang="en-US" sz="850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356DAFF-B3D9-9B73-51D2-1AF77EFB2230}"/>
                  </a:ext>
                </a:extLst>
              </p:cNvPr>
              <p:cNvSpPr txBox="1"/>
              <p:nvPr/>
            </p:nvSpPr>
            <p:spPr>
              <a:xfrm>
                <a:off x="1448999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F2E9EE0-5697-D131-8E8D-F4A4F3BDD78B}"/>
                </a:ext>
              </a:extLst>
            </p:cNvPr>
            <p:cNvGrpSpPr/>
            <p:nvPr/>
          </p:nvGrpSpPr>
          <p:grpSpPr>
            <a:xfrm>
              <a:off x="867922" y="4365134"/>
              <a:ext cx="950458" cy="227901"/>
              <a:chOff x="1023719" y="4231760"/>
              <a:chExt cx="950458" cy="227901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229E189-800D-1EDD-2B7A-80BF3C6795D0}"/>
                  </a:ext>
                </a:extLst>
              </p:cNvPr>
              <p:cNvSpPr txBox="1"/>
              <p:nvPr/>
            </p:nvSpPr>
            <p:spPr>
              <a:xfrm>
                <a:off x="1023719" y="42317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-1</a:t>
                </a:r>
                <a:endParaRPr lang="ko-KR" altLang="en-US" sz="85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72C42DC-173C-2F2B-A911-F9FE8C2CE893}"/>
                  </a:ext>
                </a:extLst>
              </p:cNvPr>
              <p:cNvSpPr txBox="1"/>
              <p:nvPr/>
            </p:nvSpPr>
            <p:spPr>
              <a:xfrm>
                <a:off x="1328214" y="4236523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56F4362-0BF2-9082-D543-8DA97BE82705}"/>
                  </a:ext>
                </a:extLst>
              </p:cNvPr>
              <p:cNvSpPr txBox="1"/>
              <p:nvPr/>
            </p:nvSpPr>
            <p:spPr>
              <a:xfrm>
                <a:off x="1601399" y="42317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-1</a:t>
                </a:r>
                <a:endParaRPr lang="ko-KR" altLang="en-US" sz="850" dirty="0"/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B14B4453-D184-657E-4DD8-868870247916}"/>
                </a:ext>
              </a:extLst>
            </p:cNvPr>
            <p:cNvGrpSpPr/>
            <p:nvPr/>
          </p:nvGrpSpPr>
          <p:grpSpPr>
            <a:xfrm>
              <a:off x="867922" y="4650908"/>
              <a:ext cx="950458" cy="223138"/>
              <a:chOff x="867922" y="4650908"/>
              <a:chExt cx="950458" cy="223138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C936957-0D53-26B6-E6EE-0B64B7271AD7}"/>
                  </a:ext>
                </a:extLst>
              </p:cNvPr>
              <p:cNvSpPr txBox="1"/>
              <p:nvPr/>
            </p:nvSpPr>
            <p:spPr>
              <a:xfrm>
                <a:off x="867922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9122637-208A-0F25-3ED6-7CF19E878371}"/>
                  </a:ext>
                </a:extLst>
              </p:cNvPr>
              <p:cNvSpPr txBox="1"/>
              <p:nvPr/>
            </p:nvSpPr>
            <p:spPr>
              <a:xfrm>
                <a:off x="1153365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-1</a:t>
                </a:r>
                <a:endParaRPr lang="ko-KR" altLang="en-US" sz="850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BDA517-BB90-D405-A7EB-764AAE69EE62}"/>
                  </a:ext>
                </a:extLst>
              </p:cNvPr>
              <p:cNvSpPr txBox="1"/>
              <p:nvPr/>
            </p:nvSpPr>
            <p:spPr>
              <a:xfrm>
                <a:off x="1445602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86B2AC9-2CEE-5910-454C-49479204C467}"/>
              </a:ext>
            </a:extLst>
          </p:cNvPr>
          <p:cNvGrpSpPr/>
          <p:nvPr/>
        </p:nvGrpSpPr>
        <p:grpSpPr>
          <a:xfrm>
            <a:off x="1062699" y="5158278"/>
            <a:ext cx="953855" cy="861774"/>
            <a:chOff x="867922" y="4058471"/>
            <a:chExt cx="953855" cy="861774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0FD37D56-93EF-C557-9397-066CEAF6E87E}"/>
                </a:ext>
              </a:extLst>
            </p:cNvPr>
            <p:cNvSpPr/>
            <p:nvPr/>
          </p:nvSpPr>
          <p:spPr>
            <a:xfrm>
              <a:off x="913708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 dirty="0">
                <a:solidFill>
                  <a:schemeClr val="bg1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F11F8644-999F-3EFA-E5F8-47EF9F2D35AA}"/>
                </a:ext>
              </a:extLst>
            </p:cNvPr>
            <p:cNvSpPr/>
            <p:nvPr/>
          </p:nvSpPr>
          <p:spPr>
            <a:xfrm>
              <a:off x="1199151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94EDFBC6-013B-1C5B-F894-632D5559C260}"/>
                </a:ext>
              </a:extLst>
            </p:cNvPr>
            <p:cNvSpPr/>
            <p:nvPr/>
          </p:nvSpPr>
          <p:spPr>
            <a:xfrm>
              <a:off x="1487151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2C93BB8A-1748-0207-BA09-4465914781F3}"/>
                </a:ext>
              </a:extLst>
            </p:cNvPr>
            <p:cNvSpPr/>
            <p:nvPr/>
          </p:nvSpPr>
          <p:spPr>
            <a:xfrm>
              <a:off x="913708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E3145D0-E421-F3CF-0A38-E790C25B6E4E}"/>
                </a:ext>
              </a:extLst>
            </p:cNvPr>
            <p:cNvSpPr/>
            <p:nvPr/>
          </p:nvSpPr>
          <p:spPr>
            <a:xfrm>
              <a:off x="1199151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DB1CBE89-8A25-27CB-CE51-0570AD19F5D5}"/>
                </a:ext>
              </a:extLst>
            </p:cNvPr>
            <p:cNvSpPr/>
            <p:nvPr/>
          </p:nvSpPr>
          <p:spPr>
            <a:xfrm>
              <a:off x="1487151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0C8A552C-AB58-B324-63D4-E7EC908704EB}"/>
                </a:ext>
              </a:extLst>
            </p:cNvPr>
            <p:cNvSpPr/>
            <p:nvPr/>
          </p:nvSpPr>
          <p:spPr>
            <a:xfrm>
              <a:off x="913708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52DC8C81-3E0C-86B1-5AE0-B9553FAB006C}"/>
                </a:ext>
              </a:extLst>
            </p:cNvPr>
            <p:cNvSpPr/>
            <p:nvPr/>
          </p:nvSpPr>
          <p:spPr>
            <a:xfrm>
              <a:off x="1199151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500FF5DF-FF61-60AA-5159-4D277BFA8B02}"/>
                </a:ext>
              </a:extLst>
            </p:cNvPr>
            <p:cNvSpPr/>
            <p:nvPr/>
          </p:nvSpPr>
          <p:spPr>
            <a:xfrm>
              <a:off x="1487151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7CB57267-ED30-D49A-9ECF-AD83DEC8D372}"/>
                </a:ext>
              </a:extLst>
            </p:cNvPr>
            <p:cNvGrpSpPr/>
            <p:nvPr/>
          </p:nvGrpSpPr>
          <p:grpSpPr>
            <a:xfrm>
              <a:off x="871319" y="4079360"/>
              <a:ext cx="950458" cy="223138"/>
              <a:chOff x="871319" y="4079360"/>
              <a:chExt cx="950458" cy="223138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C230270-BE9F-3A05-27B4-E34542AB7F45}"/>
                  </a:ext>
                </a:extLst>
              </p:cNvPr>
              <p:cNvSpPr txBox="1"/>
              <p:nvPr/>
            </p:nvSpPr>
            <p:spPr>
              <a:xfrm>
                <a:off x="871319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0924FA3-3241-DA6B-A61F-60C545C0F527}"/>
                  </a:ext>
                </a:extLst>
              </p:cNvPr>
              <p:cNvSpPr txBox="1"/>
              <p:nvPr/>
            </p:nvSpPr>
            <p:spPr>
              <a:xfrm>
                <a:off x="1156762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-1</a:t>
                </a:r>
                <a:endParaRPr lang="ko-KR" altLang="en-US" sz="850" dirty="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53A1EEC-2D94-DC30-046D-DBA6EECEFA87}"/>
                  </a:ext>
                </a:extLst>
              </p:cNvPr>
              <p:cNvSpPr txBox="1"/>
              <p:nvPr/>
            </p:nvSpPr>
            <p:spPr>
              <a:xfrm>
                <a:off x="1448999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</p:grp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F6CE24BB-EE97-FEFA-901D-4B1BD123D333}"/>
                </a:ext>
              </a:extLst>
            </p:cNvPr>
            <p:cNvGrpSpPr/>
            <p:nvPr/>
          </p:nvGrpSpPr>
          <p:grpSpPr>
            <a:xfrm>
              <a:off x="867922" y="4365134"/>
              <a:ext cx="950458" cy="227901"/>
              <a:chOff x="1023719" y="4231760"/>
              <a:chExt cx="950458" cy="227901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2116E9A-75A3-7866-83D7-FC43D80925C2}"/>
                  </a:ext>
                </a:extLst>
              </p:cNvPr>
              <p:cNvSpPr txBox="1"/>
              <p:nvPr/>
            </p:nvSpPr>
            <p:spPr>
              <a:xfrm>
                <a:off x="1023719" y="42317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-1</a:t>
                </a:r>
                <a:endParaRPr lang="ko-KR" altLang="en-US" sz="85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A112151-9892-03B0-635A-B918DC0E2C9E}"/>
                  </a:ext>
                </a:extLst>
              </p:cNvPr>
              <p:cNvSpPr txBox="1"/>
              <p:nvPr/>
            </p:nvSpPr>
            <p:spPr>
              <a:xfrm>
                <a:off x="1328214" y="4236523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A25E28A-9EB2-2588-99DE-E2FB8BE9EDAF}"/>
                  </a:ext>
                </a:extLst>
              </p:cNvPr>
              <p:cNvSpPr txBox="1"/>
              <p:nvPr/>
            </p:nvSpPr>
            <p:spPr>
              <a:xfrm>
                <a:off x="1601399" y="42317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-1</a:t>
                </a:r>
                <a:endParaRPr lang="ko-KR" altLang="en-US" sz="850" dirty="0"/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13CD5F38-A46F-E451-62B8-56255CA3B763}"/>
                </a:ext>
              </a:extLst>
            </p:cNvPr>
            <p:cNvGrpSpPr/>
            <p:nvPr/>
          </p:nvGrpSpPr>
          <p:grpSpPr>
            <a:xfrm>
              <a:off x="867922" y="4650908"/>
              <a:ext cx="950458" cy="223138"/>
              <a:chOff x="867922" y="4650908"/>
              <a:chExt cx="950458" cy="223138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D720CB0-C021-625B-EA39-0EAE76B790AE}"/>
                  </a:ext>
                </a:extLst>
              </p:cNvPr>
              <p:cNvSpPr txBox="1"/>
              <p:nvPr/>
            </p:nvSpPr>
            <p:spPr>
              <a:xfrm>
                <a:off x="867922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537D5C0-FCC1-551B-461C-7AC1AC992FA7}"/>
                  </a:ext>
                </a:extLst>
              </p:cNvPr>
              <p:cNvSpPr txBox="1"/>
              <p:nvPr/>
            </p:nvSpPr>
            <p:spPr>
              <a:xfrm>
                <a:off x="1153365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B9597F1-CED4-48BF-4D31-3793DB218928}"/>
                  </a:ext>
                </a:extLst>
              </p:cNvPr>
              <p:cNvSpPr txBox="1"/>
              <p:nvPr/>
            </p:nvSpPr>
            <p:spPr>
              <a:xfrm>
                <a:off x="1445602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-1</a:t>
                </a:r>
                <a:endParaRPr lang="ko-KR" altLang="en-US" sz="850" dirty="0"/>
              </a:p>
            </p:txBody>
          </p:sp>
        </p:grp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EFFB4D36-ECEC-80D2-3BE3-BE978A000553}"/>
              </a:ext>
            </a:extLst>
          </p:cNvPr>
          <p:cNvSpPr txBox="1"/>
          <p:nvPr/>
        </p:nvSpPr>
        <p:spPr>
          <a:xfrm>
            <a:off x="1249088" y="4846935"/>
            <a:ext cx="5934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weight</a:t>
            </a:r>
            <a:endParaRPr lang="ko-KR" altLang="en-US" sz="105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A57EBB7-870D-FAED-29B0-4F30D2DE529A}"/>
              </a:ext>
            </a:extLst>
          </p:cNvPr>
          <p:cNvSpPr txBox="1"/>
          <p:nvPr/>
        </p:nvSpPr>
        <p:spPr>
          <a:xfrm>
            <a:off x="1156863" y="6020052"/>
            <a:ext cx="7553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activation</a:t>
            </a:r>
            <a:endParaRPr lang="ko-KR" altLang="en-US" sz="1050" dirty="0"/>
          </a:p>
        </p:txBody>
      </p:sp>
      <p:sp>
        <p:nvSpPr>
          <p:cNvPr id="51" name="화살표: 오른쪽 50">
            <a:extLst>
              <a:ext uri="{FF2B5EF4-FFF2-40B4-BE49-F238E27FC236}">
                <a16:creationId xmlns:a16="http://schemas.microsoft.com/office/drawing/2014/main" id="{B3D3BF48-73FA-3214-2564-80DA52532A7B}"/>
              </a:ext>
            </a:extLst>
          </p:cNvPr>
          <p:cNvSpPr/>
          <p:nvPr/>
        </p:nvSpPr>
        <p:spPr>
          <a:xfrm>
            <a:off x="2175468" y="4794875"/>
            <a:ext cx="791251" cy="261610"/>
          </a:xfrm>
          <a:prstGeom prst="rightArrow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D41682-1481-2AC5-1EE3-B2629A248818}"/>
              </a:ext>
            </a:extLst>
          </p:cNvPr>
          <p:cNvSpPr txBox="1"/>
          <p:nvPr/>
        </p:nvSpPr>
        <p:spPr>
          <a:xfrm>
            <a:off x="2235841" y="5063978"/>
            <a:ext cx="5741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XNOR</a:t>
            </a:r>
            <a:endParaRPr lang="ko-KR" altLang="en-US" sz="1050" dirty="0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2DE7B6DD-E2D3-D699-5ED6-842375F6F3E1}"/>
              </a:ext>
            </a:extLst>
          </p:cNvPr>
          <p:cNvGrpSpPr/>
          <p:nvPr/>
        </p:nvGrpSpPr>
        <p:grpSpPr>
          <a:xfrm>
            <a:off x="3043704" y="4558923"/>
            <a:ext cx="953855" cy="861774"/>
            <a:chOff x="867922" y="4058471"/>
            <a:chExt cx="953855" cy="861774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B702EF64-A789-4DF7-6EA9-896325C64197}"/>
                </a:ext>
              </a:extLst>
            </p:cNvPr>
            <p:cNvSpPr/>
            <p:nvPr/>
          </p:nvSpPr>
          <p:spPr>
            <a:xfrm>
              <a:off x="913708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 dirty="0">
                <a:solidFill>
                  <a:schemeClr val="bg1"/>
                </a:solidFill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CAA3C385-7459-16FA-5309-9F56FFE21A46}"/>
                </a:ext>
              </a:extLst>
            </p:cNvPr>
            <p:cNvSpPr/>
            <p:nvPr/>
          </p:nvSpPr>
          <p:spPr>
            <a:xfrm>
              <a:off x="1199151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E876F802-AA36-B5AF-878E-8FA92D535E93}"/>
                </a:ext>
              </a:extLst>
            </p:cNvPr>
            <p:cNvSpPr/>
            <p:nvPr/>
          </p:nvSpPr>
          <p:spPr>
            <a:xfrm>
              <a:off x="1487151" y="4058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ECF906D3-E5D9-D43C-D18F-F4C9A16CC819}"/>
                </a:ext>
              </a:extLst>
            </p:cNvPr>
            <p:cNvSpPr/>
            <p:nvPr/>
          </p:nvSpPr>
          <p:spPr>
            <a:xfrm>
              <a:off x="913708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352214FE-9A0F-7657-D8A9-C453882DD498}"/>
                </a:ext>
              </a:extLst>
            </p:cNvPr>
            <p:cNvSpPr/>
            <p:nvPr/>
          </p:nvSpPr>
          <p:spPr>
            <a:xfrm>
              <a:off x="1199151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2D5B84E8-9A55-A046-0734-810E6EC5B3EB}"/>
                </a:ext>
              </a:extLst>
            </p:cNvPr>
            <p:cNvSpPr/>
            <p:nvPr/>
          </p:nvSpPr>
          <p:spPr>
            <a:xfrm>
              <a:off x="1487151" y="4346471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BAD3A1E8-2567-E45F-1EDB-07A6B54B1E6E}"/>
                </a:ext>
              </a:extLst>
            </p:cNvPr>
            <p:cNvSpPr/>
            <p:nvPr/>
          </p:nvSpPr>
          <p:spPr>
            <a:xfrm>
              <a:off x="913708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B14F76EA-B84C-F250-45F3-66A3F86BA674}"/>
                </a:ext>
              </a:extLst>
            </p:cNvPr>
            <p:cNvSpPr/>
            <p:nvPr/>
          </p:nvSpPr>
          <p:spPr>
            <a:xfrm>
              <a:off x="1199151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BAF7DA39-C5F1-3537-85B9-5DC0A45B53B1}"/>
                </a:ext>
              </a:extLst>
            </p:cNvPr>
            <p:cNvSpPr/>
            <p:nvPr/>
          </p:nvSpPr>
          <p:spPr>
            <a:xfrm>
              <a:off x="1487151" y="4632245"/>
              <a:ext cx="288000" cy="288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50">
                <a:solidFill>
                  <a:schemeClr val="bg1"/>
                </a:solidFill>
              </a:endParaRP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11964BFE-8F90-205B-B8EB-AD2CC8C380F6}"/>
                </a:ext>
              </a:extLst>
            </p:cNvPr>
            <p:cNvGrpSpPr/>
            <p:nvPr/>
          </p:nvGrpSpPr>
          <p:grpSpPr>
            <a:xfrm>
              <a:off x="871319" y="4079360"/>
              <a:ext cx="950458" cy="223138"/>
              <a:chOff x="871319" y="4079360"/>
              <a:chExt cx="950458" cy="223138"/>
            </a:xfrm>
          </p:grpSpPr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10766FE-528C-F4D7-68DB-9EDE94A45011}"/>
                  </a:ext>
                </a:extLst>
              </p:cNvPr>
              <p:cNvSpPr txBox="1"/>
              <p:nvPr/>
            </p:nvSpPr>
            <p:spPr>
              <a:xfrm>
                <a:off x="871319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4531BB8-426D-0C45-5C5C-6105D385263D}"/>
                  </a:ext>
                </a:extLst>
              </p:cNvPr>
              <p:cNvSpPr txBox="1"/>
              <p:nvPr/>
            </p:nvSpPr>
            <p:spPr>
              <a:xfrm>
                <a:off x="1156762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4276078-F7A6-A31E-8D39-116C39AE800C}"/>
                  </a:ext>
                </a:extLst>
              </p:cNvPr>
              <p:cNvSpPr txBox="1"/>
              <p:nvPr/>
            </p:nvSpPr>
            <p:spPr>
              <a:xfrm>
                <a:off x="1448999" y="40793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739E5243-B625-0615-B988-A9FA015C0387}"/>
                </a:ext>
              </a:extLst>
            </p:cNvPr>
            <p:cNvGrpSpPr/>
            <p:nvPr/>
          </p:nvGrpSpPr>
          <p:grpSpPr>
            <a:xfrm>
              <a:off x="867922" y="4365134"/>
              <a:ext cx="950458" cy="227901"/>
              <a:chOff x="1023719" y="4231760"/>
              <a:chExt cx="950458" cy="227901"/>
            </a:xfrm>
          </p:grpSpPr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FDAF45D-A0D0-75C5-04B2-DA26CF97EEF0}"/>
                  </a:ext>
                </a:extLst>
              </p:cNvPr>
              <p:cNvSpPr txBox="1"/>
              <p:nvPr/>
            </p:nvSpPr>
            <p:spPr>
              <a:xfrm>
                <a:off x="1023719" y="42317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8136306-C0E1-E4E7-7684-D946E2D3EA2B}"/>
                  </a:ext>
                </a:extLst>
              </p:cNvPr>
              <p:cNvSpPr txBox="1"/>
              <p:nvPr/>
            </p:nvSpPr>
            <p:spPr>
              <a:xfrm>
                <a:off x="1328214" y="4236523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A85533C-63DB-310A-BF9B-EBD3BFE2E930}"/>
                  </a:ext>
                </a:extLst>
              </p:cNvPr>
              <p:cNvSpPr txBox="1"/>
              <p:nvPr/>
            </p:nvSpPr>
            <p:spPr>
              <a:xfrm>
                <a:off x="1601399" y="4231760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B69AE4EF-BB59-BE3D-F547-02D6E57F95F7}"/>
                </a:ext>
              </a:extLst>
            </p:cNvPr>
            <p:cNvGrpSpPr/>
            <p:nvPr/>
          </p:nvGrpSpPr>
          <p:grpSpPr>
            <a:xfrm>
              <a:off x="867922" y="4650908"/>
              <a:ext cx="950458" cy="223138"/>
              <a:chOff x="867922" y="4650908"/>
              <a:chExt cx="950458" cy="223138"/>
            </a:xfrm>
          </p:grpSpPr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A3295E7-2006-33DE-43DD-17D45C7DB460}"/>
                  </a:ext>
                </a:extLst>
              </p:cNvPr>
              <p:cNvSpPr txBox="1"/>
              <p:nvPr/>
            </p:nvSpPr>
            <p:spPr>
              <a:xfrm>
                <a:off x="867922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1</a:t>
                </a:r>
                <a:endParaRPr lang="ko-KR" altLang="en-US" sz="850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A5D181D-6A24-FAA0-04FC-598DD015BD4C}"/>
                  </a:ext>
                </a:extLst>
              </p:cNvPr>
              <p:cNvSpPr txBox="1"/>
              <p:nvPr/>
            </p:nvSpPr>
            <p:spPr>
              <a:xfrm>
                <a:off x="1153365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0</a:t>
                </a:r>
                <a:endParaRPr lang="ko-KR" altLang="en-US" sz="850" dirty="0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E22C1B19-8B65-3FC4-BD6B-F9EDFCADA463}"/>
                  </a:ext>
                </a:extLst>
              </p:cNvPr>
              <p:cNvSpPr txBox="1"/>
              <p:nvPr/>
            </p:nvSpPr>
            <p:spPr>
              <a:xfrm>
                <a:off x="1445602" y="4650908"/>
                <a:ext cx="372778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50" dirty="0"/>
                  <a:t>0</a:t>
                </a:r>
                <a:endParaRPr lang="ko-KR" altLang="en-US" sz="850" dirty="0"/>
              </a:p>
            </p:txBody>
          </p:sp>
        </p:grpSp>
      </p:grpSp>
      <p:sp>
        <p:nvSpPr>
          <p:cNvPr id="75" name="화살표: 오른쪽 74">
            <a:extLst>
              <a:ext uri="{FF2B5EF4-FFF2-40B4-BE49-F238E27FC236}">
                <a16:creationId xmlns:a16="http://schemas.microsoft.com/office/drawing/2014/main" id="{9AC67CCC-682C-E8A1-7CAB-744642BBB5CF}"/>
              </a:ext>
            </a:extLst>
          </p:cNvPr>
          <p:cNvSpPr/>
          <p:nvPr/>
        </p:nvSpPr>
        <p:spPr>
          <a:xfrm>
            <a:off x="4080050" y="4787636"/>
            <a:ext cx="791251" cy="261610"/>
          </a:xfrm>
          <a:prstGeom prst="rightArrow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725BFD8-A057-6433-5B08-3CF1499BD27F}"/>
              </a:ext>
            </a:extLst>
          </p:cNvPr>
          <p:cNvSpPr txBox="1"/>
          <p:nvPr/>
        </p:nvSpPr>
        <p:spPr>
          <a:xfrm>
            <a:off x="4057070" y="5056739"/>
            <a:ext cx="74090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 err="1"/>
              <a:t>popcount</a:t>
            </a:r>
            <a:endParaRPr lang="ko-KR" altLang="en-US" sz="105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4872DD9-4349-DE00-7B6C-827635FC7F15}"/>
              </a:ext>
            </a:extLst>
          </p:cNvPr>
          <p:cNvSpPr txBox="1"/>
          <p:nvPr/>
        </p:nvSpPr>
        <p:spPr>
          <a:xfrm>
            <a:off x="4133214" y="4257585"/>
            <a:ext cx="58862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0 </a:t>
            </a:r>
            <a:r>
              <a:rPr lang="ko-KR" altLang="en-US" sz="1050" dirty="0"/>
              <a:t>→</a:t>
            </a:r>
            <a:r>
              <a:rPr lang="en-US" altLang="ko-KR" sz="1050" dirty="0"/>
              <a:t> -1</a:t>
            </a:r>
          </a:p>
          <a:p>
            <a:pPr algn="ctr"/>
            <a:r>
              <a:rPr lang="en-US" altLang="ko-KR" sz="1050" dirty="0"/>
              <a:t>1 </a:t>
            </a:r>
            <a:r>
              <a:rPr lang="ko-KR" altLang="en-US" sz="1050" dirty="0"/>
              <a:t>→ </a:t>
            </a:r>
            <a:r>
              <a:rPr lang="en-US" altLang="ko-KR" sz="105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46C39B1-1CC4-D399-939A-046EC0019955}"/>
              </a:ext>
            </a:extLst>
          </p:cNvPr>
          <p:cNvSpPr txBox="1"/>
          <p:nvPr/>
        </p:nvSpPr>
        <p:spPr>
          <a:xfrm>
            <a:off x="4845653" y="4767283"/>
            <a:ext cx="595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5</a:t>
            </a:r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정수</a:t>
            </a:r>
            <a:r>
              <a:rPr lang="en-US" altLang="ko-KR" sz="1200" dirty="0"/>
              <a:t>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140148E-1BAA-E531-5391-F634BFAD286B}"/>
              </a:ext>
            </a:extLst>
          </p:cNvPr>
          <p:cNvSpPr txBox="1"/>
          <p:nvPr/>
        </p:nvSpPr>
        <p:spPr>
          <a:xfrm>
            <a:off x="1005023" y="6281447"/>
            <a:ext cx="10807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-1</a:t>
            </a:r>
            <a:r>
              <a:rPr lang="ko-KR" altLang="en-US" sz="1000" dirty="0"/>
              <a:t>은 </a:t>
            </a:r>
            <a:r>
              <a:rPr lang="en-US" altLang="ko-KR" sz="1000" dirty="0"/>
              <a:t>0</a:t>
            </a:r>
            <a:r>
              <a:rPr lang="ko-KR" altLang="en-US" sz="1000" dirty="0"/>
              <a:t>으로 표현</a:t>
            </a:r>
            <a:endParaRPr lang="en-US" altLang="ko-KR" sz="1000" dirty="0"/>
          </a:p>
          <a:p>
            <a:pPr algn="ctr"/>
            <a:r>
              <a:rPr lang="en-US" altLang="ko-KR" sz="1000" dirty="0"/>
              <a:t>1</a:t>
            </a:r>
            <a:r>
              <a:rPr lang="ko-KR" altLang="en-US" sz="1000" dirty="0"/>
              <a:t>은</a:t>
            </a:r>
            <a:r>
              <a:rPr lang="en-US" altLang="ko-KR" sz="1000" dirty="0"/>
              <a:t> 1</a:t>
            </a:r>
            <a:r>
              <a:rPr lang="ko-KR" altLang="en-US" sz="1000" dirty="0"/>
              <a:t>로 표현</a:t>
            </a:r>
            <a:endParaRPr lang="en-US" altLang="ko-KR" sz="1000" dirty="0"/>
          </a:p>
        </p:txBody>
      </p:sp>
      <p:sp>
        <p:nvSpPr>
          <p:cNvPr id="80" name="화살표: 오른쪽 79">
            <a:extLst>
              <a:ext uri="{FF2B5EF4-FFF2-40B4-BE49-F238E27FC236}">
                <a16:creationId xmlns:a16="http://schemas.microsoft.com/office/drawing/2014/main" id="{7CBC67F2-CDF9-FF63-9691-88E4D56F28E2}"/>
              </a:ext>
            </a:extLst>
          </p:cNvPr>
          <p:cNvSpPr/>
          <p:nvPr/>
        </p:nvSpPr>
        <p:spPr>
          <a:xfrm>
            <a:off x="5459478" y="4767283"/>
            <a:ext cx="791251" cy="261610"/>
          </a:xfrm>
          <a:prstGeom prst="rightArrow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7" name="사다리꼴 106">
            <a:extLst>
              <a:ext uri="{FF2B5EF4-FFF2-40B4-BE49-F238E27FC236}">
                <a16:creationId xmlns:a16="http://schemas.microsoft.com/office/drawing/2014/main" id="{0C158F65-FAB1-04EC-04CA-7CDB5B72EE64}"/>
              </a:ext>
            </a:extLst>
          </p:cNvPr>
          <p:cNvSpPr/>
          <p:nvPr/>
        </p:nvSpPr>
        <p:spPr>
          <a:xfrm rot="5400000">
            <a:off x="7777857" y="4757702"/>
            <a:ext cx="1725562" cy="223138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806B87F-BD2D-C324-F3C9-362446882B4C}"/>
              </a:ext>
            </a:extLst>
          </p:cNvPr>
          <p:cNvSpPr txBox="1"/>
          <p:nvPr/>
        </p:nvSpPr>
        <p:spPr>
          <a:xfrm>
            <a:off x="6216617" y="4779941"/>
            <a:ext cx="939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Sign(5) = 1</a:t>
            </a:r>
          </a:p>
        </p:txBody>
      </p:sp>
      <p:cxnSp>
        <p:nvCxnSpPr>
          <p:cNvPr id="110" name="연결선: 꺾임 109">
            <a:extLst>
              <a:ext uri="{FF2B5EF4-FFF2-40B4-BE49-F238E27FC236}">
                <a16:creationId xmlns:a16="http://schemas.microsoft.com/office/drawing/2014/main" id="{EE6F9F9B-DE7E-AD88-3DC0-4EDF136460CD}"/>
              </a:ext>
            </a:extLst>
          </p:cNvPr>
          <p:cNvCxnSpPr>
            <a:stCxn id="108" idx="2"/>
            <a:endCxn id="107" idx="3"/>
          </p:cNvCxnSpPr>
          <p:nvPr/>
        </p:nvCxnSpPr>
        <p:spPr>
          <a:xfrm rot="16200000" flipH="1">
            <a:off x="7339938" y="4403460"/>
            <a:ext cx="647220" cy="1954180"/>
          </a:xfrm>
          <a:prstGeom prst="bentConnector3">
            <a:avLst>
              <a:gd name="adj1" fmla="val 158371"/>
            </a:avLst>
          </a:prstGeom>
          <a:ln w="28575"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58463CA2-7EE6-AC2E-6082-4BD5232D590E}"/>
                  </a:ext>
                </a:extLst>
              </p:cNvPr>
              <p:cNvSpPr txBox="1"/>
              <p:nvPr/>
            </p:nvSpPr>
            <p:spPr>
              <a:xfrm>
                <a:off x="7701275" y="4292209"/>
                <a:ext cx="363625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5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05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58463CA2-7EE6-AC2E-6082-4BD5232D5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1275" y="4292209"/>
                <a:ext cx="363625" cy="253916"/>
              </a:xfrm>
              <a:prstGeom prst="rect">
                <a:avLst/>
              </a:prstGeom>
              <a:blipFill>
                <a:blip r:embed="rId4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C2401BE5-B316-2B29-F03B-A09B64A80C3D}"/>
                  </a:ext>
                </a:extLst>
              </p:cNvPr>
              <p:cNvSpPr txBox="1"/>
              <p:nvPr/>
            </p:nvSpPr>
            <p:spPr>
              <a:xfrm>
                <a:off x="7707816" y="5097688"/>
                <a:ext cx="35708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5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05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C2401BE5-B316-2B29-F03B-A09B64A80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7816" y="5097688"/>
                <a:ext cx="357084" cy="253916"/>
              </a:xfrm>
              <a:prstGeom prst="rect">
                <a:avLst/>
              </a:prstGeom>
              <a:blipFill>
                <a:blip r:embed="rId5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31A86B58-CBA1-03D5-C70D-A2BCC6078BA7}"/>
                  </a:ext>
                </a:extLst>
              </p:cNvPr>
              <p:cNvSpPr txBox="1"/>
              <p:nvPr/>
            </p:nvSpPr>
            <p:spPr>
              <a:xfrm>
                <a:off x="9309740" y="4745062"/>
                <a:ext cx="363625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5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05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31A86B58-CBA1-03D5-C70D-A2BCC6078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9740" y="4745062"/>
                <a:ext cx="363625" cy="253916"/>
              </a:xfrm>
              <a:prstGeom prst="rect">
                <a:avLst/>
              </a:prstGeom>
              <a:blipFill>
                <a:blip r:embed="rId4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7314E829-1510-DF4B-F95A-F06AE185F611}"/>
              </a:ext>
            </a:extLst>
          </p:cNvPr>
          <p:cNvCxnSpPr/>
          <p:nvPr/>
        </p:nvCxnSpPr>
        <p:spPr>
          <a:xfrm>
            <a:off x="8009351" y="5229225"/>
            <a:ext cx="51971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D3889BCB-38E7-FC8B-D6D5-57129AFEE3DE}"/>
              </a:ext>
            </a:extLst>
          </p:cNvPr>
          <p:cNvCxnSpPr/>
          <p:nvPr/>
        </p:nvCxnSpPr>
        <p:spPr>
          <a:xfrm>
            <a:off x="8009351" y="4454555"/>
            <a:ext cx="51971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CE0D4100-E3B8-7BE6-9B84-4290D26AA651}"/>
              </a:ext>
            </a:extLst>
          </p:cNvPr>
          <p:cNvCxnSpPr/>
          <p:nvPr/>
        </p:nvCxnSpPr>
        <p:spPr>
          <a:xfrm>
            <a:off x="8752207" y="4889632"/>
            <a:ext cx="51971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타원 120">
            <a:extLst>
              <a:ext uri="{FF2B5EF4-FFF2-40B4-BE49-F238E27FC236}">
                <a16:creationId xmlns:a16="http://schemas.microsoft.com/office/drawing/2014/main" id="{ACF79B2C-C2AA-AC46-99E2-D591073C4FCD}"/>
              </a:ext>
            </a:extLst>
          </p:cNvPr>
          <p:cNvSpPr/>
          <p:nvPr/>
        </p:nvSpPr>
        <p:spPr>
          <a:xfrm>
            <a:off x="7679153" y="4292209"/>
            <a:ext cx="308076" cy="3305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3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3DDE2-8347-69AD-FA82-BFEACE40D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8C4BD1-644A-43A3-6617-469CA5707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PopBin</a:t>
            </a:r>
            <a:endParaRPr lang="ko-KR" altLang="en-US" sz="4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11BC7A8-F3AD-8873-4172-6243D7760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13" y="1299020"/>
            <a:ext cx="9217830" cy="385458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FFA0271F-FC57-DE0E-63BF-52F83306A67E}"/>
              </a:ext>
            </a:extLst>
          </p:cNvPr>
          <p:cNvSpPr/>
          <p:nvPr/>
        </p:nvSpPr>
        <p:spPr>
          <a:xfrm>
            <a:off x="4906594" y="3429000"/>
            <a:ext cx="1413090" cy="13421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146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792E4-53D4-1B43-2462-B2E1DEB7B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85FB17-9DAC-D1EF-77E0-7E74036CB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Majority Voter</a:t>
            </a:r>
            <a:endParaRPr lang="ko-KR" altLang="en-US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D0B1B1-0ECD-226D-4E5F-A28D12845CA1}"/>
              </a:ext>
            </a:extLst>
          </p:cNvPr>
          <p:cNvSpPr txBox="1"/>
          <p:nvPr/>
        </p:nvSpPr>
        <p:spPr>
          <a:xfrm>
            <a:off x="6367754" y="1868604"/>
            <a:ext cx="5557546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Majority</a:t>
            </a:r>
            <a:r>
              <a:rPr lang="ko-KR" altLang="en-US" b="1" dirty="0"/>
              <a:t> </a:t>
            </a:r>
            <a:r>
              <a:rPr lang="en-US" altLang="ko-KR" b="1" dirty="0"/>
              <a:t>Voter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4-bit </a:t>
            </a:r>
            <a:r>
              <a:rPr lang="ko-KR" altLang="en-US" sz="1400" dirty="0"/>
              <a:t>입력 기준</a:t>
            </a:r>
            <a:r>
              <a:rPr lang="en-US" altLang="ko-KR" sz="1400" dirty="0"/>
              <a:t>: 1</a:t>
            </a:r>
            <a:r>
              <a:rPr lang="ko-KR" altLang="en-US" sz="1400" dirty="0"/>
              <a:t>의 개수가 </a:t>
            </a:r>
            <a:r>
              <a:rPr lang="en-US" altLang="ko-KR" sz="1400" dirty="0"/>
              <a:t>2</a:t>
            </a:r>
            <a:r>
              <a:rPr lang="ko-KR" altLang="en-US" sz="1400" dirty="0"/>
              <a:t>개 초과</a:t>
            </a:r>
            <a:r>
              <a:rPr lang="en-US" altLang="ko-KR" sz="1400" dirty="0"/>
              <a:t>(3</a:t>
            </a:r>
            <a:r>
              <a:rPr lang="ko-KR" altLang="en-US" sz="1400" dirty="0"/>
              <a:t>개 이상</a:t>
            </a:r>
            <a:r>
              <a:rPr lang="en-US" altLang="ko-KR" sz="1400" dirty="0"/>
              <a:t>)</a:t>
            </a:r>
            <a:r>
              <a:rPr lang="ko-KR" altLang="en-US" sz="1400" dirty="0"/>
              <a:t>이면 </a:t>
            </a:r>
            <a:r>
              <a:rPr lang="en-US" altLang="ko-KR" sz="1400" dirty="0"/>
              <a:t>output = 1</a:t>
            </a:r>
          </a:p>
          <a:p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내부적으로 </a:t>
            </a:r>
            <a:r>
              <a:rPr lang="en-US" altLang="ko-KR" sz="1400" dirty="0" err="1"/>
              <a:t>Popcount</a:t>
            </a:r>
            <a:r>
              <a:rPr lang="en-US" altLang="ko-KR" sz="1400" dirty="0"/>
              <a:t> </a:t>
            </a:r>
            <a:r>
              <a:rPr lang="ko-KR" altLang="en-US" sz="1400" dirty="0"/>
              <a:t>연산</a:t>
            </a:r>
            <a:r>
              <a:rPr lang="en-US" altLang="ko-KR" sz="1400" dirty="0"/>
              <a:t>(1</a:t>
            </a:r>
            <a:r>
              <a:rPr lang="ko-KR" altLang="en-US" sz="1400" dirty="0"/>
              <a:t>의 개수 세기</a:t>
            </a:r>
            <a:r>
              <a:rPr lang="en-US" altLang="ko-KR" sz="1400" dirty="0"/>
              <a:t>) + </a:t>
            </a:r>
            <a:r>
              <a:rPr lang="ko-KR" altLang="en-US" sz="1400" dirty="0"/>
              <a:t>비교 연산</a:t>
            </a:r>
            <a:r>
              <a:rPr lang="en-US" altLang="ko-KR" sz="1400" dirty="0"/>
              <a:t>(&gt;n/2)</a:t>
            </a:r>
            <a:r>
              <a:rPr lang="ko-KR" altLang="en-US" sz="1400" dirty="0"/>
              <a:t>으로 구성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입력 비트 수가 증가할수록 </a:t>
            </a:r>
            <a:r>
              <a:rPr lang="en-US" altLang="ko-KR" sz="1400" dirty="0"/>
              <a:t>Adder Tree</a:t>
            </a:r>
            <a:r>
              <a:rPr lang="ko-KR" altLang="en-US" sz="1400" dirty="0"/>
              <a:t>가 커져 회로 복잡도</a:t>
            </a:r>
            <a:r>
              <a:rPr lang="en-US" altLang="ko-KR" sz="1400" dirty="0"/>
              <a:t>, </a:t>
            </a:r>
            <a:r>
              <a:rPr lang="ko-KR" altLang="en-US" sz="1400" dirty="0"/>
              <a:t>지연 시간</a:t>
            </a:r>
            <a:r>
              <a:rPr lang="en-US" altLang="ko-KR" sz="1400" dirty="0"/>
              <a:t>, </a:t>
            </a:r>
            <a:r>
              <a:rPr lang="ko-KR" altLang="en-US" sz="1400" dirty="0"/>
              <a:t>전력 소모가 급격히 증가하는 문제가 있음</a:t>
            </a:r>
            <a:endParaRPr lang="en-US" altLang="ko-KR" sz="1400" dirty="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C2F82A5-4D4C-F856-7318-1304CC11CAD8}"/>
              </a:ext>
            </a:extLst>
          </p:cNvPr>
          <p:cNvGrpSpPr/>
          <p:nvPr/>
        </p:nvGrpSpPr>
        <p:grpSpPr>
          <a:xfrm>
            <a:off x="170552" y="2299491"/>
            <a:ext cx="6123940" cy="2917945"/>
            <a:chOff x="373380" y="2139471"/>
            <a:chExt cx="6123940" cy="291794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D6803B1-285B-2F8E-B740-430F1BD36B0D}"/>
                </a:ext>
              </a:extLst>
            </p:cNvPr>
            <p:cNvSpPr txBox="1"/>
            <p:nvPr/>
          </p:nvSpPr>
          <p:spPr>
            <a:xfrm>
              <a:off x="2158086" y="4688084"/>
              <a:ext cx="2108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/>
                <a:t>4-bit Majority Voter</a:t>
              </a:r>
              <a:endParaRPr lang="ko-KR" alt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D08D79F-A67A-F6B4-5664-BA9F9717CE9C}"/>
                </a:ext>
              </a:extLst>
            </p:cNvPr>
            <p:cNvSpPr txBox="1"/>
            <p:nvPr/>
          </p:nvSpPr>
          <p:spPr>
            <a:xfrm>
              <a:off x="373380" y="2139471"/>
              <a:ext cx="927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Input[3]</a:t>
              </a:r>
              <a:endParaRPr lang="ko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296AEBB-E11A-A9BF-AF5D-2428CCB7F553}"/>
                </a:ext>
              </a:extLst>
            </p:cNvPr>
            <p:cNvSpPr txBox="1"/>
            <p:nvPr/>
          </p:nvSpPr>
          <p:spPr>
            <a:xfrm>
              <a:off x="373380" y="4318752"/>
              <a:ext cx="927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Input[0]</a:t>
              </a:r>
              <a:endParaRPr lang="ko-KR" alt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74332CC-23A2-8638-28A0-54009F6D9972}"/>
                </a:ext>
              </a:extLst>
            </p:cNvPr>
            <p:cNvSpPr txBox="1"/>
            <p:nvPr/>
          </p:nvSpPr>
          <p:spPr>
            <a:xfrm>
              <a:off x="373380" y="3592325"/>
              <a:ext cx="927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Input[1]</a:t>
              </a:r>
              <a:endParaRPr lang="ko-KR" alt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C3CCC86-639B-9AB6-A7A2-58AA7F4D9860}"/>
                </a:ext>
              </a:extLst>
            </p:cNvPr>
            <p:cNvSpPr txBox="1"/>
            <p:nvPr/>
          </p:nvSpPr>
          <p:spPr>
            <a:xfrm>
              <a:off x="373380" y="2865898"/>
              <a:ext cx="927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Input[2]</a:t>
              </a:r>
              <a:endParaRPr lang="ko-KR" altLang="en-US" dirty="0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E8750763-B78F-B0F7-2643-A8FBFCC1A224}"/>
                </a:ext>
              </a:extLst>
            </p:cNvPr>
            <p:cNvGrpSpPr/>
            <p:nvPr/>
          </p:nvGrpSpPr>
          <p:grpSpPr>
            <a:xfrm>
              <a:off x="1300480" y="2339554"/>
              <a:ext cx="2667000" cy="2171485"/>
              <a:chOff x="1300480" y="2339554"/>
              <a:chExt cx="2667000" cy="2171485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6C5E24D6-496A-F782-30F4-B3F922E40564}"/>
                  </a:ext>
                </a:extLst>
              </p:cNvPr>
              <p:cNvSpPr/>
              <p:nvPr/>
            </p:nvSpPr>
            <p:spPr>
              <a:xfrm>
                <a:off x="1795780" y="2339554"/>
                <a:ext cx="1676400" cy="2171485"/>
              </a:xfrm>
              <a:prstGeom prst="rect">
                <a:avLst/>
              </a:prstGeom>
              <a:solidFill>
                <a:srgbClr val="002C62"/>
              </a:solidFill>
              <a:ln>
                <a:solidFill>
                  <a:srgbClr val="002C6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err="1"/>
                  <a:t>Popcount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연산</a:t>
                </a:r>
              </a:p>
            </p:txBody>
          </p: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4C6B16C2-C4DA-948E-D239-5D17F7C71C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00480" y="2347174"/>
                <a:ext cx="495300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32C51F7A-13B9-4591-3DD4-401F9762C5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00480" y="3065922"/>
                <a:ext cx="495300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9317FD17-B128-B147-991F-8E8812FABF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00480" y="3784670"/>
                <a:ext cx="495300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E093CF09-29D9-DA25-A282-4DF0539E56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00480" y="4503419"/>
                <a:ext cx="495300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374BB041-AA95-32EB-FBE3-802E17FC4E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72180" y="3429000"/>
                <a:ext cx="495300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23C4756D-5B55-8518-7F0B-9315D309717B}"/>
                </a:ext>
              </a:extLst>
            </p:cNvPr>
            <p:cNvSpPr/>
            <p:nvPr/>
          </p:nvSpPr>
          <p:spPr>
            <a:xfrm>
              <a:off x="3967480" y="3097519"/>
              <a:ext cx="1107440" cy="687151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002C62"/>
                  </a:solidFill>
                </a:rPr>
                <a:t>&gt;2</a:t>
              </a:r>
              <a:endParaRPr lang="ko-KR" altLang="en-US" dirty="0">
                <a:solidFill>
                  <a:srgbClr val="002C62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44FD3D8-FCBC-56F1-702F-08BC5C780F0D}"/>
                </a:ext>
              </a:extLst>
            </p:cNvPr>
            <p:cNvSpPr txBox="1"/>
            <p:nvPr/>
          </p:nvSpPr>
          <p:spPr>
            <a:xfrm>
              <a:off x="5570220" y="3235230"/>
              <a:ext cx="927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output</a:t>
              </a:r>
              <a:endParaRPr lang="ko-KR" altLang="en-US" dirty="0"/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CEDD3ED9-3BD6-40D7-CB19-D51D20209F73}"/>
                </a:ext>
              </a:extLst>
            </p:cNvPr>
            <p:cNvCxnSpPr>
              <a:cxnSpLocks/>
            </p:cNvCxnSpPr>
            <p:nvPr/>
          </p:nvCxnSpPr>
          <p:spPr>
            <a:xfrm>
              <a:off x="5074920" y="3425296"/>
              <a:ext cx="495300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24642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63340-D4E5-1B01-C70F-F1DFDC7FF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99C6CA-629E-2D35-4C57-DC9433FA6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Popcount</a:t>
            </a:r>
            <a:r>
              <a:rPr lang="en-US" altLang="ko-KR" sz="4000" dirty="0"/>
              <a:t> </a:t>
            </a:r>
            <a:r>
              <a:rPr lang="ko-KR" altLang="en-US" sz="4000" dirty="0"/>
              <a:t>구조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BC819B-2B70-9105-47F7-3042131C3128}"/>
              </a:ext>
            </a:extLst>
          </p:cNvPr>
          <p:cNvSpPr txBox="1"/>
          <p:nvPr/>
        </p:nvSpPr>
        <p:spPr>
          <a:xfrm>
            <a:off x="6367754" y="1868604"/>
            <a:ext cx="55575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Popcount</a:t>
            </a:r>
            <a:endParaRPr lang="en-US" altLang="ko-KR" b="1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3x3</a:t>
            </a:r>
            <a:r>
              <a:rPr lang="ko-KR" altLang="en-US" sz="1400" dirty="0"/>
              <a:t> </a:t>
            </a:r>
            <a:r>
              <a:rPr lang="en-US" altLang="ko-KR" sz="1400" dirty="0"/>
              <a:t>Binary</a:t>
            </a:r>
            <a:r>
              <a:rPr lang="ko-KR" altLang="en-US" sz="1400" dirty="0"/>
              <a:t> </a:t>
            </a:r>
            <a:r>
              <a:rPr lang="en-US" altLang="ko-KR" sz="1400" dirty="0"/>
              <a:t>Conv</a:t>
            </a:r>
            <a:r>
              <a:rPr lang="ko-KR" altLang="en-US" sz="1400" dirty="0"/>
              <a:t>를 사용</a:t>
            </a:r>
            <a:r>
              <a:rPr lang="en-US" altLang="ko-KR" sz="1400" dirty="0"/>
              <a:t>, 64</a:t>
            </a:r>
            <a:r>
              <a:rPr lang="ko-KR" altLang="en-US" sz="1400" dirty="0"/>
              <a:t>개의 채널이라고 가정</a:t>
            </a:r>
            <a:endParaRPr lang="en-US" altLang="ko-KR" sz="1400" dirty="0"/>
          </a:p>
          <a:p>
            <a:r>
              <a:rPr lang="en-US" altLang="ko-KR" sz="1400" dirty="0"/>
              <a:t>      (Input</a:t>
            </a:r>
            <a:r>
              <a:rPr lang="ko-KR" altLang="en-US" sz="1400" dirty="0"/>
              <a:t>은 총 </a:t>
            </a:r>
            <a:r>
              <a:rPr lang="en-US" altLang="ko-KR" sz="1400" dirty="0"/>
              <a:t>576-bit)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Full Adder(FA) </a:t>
            </a:r>
            <a:r>
              <a:rPr lang="ko-KR" altLang="en-US" sz="1400" dirty="0"/>
              <a:t>기반 </a:t>
            </a:r>
            <a:r>
              <a:rPr lang="en-US" altLang="ko-KR" sz="1400" dirty="0"/>
              <a:t>Adder Tree </a:t>
            </a:r>
            <a:r>
              <a:rPr lang="ko-KR" altLang="en-US" sz="1400" dirty="0"/>
              <a:t>구조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3</a:t>
            </a:r>
            <a:r>
              <a:rPr lang="ko-KR" altLang="en-US" sz="1400" dirty="0"/>
              <a:t>개의 </a:t>
            </a:r>
            <a:r>
              <a:rPr lang="en-US" altLang="ko-KR" sz="1400" dirty="0"/>
              <a:t>1-bit</a:t>
            </a:r>
            <a:r>
              <a:rPr lang="ko-KR" altLang="en-US" sz="1400" dirty="0"/>
              <a:t> 입력을 </a:t>
            </a:r>
            <a:r>
              <a:rPr lang="en-US" altLang="ko-KR" sz="1400" dirty="0"/>
              <a:t>2-bit </a:t>
            </a:r>
            <a:r>
              <a:rPr lang="ko-KR" altLang="en-US" sz="1400" dirty="0"/>
              <a:t>결과로 압축</a:t>
            </a:r>
            <a:endParaRPr lang="en-US" altLang="ko-KR" sz="1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0E5F48-8DF7-DBCE-BA75-B88A483E2B28}"/>
              </a:ext>
            </a:extLst>
          </p:cNvPr>
          <p:cNvSpPr/>
          <p:nvPr/>
        </p:nvSpPr>
        <p:spPr>
          <a:xfrm>
            <a:off x="2120797" y="2101629"/>
            <a:ext cx="1108043" cy="1040645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Full Adder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406A46-5065-E7CE-94D8-917BD7EED625}"/>
              </a:ext>
            </a:extLst>
          </p:cNvPr>
          <p:cNvSpPr txBox="1"/>
          <p:nvPr/>
        </p:nvSpPr>
        <p:spPr>
          <a:xfrm>
            <a:off x="3724140" y="2261691"/>
            <a:ext cx="927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sum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69A033-FBB0-8594-E1B6-4F9F298EC26F}"/>
              </a:ext>
            </a:extLst>
          </p:cNvPr>
          <p:cNvSpPr txBox="1"/>
          <p:nvPr/>
        </p:nvSpPr>
        <p:spPr>
          <a:xfrm>
            <a:off x="1127565" y="2859180"/>
            <a:ext cx="927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Input[0]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9F8815-BA73-5B49-AF28-762E6E33585A}"/>
              </a:ext>
            </a:extLst>
          </p:cNvPr>
          <p:cNvSpPr txBox="1"/>
          <p:nvPr/>
        </p:nvSpPr>
        <p:spPr>
          <a:xfrm>
            <a:off x="1127565" y="2417760"/>
            <a:ext cx="927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Input[1]</a:t>
            </a:r>
            <a:endParaRPr lang="ko-KR" alt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FCF722B-5FDB-A9CF-C898-6589253E9C32}"/>
                  </a:ext>
                </a:extLst>
              </p:cNvPr>
              <p:cNvSpPr txBox="1"/>
              <p:nvPr/>
            </p:nvSpPr>
            <p:spPr>
              <a:xfrm>
                <a:off x="1127565" y="1964466"/>
                <a:ext cx="9271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FCF722B-5FDB-A9CF-C898-6589253E9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565" y="1964466"/>
                <a:ext cx="927100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763F1E88-FB0C-717C-295E-48257A25EF46}"/>
              </a:ext>
            </a:extLst>
          </p:cNvPr>
          <p:cNvCxnSpPr>
            <a:cxnSpLocks/>
          </p:cNvCxnSpPr>
          <p:nvPr/>
        </p:nvCxnSpPr>
        <p:spPr>
          <a:xfrm>
            <a:off x="3228840" y="2417760"/>
            <a:ext cx="4953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9B63CE8-6E40-C1EC-05BA-1B2E5C461EA4}"/>
              </a:ext>
            </a:extLst>
          </p:cNvPr>
          <p:cNvCxnSpPr>
            <a:cxnSpLocks/>
          </p:cNvCxnSpPr>
          <p:nvPr/>
        </p:nvCxnSpPr>
        <p:spPr>
          <a:xfrm>
            <a:off x="1873147" y="2129127"/>
            <a:ext cx="4953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94F7156-D67A-3ED5-A808-E07396A2B5DC}"/>
              </a:ext>
            </a:extLst>
          </p:cNvPr>
          <p:cNvCxnSpPr>
            <a:cxnSpLocks/>
          </p:cNvCxnSpPr>
          <p:nvPr/>
        </p:nvCxnSpPr>
        <p:spPr>
          <a:xfrm>
            <a:off x="1861272" y="2598494"/>
            <a:ext cx="4953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1E9B179F-A5DB-D922-FA5C-E1086F6197CD}"/>
              </a:ext>
            </a:extLst>
          </p:cNvPr>
          <p:cNvCxnSpPr>
            <a:cxnSpLocks/>
          </p:cNvCxnSpPr>
          <p:nvPr/>
        </p:nvCxnSpPr>
        <p:spPr>
          <a:xfrm>
            <a:off x="1873147" y="3077964"/>
            <a:ext cx="4953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163F352-4EBE-8528-00F1-3A2B604AF85A}"/>
              </a:ext>
            </a:extLst>
          </p:cNvPr>
          <p:cNvSpPr txBox="1"/>
          <p:nvPr/>
        </p:nvSpPr>
        <p:spPr>
          <a:xfrm>
            <a:off x="3724140" y="2736449"/>
            <a:ext cx="927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Carry out</a:t>
            </a:r>
            <a:endParaRPr lang="ko-KR" altLang="en-US" sz="1400" dirty="0"/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4AD93948-2EEE-B115-A390-A586C8B12AAC}"/>
              </a:ext>
            </a:extLst>
          </p:cNvPr>
          <p:cNvCxnSpPr>
            <a:cxnSpLocks/>
          </p:cNvCxnSpPr>
          <p:nvPr/>
        </p:nvCxnSpPr>
        <p:spPr>
          <a:xfrm>
            <a:off x="3228840" y="2889958"/>
            <a:ext cx="49530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45B97BAA-C42C-D63C-8E38-B0CC24332599}"/>
              </a:ext>
            </a:extLst>
          </p:cNvPr>
          <p:cNvGrpSpPr/>
          <p:nvPr/>
        </p:nvGrpSpPr>
        <p:grpSpPr>
          <a:xfrm>
            <a:off x="420962" y="3775831"/>
            <a:ext cx="6085786" cy="2560112"/>
            <a:chOff x="420962" y="3775831"/>
            <a:chExt cx="6085786" cy="2560112"/>
          </a:xfrm>
        </p:grpSpPr>
        <p:sp>
          <p:nvSpPr>
            <p:cNvPr id="41" name="순서도: 지연 40">
              <a:extLst>
                <a:ext uri="{FF2B5EF4-FFF2-40B4-BE49-F238E27FC236}">
                  <a16:creationId xmlns:a16="http://schemas.microsoft.com/office/drawing/2014/main" id="{D5B38757-DA27-53A5-73FA-6CDFDED5265F}"/>
                </a:ext>
              </a:extLst>
            </p:cNvPr>
            <p:cNvSpPr/>
            <p:nvPr/>
          </p:nvSpPr>
          <p:spPr>
            <a:xfrm>
              <a:off x="2302081" y="4803408"/>
              <a:ext cx="393272" cy="541052"/>
            </a:xfrm>
            <a:prstGeom prst="flowChartDelay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44" name="연결선: 꺾임 43">
              <a:extLst>
                <a:ext uri="{FF2B5EF4-FFF2-40B4-BE49-F238E27FC236}">
                  <a16:creationId xmlns:a16="http://schemas.microsoft.com/office/drawing/2014/main" id="{EDB52D50-A2B6-FC94-9856-7E1AB88F1F9B}"/>
                </a:ext>
              </a:extLst>
            </p:cNvPr>
            <p:cNvCxnSpPr>
              <a:cxnSpLocks/>
              <a:stCxn id="41" idx="3"/>
              <a:endCxn id="103" idx="2"/>
            </p:cNvCxnSpPr>
            <p:nvPr/>
          </p:nvCxnSpPr>
          <p:spPr>
            <a:xfrm>
              <a:off x="2695353" y="5073934"/>
              <a:ext cx="2322224" cy="970420"/>
            </a:xfrm>
            <a:prstGeom prst="bentConnector3">
              <a:avLst>
                <a:gd name="adj1" fmla="val 11577"/>
              </a:avLst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290FEAF0-2A17-7647-F62C-0EF0021753A6}"/>
                </a:ext>
              </a:extLst>
            </p:cNvPr>
            <p:cNvGrpSpPr/>
            <p:nvPr/>
          </p:nvGrpSpPr>
          <p:grpSpPr>
            <a:xfrm>
              <a:off x="2201402" y="3775831"/>
              <a:ext cx="660050" cy="540000"/>
              <a:chOff x="1681316" y="3786906"/>
              <a:chExt cx="660050" cy="540000"/>
            </a:xfrm>
          </p:grpSpPr>
          <p:sp>
            <p:nvSpPr>
              <p:cNvPr id="42" name="달 41">
                <a:extLst>
                  <a:ext uri="{FF2B5EF4-FFF2-40B4-BE49-F238E27FC236}">
                    <a16:creationId xmlns:a16="http://schemas.microsoft.com/office/drawing/2014/main" id="{FC728B8D-8C41-B738-D1D5-CA2D1693AE13}"/>
                  </a:ext>
                </a:extLst>
              </p:cNvPr>
              <p:cNvSpPr/>
              <p:nvPr/>
            </p:nvSpPr>
            <p:spPr>
              <a:xfrm flipH="1">
                <a:off x="1846065" y="3786906"/>
                <a:ext cx="495301" cy="540000"/>
              </a:xfrm>
              <a:prstGeom prst="moon">
                <a:avLst>
                  <a:gd name="adj" fmla="val 72186"/>
                </a:avLst>
              </a:prstGeom>
              <a:solidFill>
                <a:srgbClr val="002C62"/>
              </a:solidFill>
              <a:ln>
                <a:solidFill>
                  <a:srgbClr val="002C6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오른쪽 대괄호 48">
                <a:extLst>
                  <a:ext uri="{FF2B5EF4-FFF2-40B4-BE49-F238E27FC236}">
                    <a16:creationId xmlns:a16="http://schemas.microsoft.com/office/drawing/2014/main" id="{50F64AB9-6DE8-A610-F97B-CDC380447FDE}"/>
                  </a:ext>
                </a:extLst>
              </p:cNvPr>
              <p:cNvSpPr/>
              <p:nvPr/>
            </p:nvSpPr>
            <p:spPr>
              <a:xfrm>
                <a:off x="1681316" y="3807596"/>
                <a:ext cx="219828" cy="519310"/>
              </a:xfrm>
              <a:prstGeom prst="rightBracket">
                <a:avLst>
                  <a:gd name="adj" fmla="val 135927"/>
                </a:avLst>
              </a:prstGeom>
              <a:ln w="12700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24A50BB-90F2-052F-5717-6C933BEEA2C2}"/>
                </a:ext>
              </a:extLst>
            </p:cNvPr>
            <p:cNvSpPr txBox="1"/>
            <p:nvPr/>
          </p:nvSpPr>
          <p:spPr>
            <a:xfrm>
              <a:off x="565694" y="3806379"/>
              <a:ext cx="9271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Input[0]</a:t>
              </a:r>
              <a:endParaRPr lang="ko-KR" altLang="en-US" sz="14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11E3D85-DF23-44EA-1A8B-A1B7CA743AAD}"/>
                </a:ext>
              </a:extLst>
            </p:cNvPr>
            <p:cNvSpPr txBox="1"/>
            <p:nvPr/>
          </p:nvSpPr>
          <p:spPr>
            <a:xfrm>
              <a:off x="562522" y="4322290"/>
              <a:ext cx="9271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Input[1]</a:t>
              </a:r>
              <a:endParaRPr lang="ko-KR" altLang="en-US" sz="1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DC3CAC0-40E3-83DD-3313-3EC7DB6759BC}"/>
                    </a:ext>
                  </a:extLst>
                </p:cNvPr>
                <p:cNvSpPr txBox="1"/>
                <p:nvPr/>
              </p:nvSpPr>
              <p:spPr>
                <a:xfrm>
                  <a:off x="420962" y="6028166"/>
                  <a:ext cx="92710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DC3CAC0-40E3-83DD-3313-3EC7DB6759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962" y="6028166"/>
                  <a:ext cx="927100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연결선: 꺾임 56">
              <a:extLst>
                <a:ext uri="{FF2B5EF4-FFF2-40B4-BE49-F238E27FC236}">
                  <a16:creationId xmlns:a16="http://schemas.microsoft.com/office/drawing/2014/main" id="{F08D05DF-5CFB-6C10-9D9D-BE25ABCD6DAD}"/>
                </a:ext>
              </a:extLst>
            </p:cNvPr>
            <p:cNvCxnSpPr>
              <a:cxnSpLocks/>
              <a:stCxn id="53" idx="3"/>
              <a:endCxn id="70" idx="3"/>
            </p:cNvCxnSpPr>
            <p:nvPr/>
          </p:nvCxnSpPr>
          <p:spPr>
            <a:xfrm>
              <a:off x="1489622" y="4476179"/>
              <a:ext cx="825859" cy="780745"/>
            </a:xfrm>
            <a:prstGeom prst="bentConnector4">
              <a:avLst>
                <a:gd name="adj1" fmla="val 24594"/>
                <a:gd name="adj2" fmla="val 98111"/>
              </a:avLst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연결선: 꺾임 60">
              <a:extLst>
                <a:ext uri="{FF2B5EF4-FFF2-40B4-BE49-F238E27FC236}">
                  <a16:creationId xmlns:a16="http://schemas.microsoft.com/office/drawing/2014/main" id="{9D9C290D-B94D-9877-0B4A-61170DDA1275}"/>
                </a:ext>
              </a:extLst>
            </p:cNvPr>
            <p:cNvCxnSpPr>
              <a:cxnSpLocks/>
              <a:stCxn id="52" idx="3"/>
              <a:endCxn id="67" idx="2"/>
            </p:cNvCxnSpPr>
            <p:nvPr/>
          </p:nvCxnSpPr>
          <p:spPr>
            <a:xfrm>
              <a:off x="1492794" y="3960268"/>
              <a:ext cx="811087" cy="1025476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A7B7DDDC-8D36-759A-5C2C-4B5278013FCC}"/>
                </a:ext>
              </a:extLst>
            </p:cNvPr>
            <p:cNvSpPr/>
            <p:nvPr/>
          </p:nvSpPr>
          <p:spPr>
            <a:xfrm>
              <a:off x="2303881" y="4962884"/>
              <a:ext cx="45719" cy="45719"/>
            </a:xfrm>
            <a:prstGeom prst="ellipse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9F93EC56-880F-2D58-0640-4208E16ECF7B}"/>
                </a:ext>
              </a:extLst>
            </p:cNvPr>
            <p:cNvSpPr/>
            <p:nvPr/>
          </p:nvSpPr>
          <p:spPr>
            <a:xfrm>
              <a:off x="2308786" y="5217900"/>
              <a:ext cx="45719" cy="45719"/>
            </a:xfrm>
            <a:prstGeom prst="ellipse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03E187E9-8521-8C7B-91DF-B22195ED8A0B}"/>
                </a:ext>
              </a:extLst>
            </p:cNvPr>
            <p:cNvSpPr/>
            <p:nvPr/>
          </p:nvSpPr>
          <p:spPr>
            <a:xfrm>
              <a:off x="1640048" y="4440480"/>
              <a:ext cx="86400" cy="86400"/>
            </a:xfrm>
            <a:prstGeom prst="ellipse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A2715962-C1FE-486A-FA48-7F9913DB5C62}"/>
                </a:ext>
              </a:extLst>
            </p:cNvPr>
            <p:cNvSpPr/>
            <p:nvPr/>
          </p:nvSpPr>
          <p:spPr>
            <a:xfrm>
              <a:off x="1855137" y="3927248"/>
              <a:ext cx="86400" cy="86400"/>
            </a:xfrm>
            <a:prstGeom prst="ellipse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2A1BAD8C-7077-3312-1689-894C59F272E5}"/>
                </a:ext>
              </a:extLst>
            </p:cNvPr>
            <p:cNvSpPr/>
            <p:nvPr/>
          </p:nvSpPr>
          <p:spPr>
            <a:xfrm>
              <a:off x="2374774" y="3946544"/>
              <a:ext cx="45719" cy="45719"/>
            </a:xfrm>
            <a:prstGeom prst="ellipse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90154921-BC30-F8E3-4A8B-3F9BC7E29C65}"/>
                </a:ext>
              </a:extLst>
            </p:cNvPr>
            <p:cNvSpPr/>
            <p:nvPr/>
          </p:nvSpPr>
          <p:spPr>
            <a:xfrm>
              <a:off x="2366151" y="4167473"/>
              <a:ext cx="45719" cy="45719"/>
            </a:xfrm>
            <a:prstGeom prst="ellipse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3" name="연결선: 꺾임 82">
              <a:extLst>
                <a:ext uri="{FF2B5EF4-FFF2-40B4-BE49-F238E27FC236}">
                  <a16:creationId xmlns:a16="http://schemas.microsoft.com/office/drawing/2014/main" id="{523F4D71-13A5-A589-B127-1574EE23BFB3}"/>
                </a:ext>
              </a:extLst>
            </p:cNvPr>
            <p:cNvCxnSpPr>
              <a:cxnSpLocks/>
              <a:stCxn id="81" idx="2"/>
              <a:endCxn id="80" idx="6"/>
            </p:cNvCxnSpPr>
            <p:nvPr/>
          </p:nvCxnSpPr>
          <p:spPr>
            <a:xfrm rot="10800000" flipV="1">
              <a:off x="1941538" y="3969404"/>
              <a:ext cx="433237" cy="1044"/>
            </a:xfrm>
            <a:prstGeom prst="bentConnector3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연결선: 꺾임 87">
              <a:extLst>
                <a:ext uri="{FF2B5EF4-FFF2-40B4-BE49-F238E27FC236}">
                  <a16:creationId xmlns:a16="http://schemas.microsoft.com/office/drawing/2014/main" id="{A80AE85F-7378-44D4-93AD-CB929FD074F7}"/>
                </a:ext>
              </a:extLst>
            </p:cNvPr>
            <p:cNvCxnSpPr>
              <a:cxnSpLocks/>
              <a:stCxn id="78" idx="6"/>
              <a:endCxn id="82" idx="2"/>
            </p:cNvCxnSpPr>
            <p:nvPr/>
          </p:nvCxnSpPr>
          <p:spPr>
            <a:xfrm flipV="1">
              <a:off x="1726448" y="4190333"/>
              <a:ext cx="639703" cy="293347"/>
            </a:xfrm>
            <a:prstGeom prst="bentConnector3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순서도: 지연 92">
              <a:extLst>
                <a:ext uri="{FF2B5EF4-FFF2-40B4-BE49-F238E27FC236}">
                  <a16:creationId xmlns:a16="http://schemas.microsoft.com/office/drawing/2014/main" id="{BEC9741B-CEA1-200C-058B-AE20D13D08A5}"/>
                </a:ext>
              </a:extLst>
            </p:cNvPr>
            <p:cNvSpPr/>
            <p:nvPr/>
          </p:nvSpPr>
          <p:spPr>
            <a:xfrm>
              <a:off x="3967110" y="4837518"/>
              <a:ext cx="393272" cy="541052"/>
            </a:xfrm>
            <a:prstGeom prst="flowChartDelay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F1CCC601-148E-666C-980B-37A9DA5852D1}"/>
                </a:ext>
              </a:extLst>
            </p:cNvPr>
            <p:cNvGrpSpPr/>
            <p:nvPr/>
          </p:nvGrpSpPr>
          <p:grpSpPr>
            <a:xfrm>
              <a:off x="3866431" y="3854185"/>
              <a:ext cx="660050" cy="540000"/>
              <a:chOff x="1681316" y="3786906"/>
              <a:chExt cx="660050" cy="540000"/>
            </a:xfrm>
          </p:grpSpPr>
          <p:sp>
            <p:nvSpPr>
              <p:cNvPr id="95" name="달 94">
                <a:extLst>
                  <a:ext uri="{FF2B5EF4-FFF2-40B4-BE49-F238E27FC236}">
                    <a16:creationId xmlns:a16="http://schemas.microsoft.com/office/drawing/2014/main" id="{D2D53E72-2ED0-D99A-2C2C-1590B75B6F68}"/>
                  </a:ext>
                </a:extLst>
              </p:cNvPr>
              <p:cNvSpPr/>
              <p:nvPr/>
            </p:nvSpPr>
            <p:spPr>
              <a:xfrm flipH="1">
                <a:off x="1846065" y="3786906"/>
                <a:ext cx="495301" cy="540000"/>
              </a:xfrm>
              <a:prstGeom prst="moon">
                <a:avLst>
                  <a:gd name="adj" fmla="val 72186"/>
                </a:avLst>
              </a:prstGeom>
              <a:solidFill>
                <a:srgbClr val="002C62"/>
              </a:solidFill>
              <a:ln>
                <a:solidFill>
                  <a:srgbClr val="002C6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6" name="오른쪽 대괄호 95">
                <a:extLst>
                  <a:ext uri="{FF2B5EF4-FFF2-40B4-BE49-F238E27FC236}">
                    <a16:creationId xmlns:a16="http://schemas.microsoft.com/office/drawing/2014/main" id="{DA340C81-1135-95D8-B7A0-3DA400B3FC84}"/>
                  </a:ext>
                </a:extLst>
              </p:cNvPr>
              <p:cNvSpPr/>
              <p:nvPr/>
            </p:nvSpPr>
            <p:spPr>
              <a:xfrm>
                <a:off x="1681316" y="3807596"/>
                <a:ext cx="219828" cy="519310"/>
              </a:xfrm>
              <a:prstGeom prst="rightBracket">
                <a:avLst>
                  <a:gd name="adj" fmla="val 135927"/>
                </a:avLst>
              </a:prstGeom>
              <a:ln w="12700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5ED28649-6916-AFF0-0055-60E76332CD68}"/>
                </a:ext>
              </a:extLst>
            </p:cNvPr>
            <p:cNvSpPr/>
            <p:nvPr/>
          </p:nvSpPr>
          <p:spPr>
            <a:xfrm>
              <a:off x="3968910" y="4996994"/>
              <a:ext cx="45719" cy="45719"/>
            </a:xfrm>
            <a:prstGeom prst="ellipse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2300D3E5-7D00-F059-E4A3-A519874D2EBB}"/>
                </a:ext>
              </a:extLst>
            </p:cNvPr>
            <p:cNvSpPr/>
            <p:nvPr/>
          </p:nvSpPr>
          <p:spPr>
            <a:xfrm>
              <a:off x="3973815" y="5252010"/>
              <a:ext cx="45719" cy="45719"/>
            </a:xfrm>
            <a:prstGeom prst="ellipse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9AF3EAE9-6738-FCD6-6599-4A29A91D0C98}"/>
                </a:ext>
              </a:extLst>
            </p:cNvPr>
            <p:cNvSpPr/>
            <p:nvPr/>
          </p:nvSpPr>
          <p:spPr>
            <a:xfrm>
              <a:off x="4039803" y="4024898"/>
              <a:ext cx="45719" cy="45719"/>
            </a:xfrm>
            <a:prstGeom prst="ellipse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A016040B-5484-10E5-0FAF-CF1B613B88B0}"/>
                </a:ext>
              </a:extLst>
            </p:cNvPr>
            <p:cNvSpPr/>
            <p:nvPr/>
          </p:nvSpPr>
          <p:spPr>
            <a:xfrm>
              <a:off x="4031180" y="4245827"/>
              <a:ext cx="45719" cy="45719"/>
            </a:xfrm>
            <a:prstGeom prst="ellipse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1" name="달 100">
              <a:extLst>
                <a:ext uri="{FF2B5EF4-FFF2-40B4-BE49-F238E27FC236}">
                  <a16:creationId xmlns:a16="http://schemas.microsoft.com/office/drawing/2014/main" id="{FE83A63F-90F8-B81D-1217-B9ECE5CF9A20}"/>
                </a:ext>
              </a:extLst>
            </p:cNvPr>
            <p:cNvSpPr/>
            <p:nvPr/>
          </p:nvSpPr>
          <p:spPr>
            <a:xfrm flipH="1">
              <a:off x="4913830" y="5657791"/>
              <a:ext cx="495301" cy="540000"/>
            </a:xfrm>
            <a:prstGeom prst="moon">
              <a:avLst>
                <a:gd name="adj" fmla="val 72186"/>
              </a:avLst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940D7E00-AD77-3756-391D-C460992F8A61}"/>
                </a:ext>
              </a:extLst>
            </p:cNvPr>
            <p:cNvSpPr/>
            <p:nvPr/>
          </p:nvSpPr>
          <p:spPr>
            <a:xfrm>
              <a:off x="5026200" y="5800565"/>
              <a:ext cx="45719" cy="45719"/>
            </a:xfrm>
            <a:prstGeom prst="ellipse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EE9AE485-360C-28A8-DEDF-3C666E714C86}"/>
                </a:ext>
              </a:extLst>
            </p:cNvPr>
            <p:cNvSpPr/>
            <p:nvPr/>
          </p:nvSpPr>
          <p:spPr>
            <a:xfrm>
              <a:off x="5017577" y="6021494"/>
              <a:ext cx="45719" cy="45719"/>
            </a:xfrm>
            <a:prstGeom prst="ellipse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6" name="연결선: 꺾임 105">
              <a:extLst>
                <a:ext uri="{FF2B5EF4-FFF2-40B4-BE49-F238E27FC236}">
                  <a16:creationId xmlns:a16="http://schemas.microsoft.com/office/drawing/2014/main" id="{ADDE059D-9F63-E178-612E-87AEDEB2C3B4}"/>
                </a:ext>
              </a:extLst>
            </p:cNvPr>
            <p:cNvCxnSpPr>
              <a:cxnSpLocks/>
              <a:stCxn id="54" idx="3"/>
              <a:endCxn id="98" idx="2"/>
            </p:cNvCxnSpPr>
            <p:nvPr/>
          </p:nvCxnSpPr>
          <p:spPr>
            <a:xfrm flipV="1">
              <a:off x="1348062" y="5274870"/>
              <a:ext cx="2625753" cy="907185"/>
            </a:xfrm>
            <a:prstGeom prst="bentConnector3">
              <a:avLst>
                <a:gd name="adj1" fmla="val 83701"/>
              </a:avLst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F4F4C987-682E-C0FB-372C-16F784FF229D}"/>
                </a:ext>
              </a:extLst>
            </p:cNvPr>
            <p:cNvSpPr/>
            <p:nvPr/>
          </p:nvSpPr>
          <p:spPr>
            <a:xfrm>
              <a:off x="3510234" y="5229834"/>
              <a:ext cx="86400" cy="86400"/>
            </a:xfrm>
            <a:prstGeom prst="ellipse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4" name="연결선: 꺾임 113">
              <a:extLst>
                <a:ext uri="{FF2B5EF4-FFF2-40B4-BE49-F238E27FC236}">
                  <a16:creationId xmlns:a16="http://schemas.microsoft.com/office/drawing/2014/main" id="{D3C8CEDB-1138-896D-B202-24D334E65EC4}"/>
                </a:ext>
              </a:extLst>
            </p:cNvPr>
            <p:cNvCxnSpPr>
              <a:cxnSpLocks/>
              <a:stCxn id="42" idx="1"/>
              <a:endCxn id="99" idx="2"/>
            </p:cNvCxnSpPr>
            <p:nvPr/>
          </p:nvCxnSpPr>
          <p:spPr>
            <a:xfrm>
              <a:off x="2861452" y="4045831"/>
              <a:ext cx="1178351" cy="1927"/>
            </a:xfrm>
            <a:prstGeom prst="bentConnector3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74C76FB1-7833-630D-AB5F-D588FDF3E133}"/>
                </a:ext>
              </a:extLst>
            </p:cNvPr>
            <p:cNvSpPr/>
            <p:nvPr/>
          </p:nvSpPr>
          <p:spPr>
            <a:xfrm>
              <a:off x="3277541" y="4007610"/>
              <a:ext cx="86400" cy="86400"/>
            </a:xfrm>
            <a:prstGeom prst="ellipse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8" name="연결선: 꺾임 117">
              <a:extLst>
                <a:ext uri="{FF2B5EF4-FFF2-40B4-BE49-F238E27FC236}">
                  <a16:creationId xmlns:a16="http://schemas.microsoft.com/office/drawing/2014/main" id="{CD273242-4B32-0FC0-D1FB-881C8F9EA616}"/>
                </a:ext>
              </a:extLst>
            </p:cNvPr>
            <p:cNvCxnSpPr>
              <a:cxnSpLocks/>
              <a:stCxn id="97" idx="2"/>
              <a:endCxn id="117" idx="4"/>
            </p:cNvCxnSpPr>
            <p:nvPr/>
          </p:nvCxnSpPr>
          <p:spPr>
            <a:xfrm rot="10800000">
              <a:off x="3320742" y="4094010"/>
              <a:ext cx="648169" cy="925844"/>
            </a:xfrm>
            <a:prstGeom prst="bentConnector2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연결선: 꺾임 120">
              <a:extLst>
                <a:ext uri="{FF2B5EF4-FFF2-40B4-BE49-F238E27FC236}">
                  <a16:creationId xmlns:a16="http://schemas.microsoft.com/office/drawing/2014/main" id="{C21BE1B7-956D-D7AF-073A-E0DD5142EC81}"/>
                </a:ext>
              </a:extLst>
            </p:cNvPr>
            <p:cNvCxnSpPr>
              <a:cxnSpLocks/>
              <a:stCxn id="113" idx="0"/>
              <a:endCxn id="100" idx="2"/>
            </p:cNvCxnSpPr>
            <p:nvPr/>
          </p:nvCxnSpPr>
          <p:spPr>
            <a:xfrm rot="5400000" flipH="1" flipV="1">
              <a:off x="3311734" y="4510388"/>
              <a:ext cx="961147" cy="477746"/>
            </a:xfrm>
            <a:prstGeom prst="bentConnector2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연결선: 꺾임 123">
              <a:extLst>
                <a:ext uri="{FF2B5EF4-FFF2-40B4-BE49-F238E27FC236}">
                  <a16:creationId xmlns:a16="http://schemas.microsoft.com/office/drawing/2014/main" id="{9BCC79C0-53C4-2DB7-54DF-DEEC61A394E4}"/>
                </a:ext>
              </a:extLst>
            </p:cNvPr>
            <p:cNvCxnSpPr>
              <a:cxnSpLocks/>
              <a:stCxn id="93" idx="3"/>
              <a:endCxn id="102" idx="2"/>
            </p:cNvCxnSpPr>
            <p:nvPr/>
          </p:nvCxnSpPr>
          <p:spPr>
            <a:xfrm>
              <a:off x="4360382" y="5108044"/>
              <a:ext cx="665818" cy="715381"/>
            </a:xfrm>
            <a:prstGeom prst="bentConnector3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직선 연결선 129">
              <a:extLst>
                <a:ext uri="{FF2B5EF4-FFF2-40B4-BE49-F238E27FC236}">
                  <a16:creationId xmlns:a16="http://schemas.microsoft.com/office/drawing/2014/main" id="{0CFF2544-91FE-177F-F3BD-717B36E1AA95}"/>
                </a:ext>
              </a:extLst>
            </p:cNvPr>
            <p:cNvCxnSpPr>
              <a:cxnSpLocks/>
              <a:stCxn id="95" idx="1"/>
            </p:cNvCxnSpPr>
            <p:nvPr/>
          </p:nvCxnSpPr>
          <p:spPr>
            <a:xfrm>
              <a:off x="4526481" y="4124185"/>
              <a:ext cx="982042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B27B5FE9-A4A6-1DA7-9946-0080DD8562BF}"/>
                </a:ext>
              </a:extLst>
            </p:cNvPr>
            <p:cNvCxnSpPr>
              <a:cxnSpLocks/>
              <a:stCxn id="101" idx="1"/>
            </p:cNvCxnSpPr>
            <p:nvPr/>
          </p:nvCxnSpPr>
          <p:spPr>
            <a:xfrm>
              <a:off x="5409131" y="5927791"/>
              <a:ext cx="2247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D261C2F-C922-0A71-7F85-4EAA64E236A5}"/>
                </a:ext>
              </a:extLst>
            </p:cNvPr>
            <p:cNvSpPr txBox="1"/>
            <p:nvPr/>
          </p:nvSpPr>
          <p:spPr>
            <a:xfrm>
              <a:off x="5485195" y="3965722"/>
              <a:ext cx="9271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sum</a:t>
              </a:r>
              <a:endParaRPr lang="ko-KR" altLang="en-US" sz="1400" dirty="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7FBDB9D9-70AC-FA1C-0F0F-B82B5574F84A}"/>
                </a:ext>
              </a:extLst>
            </p:cNvPr>
            <p:cNvSpPr txBox="1"/>
            <p:nvPr/>
          </p:nvSpPr>
          <p:spPr>
            <a:xfrm>
              <a:off x="5579648" y="5778443"/>
              <a:ext cx="9271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Carry out</a:t>
              </a:r>
              <a:endParaRPr lang="ko-KR" altLang="en-US" sz="1400" dirty="0"/>
            </a:p>
          </p:txBody>
        </p:sp>
      </p:grpSp>
      <p:sp>
        <p:nvSpPr>
          <p:cNvPr id="139" name="왼쪽 중괄호 138">
            <a:extLst>
              <a:ext uri="{FF2B5EF4-FFF2-40B4-BE49-F238E27FC236}">
                <a16:creationId xmlns:a16="http://schemas.microsoft.com/office/drawing/2014/main" id="{DBB6207B-AC77-692E-F8B7-C5B00B6F6FA3}"/>
              </a:ext>
            </a:extLst>
          </p:cNvPr>
          <p:cNvSpPr/>
          <p:nvPr/>
        </p:nvSpPr>
        <p:spPr>
          <a:xfrm rot="5400000">
            <a:off x="2990419" y="816524"/>
            <a:ext cx="368974" cy="5463644"/>
          </a:xfrm>
          <a:prstGeom prst="leftBrace">
            <a:avLst>
              <a:gd name="adj1" fmla="val 120253"/>
              <a:gd name="adj2" fmla="val 59583"/>
            </a:avLst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053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BC3AB-D91E-3510-8B88-149EA894D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34F0C6-CDE6-E0A8-F605-C6F091B64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Popcount</a:t>
            </a:r>
            <a:r>
              <a:rPr lang="en-US" altLang="ko-KR" sz="4000" dirty="0"/>
              <a:t> </a:t>
            </a:r>
            <a:r>
              <a:rPr lang="ko-KR" altLang="en-US" sz="4000" dirty="0"/>
              <a:t>구조</a:t>
            </a:r>
          </a:p>
        </p:txBody>
      </p:sp>
      <p:grpSp>
        <p:nvGrpSpPr>
          <p:cNvPr id="341" name="그룹 340">
            <a:extLst>
              <a:ext uri="{FF2B5EF4-FFF2-40B4-BE49-F238E27FC236}">
                <a16:creationId xmlns:a16="http://schemas.microsoft.com/office/drawing/2014/main" id="{CDFE424E-D30C-6BD7-5D04-74C69D64E384}"/>
              </a:ext>
            </a:extLst>
          </p:cNvPr>
          <p:cNvGrpSpPr/>
          <p:nvPr/>
        </p:nvGrpSpPr>
        <p:grpSpPr>
          <a:xfrm>
            <a:off x="366838" y="2171897"/>
            <a:ext cx="2861092" cy="4457049"/>
            <a:chOff x="54418" y="2171897"/>
            <a:chExt cx="2861092" cy="4457049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E2D7E5FA-DD9A-FC3B-C20D-329A1F633263}"/>
                </a:ext>
              </a:extLst>
            </p:cNvPr>
            <p:cNvGrpSpPr/>
            <p:nvPr/>
          </p:nvGrpSpPr>
          <p:grpSpPr>
            <a:xfrm>
              <a:off x="144325" y="5615752"/>
              <a:ext cx="2692037" cy="1013194"/>
              <a:chOff x="289105" y="5615752"/>
              <a:chExt cx="2692037" cy="1013194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799264-CA42-E269-6EFA-9925D5D1857B}"/>
                  </a:ext>
                </a:extLst>
              </p:cNvPr>
              <p:cNvSpPr txBox="1"/>
              <p:nvPr/>
            </p:nvSpPr>
            <p:spPr>
              <a:xfrm>
                <a:off x="2054042" y="5885781"/>
                <a:ext cx="9271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S1_Sum[0]</a:t>
                </a:r>
                <a:endParaRPr lang="ko-KR" altLang="en-US" sz="1000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161ECCD-9D05-1DE1-163E-1CA5A23ABE0F}"/>
                  </a:ext>
                </a:extLst>
              </p:cNvPr>
              <p:cNvSpPr txBox="1"/>
              <p:nvPr/>
            </p:nvSpPr>
            <p:spPr>
              <a:xfrm>
                <a:off x="2054042" y="6261303"/>
                <a:ext cx="9271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S1_Cout[0]</a:t>
                </a:r>
                <a:endParaRPr lang="ko-KR" altLang="en-US" sz="1000" dirty="0"/>
              </a:p>
            </p:txBody>
          </p:sp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1C26F724-C180-6B97-AF50-73A214600F61}"/>
                  </a:ext>
                </a:extLst>
              </p:cNvPr>
              <p:cNvSpPr/>
              <p:nvPr/>
            </p:nvSpPr>
            <p:spPr>
              <a:xfrm>
                <a:off x="1228080" y="5795141"/>
                <a:ext cx="592906" cy="724514"/>
              </a:xfrm>
              <a:prstGeom prst="rect">
                <a:avLst/>
              </a:prstGeom>
              <a:solidFill>
                <a:srgbClr val="002C62"/>
              </a:solidFill>
              <a:ln>
                <a:solidFill>
                  <a:srgbClr val="002C6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Full Adder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3E0B7A-3CE3-6671-961A-D70F6C2D5413}"/>
                  </a:ext>
                </a:extLst>
              </p:cNvPr>
              <p:cNvSpPr txBox="1"/>
              <p:nvPr/>
            </p:nvSpPr>
            <p:spPr>
              <a:xfrm>
                <a:off x="289105" y="6351947"/>
                <a:ext cx="9271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Input[0]</a:t>
                </a:r>
                <a:endParaRPr lang="ko-KR" altLang="en-US" sz="1200" dirty="0"/>
              </a:p>
            </p:txBody>
          </p: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DF43CB9F-9BEA-9804-2E0E-B81C21AC9D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1627" y="6505195"/>
                <a:ext cx="296453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직선 연결선 4">
                <a:extLst>
                  <a:ext uri="{FF2B5EF4-FFF2-40B4-BE49-F238E27FC236}">
                    <a16:creationId xmlns:a16="http://schemas.microsoft.com/office/drawing/2014/main" id="{7A62C583-55F6-31B4-0C4A-B614E3AD83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7126" y="6163471"/>
                <a:ext cx="296453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56657789-0652-4235-1E6C-03204A7F39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7125" y="5802515"/>
                <a:ext cx="296453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AAA0991-1BA1-28FA-E629-959E31C907FE}"/>
                  </a:ext>
                </a:extLst>
              </p:cNvPr>
              <p:cNvSpPr txBox="1"/>
              <p:nvPr/>
            </p:nvSpPr>
            <p:spPr>
              <a:xfrm>
                <a:off x="296478" y="5987410"/>
                <a:ext cx="9271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Input[1]</a:t>
                </a:r>
                <a:endParaRPr lang="ko-KR" altLang="en-US" sz="1200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54EDF62-ADA6-48EA-D117-763955D4D896}"/>
                  </a:ext>
                </a:extLst>
              </p:cNvPr>
              <p:cNvSpPr txBox="1"/>
              <p:nvPr/>
            </p:nvSpPr>
            <p:spPr>
              <a:xfrm>
                <a:off x="296478" y="5615752"/>
                <a:ext cx="9271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Input[2]</a:t>
                </a:r>
                <a:endParaRPr lang="ko-KR" altLang="en-US" sz="1200" dirty="0"/>
              </a:p>
            </p:txBody>
          </p: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1DAB59DA-7F9E-31DB-768B-A08A015451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0987" y="6367055"/>
                <a:ext cx="296453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30F81573-FC6A-5E97-17C1-8E01DA0913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0986" y="6006099"/>
                <a:ext cx="296453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915405E-E66C-B561-C058-1C7D8C38B67F}"/>
                </a:ext>
              </a:extLst>
            </p:cNvPr>
            <p:cNvGrpSpPr/>
            <p:nvPr/>
          </p:nvGrpSpPr>
          <p:grpSpPr>
            <a:xfrm>
              <a:off x="144325" y="4572177"/>
              <a:ext cx="2692037" cy="1013194"/>
              <a:chOff x="289105" y="5615752"/>
              <a:chExt cx="2692037" cy="1013194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05C1982-B019-729E-D8C3-7717F413525D}"/>
                  </a:ext>
                </a:extLst>
              </p:cNvPr>
              <p:cNvSpPr txBox="1"/>
              <p:nvPr/>
            </p:nvSpPr>
            <p:spPr>
              <a:xfrm>
                <a:off x="2054042" y="5871032"/>
                <a:ext cx="9271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S1_Sum[1]</a:t>
                </a:r>
                <a:endParaRPr lang="ko-KR" altLang="en-US" sz="100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FB8BA69-97C4-D35B-140F-33DDE3E7EE2F}"/>
                  </a:ext>
                </a:extLst>
              </p:cNvPr>
              <p:cNvSpPr txBox="1"/>
              <p:nvPr/>
            </p:nvSpPr>
            <p:spPr>
              <a:xfrm>
                <a:off x="2054042" y="6261302"/>
                <a:ext cx="9271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S1_Cout[1]</a:t>
                </a:r>
                <a:endParaRPr lang="ko-KR" altLang="en-US" sz="1000" dirty="0"/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48FD482C-7BC7-DB8D-09A5-0D98DA5F57E8}"/>
                  </a:ext>
                </a:extLst>
              </p:cNvPr>
              <p:cNvSpPr/>
              <p:nvPr/>
            </p:nvSpPr>
            <p:spPr>
              <a:xfrm>
                <a:off x="1228080" y="5795141"/>
                <a:ext cx="592906" cy="724514"/>
              </a:xfrm>
              <a:prstGeom prst="rect">
                <a:avLst/>
              </a:prstGeom>
              <a:solidFill>
                <a:srgbClr val="002C62"/>
              </a:solidFill>
              <a:ln>
                <a:solidFill>
                  <a:srgbClr val="002C6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Full Adder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5DB0516-0DAD-ABE5-5C46-B54580F7ECDE}"/>
                  </a:ext>
                </a:extLst>
              </p:cNvPr>
              <p:cNvSpPr txBox="1"/>
              <p:nvPr/>
            </p:nvSpPr>
            <p:spPr>
              <a:xfrm>
                <a:off x="289105" y="6351947"/>
                <a:ext cx="9271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Input[3]</a:t>
                </a:r>
                <a:endParaRPr lang="ko-KR" altLang="en-US" sz="1200" dirty="0"/>
              </a:p>
            </p:txBody>
          </p: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816241A8-2682-A768-FE25-73A7C8719F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1627" y="6505195"/>
                <a:ext cx="296453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2FBB4997-50B1-6C78-54F9-EE3BB17C37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7126" y="6163471"/>
                <a:ext cx="296453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503880E6-6C97-0543-4344-EB424B671D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7125" y="5802515"/>
                <a:ext cx="296453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8B8A6FE-43C3-4F9B-D86F-66C35C87AD52}"/>
                  </a:ext>
                </a:extLst>
              </p:cNvPr>
              <p:cNvSpPr txBox="1"/>
              <p:nvPr/>
            </p:nvSpPr>
            <p:spPr>
              <a:xfrm>
                <a:off x="296478" y="5987410"/>
                <a:ext cx="9271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Input[4]</a:t>
                </a:r>
                <a:endParaRPr lang="ko-KR" altLang="en-US" sz="1200" dirty="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E72509C-006C-6333-6760-B09AED43D240}"/>
                  </a:ext>
                </a:extLst>
              </p:cNvPr>
              <p:cNvSpPr txBox="1"/>
              <p:nvPr/>
            </p:nvSpPr>
            <p:spPr>
              <a:xfrm>
                <a:off x="296478" y="5615752"/>
                <a:ext cx="9271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Input[5]</a:t>
                </a:r>
                <a:endParaRPr lang="ko-KR" altLang="en-US" sz="1200" dirty="0"/>
              </a:p>
            </p:txBody>
          </p: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9296410A-404F-CDE7-8A2C-C9A78BCE5E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0987" y="6367055"/>
                <a:ext cx="296453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58A47103-73C4-7AB2-F579-964ADDADEF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0986" y="6006099"/>
                <a:ext cx="296453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7DF8A102-204D-0638-4EFE-7462451352B9}"/>
                </a:ext>
              </a:extLst>
            </p:cNvPr>
            <p:cNvGrpSpPr/>
            <p:nvPr/>
          </p:nvGrpSpPr>
          <p:grpSpPr>
            <a:xfrm>
              <a:off x="54418" y="3215111"/>
              <a:ext cx="2861091" cy="953591"/>
              <a:chOff x="191825" y="5660270"/>
              <a:chExt cx="2861091" cy="953591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FF3667C-6F33-53EB-2757-C13E6F466A85}"/>
                  </a:ext>
                </a:extLst>
              </p:cNvPr>
              <p:cNvSpPr txBox="1"/>
              <p:nvPr/>
            </p:nvSpPr>
            <p:spPr>
              <a:xfrm>
                <a:off x="2054042" y="5871032"/>
                <a:ext cx="9271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S1_Sum[190]</a:t>
                </a:r>
                <a:endParaRPr lang="ko-KR" altLang="en-US" sz="1000" dirty="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68FB483-D33E-C950-8951-F67A83D67B54}"/>
                  </a:ext>
                </a:extLst>
              </p:cNvPr>
              <p:cNvSpPr txBox="1"/>
              <p:nvPr/>
            </p:nvSpPr>
            <p:spPr>
              <a:xfrm>
                <a:off x="2054041" y="6261302"/>
                <a:ext cx="9988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S1_Cout[190]</a:t>
                </a:r>
                <a:endParaRPr lang="ko-KR" altLang="en-US" sz="1000" dirty="0"/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E00BF488-252D-BB26-BE81-39541E796B41}"/>
                  </a:ext>
                </a:extLst>
              </p:cNvPr>
              <p:cNvSpPr/>
              <p:nvPr/>
            </p:nvSpPr>
            <p:spPr>
              <a:xfrm>
                <a:off x="1228080" y="5795141"/>
                <a:ext cx="592906" cy="724514"/>
              </a:xfrm>
              <a:prstGeom prst="rect">
                <a:avLst/>
              </a:prstGeom>
              <a:solidFill>
                <a:srgbClr val="002C62"/>
              </a:solidFill>
              <a:ln>
                <a:solidFill>
                  <a:srgbClr val="002C6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Full Adder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E32CCCA-4692-8699-D4B6-EA4B43B13156}"/>
                  </a:ext>
                </a:extLst>
              </p:cNvPr>
              <p:cNvSpPr txBox="1"/>
              <p:nvPr/>
            </p:nvSpPr>
            <p:spPr>
              <a:xfrm>
                <a:off x="198270" y="6352251"/>
                <a:ext cx="9271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dirty="0"/>
                  <a:t>Input[570]</a:t>
                </a:r>
                <a:endParaRPr lang="ko-KR" altLang="en-US" sz="1100" dirty="0"/>
              </a:p>
            </p:txBody>
          </p:sp>
          <p:cxnSp>
            <p:nvCxnSpPr>
              <p:cNvPr id="46" name="직선 연결선 45">
                <a:extLst>
                  <a:ext uri="{FF2B5EF4-FFF2-40B4-BE49-F238E27FC236}">
                    <a16:creationId xmlns:a16="http://schemas.microsoft.com/office/drawing/2014/main" id="{E6144673-606A-A66D-7A2B-779C1DA7C0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1627" y="6505195"/>
                <a:ext cx="296453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72320006-F93B-3B71-67F9-2F4714917D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7126" y="6163471"/>
                <a:ext cx="296453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398F1351-9A60-D846-3A0A-0FA884F7D0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7125" y="5802515"/>
                <a:ext cx="296453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2D2E6C2-C1E7-57FD-1BF9-9C1C2B6A5E61}"/>
                  </a:ext>
                </a:extLst>
              </p:cNvPr>
              <p:cNvSpPr txBox="1"/>
              <p:nvPr/>
            </p:nvSpPr>
            <p:spPr>
              <a:xfrm>
                <a:off x="191825" y="6016539"/>
                <a:ext cx="9271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dirty="0"/>
                  <a:t>Input[571]</a:t>
                </a:r>
                <a:endParaRPr lang="ko-KR" altLang="en-US" sz="1100" dirty="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797F853-D484-8DD1-9E1E-C8F856B719B0}"/>
                  </a:ext>
                </a:extLst>
              </p:cNvPr>
              <p:cNvSpPr txBox="1"/>
              <p:nvPr/>
            </p:nvSpPr>
            <p:spPr>
              <a:xfrm>
                <a:off x="191825" y="5660270"/>
                <a:ext cx="9271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dirty="0"/>
                  <a:t>Input[572]</a:t>
                </a:r>
                <a:endParaRPr lang="ko-KR" altLang="en-US" sz="1100" dirty="0"/>
              </a:p>
            </p:txBody>
          </p: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30AF134C-27D9-C51A-5533-33625AE9E8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0987" y="6367055"/>
                <a:ext cx="296453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56115656-DC02-AB13-39F1-E53505E035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0986" y="6006099"/>
                <a:ext cx="296453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61409FED-FE3F-49B8-4EAC-53613F6931EC}"/>
                </a:ext>
              </a:extLst>
            </p:cNvPr>
            <p:cNvGrpSpPr/>
            <p:nvPr/>
          </p:nvGrpSpPr>
          <p:grpSpPr>
            <a:xfrm>
              <a:off x="54418" y="2171897"/>
              <a:ext cx="2861092" cy="952644"/>
              <a:chOff x="184452" y="5660271"/>
              <a:chExt cx="2861092" cy="952644"/>
            </a:xfrm>
          </p:grpSpPr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CEA1C44-6AB1-845D-A0A6-A896B2BDE8BD}"/>
                  </a:ext>
                </a:extLst>
              </p:cNvPr>
              <p:cNvSpPr txBox="1"/>
              <p:nvPr/>
            </p:nvSpPr>
            <p:spPr>
              <a:xfrm>
                <a:off x="2054042" y="5871032"/>
                <a:ext cx="9271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S1_Sum[191]</a:t>
                </a:r>
                <a:endParaRPr lang="ko-KR" altLang="en-US" sz="1000" dirty="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28B082C-4978-3F80-CD43-82D1BC72621D}"/>
                  </a:ext>
                </a:extLst>
              </p:cNvPr>
              <p:cNvSpPr txBox="1"/>
              <p:nvPr/>
            </p:nvSpPr>
            <p:spPr>
              <a:xfrm>
                <a:off x="2054042" y="6261302"/>
                <a:ext cx="99150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S1_Cout[191]</a:t>
                </a:r>
                <a:endParaRPr lang="ko-KR" altLang="en-US" sz="1000" dirty="0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516DA73F-C639-8F9A-71B9-4BFD69E01C8C}"/>
                  </a:ext>
                </a:extLst>
              </p:cNvPr>
              <p:cNvSpPr/>
              <p:nvPr/>
            </p:nvSpPr>
            <p:spPr>
              <a:xfrm>
                <a:off x="1228080" y="5795141"/>
                <a:ext cx="592906" cy="724514"/>
              </a:xfrm>
              <a:prstGeom prst="rect">
                <a:avLst/>
              </a:prstGeom>
              <a:solidFill>
                <a:srgbClr val="002C62"/>
              </a:solidFill>
              <a:ln>
                <a:solidFill>
                  <a:srgbClr val="002C6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Full Adder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C256C68-2764-917C-3D3F-C960E2C00FD6}"/>
                  </a:ext>
                </a:extLst>
              </p:cNvPr>
              <p:cNvSpPr txBox="1"/>
              <p:nvPr/>
            </p:nvSpPr>
            <p:spPr>
              <a:xfrm>
                <a:off x="184452" y="6351305"/>
                <a:ext cx="9271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dirty="0"/>
                  <a:t>Input[573]</a:t>
                </a:r>
                <a:endParaRPr lang="ko-KR" altLang="en-US" sz="1100" dirty="0"/>
              </a:p>
            </p:txBody>
          </p: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BF1854AD-DB14-708B-725D-D18623B2AE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1627" y="6505195"/>
                <a:ext cx="296453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A3BC8EEA-15D0-4DE1-C068-05496B9C8A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7126" y="6163471"/>
                <a:ext cx="296453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직선 연결선 67">
                <a:extLst>
                  <a:ext uri="{FF2B5EF4-FFF2-40B4-BE49-F238E27FC236}">
                    <a16:creationId xmlns:a16="http://schemas.microsoft.com/office/drawing/2014/main" id="{7F6118E0-4AEE-5FEF-5A45-61584B15A5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7125" y="5802515"/>
                <a:ext cx="296453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0F08084-AFB0-2831-6C6A-D6FBD8AB74F9}"/>
                  </a:ext>
                </a:extLst>
              </p:cNvPr>
              <p:cNvSpPr txBox="1"/>
              <p:nvPr/>
            </p:nvSpPr>
            <p:spPr>
              <a:xfrm>
                <a:off x="184452" y="6016540"/>
                <a:ext cx="9271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dirty="0"/>
                  <a:t>Input[574]</a:t>
                </a:r>
                <a:endParaRPr lang="ko-KR" altLang="en-US" sz="1100" dirty="0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C41A7E6-D7FE-B832-FDD5-5637C2A236FD}"/>
                  </a:ext>
                </a:extLst>
              </p:cNvPr>
              <p:cNvSpPr txBox="1"/>
              <p:nvPr/>
            </p:nvSpPr>
            <p:spPr>
              <a:xfrm>
                <a:off x="184452" y="5660271"/>
                <a:ext cx="9271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dirty="0"/>
                  <a:t>Input[575]</a:t>
                </a:r>
                <a:endParaRPr lang="ko-KR" altLang="en-US" sz="1100" dirty="0"/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5CCCEFD-972B-D4FC-567A-5CB135D279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0987" y="6367055"/>
                <a:ext cx="296453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BF40EBDC-D307-EEEB-FF5E-8D62C9B237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0986" y="6006099"/>
                <a:ext cx="296453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5E6AF1E-C771-C17C-EED9-F632ADF05CCA}"/>
                </a:ext>
              </a:extLst>
            </p:cNvPr>
            <p:cNvSpPr txBox="1"/>
            <p:nvPr/>
          </p:nvSpPr>
          <p:spPr>
            <a:xfrm>
              <a:off x="1186249" y="4233829"/>
              <a:ext cx="3870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…</a:t>
              </a:r>
            </a:p>
          </p:txBody>
        </p:sp>
      </p:grp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94562040-3F2E-659F-23E5-88AEF67A33FA}"/>
              </a:ext>
            </a:extLst>
          </p:cNvPr>
          <p:cNvCxnSpPr>
            <a:cxnSpLocks/>
          </p:cNvCxnSpPr>
          <p:nvPr/>
        </p:nvCxnSpPr>
        <p:spPr>
          <a:xfrm flipV="1">
            <a:off x="289105" y="1273855"/>
            <a:ext cx="11531727" cy="596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6FA48763-150D-DE40-9D1B-C50005D90E00}"/>
              </a:ext>
            </a:extLst>
          </p:cNvPr>
          <p:cNvSpPr txBox="1"/>
          <p:nvPr/>
        </p:nvSpPr>
        <p:spPr>
          <a:xfrm>
            <a:off x="1394152" y="997786"/>
            <a:ext cx="72887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/>
              <a:t>Stage1</a:t>
            </a:r>
            <a:endParaRPr lang="ko-KR" altLang="en-US" sz="1300" b="1" dirty="0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AC593056-F0E2-DE10-EB5C-23E62F3474B4}"/>
              </a:ext>
            </a:extLst>
          </p:cNvPr>
          <p:cNvCxnSpPr>
            <a:cxnSpLocks/>
          </p:cNvCxnSpPr>
          <p:nvPr/>
        </p:nvCxnSpPr>
        <p:spPr>
          <a:xfrm flipV="1">
            <a:off x="296478" y="2064686"/>
            <a:ext cx="11531727" cy="596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C7485D7A-11CE-CAF8-B89D-642E591DF987}"/>
              </a:ext>
            </a:extLst>
          </p:cNvPr>
          <p:cNvSpPr txBox="1"/>
          <p:nvPr/>
        </p:nvSpPr>
        <p:spPr>
          <a:xfrm>
            <a:off x="904183" y="1528292"/>
            <a:ext cx="17088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100" dirty="0"/>
              <a:t>576-bit Input</a:t>
            </a:r>
          </a:p>
          <a:p>
            <a:pPr marL="171450" indent="-171450">
              <a:buFontTx/>
              <a:buChar char="-"/>
            </a:pPr>
            <a:r>
              <a:rPr lang="en-US" altLang="ko-KR" sz="1100" dirty="0"/>
              <a:t>192</a:t>
            </a:r>
            <a:r>
              <a:rPr lang="ko-KR" altLang="en-US" sz="1100" dirty="0"/>
              <a:t>개의</a:t>
            </a:r>
            <a:r>
              <a:rPr lang="en-US" altLang="ko-KR" sz="1100" dirty="0"/>
              <a:t> FA </a:t>
            </a:r>
            <a:r>
              <a:rPr lang="ko-KR" altLang="en-US" sz="1100" dirty="0"/>
              <a:t>사용</a:t>
            </a:r>
            <a:endParaRPr lang="en-US" altLang="ko-KR" sz="11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775F123-F3D2-33AF-780F-3D6BF937E356}"/>
              </a:ext>
            </a:extLst>
          </p:cNvPr>
          <p:cNvSpPr txBox="1"/>
          <p:nvPr/>
        </p:nvSpPr>
        <p:spPr>
          <a:xfrm>
            <a:off x="5534269" y="997786"/>
            <a:ext cx="72887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/>
              <a:t>Stage2</a:t>
            </a:r>
            <a:endParaRPr lang="ko-KR" altLang="en-US" sz="1300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E70A30F-0904-6D86-A0C5-E67938161ABC}"/>
              </a:ext>
            </a:extLst>
          </p:cNvPr>
          <p:cNvSpPr txBox="1"/>
          <p:nvPr/>
        </p:nvSpPr>
        <p:spPr>
          <a:xfrm>
            <a:off x="9520334" y="997786"/>
            <a:ext cx="72887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/>
              <a:t>Stage3</a:t>
            </a:r>
            <a:endParaRPr lang="ko-KR" altLang="en-US" sz="1300" b="1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AC5FAF0D-FC5A-2586-4A91-775CCD0908FE}"/>
              </a:ext>
            </a:extLst>
          </p:cNvPr>
          <p:cNvSpPr txBox="1"/>
          <p:nvPr/>
        </p:nvSpPr>
        <p:spPr>
          <a:xfrm>
            <a:off x="5022047" y="1513966"/>
            <a:ext cx="17088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100" dirty="0"/>
              <a:t>384-bit Input</a:t>
            </a:r>
          </a:p>
          <a:p>
            <a:pPr marL="171450" indent="-171450">
              <a:buFontTx/>
              <a:buChar char="-"/>
            </a:pPr>
            <a:r>
              <a:rPr lang="en-US" altLang="ko-KR" sz="1100" dirty="0"/>
              <a:t>128</a:t>
            </a:r>
            <a:r>
              <a:rPr lang="ko-KR" altLang="en-US" sz="1100" dirty="0"/>
              <a:t>개의</a:t>
            </a:r>
            <a:r>
              <a:rPr lang="en-US" altLang="ko-KR" sz="1100" dirty="0"/>
              <a:t> FA </a:t>
            </a:r>
            <a:r>
              <a:rPr lang="ko-KR" altLang="en-US" sz="1100" dirty="0"/>
              <a:t>사용</a:t>
            </a:r>
            <a:endParaRPr lang="en-US" altLang="ko-KR" sz="11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EB55A8D5-06BA-EB5D-6068-AA5695ED5DEC}"/>
              </a:ext>
            </a:extLst>
          </p:cNvPr>
          <p:cNvSpPr txBox="1"/>
          <p:nvPr/>
        </p:nvSpPr>
        <p:spPr>
          <a:xfrm>
            <a:off x="9034118" y="1482862"/>
            <a:ext cx="20483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100" dirty="0"/>
              <a:t>256-bit Input</a:t>
            </a:r>
          </a:p>
          <a:p>
            <a:pPr marL="171450" indent="-171450">
              <a:buFontTx/>
              <a:buChar char="-"/>
            </a:pPr>
            <a:r>
              <a:rPr lang="en-US" altLang="ko-KR" sz="1100" dirty="0"/>
              <a:t>85</a:t>
            </a:r>
            <a:r>
              <a:rPr lang="ko-KR" altLang="en-US" sz="1100" dirty="0"/>
              <a:t>개의</a:t>
            </a:r>
            <a:r>
              <a:rPr lang="en-US" altLang="ko-KR" sz="1100" dirty="0"/>
              <a:t> FA </a:t>
            </a:r>
            <a:r>
              <a:rPr lang="ko-KR" altLang="en-US" sz="1100" dirty="0"/>
              <a:t>사용</a:t>
            </a:r>
            <a:endParaRPr lang="en-US" altLang="ko-KR" sz="1100" dirty="0"/>
          </a:p>
        </p:txBody>
      </p:sp>
      <p:grpSp>
        <p:nvGrpSpPr>
          <p:cNvPr id="340" name="그룹 339">
            <a:extLst>
              <a:ext uri="{FF2B5EF4-FFF2-40B4-BE49-F238E27FC236}">
                <a16:creationId xmlns:a16="http://schemas.microsoft.com/office/drawing/2014/main" id="{61F93A68-A37A-4CB8-78C1-1764557DB9BE}"/>
              </a:ext>
            </a:extLst>
          </p:cNvPr>
          <p:cNvGrpSpPr/>
          <p:nvPr/>
        </p:nvGrpSpPr>
        <p:grpSpPr>
          <a:xfrm>
            <a:off x="4069241" y="2193627"/>
            <a:ext cx="3337399" cy="4406161"/>
            <a:chOff x="2773841" y="2193627"/>
            <a:chExt cx="3337399" cy="4406161"/>
          </a:xfrm>
        </p:grpSpPr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3049D70-154E-164E-4791-D3A2D79B9252}"/>
                </a:ext>
              </a:extLst>
            </p:cNvPr>
            <p:cNvSpPr txBox="1"/>
            <p:nvPr/>
          </p:nvSpPr>
          <p:spPr>
            <a:xfrm>
              <a:off x="4810078" y="5850530"/>
              <a:ext cx="11182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S2_Sum_w0[0]</a:t>
              </a:r>
              <a:endParaRPr lang="ko-KR" altLang="en-US" sz="1000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7C68EBDC-C6DD-9717-8A60-D4C84B5D1731}"/>
                </a:ext>
              </a:extLst>
            </p:cNvPr>
            <p:cNvSpPr txBox="1"/>
            <p:nvPr/>
          </p:nvSpPr>
          <p:spPr>
            <a:xfrm>
              <a:off x="4810079" y="6233426"/>
              <a:ext cx="120278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S2_Cout_w1[0]</a:t>
              </a:r>
              <a:endParaRPr lang="ko-KR" altLang="en-US" sz="1000" dirty="0"/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3ED7805D-E556-67F5-EB9A-087267C4D257}"/>
                </a:ext>
              </a:extLst>
            </p:cNvPr>
            <p:cNvSpPr/>
            <p:nvPr/>
          </p:nvSpPr>
          <p:spPr>
            <a:xfrm>
              <a:off x="3984117" y="5796761"/>
              <a:ext cx="592906" cy="724514"/>
            </a:xfrm>
            <a:prstGeom prst="rect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Full Adder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64860A0F-4E8E-F417-1EA6-1E5E58CC33F3}"/>
                </a:ext>
              </a:extLst>
            </p:cNvPr>
            <p:cNvSpPr txBox="1"/>
            <p:nvPr/>
          </p:nvSpPr>
          <p:spPr>
            <a:xfrm>
              <a:off x="2953702" y="6353567"/>
              <a:ext cx="927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S1_Sum[0]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cxnSp>
          <p:nvCxnSpPr>
            <p:cNvPr id="110" name="직선 연결선 109">
              <a:extLst>
                <a:ext uri="{FF2B5EF4-FFF2-40B4-BE49-F238E27FC236}">
                  <a16:creationId xmlns:a16="http://schemas.microsoft.com/office/drawing/2014/main" id="{010115C0-604D-ECF5-E03B-1BB7B1C3947F}"/>
                </a:ext>
              </a:extLst>
            </p:cNvPr>
            <p:cNvCxnSpPr>
              <a:cxnSpLocks/>
            </p:cNvCxnSpPr>
            <p:nvPr/>
          </p:nvCxnSpPr>
          <p:spPr>
            <a:xfrm>
              <a:off x="3687664" y="6506815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AA70E4F6-C636-4923-DCEE-F5B57235C228}"/>
                </a:ext>
              </a:extLst>
            </p:cNvPr>
            <p:cNvCxnSpPr>
              <a:cxnSpLocks/>
            </p:cNvCxnSpPr>
            <p:nvPr/>
          </p:nvCxnSpPr>
          <p:spPr>
            <a:xfrm>
              <a:off x="3683163" y="6165091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5786EB23-7B23-48BC-B286-BABABD391703}"/>
                </a:ext>
              </a:extLst>
            </p:cNvPr>
            <p:cNvCxnSpPr>
              <a:cxnSpLocks/>
            </p:cNvCxnSpPr>
            <p:nvPr/>
          </p:nvCxnSpPr>
          <p:spPr>
            <a:xfrm>
              <a:off x="3683162" y="5804135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F88A25EF-AA6E-043E-6712-B67AC704A9B7}"/>
                </a:ext>
              </a:extLst>
            </p:cNvPr>
            <p:cNvSpPr txBox="1"/>
            <p:nvPr/>
          </p:nvSpPr>
          <p:spPr>
            <a:xfrm>
              <a:off x="2945090" y="6028475"/>
              <a:ext cx="927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ko-KR" sz="1000" dirty="0">
                  <a:solidFill>
                    <a:prstClr val="black"/>
                  </a:solidFill>
                </a:rPr>
                <a:t>S1_Sum[1]</a:t>
              </a:r>
              <a:endParaRPr lang="ko-KR" altLang="en-US" sz="1000" dirty="0">
                <a:solidFill>
                  <a:prstClr val="black"/>
                </a:solidFill>
              </a:endParaRPr>
            </a:p>
          </p:txBody>
        </p: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7999D6E5-C487-A622-CCE5-F30AD4B28ACC}"/>
                </a:ext>
              </a:extLst>
            </p:cNvPr>
            <p:cNvCxnSpPr>
              <a:cxnSpLocks/>
            </p:cNvCxnSpPr>
            <p:nvPr/>
          </p:nvCxnSpPr>
          <p:spPr>
            <a:xfrm>
              <a:off x="4577024" y="6368675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E4DDB6A5-5856-D48F-3EE6-8BC62C644240}"/>
                </a:ext>
              </a:extLst>
            </p:cNvPr>
            <p:cNvCxnSpPr>
              <a:cxnSpLocks/>
            </p:cNvCxnSpPr>
            <p:nvPr/>
          </p:nvCxnSpPr>
          <p:spPr>
            <a:xfrm>
              <a:off x="4577023" y="6007719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18AA1FDF-D064-7FA4-F4DB-B8ACD662DC27}"/>
                </a:ext>
              </a:extLst>
            </p:cNvPr>
            <p:cNvSpPr txBox="1"/>
            <p:nvPr/>
          </p:nvSpPr>
          <p:spPr>
            <a:xfrm>
              <a:off x="4810079" y="4829077"/>
              <a:ext cx="120278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S2_Sum_w0[63]</a:t>
              </a:r>
              <a:endParaRPr lang="ko-KR" altLang="en-US" sz="1000" dirty="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FC0596D-B2F0-BCAA-C34A-4FB7EB910DF5}"/>
                </a:ext>
              </a:extLst>
            </p:cNvPr>
            <p:cNvSpPr txBox="1"/>
            <p:nvPr/>
          </p:nvSpPr>
          <p:spPr>
            <a:xfrm>
              <a:off x="4810079" y="5197225"/>
              <a:ext cx="120278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S2_Cout_w1[63]</a:t>
              </a:r>
              <a:endParaRPr lang="ko-KR" altLang="en-US" sz="1000" dirty="0"/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13E7F46F-EDA9-8D25-CB1E-75DF1BBFFDD9}"/>
                </a:ext>
              </a:extLst>
            </p:cNvPr>
            <p:cNvSpPr/>
            <p:nvPr/>
          </p:nvSpPr>
          <p:spPr>
            <a:xfrm>
              <a:off x="3984117" y="4753186"/>
              <a:ext cx="592906" cy="724514"/>
            </a:xfrm>
            <a:prstGeom prst="rect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Full Adder</a:t>
              </a:r>
            </a:p>
          </p:txBody>
        </p: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8D3D2FAC-4C9C-B153-BA4D-8339F45F5698}"/>
                </a:ext>
              </a:extLst>
            </p:cNvPr>
            <p:cNvCxnSpPr>
              <a:cxnSpLocks/>
            </p:cNvCxnSpPr>
            <p:nvPr/>
          </p:nvCxnSpPr>
          <p:spPr>
            <a:xfrm>
              <a:off x="3687664" y="5463240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F715E37D-9037-8E04-E322-1AFB1E090752}"/>
                </a:ext>
              </a:extLst>
            </p:cNvPr>
            <p:cNvCxnSpPr>
              <a:cxnSpLocks/>
            </p:cNvCxnSpPr>
            <p:nvPr/>
          </p:nvCxnSpPr>
          <p:spPr>
            <a:xfrm>
              <a:off x="3683163" y="5121516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직선 연결선 130">
              <a:extLst>
                <a:ext uri="{FF2B5EF4-FFF2-40B4-BE49-F238E27FC236}">
                  <a16:creationId xmlns:a16="http://schemas.microsoft.com/office/drawing/2014/main" id="{04E76B9A-97E9-0AB6-426F-6E86A9C03143}"/>
                </a:ext>
              </a:extLst>
            </p:cNvPr>
            <p:cNvCxnSpPr>
              <a:cxnSpLocks/>
            </p:cNvCxnSpPr>
            <p:nvPr/>
          </p:nvCxnSpPr>
          <p:spPr>
            <a:xfrm>
              <a:off x="3683162" y="4760560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78D33366-816C-C1F9-F1C4-A6EA6E8A1735}"/>
                </a:ext>
              </a:extLst>
            </p:cNvPr>
            <p:cNvCxnSpPr>
              <a:cxnSpLocks/>
            </p:cNvCxnSpPr>
            <p:nvPr/>
          </p:nvCxnSpPr>
          <p:spPr>
            <a:xfrm>
              <a:off x="4577024" y="5325100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C205FD8C-5E00-1036-E0B2-F78944EBD55B}"/>
                </a:ext>
              </a:extLst>
            </p:cNvPr>
            <p:cNvCxnSpPr>
              <a:cxnSpLocks/>
            </p:cNvCxnSpPr>
            <p:nvPr/>
          </p:nvCxnSpPr>
          <p:spPr>
            <a:xfrm>
              <a:off x="4577023" y="4964144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4D48EFA-552B-8E5C-6C48-5844AA587DA6}"/>
                </a:ext>
              </a:extLst>
            </p:cNvPr>
            <p:cNvSpPr txBox="1"/>
            <p:nvPr/>
          </p:nvSpPr>
          <p:spPr>
            <a:xfrm>
              <a:off x="4817452" y="3427493"/>
              <a:ext cx="128360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S2_Sum_w1[0]</a:t>
              </a:r>
              <a:endParaRPr lang="ko-KR" altLang="en-US" sz="1000" dirty="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39584976-C6E5-35D6-26AC-85FFB9F6B30F}"/>
                </a:ext>
              </a:extLst>
            </p:cNvPr>
            <p:cNvSpPr txBox="1"/>
            <p:nvPr/>
          </p:nvSpPr>
          <p:spPr>
            <a:xfrm>
              <a:off x="4817452" y="3795641"/>
              <a:ext cx="12937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S2_Cout_w1[0]</a:t>
              </a:r>
              <a:endParaRPr lang="ko-KR" altLang="en-US" sz="1000" dirty="0"/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CC5BA7F7-DEEA-A62B-EEB2-D627C258F772}"/>
                </a:ext>
              </a:extLst>
            </p:cNvPr>
            <p:cNvSpPr/>
            <p:nvPr/>
          </p:nvSpPr>
          <p:spPr>
            <a:xfrm>
              <a:off x="3991490" y="3351602"/>
              <a:ext cx="592906" cy="724514"/>
            </a:xfrm>
            <a:prstGeom prst="rect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Full Adder</a:t>
              </a:r>
            </a:p>
          </p:txBody>
        </p: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F0411149-F28C-5896-47C4-DA0059EAC615}"/>
                </a:ext>
              </a:extLst>
            </p:cNvPr>
            <p:cNvCxnSpPr>
              <a:cxnSpLocks/>
            </p:cNvCxnSpPr>
            <p:nvPr/>
          </p:nvCxnSpPr>
          <p:spPr>
            <a:xfrm>
              <a:off x="3695037" y="4061656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2D7998B2-A8E6-8D83-9375-5AB1FF68E22A}"/>
                </a:ext>
              </a:extLst>
            </p:cNvPr>
            <p:cNvCxnSpPr>
              <a:cxnSpLocks/>
            </p:cNvCxnSpPr>
            <p:nvPr/>
          </p:nvCxnSpPr>
          <p:spPr>
            <a:xfrm>
              <a:off x="3690536" y="3719932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8BB17D1A-926C-C554-1F4A-7FC2FF31D5C0}"/>
                </a:ext>
              </a:extLst>
            </p:cNvPr>
            <p:cNvCxnSpPr>
              <a:cxnSpLocks/>
            </p:cNvCxnSpPr>
            <p:nvPr/>
          </p:nvCxnSpPr>
          <p:spPr>
            <a:xfrm>
              <a:off x="3690535" y="3358976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직선 연결선 150">
              <a:extLst>
                <a:ext uri="{FF2B5EF4-FFF2-40B4-BE49-F238E27FC236}">
                  <a16:creationId xmlns:a16="http://schemas.microsoft.com/office/drawing/2014/main" id="{14637D8D-8356-A32D-95F4-610C7CC731B2}"/>
                </a:ext>
              </a:extLst>
            </p:cNvPr>
            <p:cNvCxnSpPr>
              <a:cxnSpLocks/>
            </p:cNvCxnSpPr>
            <p:nvPr/>
          </p:nvCxnSpPr>
          <p:spPr>
            <a:xfrm>
              <a:off x="4584397" y="3923516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4E2F5337-654C-A470-8E25-94931533CB34}"/>
                </a:ext>
              </a:extLst>
            </p:cNvPr>
            <p:cNvCxnSpPr>
              <a:cxnSpLocks/>
            </p:cNvCxnSpPr>
            <p:nvPr/>
          </p:nvCxnSpPr>
          <p:spPr>
            <a:xfrm>
              <a:off x="4584396" y="3562560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5925CA96-EB1B-FF8A-091D-4787C48C4C43}"/>
                </a:ext>
              </a:extLst>
            </p:cNvPr>
            <p:cNvSpPr txBox="1"/>
            <p:nvPr/>
          </p:nvSpPr>
          <p:spPr>
            <a:xfrm>
              <a:off x="4087066" y="4235449"/>
              <a:ext cx="3870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…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A4BB29BB-EF56-6EFD-19DB-BC4C52433CF4}"/>
                </a:ext>
              </a:extLst>
            </p:cNvPr>
            <p:cNvSpPr txBox="1"/>
            <p:nvPr/>
          </p:nvSpPr>
          <p:spPr>
            <a:xfrm>
              <a:off x="4827632" y="2367320"/>
              <a:ext cx="12836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S2_Sum_w1[63]</a:t>
              </a:r>
              <a:endParaRPr lang="ko-KR" altLang="en-US" sz="1000" dirty="0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EB5FBCD2-D040-667A-25DB-2BEABFF72848}"/>
                </a:ext>
              </a:extLst>
            </p:cNvPr>
            <p:cNvSpPr txBox="1"/>
            <p:nvPr/>
          </p:nvSpPr>
          <p:spPr>
            <a:xfrm>
              <a:off x="4827633" y="2735468"/>
              <a:ext cx="11852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S2_Cout_w2[63]</a:t>
              </a:r>
              <a:endParaRPr lang="ko-KR" altLang="en-US" sz="1000" dirty="0"/>
            </a:p>
          </p:txBody>
        </p:sp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5AFCB36A-0504-B474-30CC-D114D8F4E06F}"/>
                </a:ext>
              </a:extLst>
            </p:cNvPr>
            <p:cNvSpPr/>
            <p:nvPr/>
          </p:nvSpPr>
          <p:spPr>
            <a:xfrm>
              <a:off x="4001671" y="2291429"/>
              <a:ext cx="592906" cy="724514"/>
            </a:xfrm>
            <a:prstGeom prst="rect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Full Adder</a:t>
              </a:r>
            </a:p>
          </p:txBody>
        </p:sp>
        <p:cxnSp>
          <p:nvCxnSpPr>
            <p:cNvPr id="174" name="직선 연결선 173">
              <a:extLst>
                <a:ext uri="{FF2B5EF4-FFF2-40B4-BE49-F238E27FC236}">
                  <a16:creationId xmlns:a16="http://schemas.microsoft.com/office/drawing/2014/main" id="{18499C0F-749E-D7CE-B362-0EB0708ACF53}"/>
                </a:ext>
              </a:extLst>
            </p:cNvPr>
            <p:cNvCxnSpPr>
              <a:cxnSpLocks/>
            </p:cNvCxnSpPr>
            <p:nvPr/>
          </p:nvCxnSpPr>
          <p:spPr>
            <a:xfrm>
              <a:off x="3705218" y="3001483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CED2AE02-3050-041A-2A01-0BCE56D7505F}"/>
                </a:ext>
              </a:extLst>
            </p:cNvPr>
            <p:cNvCxnSpPr>
              <a:cxnSpLocks/>
            </p:cNvCxnSpPr>
            <p:nvPr/>
          </p:nvCxnSpPr>
          <p:spPr>
            <a:xfrm>
              <a:off x="3700717" y="2659759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직선 연결선 175">
              <a:extLst>
                <a:ext uri="{FF2B5EF4-FFF2-40B4-BE49-F238E27FC236}">
                  <a16:creationId xmlns:a16="http://schemas.microsoft.com/office/drawing/2014/main" id="{78C02671-78FE-2809-0B1A-0F7DCF445DB8}"/>
                </a:ext>
              </a:extLst>
            </p:cNvPr>
            <p:cNvCxnSpPr>
              <a:cxnSpLocks/>
            </p:cNvCxnSpPr>
            <p:nvPr/>
          </p:nvCxnSpPr>
          <p:spPr>
            <a:xfrm>
              <a:off x="3700716" y="2298803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직선 연결선 178">
              <a:extLst>
                <a:ext uri="{FF2B5EF4-FFF2-40B4-BE49-F238E27FC236}">
                  <a16:creationId xmlns:a16="http://schemas.microsoft.com/office/drawing/2014/main" id="{D364A049-C369-713F-7B03-B28435CFE618}"/>
                </a:ext>
              </a:extLst>
            </p:cNvPr>
            <p:cNvCxnSpPr>
              <a:cxnSpLocks/>
            </p:cNvCxnSpPr>
            <p:nvPr/>
          </p:nvCxnSpPr>
          <p:spPr>
            <a:xfrm>
              <a:off x="4594578" y="2863343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직선 연결선 179">
              <a:extLst>
                <a:ext uri="{FF2B5EF4-FFF2-40B4-BE49-F238E27FC236}">
                  <a16:creationId xmlns:a16="http://schemas.microsoft.com/office/drawing/2014/main" id="{9E51F9D2-8150-226B-BFC8-6BC60EB7FD3F}"/>
                </a:ext>
              </a:extLst>
            </p:cNvPr>
            <p:cNvCxnSpPr>
              <a:cxnSpLocks/>
            </p:cNvCxnSpPr>
            <p:nvPr/>
          </p:nvCxnSpPr>
          <p:spPr>
            <a:xfrm>
              <a:off x="4594577" y="2502387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339D5DC0-FA61-F4AE-08A3-9869E5836819}"/>
                </a:ext>
              </a:extLst>
            </p:cNvPr>
            <p:cNvSpPr txBox="1"/>
            <p:nvPr/>
          </p:nvSpPr>
          <p:spPr>
            <a:xfrm>
              <a:off x="2940489" y="5681024"/>
              <a:ext cx="927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S1_Sum[2]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38DD325D-519C-0CD1-2FA3-CD65B2F8AE68}"/>
                </a:ext>
              </a:extLst>
            </p:cNvPr>
            <p:cNvSpPr txBox="1"/>
            <p:nvPr/>
          </p:nvSpPr>
          <p:spPr>
            <a:xfrm>
              <a:off x="4083945" y="5439268"/>
              <a:ext cx="3870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…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51E3B433-4F04-9520-2348-C4ACA62E6C6D}"/>
                </a:ext>
              </a:extLst>
            </p:cNvPr>
            <p:cNvSpPr txBox="1"/>
            <p:nvPr/>
          </p:nvSpPr>
          <p:spPr>
            <a:xfrm>
              <a:off x="4104620" y="2994109"/>
              <a:ext cx="3870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…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DB1C86F3-7226-EF9D-B101-0EAEA5D88F0E}"/>
                </a:ext>
              </a:extLst>
            </p:cNvPr>
            <p:cNvSpPr txBox="1"/>
            <p:nvPr/>
          </p:nvSpPr>
          <p:spPr>
            <a:xfrm>
              <a:off x="2807846" y="5304427"/>
              <a:ext cx="927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S1_Sum[189]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DBC3F2BF-5488-76F5-9CC5-FAE937ED2983}"/>
                </a:ext>
              </a:extLst>
            </p:cNvPr>
            <p:cNvSpPr txBox="1"/>
            <p:nvPr/>
          </p:nvSpPr>
          <p:spPr>
            <a:xfrm>
              <a:off x="2799234" y="4979335"/>
              <a:ext cx="927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ko-KR" sz="1000" dirty="0">
                  <a:solidFill>
                    <a:prstClr val="black"/>
                  </a:solidFill>
                </a:rPr>
                <a:t>S1_Sum[190]</a:t>
              </a:r>
              <a:endParaRPr lang="ko-KR" altLang="en-US" sz="1000" dirty="0">
                <a:solidFill>
                  <a:prstClr val="black"/>
                </a:solidFill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6AAB32A0-F46F-F24E-46BA-0787839DA917}"/>
                </a:ext>
              </a:extLst>
            </p:cNvPr>
            <p:cNvSpPr txBox="1"/>
            <p:nvPr/>
          </p:nvSpPr>
          <p:spPr>
            <a:xfrm>
              <a:off x="2794633" y="4631884"/>
              <a:ext cx="927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S1_Sum[191]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5A5FCFFE-50F9-BC09-3A9F-613B8C649B54}"/>
                </a:ext>
              </a:extLst>
            </p:cNvPr>
            <p:cNvSpPr txBox="1"/>
            <p:nvPr/>
          </p:nvSpPr>
          <p:spPr>
            <a:xfrm>
              <a:off x="2932911" y="3915310"/>
              <a:ext cx="927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S1_Cout[0]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E34D367F-AD9F-6D3F-17E2-76DA5DF757A5}"/>
                </a:ext>
              </a:extLst>
            </p:cNvPr>
            <p:cNvSpPr txBox="1"/>
            <p:nvPr/>
          </p:nvSpPr>
          <p:spPr>
            <a:xfrm>
              <a:off x="2909059" y="3590218"/>
              <a:ext cx="927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ko-KR" sz="1000" dirty="0">
                  <a:solidFill>
                    <a:prstClr val="black"/>
                  </a:solidFill>
                </a:rPr>
                <a:t>S1_ Cout[1]</a:t>
              </a:r>
              <a:endParaRPr lang="ko-KR" altLang="en-US" sz="1000" dirty="0">
                <a:solidFill>
                  <a:prstClr val="black"/>
                </a:solidFill>
              </a:endParaRP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CCD52B55-1CF4-205C-4442-49EBBB56DDF5}"/>
                </a:ext>
              </a:extLst>
            </p:cNvPr>
            <p:cNvSpPr txBox="1"/>
            <p:nvPr/>
          </p:nvSpPr>
          <p:spPr>
            <a:xfrm>
              <a:off x="2904458" y="3242767"/>
              <a:ext cx="927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ko-KR" sz="1000" dirty="0">
                  <a:solidFill>
                    <a:prstClr val="black"/>
                  </a:solidFill>
                </a:rPr>
                <a:t>S1_ Cout[</a:t>
              </a: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2]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4BFD2B84-A5C0-4FC8-A6FB-09A03E807842}"/>
                </a:ext>
              </a:extLst>
            </p:cNvPr>
            <p:cNvSpPr txBox="1"/>
            <p:nvPr/>
          </p:nvSpPr>
          <p:spPr>
            <a:xfrm>
              <a:off x="2787054" y="2866170"/>
              <a:ext cx="9825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ko-KR" sz="1000" dirty="0">
                  <a:solidFill>
                    <a:prstClr val="black"/>
                  </a:solidFill>
                </a:rPr>
                <a:t>S1_ Cout[</a:t>
              </a: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189]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4566A7F5-B14E-F11F-920E-69E2D3E6ECEA}"/>
                </a:ext>
              </a:extLst>
            </p:cNvPr>
            <p:cNvSpPr txBox="1"/>
            <p:nvPr/>
          </p:nvSpPr>
          <p:spPr>
            <a:xfrm>
              <a:off x="2778442" y="2541078"/>
              <a:ext cx="98255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ko-KR" sz="1000" dirty="0">
                  <a:solidFill>
                    <a:prstClr val="black"/>
                  </a:solidFill>
                </a:rPr>
                <a:t>S1_ Cout[190]</a:t>
              </a:r>
              <a:endParaRPr lang="ko-KR" altLang="en-US" sz="1000" dirty="0">
                <a:solidFill>
                  <a:prstClr val="black"/>
                </a:solidFill>
              </a:endParaRP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AD28C2AA-6EC4-0BD3-9DC6-744A2467F8E8}"/>
                </a:ext>
              </a:extLst>
            </p:cNvPr>
            <p:cNvSpPr txBox="1"/>
            <p:nvPr/>
          </p:nvSpPr>
          <p:spPr>
            <a:xfrm>
              <a:off x="2773841" y="2193627"/>
              <a:ext cx="98715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ko-KR" sz="1000" dirty="0">
                  <a:solidFill>
                    <a:prstClr val="black"/>
                  </a:solidFill>
                </a:rPr>
                <a:t>S1_ Cout[</a:t>
              </a: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191]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ABE3AEE3-4A2C-3E3D-F42E-E38708D2BD3B}"/>
              </a:ext>
            </a:extLst>
          </p:cNvPr>
          <p:cNvGrpSpPr/>
          <p:nvPr/>
        </p:nvGrpSpPr>
        <p:grpSpPr>
          <a:xfrm>
            <a:off x="8216073" y="2184636"/>
            <a:ext cx="3337399" cy="4406161"/>
            <a:chOff x="2994821" y="2193627"/>
            <a:chExt cx="3337399" cy="4406161"/>
          </a:xfrm>
        </p:grpSpPr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F0477D27-E3FA-9E86-91F6-4ECA99257516}"/>
                </a:ext>
              </a:extLst>
            </p:cNvPr>
            <p:cNvSpPr txBox="1"/>
            <p:nvPr/>
          </p:nvSpPr>
          <p:spPr>
            <a:xfrm>
              <a:off x="5031058" y="5850530"/>
              <a:ext cx="111828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/>
                <a:t>S2_Sum_w0[0]</a:t>
              </a:r>
              <a:endParaRPr lang="ko-KR" altLang="en-US" sz="1100" dirty="0"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90B15991-C6D8-E0BC-5149-6DA80C3CC9B8}"/>
                </a:ext>
              </a:extLst>
            </p:cNvPr>
            <p:cNvSpPr txBox="1"/>
            <p:nvPr/>
          </p:nvSpPr>
          <p:spPr>
            <a:xfrm>
              <a:off x="5031059" y="6233426"/>
              <a:ext cx="120278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/>
                <a:t>S2_Cout_w1[0]</a:t>
              </a:r>
              <a:endParaRPr lang="ko-KR" altLang="en-US" sz="1100" dirty="0"/>
            </a:p>
          </p:txBody>
        </p:sp>
        <p:sp>
          <p:nvSpPr>
            <p:cNvPr id="199" name="직사각형 198">
              <a:extLst>
                <a:ext uri="{FF2B5EF4-FFF2-40B4-BE49-F238E27FC236}">
                  <a16:creationId xmlns:a16="http://schemas.microsoft.com/office/drawing/2014/main" id="{9059E428-E254-51CE-1348-269BF95E5F44}"/>
                </a:ext>
              </a:extLst>
            </p:cNvPr>
            <p:cNvSpPr/>
            <p:nvPr/>
          </p:nvSpPr>
          <p:spPr>
            <a:xfrm>
              <a:off x="4205097" y="5796761"/>
              <a:ext cx="592906" cy="724514"/>
            </a:xfrm>
            <a:prstGeom prst="rect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Full Adder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1C94405C-F68F-3725-36E0-4E4092EF625D}"/>
                </a:ext>
              </a:extLst>
            </p:cNvPr>
            <p:cNvSpPr txBox="1"/>
            <p:nvPr/>
          </p:nvSpPr>
          <p:spPr>
            <a:xfrm>
              <a:off x="3174682" y="6353567"/>
              <a:ext cx="927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S1_Sum[0]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cxnSp>
          <p:nvCxnSpPr>
            <p:cNvPr id="201" name="직선 연결선 200">
              <a:extLst>
                <a:ext uri="{FF2B5EF4-FFF2-40B4-BE49-F238E27FC236}">
                  <a16:creationId xmlns:a16="http://schemas.microsoft.com/office/drawing/2014/main" id="{929A1630-54B1-5733-EBC6-B4170C786561}"/>
                </a:ext>
              </a:extLst>
            </p:cNvPr>
            <p:cNvCxnSpPr>
              <a:cxnSpLocks/>
            </p:cNvCxnSpPr>
            <p:nvPr/>
          </p:nvCxnSpPr>
          <p:spPr>
            <a:xfrm>
              <a:off x="3908644" y="6506815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직선 연결선 201">
              <a:extLst>
                <a:ext uri="{FF2B5EF4-FFF2-40B4-BE49-F238E27FC236}">
                  <a16:creationId xmlns:a16="http://schemas.microsoft.com/office/drawing/2014/main" id="{2F1AC53B-2C18-1CDC-FE94-F4A6BC582087}"/>
                </a:ext>
              </a:extLst>
            </p:cNvPr>
            <p:cNvCxnSpPr>
              <a:cxnSpLocks/>
            </p:cNvCxnSpPr>
            <p:nvPr/>
          </p:nvCxnSpPr>
          <p:spPr>
            <a:xfrm>
              <a:off x="3904143" y="6165091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직선 연결선 202">
              <a:extLst>
                <a:ext uri="{FF2B5EF4-FFF2-40B4-BE49-F238E27FC236}">
                  <a16:creationId xmlns:a16="http://schemas.microsoft.com/office/drawing/2014/main" id="{8ED2E861-9095-A7D1-D261-D2D349DC7173}"/>
                </a:ext>
              </a:extLst>
            </p:cNvPr>
            <p:cNvCxnSpPr>
              <a:cxnSpLocks/>
            </p:cNvCxnSpPr>
            <p:nvPr/>
          </p:nvCxnSpPr>
          <p:spPr>
            <a:xfrm>
              <a:off x="3904142" y="5804135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051B13A2-AED8-E5DD-27BB-31226DACF2DE}"/>
                </a:ext>
              </a:extLst>
            </p:cNvPr>
            <p:cNvSpPr txBox="1"/>
            <p:nvPr/>
          </p:nvSpPr>
          <p:spPr>
            <a:xfrm>
              <a:off x="3166070" y="6028475"/>
              <a:ext cx="927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ko-KR" sz="1000" dirty="0">
                  <a:solidFill>
                    <a:prstClr val="black"/>
                  </a:solidFill>
                </a:rPr>
                <a:t>S1_Sum[1]</a:t>
              </a:r>
              <a:endParaRPr lang="ko-KR" altLang="en-US" sz="1000" dirty="0">
                <a:solidFill>
                  <a:prstClr val="black"/>
                </a:solidFill>
              </a:endParaRPr>
            </a:p>
          </p:txBody>
        </p: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04F1A6AC-F285-A55E-9A4A-B0E5403E6117}"/>
                </a:ext>
              </a:extLst>
            </p:cNvPr>
            <p:cNvCxnSpPr>
              <a:cxnSpLocks/>
            </p:cNvCxnSpPr>
            <p:nvPr/>
          </p:nvCxnSpPr>
          <p:spPr>
            <a:xfrm>
              <a:off x="4798004" y="6368675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직선 연결선 205">
              <a:extLst>
                <a:ext uri="{FF2B5EF4-FFF2-40B4-BE49-F238E27FC236}">
                  <a16:creationId xmlns:a16="http://schemas.microsoft.com/office/drawing/2014/main" id="{C29326E0-E104-2581-7827-484CF783038F}"/>
                </a:ext>
              </a:extLst>
            </p:cNvPr>
            <p:cNvCxnSpPr>
              <a:cxnSpLocks/>
            </p:cNvCxnSpPr>
            <p:nvPr/>
          </p:nvCxnSpPr>
          <p:spPr>
            <a:xfrm>
              <a:off x="4798003" y="6007719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61E5678E-DF90-2101-19C1-0E87D11CDB23}"/>
                </a:ext>
              </a:extLst>
            </p:cNvPr>
            <p:cNvSpPr txBox="1"/>
            <p:nvPr/>
          </p:nvSpPr>
          <p:spPr>
            <a:xfrm>
              <a:off x="5031059" y="4829077"/>
              <a:ext cx="120278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/>
                <a:t>S2_Sum_w0[63]</a:t>
              </a:r>
              <a:endParaRPr lang="ko-KR" altLang="en-US" sz="1100" dirty="0"/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6ADFF9C8-9844-712E-BF75-EA81E9C272F0}"/>
                </a:ext>
              </a:extLst>
            </p:cNvPr>
            <p:cNvSpPr txBox="1"/>
            <p:nvPr/>
          </p:nvSpPr>
          <p:spPr>
            <a:xfrm>
              <a:off x="5031059" y="5197225"/>
              <a:ext cx="120278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/>
                <a:t>S2_Cout_w1[63]</a:t>
              </a:r>
              <a:endParaRPr lang="ko-KR" altLang="en-US" sz="1100" dirty="0"/>
            </a:p>
          </p:txBody>
        </p:sp>
        <p:sp>
          <p:nvSpPr>
            <p:cNvPr id="209" name="직사각형 208">
              <a:extLst>
                <a:ext uri="{FF2B5EF4-FFF2-40B4-BE49-F238E27FC236}">
                  <a16:creationId xmlns:a16="http://schemas.microsoft.com/office/drawing/2014/main" id="{EDC7C6C9-729F-B17F-53E5-1507E17958D8}"/>
                </a:ext>
              </a:extLst>
            </p:cNvPr>
            <p:cNvSpPr/>
            <p:nvPr/>
          </p:nvSpPr>
          <p:spPr>
            <a:xfrm>
              <a:off x="4205097" y="4753186"/>
              <a:ext cx="592906" cy="724514"/>
            </a:xfrm>
            <a:prstGeom prst="rect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Full Adder</a:t>
              </a:r>
            </a:p>
          </p:txBody>
        </p:sp>
        <p:cxnSp>
          <p:nvCxnSpPr>
            <p:cNvPr id="210" name="직선 연결선 209">
              <a:extLst>
                <a:ext uri="{FF2B5EF4-FFF2-40B4-BE49-F238E27FC236}">
                  <a16:creationId xmlns:a16="http://schemas.microsoft.com/office/drawing/2014/main" id="{2889BAD2-4163-4883-30A2-1F0C708697F6}"/>
                </a:ext>
              </a:extLst>
            </p:cNvPr>
            <p:cNvCxnSpPr>
              <a:cxnSpLocks/>
            </p:cNvCxnSpPr>
            <p:nvPr/>
          </p:nvCxnSpPr>
          <p:spPr>
            <a:xfrm>
              <a:off x="3908644" y="5463240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직선 연결선 210">
              <a:extLst>
                <a:ext uri="{FF2B5EF4-FFF2-40B4-BE49-F238E27FC236}">
                  <a16:creationId xmlns:a16="http://schemas.microsoft.com/office/drawing/2014/main" id="{EBF9FD22-34D9-7EA5-D214-F87E0C8C6C84}"/>
                </a:ext>
              </a:extLst>
            </p:cNvPr>
            <p:cNvCxnSpPr>
              <a:cxnSpLocks/>
            </p:cNvCxnSpPr>
            <p:nvPr/>
          </p:nvCxnSpPr>
          <p:spPr>
            <a:xfrm>
              <a:off x="3904143" y="5121516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직선 연결선 211">
              <a:extLst>
                <a:ext uri="{FF2B5EF4-FFF2-40B4-BE49-F238E27FC236}">
                  <a16:creationId xmlns:a16="http://schemas.microsoft.com/office/drawing/2014/main" id="{F1AFB6D5-4DCB-835A-36F2-73076449F9D9}"/>
                </a:ext>
              </a:extLst>
            </p:cNvPr>
            <p:cNvCxnSpPr>
              <a:cxnSpLocks/>
            </p:cNvCxnSpPr>
            <p:nvPr/>
          </p:nvCxnSpPr>
          <p:spPr>
            <a:xfrm>
              <a:off x="3904142" y="4760560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직선 연결선 212">
              <a:extLst>
                <a:ext uri="{FF2B5EF4-FFF2-40B4-BE49-F238E27FC236}">
                  <a16:creationId xmlns:a16="http://schemas.microsoft.com/office/drawing/2014/main" id="{C635C1F2-C9EF-6271-7EB7-5F2EC99D4160}"/>
                </a:ext>
              </a:extLst>
            </p:cNvPr>
            <p:cNvCxnSpPr>
              <a:cxnSpLocks/>
            </p:cNvCxnSpPr>
            <p:nvPr/>
          </p:nvCxnSpPr>
          <p:spPr>
            <a:xfrm>
              <a:off x="4798004" y="5325100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직선 연결선 213">
              <a:extLst>
                <a:ext uri="{FF2B5EF4-FFF2-40B4-BE49-F238E27FC236}">
                  <a16:creationId xmlns:a16="http://schemas.microsoft.com/office/drawing/2014/main" id="{3B338D7F-FA72-61DE-7196-5BA59D0CF3E8}"/>
                </a:ext>
              </a:extLst>
            </p:cNvPr>
            <p:cNvCxnSpPr>
              <a:cxnSpLocks/>
            </p:cNvCxnSpPr>
            <p:nvPr/>
          </p:nvCxnSpPr>
          <p:spPr>
            <a:xfrm>
              <a:off x="4798003" y="4964144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FE0046C9-8FC2-9975-7E21-52D8BDEB5E0C}"/>
                </a:ext>
              </a:extLst>
            </p:cNvPr>
            <p:cNvSpPr txBox="1"/>
            <p:nvPr/>
          </p:nvSpPr>
          <p:spPr>
            <a:xfrm>
              <a:off x="5038432" y="3427493"/>
              <a:ext cx="12836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/>
                <a:t>S2_Sum_w1[0]</a:t>
              </a:r>
              <a:endParaRPr lang="ko-KR" altLang="en-US" sz="1100" dirty="0"/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311DAC1E-5EC6-E492-5075-F296870B88EB}"/>
                </a:ext>
              </a:extLst>
            </p:cNvPr>
            <p:cNvSpPr txBox="1"/>
            <p:nvPr/>
          </p:nvSpPr>
          <p:spPr>
            <a:xfrm>
              <a:off x="5038432" y="3795641"/>
              <a:ext cx="129378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S2_Cout_w1[0]</a:t>
              </a:r>
              <a:endParaRPr lang="ko-KR" altLang="en-US" sz="900" dirty="0"/>
            </a:p>
          </p:txBody>
        </p:sp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6C9F5CB8-D4BE-C870-43B4-0161D48BE744}"/>
                </a:ext>
              </a:extLst>
            </p:cNvPr>
            <p:cNvSpPr/>
            <p:nvPr/>
          </p:nvSpPr>
          <p:spPr>
            <a:xfrm>
              <a:off x="4212470" y="3351602"/>
              <a:ext cx="592906" cy="724514"/>
            </a:xfrm>
            <a:prstGeom prst="rect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Full Adder</a:t>
              </a:r>
            </a:p>
          </p:txBody>
        </p:sp>
        <p:cxnSp>
          <p:nvCxnSpPr>
            <p:cNvPr id="218" name="직선 연결선 217">
              <a:extLst>
                <a:ext uri="{FF2B5EF4-FFF2-40B4-BE49-F238E27FC236}">
                  <a16:creationId xmlns:a16="http://schemas.microsoft.com/office/drawing/2014/main" id="{FD76B3C7-D3AC-18D8-8657-DA8400BCF8D7}"/>
                </a:ext>
              </a:extLst>
            </p:cNvPr>
            <p:cNvCxnSpPr>
              <a:cxnSpLocks/>
            </p:cNvCxnSpPr>
            <p:nvPr/>
          </p:nvCxnSpPr>
          <p:spPr>
            <a:xfrm>
              <a:off x="3916017" y="4061656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직선 연결선 218">
              <a:extLst>
                <a:ext uri="{FF2B5EF4-FFF2-40B4-BE49-F238E27FC236}">
                  <a16:creationId xmlns:a16="http://schemas.microsoft.com/office/drawing/2014/main" id="{8B9A1A1D-294C-BAE7-3085-4B26AFEF463D}"/>
                </a:ext>
              </a:extLst>
            </p:cNvPr>
            <p:cNvCxnSpPr>
              <a:cxnSpLocks/>
            </p:cNvCxnSpPr>
            <p:nvPr/>
          </p:nvCxnSpPr>
          <p:spPr>
            <a:xfrm>
              <a:off x="3911516" y="3719932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직선 연결선 219">
              <a:extLst>
                <a:ext uri="{FF2B5EF4-FFF2-40B4-BE49-F238E27FC236}">
                  <a16:creationId xmlns:a16="http://schemas.microsoft.com/office/drawing/2014/main" id="{41CD1B67-D7B8-7AF7-8745-2C1C5D40B49D}"/>
                </a:ext>
              </a:extLst>
            </p:cNvPr>
            <p:cNvCxnSpPr>
              <a:cxnSpLocks/>
            </p:cNvCxnSpPr>
            <p:nvPr/>
          </p:nvCxnSpPr>
          <p:spPr>
            <a:xfrm>
              <a:off x="3911515" y="3358976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직선 연결선 220">
              <a:extLst>
                <a:ext uri="{FF2B5EF4-FFF2-40B4-BE49-F238E27FC236}">
                  <a16:creationId xmlns:a16="http://schemas.microsoft.com/office/drawing/2014/main" id="{55B698F6-2A39-F83F-37CD-80B1DC1A3B46}"/>
                </a:ext>
              </a:extLst>
            </p:cNvPr>
            <p:cNvCxnSpPr>
              <a:cxnSpLocks/>
            </p:cNvCxnSpPr>
            <p:nvPr/>
          </p:nvCxnSpPr>
          <p:spPr>
            <a:xfrm>
              <a:off x="4805377" y="3923516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6F8D6F0A-BE53-2FF1-83BC-34276DDE830D}"/>
                </a:ext>
              </a:extLst>
            </p:cNvPr>
            <p:cNvCxnSpPr>
              <a:cxnSpLocks/>
            </p:cNvCxnSpPr>
            <p:nvPr/>
          </p:nvCxnSpPr>
          <p:spPr>
            <a:xfrm>
              <a:off x="4805376" y="3562560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2B5D65E0-4359-9A4F-4986-E27B75C32981}"/>
                </a:ext>
              </a:extLst>
            </p:cNvPr>
            <p:cNvSpPr txBox="1"/>
            <p:nvPr/>
          </p:nvSpPr>
          <p:spPr>
            <a:xfrm>
              <a:off x="4308046" y="4235449"/>
              <a:ext cx="3870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…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C2C9E000-F93B-5A8F-F091-4D1854A5E3F7}"/>
                </a:ext>
              </a:extLst>
            </p:cNvPr>
            <p:cNvSpPr txBox="1"/>
            <p:nvPr/>
          </p:nvSpPr>
          <p:spPr>
            <a:xfrm>
              <a:off x="5048612" y="2367320"/>
              <a:ext cx="128360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/>
                <a:t>S2_Sum_w1[63]</a:t>
              </a:r>
              <a:endParaRPr lang="ko-KR" altLang="en-US" sz="1100" dirty="0"/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4CC97718-4770-8ADD-1FC6-078563D975F7}"/>
                </a:ext>
              </a:extLst>
            </p:cNvPr>
            <p:cNvSpPr txBox="1"/>
            <p:nvPr/>
          </p:nvSpPr>
          <p:spPr>
            <a:xfrm>
              <a:off x="5048613" y="2735468"/>
              <a:ext cx="118523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S2_Cout_w2[63]</a:t>
              </a:r>
              <a:endParaRPr lang="ko-KR" altLang="en-US" sz="900" dirty="0"/>
            </a:p>
          </p:txBody>
        </p: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26E66217-1A85-20C5-A35A-3BDEA0E66E21}"/>
                </a:ext>
              </a:extLst>
            </p:cNvPr>
            <p:cNvSpPr/>
            <p:nvPr/>
          </p:nvSpPr>
          <p:spPr>
            <a:xfrm>
              <a:off x="4222651" y="2291429"/>
              <a:ext cx="592906" cy="724514"/>
            </a:xfrm>
            <a:prstGeom prst="rect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Full Adder</a:t>
              </a:r>
            </a:p>
          </p:txBody>
        </p: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F28E9750-AD51-029F-C887-ABE8B89A67BF}"/>
                </a:ext>
              </a:extLst>
            </p:cNvPr>
            <p:cNvCxnSpPr>
              <a:cxnSpLocks/>
            </p:cNvCxnSpPr>
            <p:nvPr/>
          </p:nvCxnSpPr>
          <p:spPr>
            <a:xfrm>
              <a:off x="3926198" y="3001483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직선 연결선 227">
              <a:extLst>
                <a:ext uri="{FF2B5EF4-FFF2-40B4-BE49-F238E27FC236}">
                  <a16:creationId xmlns:a16="http://schemas.microsoft.com/office/drawing/2014/main" id="{00E37FCD-4AB3-3303-4A68-8D346FAC57D5}"/>
                </a:ext>
              </a:extLst>
            </p:cNvPr>
            <p:cNvCxnSpPr>
              <a:cxnSpLocks/>
            </p:cNvCxnSpPr>
            <p:nvPr/>
          </p:nvCxnSpPr>
          <p:spPr>
            <a:xfrm>
              <a:off x="3921697" y="2659759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직선 연결선 228">
              <a:extLst>
                <a:ext uri="{FF2B5EF4-FFF2-40B4-BE49-F238E27FC236}">
                  <a16:creationId xmlns:a16="http://schemas.microsoft.com/office/drawing/2014/main" id="{63A880D2-D90C-E3C8-6595-C4BCB4D02DF0}"/>
                </a:ext>
              </a:extLst>
            </p:cNvPr>
            <p:cNvCxnSpPr>
              <a:cxnSpLocks/>
            </p:cNvCxnSpPr>
            <p:nvPr/>
          </p:nvCxnSpPr>
          <p:spPr>
            <a:xfrm>
              <a:off x="3921696" y="2298803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직선 연결선 229">
              <a:extLst>
                <a:ext uri="{FF2B5EF4-FFF2-40B4-BE49-F238E27FC236}">
                  <a16:creationId xmlns:a16="http://schemas.microsoft.com/office/drawing/2014/main" id="{76E46FE2-262F-A195-62FE-CE2EABA6537B}"/>
                </a:ext>
              </a:extLst>
            </p:cNvPr>
            <p:cNvCxnSpPr>
              <a:cxnSpLocks/>
            </p:cNvCxnSpPr>
            <p:nvPr/>
          </p:nvCxnSpPr>
          <p:spPr>
            <a:xfrm>
              <a:off x="4815558" y="2863343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직선 연결선 230">
              <a:extLst>
                <a:ext uri="{FF2B5EF4-FFF2-40B4-BE49-F238E27FC236}">
                  <a16:creationId xmlns:a16="http://schemas.microsoft.com/office/drawing/2014/main" id="{4416058D-B30A-03DB-F217-0BDE254429B2}"/>
                </a:ext>
              </a:extLst>
            </p:cNvPr>
            <p:cNvCxnSpPr>
              <a:cxnSpLocks/>
            </p:cNvCxnSpPr>
            <p:nvPr/>
          </p:nvCxnSpPr>
          <p:spPr>
            <a:xfrm>
              <a:off x="4815557" y="2502387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F1D9676B-37D4-A417-41EF-FB40646A3A30}"/>
                </a:ext>
              </a:extLst>
            </p:cNvPr>
            <p:cNvSpPr txBox="1"/>
            <p:nvPr/>
          </p:nvSpPr>
          <p:spPr>
            <a:xfrm>
              <a:off x="3161469" y="5681024"/>
              <a:ext cx="927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S1_Sum[2]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0B8F5FA7-B1D2-839D-6E78-69A8AB7D8BE5}"/>
                </a:ext>
              </a:extLst>
            </p:cNvPr>
            <p:cNvSpPr txBox="1"/>
            <p:nvPr/>
          </p:nvSpPr>
          <p:spPr>
            <a:xfrm>
              <a:off x="4304925" y="5439268"/>
              <a:ext cx="3870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…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733AE588-A020-D55F-1512-5A52F9238996}"/>
                </a:ext>
              </a:extLst>
            </p:cNvPr>
            <p:cNvSpPr txBox="1"/>
            <p:nvPr/>
          </p:nvSpPr>
          <p:spPr>
            <a:xfrm>
              <a:off x="4325600" y="2994109"/>
              <a:ext cx="3870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…</a:t>
              </a: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9DCC1567-A531-6A1D-3156-2360676B004D}"/>
                </a:ext>
              </a:extLst>
            </p:cNvPr>
            <p:cNvSpPr txBox="1"/>
            <p:nvPr/>
          </p:nvSpPr>
          <p:spPr>
            <a:xfrm>
              <a:off x="3028826" y="5304427"/>
              <a:ext cx="927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S1_Sum[189]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D86E4294-9980-F6A8-74B4-1B45B3D41880}"/>
                </a:ext>
              </a:extLst>
            </p:cNvPr>
            <p:cNvSpPr txBox="1"/>
            <p:nvPr/>
          </p:nvSpPr>
          <p:spPr>
            <a:xfrm>
              <a:off x="3020214" y="4979335"/>
              <a:ext cx="927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ko-KR" sz="1000" dirty="0">
                  <a:solidFill>
                    <a:prstClr val="black"/>
                  </a:solidFill>
                </a:rPr>
                <a:t>S1_Sum[190]</a:t>
              </a:r>
              <a:endParaRPr lang="ko-KR" altLang="en-US" sz="1000" dirty="0">
                <a:solidFill>
                  <a:prstClr val="black"/>
                </a:solidFill>
              </a:endParaRP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C0E0B6DB-7683-A807-02E7-64E9BFF51610}"/>
                </a:ext>
              </a:extLst>
            </p:cNvPr>
            <p:cNvSpPr txBox="1"/>
            <p:nvPr/>
          </p:nvSpPr>
          <p:spPr>
            <a:xfrm>
              <a:off x="3015613" y="4631884"/>
              <a:ext cx="927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S1_Sum[191]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9E005A24-8E4C-8711-77D9-EF2BD267B8B1}"/>
                </a:ext>
              </a:extLst>
            </p:cNvPr>
            <p:cNvSpPr txBox="1"/>
            <p:nvPr/>
          </p:nvSpPr>
          <p:spPr>
            <a:xfrm>
              <a:off x="3153891" y="3915310"/>
              <a:ext cx="927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S1_Cout[0]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B72AE45E-C50A-39CF-0C13-1D06B0FE7A62}"/>
                </a:ext>
              </a:extLst>
            </p:cNvPr>
            <p:cNvSpPr txBox="1"/>
            <p:nvPr/>
          </p:nvSpPr>
          <p:spPr>
            <a:xfrm>
              <a:off x="3130039" y="3590218"/>
              <a:ext cx="927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ko-KR" sz="1000" dirty="0">
                  <a:solidFill>
                    <a:prstClr val="black"/>
                  </a:solidFill>
                </a:rPr>
                <a:t>S1_ Cout[1]</a:t>
              </a:r>
              <a:endParaRPr lang="ko-KR" altLang="en-US" sz="1000" dirty="0">
                <a:solidFill>
                  <a:prstClr val="black"/>
                </a:solidFill>
              </a:endParaRPr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8B1EA079-DD95-23B2-C53E-6F22B2B5E22C}"/>
                </a:ext>
              </a:extLst>
            </p:cNvPr>
            <p:cNvSpPr txBox="1"/>
            <p:nvPr/>
          </p:nvSpPr>
          <p:spPr>
            <a:xfrm>
              <a:off x="3125438" y="3242767"/>
              <a:ext cx="927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ko-KR" sz="1000" dirty="0">
                  <a:solidFill>
                    <a:prstClr val="black"/>
                  </a:solidFill>
                </a:rPr>
                <a:t>S1_ Cout[</a:t>
              </a: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2]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DDA4D419-FEA7-A715-ED2F-9070346A106E}"/>
                </a:ext>
              </a:extLst>
            </p:cNvPr>
            <p:cNvSpPr txBox="1"/>
            <p:nvPr/>
          </p:nvSpPr>
          <p:spPr>
            <a:xfrm>
              <a:off x="3008034" y="2866170"/>
              <a:ext cx="9825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ko-KR" sz="1000" dirty="0">
                  <a:solidFill>
                    <a:prstClr val="black"/>
                  </a:solidFill>
                </a:rPr>
                <a:t>S1_ Cout[</a:t>
              </a: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189]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250E9D08-A689-07B9-F280-9909D569BFBD}"/>
                </a:ext>
              </a:extLst>
            </p:cNvPr>
            <p:cNvSpPr txBox="1"/>
            <p:nvPr/>
          </p:nvSpPr>
          <p:spPr>
            <a:xfrm>
              <a:off x="2999422" y="2541078"/>
              <a:ext cx="98255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ko-KR" sz="1000" dirty="0">
                  <a:solidFill>
                    <a:prstClr val="black"/>
                  </a:solidFill>
                </a:rPr>
                <a:t>S1_ Cout[190]</a:t>
              </a:r>
              <a:endParaRPr lang="ko-KR" altLang="en-US" sz="1000" dirty="0">
                <a:solidFill>
                  <a:prstClr val="black"/>
                </a:solidFill>
              </a:endParaRPr>
            </a:p>
          </p:txBody>
        </p: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EECED72A-A277-BD62-928C-D4CC229545B6}"/>
                </a:ext>
              </a:extLst>
            </p:cNvPr>
            <p:cNvSpPr txBox="1"/>
            <p:nvPr/>
          </p:nvSpPr>
          <p:spPr>
            <a:xfrm>
              <a:off x="2994821" y="2193627"/>
              <a:ext cx="98715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ko-KR" sz="1000" dirty="0">
                  <a:solidFill>
                    <a:prstClr val="black"/>
                  </a:solidFill>
                </a:rPr>
                <a:t>S1_ Cout[</a:t>
              </a: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191]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1685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3EC15-74EF-EC74-F850-7FAEE9536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69E27-4DD4-FA87-511A-2F839D8CF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Popcount</a:t>
            </a:r>
            <a:r>
              <a:rPr lang="en-US" altLang="ko-KR" sz="4000" dirty="0"/>
              <a:t> </a:t>
            </a:r>
            <a:r>
              <a:rPr lang="ko-KR" altLang="en-US" sz="4000" dirty="0"/>
              <a:t>구조</a:t>
            </a: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7672942A-CD75-4E17-DF53-04BE6A1E5661}"/>
              </a:ext>
            </a:extLst>
          </p:cNvPr>
          <p:cNvCxnSpPr>
            <a:cxnSpLocks/>
          </p:cNvCxnSpPr>
          <p:nvPr/>
        </p:nvCxnSpPr>
        <p:spPr>
          <a:xfrm flipV="1">
            <a:off x="289105" y="1273855"/>
            <a:ext cx="11531727" cy="596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589B4E57-5DC6-D248-B9C1-6E0B4237D1EB}"/>
              </a:ext>
            </a:extLst>
          </p:cNvPr>
          <p:cNvCxnSpPr>
            <a:cxnSpLocks/>
          </p:cNvCxnSpPr>
          <p:nvPr/>
        </p:nvCxnSpPr>
        <p:spPr>
          <a:xfrm flipV="1">
            <a:off x="296478" y="2064686"/>
            <a:ext cx="11531727" cy="596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6F4A5D72-90B3-DCAA-8B78-BE16860E553A}"/>
              </a:ext>
            </a:extLst>
          </p:cNvPr>
          <p:cNvSpPr txBox="1"/>
          <p:nvPr/>
        </p:nvSpPr>
        <p:spPr>
          <a:xfrm>
            <a:off x="4049412" y="997786"/>
            <a:ext cx="58185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/>
              <a:t>…</a:t>
            </a:r>
            <a:endParaRPr lang="ko-KR" altLang="en-US" sz="1300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97568DA-D55A-B4CB-4CCD-708A62510FBE}"/>
              </a:ext>
            </a:extLst>
          </p:cNvPr>
          <p:cNvSpPr txBox="1"/>
          <p:nvPr/>
        </p:nvSpPr>
        <p:spPr>
          <a:xfrm>
            <a:off x="1822576" y="997786"/>
            <a:ext cx="91822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/>
              <a:t>Stage4</a:t>
            </a:r>
            <a:endParaRPr lang="ko-KR" altLang="en-US" sz="1300" b="1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B09DA4E5-312C-FB58-E25C-604142E0A340}"/>
              </a:ext>
            </a:extLst>
          </p:cNvPr>
          <p:cNvSpPr txBox="1"/>
          <p:nvPr/>
        </p:nvSpPr>
        <p:spPr>
          <a:xfrm>
            <a:off x="1310355" y="1529206"/>
            <a:ext cx="17088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100" dirty="0"/>
              <a:t>170-bit Input</a:t>
            </a:r>
          </a:p>
          <a:p>
            <a:pPr marL="171450" indent="-171450">
              <a:buFontTx/>
              <a:buChar char="-"/>
            </a:pPr>
            <a:r>
              <a:rPr lang="en-US" altLang="ko-KR" sz="1100" dirty="0"/>
              <a:t>56</a:t>
            </a:r>
            <a:r>
              <a:rPr lang="ko-KR" altLang="en-US" sz="1100" dirty="0"/>
              <a:t>개의</a:t>
            </a:r>
            <a:r>
              <a:rPr lang="en-US" altLang="ko-KR" sz="1100" dirty="0"/>
              <a:t> FA </a:t>
            </a:r>
            <a:r>
              <a:rPr lang="ko-KR" altLang="en-US" sz="1100" dirty="0"/>
              <a:t>사용</a:t>
            </a:r>
            <a:endParaRPr lang="en-US" altLang="ko-KR" sz="1100" dirty="0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AB5F0AFD-3F8B-42E0-88F9-73203244E502}"/>
              </a:ext>
            </a:extLst>
          </p:cNvPr>
          <p:cNvGrpSpPr/>
          <p:nvPr/>
        </p:nvGrpSpPr>
        <p:grpSpPr>
          <a:xfrm>
            <a:off x="357549" y="2193627"/>
            <a:ext cx="3337399" cy="4406161"/>
            <a:chOff x="357549" y="2193627"/>
            <a:chExt cx="3337399" cy="4406161"/>
          </a:xfrm>
        </p:grpSpPr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DC3418C9-1C8A-1D29-0264-41852DAA7509}"/>
                </a:ext>
              </a:extLst>
            </p:cNvPr>
            <p:cNvSpPr txBox="1"/>
            <p:nvPr/>
          </p:nvSpPr>
          <p:spPr>
            <a:xfrm>
              <a:off x="2393786" y="5850530"/>
              <a:ext cx="11182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S2_Sum_w0[0]</a:t>
              </a:r>
              <a:endParaRPr lang="ko-KR" altLang="en-US" sz="1000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C0B708EB-822B-57D2-A50B-20FB4EA6B650}"/>
                </a:ext>
              </a:extLst>
            </p:cNvPr>
            <p:cNvSpPr txBox="1"/>
            <p:nvPr/>
          </p:nvSpPr>
          <p:spPr>
            <a:xfrm>
              <a:off x="2393787" y="6233426"/>
              <a:ext cx="120278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S2_Cout_w1[0]</a:t>
              </a:r>
              <a:endParaRPr lang="ko-KR" altLang="en-US" sz="1000" dirty="0"/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52CD1A48-692B-1065-1EE3-127655806B44}"/>
                </a:ext>
              </a:extLst>
            </p:cNvPr>
            <p:cNvSpPr/>
            <p:nvPr/>
          </p:nvSpPr>
          <p:spPr>
            <a:xfrm>
              <a:off x="1567825" y="5796761"/>
              <a:ext cx="592906" cy="724514"/>
            </a:xfrm>
            <a:prstGeom prst="rect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Full Adder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287A713-B8D4-9076-E831-A71DB2F300CC}"/>
                </a:ext>
              </a:extLst>
            </p:cNvPr>
            <p:cNvSpPr txBox="1"/>
            <p:nvPr/>
          </p:nvSpPr>
          <p:spPr>
            <a:xfrm>
              <a:off x="537410" y="6353567"/>
              <a:ext cx="927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S1_Sum[0]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cxnSp>
          <p:nvCxnSpPr>
            <p:cNvPr id="110" name="직선 연결선 109">
              <a:extLst>
                <a:ext uri="{FF2B5EF4-FFF2-40B4-BE49-F238E27FC236}">
                  <a16:creationId xmlns:a16="http://schemas.microsoft.com/office/drawing/2014/main" id="{E4086DAD-213F-CE05-D055-D01EB4AC2CEF}"/>
                </a:ext>
              </a:extLst>
            </p:cNvPr>
            <p:cNvCxnSpPr>
              <a:cxnSpLocks/>
            </p:cNvCxnSpPr>
            <p:nvPr/>
          </p:nvCxnSpPr>
          <p:spPr>
            <a:xfrm>
              <a:off x="1271372" y="6506815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1B70B921-B697-874B-35BE-6F63FD937211}"/>
                </a:ext>
              </a:extLst>
            </p:cNvPr>
            <p:cNvCxnSpPr>
              <a:cxnSpLocks/>
            </p:cNvCxnSpPr>
            <p:nvPr/>
          </p:nvCxnSpPr>
          <p:spPr>
            <a:xfrm>
              <a:off x="1266871" y="6165091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A43291B0-539F-A388-08A9-C946F0508FED}"/>
                </a:ext>
              </a:extLst>
            </p:cNvPr>
            <p:cNvCxnSpPr>
              <a:cxnSpLocks/>
            </p:cNvCxnSpPr>
            <p:nvPr/>
          </p:nvCxnSpPr>
          <p:spPr>
            <a:xfrm>
              <a:off x="1266870" y="5804135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898CEE05-C53F-052B-2CC4-F374EB836B80}"/>
                </a:ext>
              </a:extLst>
            </p:cNvPr>
            <p:cNvSpPr txBox="1"/>
            <p:nvPr/>
          </p:nvSpPr>
          <p:spPr>
            <a:xfrm>
              <a:off x="528798" y="6028475"/>
              <a:ext cx="927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ko-KR" sz="1000" dirty="0">
                  <a:solidFill>
                    <a:prstClr val="black"/>
                  </a:solidFill>
                </a:rPr>
                <a:t>S1_Sum[1]</a:t>
              </a:r>
              <a:endParaRPr lang="ko-KR" altLang="en-US" sz="1000" dirty="0">
                <a:solidFill>
                  <a:prstClr val="black"/>
                </a:solidFill>
              </a:endParaRPr>
            </a:p>
          </p:txBody>
        </p: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C79B8700-335D-4BF6-B7AF-AF2FD99099E5}"/>
                </a:ext>
              </a:extLst>
            </p:cNvPr>
            <p:cNvCxnSpPr>
              <a:cxnSpLocks/>
            </p:cNvCxnSpPr>
            <p:nvPr/>
          </p:nvCxnSpPr>
          <p:spPr>
            <a:xfrm>
              <a:off x="2160732" y="6368675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33F66EEA-8EC3-293C-688A-74115623D711}"/>
                </a:ext>
              </a:extLst>
            </p:cNvPr>
            <p:cNvCxnSpPr>
              <a:cxnSpLocks/>
            </p:cNvCxnSpPr>
            <p:nvPr/>
          </p:nvCxnSpPr>
          <p:spPr>
            <a:xfrm>
              <a:off x="2160731" y="6007719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DD8F7B0A-0B85-1516-DAE7-BAC7B91ECC8A}"/>
                </a:ext>
              </a:extLst>
            </p:cNvPr>
            <p:cNvSpPr txBox="1"/>
            <p:nvPr/>
          </p:nvSpPr>
          <p:spPr>
            <a:xfrm>
              <a:off x="2393787" y="4829077"/>
              <a:ext cx="120278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S2_Sum_w0[63]</a:t>
              </a:r>
              <a:endParaRPr lang="ko-KR" altLang="en-US" sz="1000" dirty="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637D37D5-00CA-BF12-37F1-85B8FBB84589}"/>
                </a:ext>
              </a:extLst>
            </p:cNvPr>
            <p:cNvSpPr txBox="1"/>
            <p:nvPr/>
          </p:nvSpPr>
          <p:spPr>
            <a:xfrm>
              <a:off x="2393787" y="5197225"/>
              <a:ext cx="120278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S2_Cout_w1[63]</a:t>
              </a:r>
              <a:endParaRPr lang="ko-KR" altLang="en-US" sz="1000" dirty="0"/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84D5FF4D-DC77-2975-9C00-336AB5258BD3}"/>
                </a:ext>
              </a:extLst>
            </p:cNvPr>
            <p:cNvSpPr/>
            <p:nvPr/>
          </p:nvSpPr>
          <p:spPr>
            <a:xfrm>
              <a:off x="1567825" y="4753186"/>
              <a:ext cx="592906" cy="724514"/>
            </a:xfrm>
            <a:prstGeom prst="rect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Full Adder</a:t>
              </a:r>
            </a:p>
          </p:txBody>
        </p: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199EF3B7-E649-5B9A-AF69-092BB73BDCCE}"/>
                </a:ext>
              </a:extLst>
            </p:cNvPr>
            <p:cNvCxnSpPr>
              <a:cxnSpLocks/>
            </p:cNvCxnSpPr>
            <p:nvPr/>
          </p:nvCxnSpPr>
          <p:spPr>
            <a:xfrm>
              <a:off x="1271372" y="5463240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0E1C79D4-A8B3-5422-E29C-898FB176DF80}"/>
                </a:ext>
              </a:extLst>
            </p:cNvPr>
            <p:cNvCxnSpPr>
              <a:cxnSpLocks/>
            </p:cNvCxnSpPr>
            <p:nvPr/>
          </p:nvCxnSpPr>
          <p:spPr>
            <a:xfrm>
              <a:off x="1266871" y="5121516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직선 연결선 130">
              <a:extLst>
                <a:ext uri="{FF2B5EF4-FFF2-40B4-BE49-F238E27FC236}">
                  <a16:creationId xmlns:a16="http://schemas.microsoft.com/office/drawing/2014/main" id="{1E66C742-908C-F35E-1802-1D7B91F36C36}"/>
                </a:ext>
              </a:extLst>
            </p:cNvPr>
            <p:cNvCxnSpPr>
              <a:cxnSpLocks/>
            </p:cNvCxnSpPr>
            <p:nvPr/>
          </p:nvCxnSpPr>
          <p:spPr>
            <a:xfrm>
              <a:off x="1266870" y="4760560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2C3360E1-EF4C-3710-16CE-4A712A8D6E06}"/>
                </a:ext>
              </a:extLst>
            </p:cNvPr>
            <p:cNvCxnSpPr>
              <a:cxnSpLocks/>
            </p:cNvCxnSpPr>
            <p:nvPr/>
          </p:nvCxnSpPr>
          <p:spPr>
            <a:xfrm>
              <a:off x="2160732" y="5325100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FA0043F1-6146-0C5B-5F2D-16A82909B7E3}"/>
                </a:ext>
              </a:extLst>
            </p:cNvPr>
            <p:cNvCxnSpPr>
              <a:cxnSpLocks/>
            </p:cNvCxnSpPr>
            <p:nvPr/>
          </p:nvCxnSpPr>
          <p:spPr>
            <a:xfrm>
              <a:off x="2160731" y="4964144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686F74A8-3DFF-3EB0-D8E7-462F07648D3F}"/>
                </a:ext>
              </a:extLst>
            </p:cNvPr>
            <p:cNvSpPr txBox="1"/>
            <p:nvPr/>
          </p:nvSpPr>
          <p:spPr>
            <a:xfrm>
              <a:off x="2401160" y="3427493"/>
              <a:ext cx="128360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S2_Sum_w1[0]</a:t>
              </a:r>
              <a:endParaRPr lang="ko-KR" altLang="en-US" sz="1000" dirty="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7E9258AF-3984-BF46-D31F-885A6C5D65E1}"/>
                </a:ext>
              </a:extLst>
            </p:cNvPr>
            <p:cNvSpPr txBox="1"/>
            <p:nvPr/>
          </p:nvSpPr>
          <p:spPr>
            <a:xfrm>
              <a:off x="2401160" y="3795641"/>
              <a:ext cx="12937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S2_Cout_w1[0]</a:t>
              </a:r>
              <a:endParaRPr lang="ko-KR" altLang="en-US" sz="1000" dirty="0"/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B603BB03-4649-3FE1-E9B5-3143B019C7B1}"/>
                </a:ext>
              </a:extLst>
            </p:cNvPr>
            <p:cNvSpPr/>
            <p:nvPr/>
          </p:nvSpPr>
          <p:spPr>
            <a:xfrm>
              <a:off x="1575198" y="3351602"/>
              <a:ext cx="592906" cy="724514"/>
            </a:xfrm>
            <a:prstGeom prst="rect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Full Adder</a:t>
              </a:r>
            </a:p>
          </p:txBody>
        </p: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C5B54C36-52BA-513A-7F5E-A97C1D05225C}"/>
                </a:ext>
              </a:extLst>
            </p:cNvPr>
            <p:cNvCxnSpPr>
              <a:cxnSpLocks/>
            </p:cNvCxnSpPr>
            <p:nvPr/>
          </p:nvCxnSpPr>
          <p:spPr>
            <a:xfrm>
              <a:off x="1278745" y="4061656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012AEF7-9687-1888-4257-D34B22A34335}"/>
                </a:ext>
              </a:extLst>
            </p:cNvPr>
            <p:cNvCxnSpPr>
              <a:cxnSpLocks/>
            </p:cNvCxnSpPr>
            <p:nvPr/>
          </p:nvCxnSpPr>
          <p:spPr>
            <a:xfrm>
              <a:off x="1274244" y="3719932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26E6B185-040C-1493-29C6-5F778DC68658}"/>
                </a:ext>
              </a:extLst>
            </p:cNvPr>
            <p:cNvCxnSpPr>
              <a:cxnSpLocks/>
            </p:cNvCxnSpPr>
            <p:nvPr/>
          </p:nvCxnSpPr>
          <p:spPr>
            <a:xfrm>
              <a:off x="1274243" y="3358976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직선 연결선 150">
              <a:extLst>
                <a:ext uri="{FF2B5EF4-FFF2-40B4-BE49-F238E27FC236}">
                  <a16:creationId xmlns:a16="http://schemas.microsoft.com/office/drawing/2014/main" id="{95D540E3-D7D8-02AB-CFB1-5F97807D09A7}"/>
                </a:ext>
              </a:extLst>
            </p:cNvPr>
            <p:cNvCxnSpPr>
              <a:cxnSpLocks/>
            </p:cNvCxnSpPr>
            <p:nvPr/>
          </p:nvCxnSpPr>
          <p:spPr>
            <a:xfrm>
              <a:off x="2168105" y="3923516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BC3E0ACA-DC2E-B62B-DA3C-23B5627E62B6}"/>
                </a:ext>
              </a:extLst>
            </p:cNvPr>
            <p:cNvCxnSpPr>
              <a:cxnSpLocks/>
            </p:cNvCxnSpPr>
            <p:nvPr/>
          </p:nvCxnSpPr>
          <p:spPr>
            <a:xfrm>
              <a:off x="2168104" y="3562560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1A439519-6398-94BC-16C1-3C3B16093124}"/>
                </a:ext>
              </a:extLst>
            </p:cNvPr>
            <p:cNvSpPr txBox="1"/>
            <p:nvPr/>
          </p:nvSpPr>
          <p:spPr>
            <a:xfrm>
              <a:off x="1670774" y="4235449"/>
              <a:ext cx="3870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…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939158FF-1BD5-D6C8-19F5-7FC4661D42C0}"/>
                </a:ext>
              </a:extLst>
            </p:cNvPr>
            <p:cNvSpPr txBox="1"/>
            <p:nvPr/>
          </p:nvSpPr>
          <p:spPr>
            <a:xfrm>
              <a:off x="2411340" y="2367320"/>
              <a:ext cx="12836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S2_Sum_w1[63]</a:t>
              </a:r>
              <a:endParaRPr lang="ko-KR" altLang="en-US" sz="1000" dirty="0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C8CA5CBA-28B9-BFE1-8685-A69052B64698}"/>
                </a:ext>
              </a:extLst>
            </p:cNvPr>
            <p:cNvSpPr txBox="1"/>
            <p:nvPr/>
          </p:nvSpPr>
          <p:spPr>
            <a:xfrm>
              <a:off x="2411341" y="2735468"/>
              <a:ext cx="11852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S2_Cout_w2[63]</a:t>
              </a:r>
              <a:endParaRPr lang="ko-KR" altLang="en-US" sz="1000" dirty="0"/>
            </a:p>
          </p:txBody>
        </p:sp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039F1BBD-BFA9-5F6D-F192-FF6AA2CDE1EC}"/>
                </a:ext>
              </a:extLst>
            </p:cNvPr>
            <p:cNvSpPr/>
            <p:nvPr/>
          </p:nvSpPr>
          <p:spPr>
            <a:xfrm>
              <a:off x="1585379" y="2291429"/>
              <a:ext cx="592906" cy="724514"/>
            </a:xfrm>
            <a:prstGeom prst="rect">
              <a:avLst/>
            </a:prstGeom>
            <a:solidFill>
              <a:srgbClr val="002C62"/>
            </a:solidFill>
            <a:ln>
              <a:solidFill>
                <a:srgbClr val="002C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Full Adder</a:t>
              </a:r>
            </a:p>
          </p:txBody>
        </p:sp>
        <p:cxnSp>
          <p:nvCxnSpPr>
            <p:cNvPr id="174" name="직선 연결선 173">
              <a:extLst>
                <a:ext uri="{FF2B5EF4-FFF2-40B4-BE49-F238E27FC236}">
                  <a16:creationId xmlns:a16="http://schemas.microsoft.com/office/drawing/2014/main" id="{AF18B25F-79BF-6142-A29C-C8B5F2292774}"/>
                </a:ext>
              </a:extLst>
            </p:cNvPr>
            <p:cNvCxnSpPr>
              <a:cxnSpLocks/>
            </p:cNvCxnSpPr>
            <p:nvPr/>
          </p:nvCxnSpPr>
          <p:spPr>
            <a:xfrm>
              <a:off x="1288926" y="3001483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22E1220A-9968-17F2-B312-4D5BD406B2FC}"/>
                </a:ext>
              </a:extLst>
            </p:cNvPr>
            <p:cNvCxnSpPr>
              <a:cxnSpLocks/>
            </p:cNvCxnSpPr>
            <p:nvPr/>
          </p:nvCxnSpPr>
          <p:spPr>
            <a:xfrm>
              <a:off x="1284425" y="2659759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직선 연결선 175">
              <a:extLst>
                <a:ext uri="{FF2B5EF4-FFF2-40B4-BE49-F238E27FC236}">
                  <a16:creationId xmlns:a16="http://schemas.microsoft.com/office/drawing/2014/main" id="{7BEFD86B-CCEB-F977-D441-62DCB14C4366}"/>
                </a:ext>
              </a:extLst>
            </p:cNvPr>
            <p:cNvCxnSpPr>
              <a:cxnSpLocks/>
            </p:cNvCxnSpPr>
            <p:nvPr/>
          </p:nvCxnSpPr>
          <p:spPr>
            <a:xfrm>
              <a:off x="1284424" y="2298803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직선 연결선 178">
              <a:extLst>
                <a:ext uri="{FF2B5EF4-FFF2-40B4-BE49-F238E27FC236}">
                  <a16:creationId xmlns:a16="http://schemas.microsoft.com/office/drawing/2014/main" id="{690D6278-94C9-24C1-FAB4-CA46FAB6CB33}"/>
                </a:ext>
              </a:extLst>
            </p:cNvPr>
            <p:cNvCxnSpPr>
              <a:cxnSpLocks/>
            </p:cNvCxnSpPr>
            <p:nvPr/>
          </p:nvCxnSpPr>
          <p:spPr>
            <a:xfrm>
              <a:off x="2178286" y="2863343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직선 연결선 179">
              <a:extLst>
                <a:ext uri="{FF2B5EF4-FFF2-40B4-BE49-F238E27FC236}">
                  <a16:creationId xmlns:a16="http://schemas.microsoft.com/office/drawing/2014/main" id="{7393853D-D001-C8A0-F8B7-0FF74C685059}"/>
                </a:ext>
              </a:extLst>
            </p:cNvPr>
            <p:cNvCxnSpPr>
              <a:cxnSpLocks/>
            </p:cNvCxnSpPr>
            <p:nvPr/>
          </p:nvCxnSpPr>
          <p:spPr>
            <a:xfrm>
              <a:off x="2178285" y="2502387"/>
              <a:ext cx="296453" cy="0"/>
            </a:xfrm>
            <a:prstGeom prst="line">
              <a:avLst/>
            </a:prstGeom>
            <a:ln w="28575">
              <a:solidFill>
                <a:srgbClr val="002C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254FE4E0-DDCF-0362-A822-11A3F991F91A}"/>
                </a:ext>
              </a:extLst>
            </p:cNvPr>
            <p:cNvSpPr txBox="1"/>
            <p:nvPr/>
          </p:nvSpPr>
          <p:spPr>
            <a:xfrm>
              <a:off x="524197" y="5681024"/>
              <a:ext cx="927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S1_Sum[2]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604B37D8-F8D3-AB2A-F178-09053756661E}"/>
                </a:ext>
              </a:extLst>
            </p:cNvPr>
            <p:cNvSpPr txBox="1"/>
            <p:nvPr/>
          </p:nvSpPr>
          <p:spPr>
            <a:xfrm>
              <a:off x="1667653" y="5439268"/>
              <a:ext cx="3870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…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26028B0A-F324-84BA-B009-7AF5C53A8E7C}"/>
                </a:ext>
              </a:extLst>
            </p:cNvPr>
            <p:cNvSpPr txBox="1"/>
            <p:nvPr/>
          </p:nvSpPr>
          <p:spPr>
            <a:xfrm>
              <a:off x="1688328" y="2994109"/>
              <a:ext cx="3870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…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D6CC5DF3-E579-CF23-9ABB-8251F47C81A7}"/>
                </a:ext>
              </a:extLst>
            </p:cNvPr>
            <p:cNvSpPr txBox="1"/>
            <p:nvPr/>
          </p:nvSpPr>
          <p:spPr>
            <a:xfrm>
              <a:off x="391554" y="5304427"/>
              <a:ext cx="927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S1_Sum[189]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24DDC296-05A1-FC00-C1A3-86D3E81AD80E}"/>
                </a:ext>
              </a:extLst>
            </p:cNvPr>
            <p:cNvSpPr txBox="1"/>
            <p:nvPr/>
          </p:nvSpPr>
          <p:spPr>
            <a:xfrm>
              <a:off x="382942" y="4979335"/>
              <a:ext cx="927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ko-KR" sz="1000" dirty="0">
                  <a:solidFill>
                    <a:prstClr val="black"/>
                  </a:solidFill>
                </a:rPr>
                <a:t>S1_Sum[190]</a:t>
              </a:r>
              <a:endParaRPr lang="ko-KR" altLang="en-US" sz="1000" dirty="0">
                <a:solidFill>
                  <a:prstClr val="black"/>
                </a:solidFill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4400533F-141B-4A70-CDE5-F8EF10FD2CA3}"/>
                </a:ext>
              </a:extLst>
            </p:cNvPr>
            <p:cNvSpPr txBox="1"/>
            <p:nvPr/>
          </p:nvSpPr>
          <p:spPr>
            <a:xfrm>
              <a:off x="378341" y="4631884"/>
              <a:ext cx="927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S1_Sum[191]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AD75539E-95BC-6AC8-7AF0-43DB1A0840FA}"/>
                </a:ext>
              </a:extLst>
            </p:cNvPr>
            <p:cNvSpPr txBox="1"/>
            <p:nvPr/>
          </p:nvSpPr>
          <p:spPr>
            <a:xfrm>
              <a:off x="516619" y="3915310"/>
              <a:ext cx="927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S1_Cout[0]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71985646-F894-D2FC-02B9-AB5ED4FAFE05}"/>
                </a:ext>
              </a:extLst>
            </p:cNvPr>
            <p:cNvSpPr txBox="1"/>
            <p:nvPr/>
          </p:nvSpPr>
          <p:spPr>
            <a:xfrm>
              <a:off x="492767" y="3590218"/>
              <a:ext cx="927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ko-KR" sz="1000" dirty="0">
                  <a:solidFill>
                    <a:prstClr val="black"/>
                  </a:solidFill>
                </a:rPr>
                <a:t>S1_ Cout[1]</a:t>
              </a:r>
              <a:endParaRPr lang="ko-KR" altLang="en-US" sz="1000" dirty="0">
                <a:solidFill>
                  <a:prstClr val="black"/>
                </a:solidFill>
              </a:endParaRP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BEE76F59-D6AB-6A7E-D980-329FAAF5DA37}"/>
                </a:ext>
              </a:extLst>
            </p:cNvPr>
            <p:cNvSpPr txBox="1"/>
            <p:nvPr/>
          </p:nvSpPr>
          <p:spPr>
            <a:xfrm>
              <a:off x="488166" y="3242767"/>
              <a:ext cx="927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ko-KR" sz="1000" dirty="0">
                  <a:solidFill>
                    <a:prstClr val="black"/>
                  </a:solidFill>
                </a:rPr>
                <a:t>S1_ Cout[</a:t>
              </a: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2]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FC909B07-9103-A503-AA5D-E63C3A16A6F9}"/>
                </a:ext>
              </a:extLst>
            </p:cNvPr>
            <p:cNvSpPr txBox="1"/>
            <p:nvPr/>
          </p:nvSpPr>
          <p:spPr>
            <a:xfrm>
              <a:off x="370762" y="2866170"/>
              <a:ext cx="9825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ko-KR" sz="1000" dirty="0">
                  <a:solidFill>
                    <a:prstClr val="black"/>
                  </a:solidFill>
                </a:rPr>
                <a:t>S1_ Cout[</a:t>
              </a: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189]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ED0DED42-074F-7B7B-11B0-E11F8B532BD9}"/>
                </a:ext>
              </a:extLst>
            </p:cNvPr>
            <p:cNvSpPr txBox="1"/>
            <p:nvPr/>
          </p:nvSpPr>
          <p:spPr>
            <a:xfrm>
              <a:off x="362150" y="2541078"/>
              <a:ext cx="98255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ko-KR" sz="1000" dirty="0">
                  <a:solidFill>
                    <a:prstClr val="black"/>
                  </a:solidFill>
                </a:rPr>
                <a:t>S1_ Cout[190]</a:t>
              </a:r>
              <a:endParaRPr lang="ko-KR" altLang="en-US" sz="1000" dirty="0">
                <a:solidFill>
                  <a:prstClr val="black"/>
                </a:solidFill>
              </a:endParaRP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04EC347D-4011-9069-75FE-94415BBC6682}"/>
                </a:ext>
              </a:extLst>
            </p:cNvPr>
            <p:cNvSpPr txBox="1"/>
            <p:nvPr/>
          </p:nvSpPr>
          <p:spPr>
            <a:xfrm>
              <a:off x="357549" y="2193627"/>
              <a:ext cx="98715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ko-KR" sz="1000" dirty="0">
                  <a:solidFill>
                    <a:prstClr val="black"/>
                  </a:solidFill>
                </a:rPr>
                <a:t>S1_ Cout[</a:t>
              </a: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191]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63CD9C4-4D09-E212-81D1-A6BEBAFE5DC4}"/>
              </a:ext>
            </a:extLst>
          </p:cNvPr>
          <p:cNvSpPr txBox="1"/>
          <p:nvPr/>
        </p:nvSpPr>
        <p:spPr>
          <a:xfrm>
            <a:off x="6647696" y="975937"/>
            <a:ext cx="91822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/>
              <a:t>Stage13</a:t>
            </a:r>
            <a:endParaRPr lang="ko-KR" altLang="en-US" sz="13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6B8D77-C1FD-93E4-3D19-20D107A8E170}"/>
              </a:ext>
            </a:extLst>
          </p:cNvPr>
          <p:cNvSpPr txBox="1"/>
          <p:nvPr/>
        </p:nvSpPr>
        <p:spPr>
          <a:xfrm>
            <a:off x="4953949" y="1301821"/>
            <a:ext cx="44776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100" dirty="0"/>
              <a:t>마지막 압축</a:t>
            </a:r>
            <a:endParaRPr lang="en-US" altLang="ko-KR" sz="1100" dirty="0"/>
          </a:p>
          <a:p>
            <a:pPr marL="171450" indent="-171450">
              <a:buFontTx/>
              <a:buChar char="-"/>
            </a:pPr>
            <a:r>
              <a:rPr lang="ko-KR" altLang="en-US" sz="1100" dirty="0"/>
              <a:t>모든 </a:t>
            </a:r>
            <a:r>
              <a:rPr lang="en-US" altLang="ko-KR" sz="1100" dirty="0"/>
              <a:t>weight layer</a:t>
            </a:r>
            <a:r>
              <a:rPr lang="ko-KR" altLang="en-US" sz="1100" dirty="0"/>
              <a:t>에서 비트가 </a:t>
            </a:r>
            <a:r>
              <a:rPr lang="en-US" altLang="ko-KR" sz="1100" dirty="0"/>
              <a:t>2</a:t>
            </a:r>
            <a:r>
              <a:rPr lang="ko-KR" altLang="en-US" sz="1100" dirty="0"/>
              <a:t>개 이하로 압축</a:t>
            </a:r>
            <a:endParaRPr lang="en-US" altLang="ko-KR" sz="1100" dirty="0"/>
          </a:p>
          <a:p>
            <a:pPr marL="171450" indent="-171450">
              <a:buFontTx/>
              <a:buChar char="-"/>
            </a:pPr>
            <a:r>
              <a:rPr lang="en-US" altLang="ko-KR" sz="1100" dirty="0"/>
              <a:t>CPA(Carry Propagate Adder)</a:t>
            </a:r>
            <a:r>
              <a:rPr lang="ko-KR" altLang="en-US" sz="1100" dirty="0"/>
              <a:t>나</a:t>
            </a:r>
            <a:r>
              <a:rPr lang="en-US" altLang="ko-KR" sz="1100" dirty="0"/>
              <a:t> CLA(Carry Look-Ahead Adder) </a:t>
            </a:r>
            <a:r>
              <a:rPr lang="ko-KR" altLang="en-US" sz="1100" dirty="0"/>
              <a:t>등 가산기를 사용하여 </a:t>
            </a:r>
            <a:r>
              <a:rPr lang="en-US" altLang="ko-KR" sz="1100" dirty="0"/>
              <a:t>10-bit </a:t>
            </a:r>
            <a:r>
              <a:rPr lang="ko-KR" altLang="en-US" sz="1100" dirty="0" err="1"/>
              <a:t>정수값</a:t>
            </a:r>
            <a:r>
              <a:rPr lang="ko-KR" altLang="en-US" sz="1100" dirty="0"/>
              <a:t> 생성</a:t>
            </a:r>
            <a:endParaRPr lang="en-US" altLang="ko-KR" sz="1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1" name="표 140">
                <a:extLst>
                  <a:ext uri="{FF2B5EF4-FFF2-40B4-BE49-F238E27FC236}">
                    <a16:creationId xmlns:a16="http://schemas.microsoft.com/office/drawing/2014/main" id="{F01E5F81-E085-2F88-2B5B-20A340E8D7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57801414"/>
                  </p:ext>
                </p:extLst>
              </p:nvPr>
            </p:nvGraphicFramePr>
            <p:xfrm>
              <a:off x="5331513" y="2367320"/>
              <a:ext cx="3361246" cy="4004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80623">
                      <a:extLst>
                        <a:ext uri="{9D8B030D-6E8A-4147-A177-3AD203B41FA5}">
                          <a16:colId xmlns:a16="http://schemas.microsoft.com/office/drawing/2014/main" val="347406089"/>
                        </a:ext>
                      </a:extLst>
                    </a:gridCol>
                    <a:gridCol w="1680623">
                      <a:extLst>
                        <a:ext uri="{9D8B030D-6E8A-4147-A177-3AD203B41FA5}">
                          <a16:colId xmlns:a16="http://schemas.microsoft.com/office/drawing/2014/main" val="1933025343"/>
                        </a:ext>
                      </a:extLst>
                    </a:gridCol>
                  </a:tblGrid>
                  <a:tr h="40045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weight</a:t>
                          </a:r>
                          <a:endParaRPr lang="ko-KR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2C6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값의 수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2C6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4056523"/>
                      </a:ext>
                    </a:extLst>
                  </a:tr>
                  <a:tr h="40045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dirty="0"/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</a:t>
                          </a:r>
                          <a:r>
                            <a:rPr lang="ko-KR" altLang="en-US" dirty="0"/>
                            <a:t>개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2981308"/>
                      </a:ext>
                    </a:extLst>
                  </a:tr>
                  <a:tr h="40045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dirty="0"/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r>
                            <a:rPr lang="ko-KR" altLang="en-US" dirty="0"/>
                            <a:t>개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4242868"/>
                      </a:ext>
                    </a:extLst>
                  </a:tr>
                  <a:tr h="40045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dirty="0"/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r>
                            <a:rPr lang="ko-KR" altLang="en-US" dirty="0"/>
                            <a:t>개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7648118"/>
                      </a:ext>
                    </a:extLst>
                  </a:tr>
                  <a:tr h="40045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dirty="0"/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r>
                            <a:rPr lang="ko-KR" altLang="en-US" dirty="0"/>
                            <a:t>개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3437360"/>
                      </a:ext>
                    </a:extLst>
                  </a:tr>
                  <a:tr h="40045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dirty="0"/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r>
                            <a:rPr lang="ko-KR" altLang="en-US" dirty="0"/>
                            <a:t>개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8321687"/>
                      </a:ext>
                    </a:extLst>
                  </a:tr>
                  <a:tr h="40045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dirty="0"/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r>
                            <a:rPr lang="ko-KR" altLang="en-US" dirty="0"/>
                            <a:t>개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3428943"/>
                      </a:ext>
                    </a:extLst>
                  </a:tr>
                  <a:tr h="40045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dirty="0"/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</a:t>
                          </a:r>
                          <a:r>
                            <a:rPr lang="ko-KR" altLang="en-US" dirty="0"/>
                            <a:t>개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0117420"/>
                      </a:ext>
                    </a:extLst>
                  </a:tr>
                  <a:tr h="40045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dirty="0"/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r>
                            <a:rPr lang="ko-KR" altLang="en-US" dirty="0"/>
                            <a:t>개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8139760"/>
                      </a:ext>
                    </a:extLst>
                  </a:tr>
                  <a:tr h="40045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dirty="0"/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r>
                            <a:rPr lang="ko-KR" altLang="en-US" dirty="0"/>
                            <a:t>개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619173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1" name="표 140">
                <a:extLst>
                  <a:ext uri="{FF2B5EF4-FFF2-40B4-BE49-F238E27FC236}">
                    <a16:creationId xmlns:a16="http://schemas.microsoft.com/office/drawing/2014/main" id="{F01E5F81-E085-2F88-2B5B-20A340E8D7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57801414"/>
                  </p:ext>
                </p:extLst>
              </p:nvPr>
            </p:nvGraphicFramePr>
            <p:xfrm>
              <a:off x="5331513" y="2367320"/>
              <a:ext cx="3361246" cy="4004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80623">
                      <a:extLst>
                        <a:ext uri="{9D8B030D-6E8A-4147-A177-3AD203B41FA5}">
                          <a16:colId xmlns:a16="http://schemas.microsoft.com/office/drawing/2014/main" val="347406089"/>
                        </a:ext>
                      </a:extLst>
                    </a:gridCol>
                    <a:gridCol w="1680623">
                      <a:extLst>
                        <a:ext uri="{9D8B030D-6E8A-4147-A177-3AD203B41FA5}">
                          <a16:colId xmlns:a16="http://schemas.microsoft.com/office/drawing/2014/main" val="1933025343"/>
                        </a:ext>
                      </a:extLst>
                    </a:gridCol>
                  </a:tblGrid>
                  <a:tr h="40045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weight</a:t>
                          </a:r>
                          <a:endParaRPr lang="ko-KR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2C6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값의 수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2C6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4056523"/>
                      </a:ext>
                    </a:extLst>
                  </a:tr>
                  <a:tr h="40045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2" t="-103030" r="-101087" b="-8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</a:t>
                          </a:r>
                          <a:r>
                            <a:rPr lang="ko-KR" altLang="en-US" dirty="0"/>
                            <a:t>개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2981308"/>
                      </a:ext>
                    </a:extLst>
                  </a:tr>
                  <a:tr h="40045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2" t="-206154" r="-101087" b="-7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r>
                            <a:rPr lang="ko-KR" altLang="en-US" dirty="0"/>
                            <a:t>개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4242868"/>
                      </a:ext>
                    </a:extLst>
                  </a:tr>
                  <a:tr h="40045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2" t="-301515" r="-101087" b="-6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r>
                            <a:rPr lang="ko-KR" altLang="en-US" dirty="0"/>
                            <a:t>개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7648118"/>
                      </a:ext>
                    </a:extLst>
                  </a:tr>
                  <a:tr h="40045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2" t="-401515" r="-101087" b="-5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r>
                            <a:rPr lang="ko-KR" altLang="en-US" dirty="0"/>
                            <a:t>개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3437360"/>
                      </a:ext>
                    </a:extLst>
                  </a:tr>
                  <a:tr h="40045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2" t="-501515" r="-101087" b="-4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r>
                            <a:rPr lang="ko-KR" altLang="en-US" dirty="0"/>
                            <a:t>개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8321687"/>
                      </a:ext>
                    </a:extLst>
                  </a:tr>
                  <a:tr h="40045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2" t="-601515" r="-101087" b="-3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r>
                            <a:rPr lang="ko-KR" altLang="en-US" dirty="0"/>
                            <a:t>개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3428943"/>
                      </a:ext>
                    </a:extLst>
                  </a:tr>
                  <a:tr h="40045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2" t="-712308" r="-101087" b="-2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</a:t>
                          </a:r>
                          <a:r>
                            <a:rPr lang="ko-KR" altLang="en-US" dirty="0"/>
                            <a:t>개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0117420"/>
                      </a:ext>
                    </a:extLst>
                  </a:tr>
                  <a:tr h="40045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2" t="-800000" r="-101087" b="-1196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r>
                            <a:rPr lang="ko-KR" altLang="en-US" dirty="0"/>
                            <a:t>개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8139760"/>
                      </a:ext>
                    </a:extLst>
                  </a:tr>
                  <a:tr h="40045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2" t="-900000" r="-101087" b="-196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r>
                            <a:rPr lang="ko-KR" altLang="en-US" dirty="0"/>
                            <a:t>개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619173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9135E74A-3998-BF26-F2A3-E2D09ECEFC92}"/>
              </a:ext>
            </a:extLst>
          </p:cNvPr>
          <p:cNvCxnSpPr>
            <a:cxnSpLocks/>
          </p:cNvCxnSpPr>
          <p:nvPr/>
        </p:nvCxnSpPr>
        <p:spPr>
          <a:xfrm>
            <a:off x="8911875" y="4366064"/>
            <a:ext cx="33536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D952037A-7FA4-4A69-9BA2-6D3C664FE745}"/>
              </a:ext>
            </a:extLst>
          </p:cNvPr>
          <p:cNvSpPr txBox="1"/>
          <p:nvPr/>
        </p:nvSpPr>
        <p:spPr>
          <a:xfrm>
            <a:off x="9324388" y="4225046"/>
            <a:ext cx="22162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CPA</a:t>
            </a:r>
            <a:r>
              <a:rPr lang="ko-KR" altLang="en-US" sz="1100" dirty="0"/>
              <a:t>를 사용하여 덧셈</a:t>
            </a:r>
            <a:endParaRPr lang="en-US" altLang="ko-KR" sz="1100" dirty="0"/>
          </a:p>
          <a:p>
            <a:r>
              <a:rPr lang="en-US" altLang="ko-KR" sz="1100" dirty="0"/>
              <a:t>(Output</a:t>
            </a:r>
            <a:r>
              <a:rPr lang="ko-KR" altLang="en-US" sz="1100" dirty="0"/>
              <a:t>은 최대 </a:t>
            </a:r>
            <a:r>
              <a:rPr lang="en-US" altLang="ko-KR" sz="1100" dirty="0"/>
              <a:t>10-bit</a:t>
            </a:r>
            <a:r>
              <a:rPr lang="ko-KR" altLang="en-US" sz="1100" dirty="0"/>
              <a:t>의 값</a:t>
            </a:r>
            <a:r>
              <a:rPr lang="en-US" altLang="ko-KR" sz="11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54819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60D54-967D-1136-61D3-ED1651204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EF01C4-86F0-7175-CFEC-D3BA227CE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Heirarchical</a:t>
            </a:r>
            <a:r>
              <a:rPr lang="en-US" altLang="ko-KR" sz="4000" dirty="0"/>
              <a:t> Majority Voter</a:t>
            </a:r>
            <a:endParaRPr lang="ko-KR" altLang="en-US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111723-0011-C435-0673-2AD4622865EB}"/>
              </a:ext>
            </a:extLst>
          </p:cNvPr>
          <p:cNvSpPr txBox="1"/>
          <p:nvPr/>
        </p:nvSpPr>
        <p:spPr>
          <a:xfrm>
            <a:off x="6448870" y="1301078"/>
            <a:ext cx="55575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Heirarchical</a:t>
            </a:r>
            <a:r>
              <a:rPr lang="en-US" altLang="ko-KR" b="1" dirty="0"/>
              <a:t> Majority Voter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1-level : 64-bit</a:t>
            </a:r>
            <a:r>
              <a:rPr lang="ko-KR" altLang="en-US" sz="1400" dirty="0"/>
              <a:t>씩 묶어서 </a:t>
            </a:r>
            <a:r>
              <a:rPr lang="en-US" altLang="ko-KR" sz="1400" dirty="0"/>
              <a:t>9</a:t>
            </a:r>
            <a:r>
              <a:rPr lang="ko-KR" altLang="en-US" sz="1400" dirty="0"/>
              <a:t>개의 </a:t>
            </a:r>
            <a:r>
              <a:rPr lang="en-US" altLang="ko-KR" sz="1400" dirty="0"/>
              <a:t>Majority Voter </a:t>
            </a:r>
            <a:r>
              <a:rPr lang="ko-KR" altLang="en-US" sz="1400" dirty="0"/>
              <a:t>결과 생성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2-level : 1-level</a:t>
            </a:r>
            <a:r>
              <a:rPr lang="ko-KR" altLang="en-US" sz="1400" dirty="0"/>
              <a:t>의 결과값을 이용하여 최종 </a:t>
            </a:r>
            <a:r>
              <a:rPr lang="en-US" altLang="ko-KR" sz="1400" dirty="0"/>
              <a:t>output bit</a:t>
            </a:r>
            <a:r>
              <a:rPr lang="ko-KR" altLang="en-US" sz="1400" dirty="0"/>
              <a:t>값 결정</a:t>
            </a:r>
            <a:endParaRPr lang="en-US" altLang="ko-KR" sz="1400" dirty="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FCC61F4-DAFC-8178-F93F-144B97B4313D}"/>
              </a:ext>
            </a:extLst>
          </p:cNvPr>
          <p:cNvGrpSpPr/>
          <p:nvPr/>
        </p:nvGrpSpPr>
        <p:grpSpPr>
          <a:xfrm>
            <a:off x="504350" y="4831706"/>
            <a:ext cx="2401082" cy="1577681"/>
            <a:chOff x="504350" y="4831706"/>
            <a:chExt cx="2401082" cy="157768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50F4CF3-E8C5-CD5E-152C-63B81BBFB086}"/>
                </a:ext>
              </a:extLst>
            </p:cNvPr>
            <p:cNvSpPr txBox="1"/>
            <p:nvPr/>
          </p:nvSpPr>
          <p:spPr>
            <a:xfrm>
              <a:off x="504350" y="4831706"/>
              <a:ext cx="927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Input[63]</a:t>
              </a:r>
              <a:endParaRPr lang="ko-KR" altLang="en-US" sz="12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DA7A7F6-0477-5577-B854-3167320759EF}"/>
                </a:ext>
              </a:extLst>
            </p:cNvPr>
            <p:cNvSpPr txBox="1"/>
            <p:nvPr/>
          </p:nvSpPr>
          <p:spPr>
            <a:xfrm>
              <a:off x="525125" y="6132388"/>
              <a:ext cx="927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Input[0]</a:t>
              </a:r>
              <a:endParaRPr lang="ko-KR" altLang="en-US" sz="1200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94801400-1178-9B9A-F7D5-73CCDA8C00F3}"/>
                </a:ext>
              </a:extLst>
            </p:cNvPr>
            <p:cNvGrpSpPr/>
            <p:nvPr/>
          </p:nvGrpSpPr>
          <p:grpSpPr>
            <a:xfrm>
              <a:off x="1280570" y="4970206"/>
              <a:ext cx="1624862" cy="1305262"/>
              <a:chOff x="1300480" y="2339554"/>
              <a:chExt cx="2667000" cy="2171485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D19D3B15-35E6-4912-569D-3C5B7454121D}"/>
                  </a:ext>
                </a:extLst>
              </p:cNvPr>
              <p:cNvSpPr/>
              <p:nvPr/>
            </p:nvSpPr>
            <p:spPr>
              <a:xfrm>
                <a:off x="1795780" y="2339554"/>
                <a:ext cx="1676400" cy="2171485"/>
              </a:xfrm>
              <a:prstGeom prst="rect">
                <a:avLst/>
              </a:prstGeom>
              <a:solidFill>
                <a:srgbClr val="002C62"/>
              </a:solidFill>
              <a:ln>
                <a:solidFill>
                  <a:srgbClr val="002C6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64-bit Majority Voter</a:t>
                </a:r>
                <a:endParaRPr lang="ko-KR" altLang="en-US" sz="1200" dirty="0"/>
              </a:p>
            </p:txBody>
          </p:sp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364AF70D-9EAE-1179-1360-8477CEBF4D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00480" y="2347174"/>
                <a:ext cx="495300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2682E136-6809-D588-8DFD-357D356641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00480" y="4503419"/>
                <a:ext cx="495300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74E74818-A9E0-9D4D-32E6-F4151867D4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72180" y="3429000"/>
                <a:ext cx="495300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2E5F073-F7EF-C709-8CB7-8683F1AB637D}"/>
                </a:ext>
              </a:extLst>
            </p:cNvPr>
            <p:cNvSpPr txBox="1"/>
            <p:nvPr/>
          </p:nvSpPr>
          <p:spPr>
            <a:xfrm>
              <a:off x="737866" y="5410506"/>
              <a:ext cx="427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…</a:t>
              </a:r>
              <a:endParaRPr lang="ko-KR" altLang="en-US" sz="1200" dirty="0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3D3CCF5-7084-6EBD-A9A2-DE8A5914685B}"/>
              </a:ext>
            </a:extLst>
          </p:cNvPr>
          <p:cNvGrpSpPr/>
          <p:nvPr/>
        </p:nvGrpSpPr>
        <p:grpSpPr>
          <a:xfrm>
            <a:off x="476902" y="3170019"/>
            <a:ext cx="2401082" cy="1577681"/>
            <a:chOff x="476902" y="3170019"/>
            <a:chExt cx="2401082" cy="157768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32D56E8-8ECE-35D0-6A80-CD60D17D9722}"/>
                </a:ext>
              </a:extLst>
            </p:cNvPr>
            <p:cNvSpPr txBox="1"/>
            <p:nvPr/>
          </p:nvSpPr>
          <p:spPr>
            <a:xfrm>
              <a:off x="497677" y="4470701"/>
              <a:ext cx="927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Input[64]</a:t>
              </a:r>
              <a:endParaRPr lang="ko-KR" altLang="en-US" sz="1200" dirty="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8A2A9E90-A2B6-50CC-7D27-130C0944FF5E}"/>
                </a:ext>
              </a:extLst>
            </p:cNvPr>
            <p:cNvGrpSpPr/>
            <p:nvPr/>
          </p:nvGrpSpPr>
          <p:grpSpPr>
            <a:xfrm>
              <a:off x="476902" y="3170019"/>
              <a:ext cx="2401082" cy="1443762"/>
              <a:chOff x="489602" y="3170019"/>
              <a:chExt cx="2401082" cy="1443762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004AAEE-8202-70C3-8954-C6E0586B9B0C}"/>
                  </a:ext>
                </a:extLst>
              </p:cNvPr>
              <p:cNvSpPr txBox="1"/>
              <p:nvPr/>
            </p:nvSpPr>
            <p:spPr>
              <a:xfrm>
                <a:off x="489602" y="3170019"/>
                <a:ext cx="9271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Input[127]</a:t>
                </a:r>
                <a:endParaRPr lang="ko-KR" altLang="en-US" sz="1200" dirty="0"/>
              </a:p>
            </p:txBody>
          </p: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CFA3844E-DFDE-A667-5DC8-42CFF92E96CE}"/>
                  </a:ext>
                </a:extLst>
              </p:cNvPr>
              <p:cNvGrpSpPr/>
              <p:nvPr/>
            </p:nvGrpSpPr>
            <p:grpSpPr>
              <a:xfrm>
                <a:off x="1265822" y="3308519"/>
                <a:ext cx="1624862" cy="1305262"/>
                <a:chOff x="1300480" y="2339554"/>
                <a:chExt cx="2667000" cy="2171485"/>
              </a:xfrm>
            </p:grpSpPr>
            <p:sp>
              <p:nvSpPr>
                <p:cNvPr id="24" name="직사각형 23">
                  <a:extLst>
                    <a:ext uri="{FF2B5EF4-FFF2-40B4-BE49-F238E27FC236}">
                      <a16:creationId xmlns:a16="http://schemas.microsoft.com/office/drawing/2014/main" id="{66E9FBE4-29E5-6EA9-8FD0-0712E231B30F}"/>
                    </a:ext>
                  </a:extLst>
                </p:cNvPr>
                <p:cNvSpPr/>
                <p:nvPr/>
              </p:nvSpPr>
              <p:spPr>
                <a:xfrm>
                  <a:off x="1795780" y="2339554"/>
                  <a:ext cx="1676400" cy="2171485"/>
                </a:xfrm>
                <a:prstGeom prst="rect">
                  <a:avLst/>
                </a:prstGeom>
                <a:solidFill>
                  <a:srgbClr val="002C62"/>
                </a:solidFill>
                <a:ln>
                  <a:solidFill>
                    <a:srgbClr val="002C6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/>
                    <a:t>64-bit Majority Voter</a:t>
                  </a:r>
                  <a:endParaRPr lang="ko-KR" altLang="en-US" sz="1200" dirty="0"/>
                </a:p>
              </p:txBody>
            </p: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DDACB4EC-0CC4-3FF0-F4C9-0508AA95E6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0480" y="2347174"/>
                  <a:ext cx="495300" cy="0"/>
                </a:xfrm>
                <a:prstGeom prst="line">
                  <a:avLst/>
                </a:prstGeom>
                <a:ln w="28575">
                  <a:solidFill>
                    <a:srgbClr val="002C6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직선 연결선 25">
                  <a:extLst>
                    <a:ext uri="{FF2B5EF4-FFF2-40B4-BE49-F238E27FC236}">
                      <a16:creationId xmlns:a16="http://schemas.microsoft.com/office/drawing/2014/main" id="{E0A9E7B5-3489-3332-ADC7-53BBC2AF4B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0480" y="4503419"/>
                  <a:ext cx="495300" cy="0"/>
                </a:xfrm>
                <a:prstGeom prst="line">
                  <a:avLst/>
                </a:prstGeom>
                <a:ln w="28575">
                  <a:solidFill>
                    <a:srgbClr val="002C6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직선 연결선 26">
                  <a:extLst>
                    <a:ext uri="{FF2B5EF4-FFF2-40B4-BE49-F238E27FC236}">
                      <a16:creationId xmlns:a16="http://schemas.microsoft.com/office/drawing/2014/main" id="{BAB6165C-DB67-E516-EF08-315B1A49D0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72180" y="3429000"/>
                  <a:ext cx="495300" cy="0"/>
                </a:xfrm>
                <a:prstGeom prst="line">
                  <a:avLst/>
                </a:prstGeom>
                <a:ln w="28575">
                  <a:solidFill>
                    <a:srgbClr val="002C6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2A46B1F-DA4C-CB15-93BA-D3A571AA1ACE}"/>
                  </a:ext>
                </a:extLst>
              </p:cNvPr>
              <p:cNvSpPr txBox="1"/>
              <p:nvPr/>
            </p:nvSpPr>
            <p:spPr>
              <a:xfrm>
                <a:off x="723118" y="3748819"/>
                <a:ext cx="4272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…</a:t>
                </a:r>
                <a:endParaRPr lang="ko-KR" altLang="en-US" sz="1200" dirty="0"/>
              </a:p>
            </p:txBody>
          </p:sp>
        </p:grp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C1A9E2A-B649-0095-B877-3EDC8752F5D4}"/>
              </a:ext>
            </a:extLst>
          </p:cNvPr>
          <p:cNvGrpSpPr/>
          <p:nvPr/>
        </p:nvGrpSpPr>
        <p:grpSpPr>
          <a:xfrm>
            <a:off x="504350" y="1199506"/>
            <a:ext cx="2401082" cy="1577681"/>
            <a:chOff x="504350" y="4831706"/>
            <a:chExt cx="2401082" cy="1577681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3D7C6D7-2EE6-2E2D-0500-857828C64381}"/>
                </a:ext>
              </a:extLst>
            </p:cNvPr>
            <p:cNvSpPr txBox="1"/>
            <p:nvPr/>
          </p:nvSpPr>
          <p:spPr>
            <a:xfrm>
              <a:off x="504350" y="4831706"/>
              <a:ext cx="927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Input[575]</a:t>
              </a:r>
              <a:endParaRPr lang="ko-KR" altLang="en-US" sz="12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C30539E-C0F3-3AB9-DC78-66D0B9CC9D0E}"/>
                </a:ext>
              </a:extLst>
            </p:cNvPr>
            <p:cNvSpPr txBox="1"/>
            <p:nvPr/>
          </p:nvSpPr>
          <p:spPr>
            <a:xfrm>
              <a:off x="525125" y="6132388"/>
              <a:ext cx="927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Input[512]</a:t>
              </a:r>
              <a:endParaRPr lang="ko-KR" altLang="en-US" sz="1200" dirty="0"/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67B2938C-5DC6-378D-1883-78EE89511BF0}"/>
                </a:ext>
              </a:extLst>
            </p:cNvPr>
            <p:cNvGrpSpPr/>
            <p:nvPr/>
          </p:nvGrpSpPr>
          <p:grpSpPr>
            <a:xfrm>
              <a:off x="1280570" y="4970206"/>
              <a:ext cx="1624862" cy="1305262"/>
              <a:chOff x="1300480" y="2339554"/>
              <a:chExt cx="2667000" cy="2171485"/>
            </a:xfrm>
          </p:grpSpPr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5D576862-B3CB-C600-3662-0C35C434AD74}"/>
                  </a:ext>
                </a:extLst>
              </p:cNvPr>
              <p:cNvSpPr/>
              <p:nvPr/>
            </p:nvSpPr>
            <p:spPr>
              <a:xfrm>
                <a:off x="1795780" y="2339554"/>
                <a:ext cx="1676400" cy="2171485"/>
              </a:xfrm>
              <a:prstGeom prst="rect">
                <a:avLst/>
              </a:prstGeom>
              <a:solidFill>
                <a:srgbClr val="002C62"/>
              </a:solidFill>
              <a:ln>
                <a:solidFill>
                  <a:srgbClr val="002C6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64-bit Majority Voter</a:t>
                </a:r>
                <a:endParaRPr lang="ko-KR" altLang="en-US" sz="1200" dirty="0"/>
              </a:p>
            </p:txBody>
          </p: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8E5A32A3-0533-5D66-A324-42556C15AB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00480" y="2347174"/>
                <a:ext cx="495300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7CD2E44B-0C56-497D-728C-E4B56CF96F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00480" y="4503419"/>
                <a:ext cx="495300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98C3F296-2CBC-FA51-407A-3426818470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72180" y="3429000"/>
                <a:ext cx="495300" cy="0"/>
              </a:xfrm>
              <a:prstGeom prst="line">
                <a:avLst/>
              </a:prstGeom>
              <a:ln w="28575">
                <a:solidFill>
                  <a:srgbClr val="002C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1B343CB-2B2E-D39B-0D9B-E63207430412}"/>
                </a:ext>
              </a:extLst>
            </p:cNvPr>
            <p:cNvSpPr txBox="1"/>
            <p:nvPr/>
          </p:nvSpPr>
          <p:spPr>
            <a:xfrm>
              <a:off x="737866" y="5410506"/>
              <a:ext cx="427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…</a:t>
              </a:r>
              <a:endParaRPr lang="ko-KR" altLang="en-US" sz="1200" dirty="0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1F4B6DBB-D821-53FC-F76E-44153E7CDE06}"/>
              </a:ext>
            </a:extLst>
          </p:cNvPr>
          <p:cNvSpPr txBox="1"/>
          <p:nvPr/>
        </p:nvSpPr>
        <p:spPr>
          <a:xfrm>
            <a:off x="1459599" y="2821481"/>
            <a:ext cx="427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…</a:t>
            </a:r>
            <a:endParaRPr lang="ko-KR" altLang="en-US" sz="12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CC2723-ABF2-0DE7-54E1-12597BA7D9C3}"/>
              </a:ext>
            </a:extLst>
          </p:cNvPr>
          <p:cNvSpPr txBox="1"/>
          <p:nvPr/>
        </p:nvSpPr>
        <p:spPr>
          <a:xfrm>
            <a:off x="2915710" y="5484337"/>
            <a:ext cx="1095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L1_Output[0]</a:t>
            </a:r>
            <a:endParaRPr lang="ko-KR" altLang="en-US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1142679-17F7-D8D5-6559-9A227FA1D052}"/>
              </a:ext>
            </a:extLst>
          </p:cNvPr>
          <p:cNvSpPr txBox="1"/>
          <p:nvPr/>
        </p:nvSpPr>
        <p:spPr>
          <a:xfrm>
            <a:off x="2877983" y="3822650"/>
            <a:ext cx="1133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L1_Output[1]</a:t>
            </a:r>
            <a:endParaRPr lang="ko-KR" altLang="en-US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016BD7D-CA14-E660-0AED-E02E0E88CE40}"/>
              </a:ext>
            </a:extLst>
          </p:cNvPr>
          <p:cNvSpPr txBox="1"/>
          <p:nvPr/>
        </p:nvSpPr>
        <p:spPr>
          <a:xfrm>
            <a:off x="2891540" y="1839687"/>
            <a:ext cx="10352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L1_Output[8]</a:t>
            </a:r>
            <a:endParaRPr lang="ko-KR" altLang="en-US" sz="12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776B62B-861A-5932-F531-7C93B8A6F43E}"/>
              </a:ext>
            </a:extLst>
          </p:cNvPr>
          <p:cNvSpPr/>
          <p:nvPr/>
        </p:nvSpPr>
        <p:spPr>
          <a:xfrm>
            <a:off x="5265535" y="3087766"/>
            <a:ext cx="1021342" cy="1305262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9-bit Majority Voter</a:t>
            </a:r>
            <a:endParaRPr lang="ko-KR" altLang="en-US" sz="1200" dirty="0"/>
          </a:p>
        </p:txBody>
      </p: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FE95162B-DDF4-55E3-AA1A-431A9BA29B50}"/>
              </a:ext>
            </a:extLst>
          </p:cNvPr>
          <p:cNvCxnSpPr>
            <a:cxnSpLocks/>
            <a:stCxn id="42" idx="3"/>
            <a:endCxn id="141" idx="2"/>
          </p:cNvCxnSpPr>
          <p:nvPr/>
        </p:nvCxnSpPr>
        <p:spPr>
          <a:xfrm flipV="1">
            <a:off x="4011559" y="4296942"/>
            <a:ext cx="1231116" cy="1325895"/>
          </a:xfrm>
          <a:prstGeom prst="bentConnector3">
            <a:avLst>
              <a:gd name="adj1" fmla="val 50000"/>
            </a:avLst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타원 140">
            <a:extLst>
              <a:ext uri="{FF2B5EF4-FFF2-40B4-BE49-F238E27FC236}">
                <a16:creationId xmlns:a16="http://schemas.microsoft.com/office/drawing/2014/main" id="{7F99AC32-37A4-5001-DEB7-C06BAA693966}"/>
              </a:ext>
            </a:extLst>
          </p:cNvPr>
          <p:cNvSpPr/>
          <p:nvPr/>
        </p:nvSpPr>
        <p:spPr>
          <a:xfrm>
            <a:off x="5242675" y="4274082"/>
            <a:ext cx="45719" cy="45719"/>
          </a:xfrm>
          <a:prstGeom prst="ellipse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5874DD9E-93BB-BE3E-AA92-423B5E040D24}"/>
              </a:ext>
            </a:extLst>
          </p:cNvPr>
          <p:cNvSpPr/>
          <p:nvPr/>
        </p:nvSpPr>
        <p:spPr>
          <a:xfrm>
            <a:off x="5231246" y="4112723"/>
            <a:ext cx="45719" cy="45719"/>
          </a:xfrm>
          <a:prstGeom prst="ellipse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4DAF3FC0-0330-8B52-BD0E-BD72EA4B3DF8}"/>
              </a:ext>
            </a:extLst>
          </p:cNvPr>
          <p:cNvCxnSpPr>
            <a:cxnSpLocks/>
            <a:stCxn id="43" idx="3"/>
            <a:endCxn id="60" idx="2"/>
          </p:cNvCxnSpPr>
          <p:nvPr/>
        </p:nvCxnSpPr>
        <p:spPr>
          <a:xfrm>
            <a:off x="4011560" y="3961150"/>
            <a:ext cx="1219686" cy="174433"/>
          </a:xfrm>
          <a:prstGeom prst="bentConnector3">
            <a:avLst>
              <a:gd name="adj1" fmla="val 50000"/>
            </a:avLst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타원 128">
            <a:extLst>
              <a:ext uri="{FF2B5EF4-FFF2-40B4-BE49-F238E27FC236}">
                <a16:creationId xmlns:a16="http://schemas.microsoft.com/office/drawing/2014/main" id="{52966145-3DB9-FA70-7C6B-9F8C5D940287}"/>
              </a:ext>
            </a:extLst>
          </p:cNvPr>
          <p:cNvSpPr/>
          <p:nvPr/>
        </p:nvSpPr>
        <p:spPr>
          <a:xfrm>
            <a:off x="5242675" y="3322273"/>
            <a:ext cx="45719" cy="45719"/>
          </a:xfrm>
          <a:prstGeom prst="ellipse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A556893C-2338-4B16-3E4F-DF61DAB67875}"/>
              </a:ext>
            </a:extLst>
          </p:cNvPr>
          <p:cNvSpPr/>
          <p:nvPr/>
        </p:nvSpPr>
        <p:spPr>
          <a:xfrm>
            <a:off x="5245994" y="3160914"/>
            <a:ext cx="45719" cy="45719"/>
          </a:xfrm>
          <a:prstGeom prst="ellipse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1" name="연결선: 꺾임 130">
            <a:extLst>
              <a:ext uri="{FF2B5EF4-FFF2-40B4-BE49-F238E27FC236}">
                <a16:creationId xmlns:a16="http://schemas.microsoft.com/office/drawing/2014/main" id="{99BFD6B1-6285-0C13-0DE1-D079E56F6A9F}"/>
              </a:ext>
            </a:extLst>
          </p:cNvPr>
          <p:cNvCxnSpPr>
            <a:cxnSpLocks/>
            <a:stCxn id="44" idx="3"/>
            <a:endCxn id="130" idx="2"/>
          </p:cNvCxnSpPr>
          <p:nvPr/>
        </p:nvCxnSpPr>
        <p:spPr>
          <a:xfrm>
            <a:off x="3926774" y="1978187"/>
            <a:ext cx="1319220" cy="1205587"/>
          </a:xfrm>
          <a:prstGeom prst="bentConnector3">
            <a:avLst>
              <a:gd name="adj1" fmla="val 50000"/>
            </a:avLst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EA32715C-8AA9-03B2-5672-3FD609F6E606}"/>
              </a:ext>
            </a:extLst>
          </p:cNvPr>
          <p:cNvSpPr txBox="1"/>
          <p:nvPr/>
        </p:nvSpPr>
        <p:spPr>
          <a:xfrm>
            <a:off x="4687399" y="3429000"/>
            <a:ext cx="427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…</a:t>
            </a:r>
            <a:endParaRPr lang="ko-KR" altLang="en-US" sz="1200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F8FA945-95CA-E8B8-B52E-005EA4821F94}"/>
              </a:ext>
            </a:extLst>
          </p:cNvPr>
          <p:cNvSpPr txBox="1"/>
          <p:nvPr/>
        </p:nvSpPr>
        <p:spPr>
          <a:xfrm>
            <a:off x="6588636" y="3601897"/>
            <a:ext cx="1133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Output</a:t>
            </a:r>
            <a:endParaRPr lang="ko-KR" altLang="en-US" sz="1200" dirty="0"/>
          </a:p>
        </p:txBody>
      </p: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18BBCE2-58A4-9ADB-E0F5-ED08C6BD29DA}"/>
              </a:ext>
            </a:extLst>
          </p:cNvPr>
          <p:cNvCxnSpPr>
            <a:cxnSpLocks/>
          </p:cNvCxnSpPr>
          <p:nvPr/>
        </p:nvCxnSpPr>
        <p:spPr>
          <a:xfrm>
            <a:off x="6297990" y="3740397"/>
            <a:ext cx="301760" cy="0"/>
          </a:xfrm>
          <a:prstGeom prst="line">
            <a:avLst/>
          </a:prstGeom>
          <a:ln w="28575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7" name="그림 136">
            <a:extLst>
              <a:ext uri="{FF2B5EF4-FFF2-40B4-BE49-F238E27FC236}">
                <a16:creationId xmlns:a16="http://schemas.microsoft.com/office/drawing/2014/main" id="{D3AA4153-96BE-E6F2-2B0A-B537650F1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998" y="3258730"/>
            <a:ext cx="3769556" cy="1127839"/>
          </a:xfrm>
          <a:prstGeom prst="rect">
            <a:avLst/>
          </a:prstGeom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BD5A1A39-D2EE-14C2-A2C5-20BB42C6AAF9}"/>
              </a:ext>
            </a:extLst>
          </p:cNvPr>
          <p:cNvSpPr txBox="1"/>
          <p:nvPr/>
        </p:nvSpPr>
        <p:spPr>
          <a:xfrm>
            <a:off x="8607522" y="4428547"/>
            <a:ext cx="16991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9-bit Majority Voter </a:t>
            </a:r>
            <a:r>
              <a:rPr lang="ko-KR" altLang="en-US" sz="1100" dirty="0"/>
              <a:t>구조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1344320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8885</TotalTime>
  <Words>1430</Words>
  <Application>Microsoft Office PowerPoint</Application>
  <PresentationFormat>와이드스크린</PresentationFormat>
  <Paragraphs>395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Cambria Math</vt:lpstr>
      <vt:lpstr>Office 테마</vt:lpstr>
      <vt:lpstr>PopBin + Hierarchical Majority Voter</vt:lpstr>
      <vt:lpstr>BNN(Binary Neural Network)</vt:lpstr>
      <vt:lpstr>Binary Conv</vt:lpstr>
      <vt:lpstr>Binary Conv</vt:lpstr>
      <vt:lpstr>PopBin</vt:lpstr>
      <vt:lpstr>PopBin 예시</vt:lpstr>
      <vt:lpstr>PopBin</vt:lpstr>
      <vt:lpstr>Majority Voter</vt:lpstr>
      <vt:lpstr>Popcount 구조</vt:lpstr>
      <vt:lpstr>Popcount 구조</vt:lpstr>
      <vt:lpstr>Popcount 구조</vt:lpstr>
      <vt:lpstr>Heirarchical Majority Voter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2121</cp:revision>
  <dcterms:created xsi:type="dcterms:W3CDTF">2023-03-06T16:32:37Z</dcterms:created>
  <dcterms:modified xsi:type="dcterms:W3CDTF">2026-04-14T13:51:14Z</dcterms:modified>
</cp:coreProperties>
</file>