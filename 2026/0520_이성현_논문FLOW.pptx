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2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BF"/>
    <a:srgbClr val="0066CC"/>
    <a:srgbClr val="000099"/>
    <a:srgbClr val="002C62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3083" autoAdjust="0"/>
  </p:normalViewPr>
  <p:slideViewPr>
    <p:cSldViewPr snapToGrid="0">
      <p:cViewPr varScale="1">
        <p:scale>
          <a:sx n="82" d="100"/>
          <a:sy n="82" d="100"/>
        </p:scale>
        <p:origin x="139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836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5-20T07:13:17.181" v="15196" actId="20577"/>
      <pc:docMkLst>
        <pc:docMk/>
      </pc:docMkLst>
      <pc:sldChg chg="modSp add mod ord">
        <pc:chgData name="성현 이" userId="2f0182ffdb5a30a3" providerId="LiveId" clId="{96CFCBFF-3B86-4DA3-8BC4-90A0DDDF2BC8}" dt="2026-05-19T11:52:40.959" v="14981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5-19T11:52:40.959" v="14981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5-19T11:52:31.801" v="14953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5-06T12:34:58.302" v="5" actId="2696"/>
        <pc:sldMkLst>
          <pc:docMk/>
          <pc:sldMk cId="1461993909" sldId="260"/>
        </pc:sldMkLst>
      </pc:sldChg>
      <pc:sldChg chg="addSp delSp modSp new mod">
        <pc:chgData name="성현 이" userId="2f0182ffdb5a30a3" providerId="LiveId" clId="{96CFCBFF-3B86-4DA3-8BC4-90A0DDDF2BC8}" dt="2026-05-15T01:54:06.231" v="1923" actId="20577"/>
        <pc:sldMkLst>
          <pc:docMk/>
          <pc:sldMk cId="1108357708" sldId="261"/>
        </pc:sldMkLst>
        <pc:spChg chg="mod">
          <ac:chgData name="성현 이" userId="2f0182ffdb5a30a3" providerId="LiveId" clId="{96CFCBFF-3B86-4DA3-8BC4-90A0DDDF2BC8}" dt="2026-05-06T12:35:04.504" v="17" actId="20577"/>
          <ac:spMkLst>
            <pc:docMk/>
            <pc:sldMk cId="1108357708" sldId="261"/>
            <ac:spMk id="2" creationId="{60C28E6B-A16A-ACEE-1B27-14CF754B4D89}"/>
          </ac:spMkLst>
        </pc:spChg>
        <pc:spChg chg="add mod">
          <ac:chgData name="성현 이" userId="2f0182ffdb5a30a3" providerId="LiveId" clId="{96CFCBFF-3B86-4DA3-8BC4-90A0DDDF2BC8}" dt="2026-05-14T08:07:24.734" v="698" actId="16959"/>
          <ac:spMkLst>
            <pc:docMk/>
            <pc:sldMk cId="1108357708" sldId="261"/>
            <ac:spMk id="3" creationId="{A7C18FDF-36F5-46D6-B171-D4D332DE518A}"/>
          </ac:spMkLst>
        </pc:spChg>
        <pc:spChg chg="add mod">
          <ac:chgData name="성현 이" userId="2f0182ffdb5a30a3" providerId="LiveId" clId="{96CFCBFF-3B86-4DA3-8BC4-90A0DDDF2BC8}" dt="2026-05-14T06:32:32.823" v="345" actId="1076"/>
          <ac:spMkLst>
            <pc:docMk/>
            <pc:sldMk cId="1108357708" sldId="261"/>
            <ac:spMk id="5" creationId="{F1E67F10-F2C3-7045-0B82-26D34458350C}"/>
          </ac:spMkLst>
        </pc:spChg>
        <pc:spChg chg="add mod">
          <ac:chgData name="성현 이" userId="2f0182ffdb5a30a3" providerId="LiveId" clId="{96CFCBFF-3B86-4DA3-8BC4-90A0DDDF2BC8}" dt="2026-05-14T15:14:42.456" v="1647" actId="20577"/>
          <ac:spMkLst>
            <pc:docMk/>
            <pc:sldMk cId="1108357708" sldId="261"/>
            <ac:spMk id="6" creationId="{64670CA5-8877-BE3A-9CD4-64ED88B46D42}"/>
          </ac:spMkLst>
        </pc:spChg>
        <pc:spChg chg="add mod">
          <ac:chgData name="성현 이" userId="2f0182ffdb5a30a3" providerId="LiveId" clId="{96CFCBFF-3B86-4DA3-8BC4-90A0DDDF2BC8}" dt="2026-05-15T01:54:06.231" v="1923" actId="20577"/>
          <ac:spMkLst>
            <pc:docMk/>
            <pc:sldMk cId="1108357708" sldId="261"/>
            <ac:spMk id="10" creationId="{47CBE3DD-60CB-4CF8-2C95-4E8074FA7E63}"/>
          </ac:spMkLst>
        </pc:spChg>
        <pc:spChg chg="add mod">
          <ac:chgData name="성현 이" userId="2f0182ffdb5a30a3" providerId="LiveId" clId="{96CFCBFF-3B86-4DA3-8BC4-90A0DDDF2BC8}" dt="2026-05-14T04:28:57.690" v="26" actId="113"/>
          <ac:spMkLst>
            <pc:docMk/>
            <pc:sldMk cId="1108357708" sldId="261"/>
            <ac:spMk id="14" creationId="{117A6331-F6AE-65BD-10DE-752B3E3648BF}"/>
          </ac:spMkLst>
        </pc:spChg>
        <pc:picChg chg="add mod">
          <ac:chgData name="성현 이" userId="2f0182ffdb5a30a3" providerId="LiveId" clId="{96CFCBFF-3B86-4DA3-8BC4-90A0DDDF2BC8}" dt="2026-05-14T08:08:47.696" v="704" actId="14100"/>
          <ac:picMkLst>
            <pc:docMk/>
            <pc:sldMk cId="1108357708" sldId="261"/>
            <ac:picMk id="9" creationId="{911B5A68-F092-78B4-4CE1-95E648B8E5B3}"/>
          </ac:picMkLst>
        </pc:picChg>
      </pc:sldChg>
      <pc:sldChg chg="addSp delSp modSp new mod ord">
        <pc:chgData name="성현 이" userId="2f0182ffdb5a30a3" providerId="LiveId" clId="{96CFCBFF-3B86-4DA3-8BC4-90A0DDDF2BC8}" dt="2026-05-20T04:28:12.147" v="14983"/>
        <pc:sldMkLst>
          <pc:docMk/>
          <pc:sldMk cId="1956834952" sldId="262"/>
        </pc:sldMkLst>
        <pc:spChg chg="mod">
          <ac:chgData name="성현 이" userId="2f0182ffdb5a30a3" providerId="LiveId" clId="{96CFCBFF-3B86-4DA3-8BC4-90A0DDDF2BC8}" dt="2026-05-14T08:11:45.976" v="756" actId="20577"/>
          <ac:spMkLst>
            <pc:docMk/>
            <pc:sldMk cId="1956834952" sldId="262"/>
            <ac:spMk id="2" creationId="{7DCEC8F1-F444-7041-CC0D-17252A3FDC52}"/>
          </ac:spMkLst>
        </pc:spChg>
        <pc:spChg chg="add mod">
          <ac:chgData name="성현 이" userId="2f0182ffdb5a30a3" providerId="LiveId" clId="{96CFCBFF-3B86-4DA3-8BC4-90A0DDDF2BC8}" dt="2026-05-14T15:17:30.076" v="1707" actId="20577"/>
          <ac:spMkLst>
            <pc:docMk/>
            <pc:sldMk cId="1956834952" sldId="262"/>
            <ac:spMk id="5" creationId="{6536CB90-84B6-E26C-A6BC-E179F05548BB}"/>
          </ac:spMkLst>
        </pc:spChg>
        <pc:spChg chg="add mod">
          <ac:chgData name="성현 이" userId="2f0182ffdb5a30a3" providerId="LiveId" clId="{96CFCBFF-3B86-4DA3-8BC4-90A0DDDF2BC8}" dt="2026-05-14T15:17:46.232" v="1711" actId="1076"/>
          <ac:spMkLst>
            <pc:docMk/>
            <pc:sldMk cId="1956834952" sldId="262"/>
            <ac:spMk id="13" creationId="{9E4ADEFC-2DA6-3188-F6EF-4CA8BFBC7E31}"/>
          </ac:spMkLst>
        </pc:spChg>
        <pc:picChg chg="add mod">
          <ac:chgData name="성현 이" userId="2f0182ffdb5a30a3" providerId="LiveId" clId="{96CFCBFF-3B86-4DA3-8BC4-90A0DDDF2BC8}" dt="2026-05-14T15:17:49.403" v="1712" actId="1076"/>
          <ac:picMkLst>
            <pc:docMk/>
            <pc:sldMk cId="1956834952" sldId="262"/>
            <ac:picMk id="9" creationId="{0E238ECD-61C8-E941-89AA-C86CE23CBB01}"/>
          </ac:picMkLst>
        </pc:picChg>
      </pc:sldChg>
      <pc:sldChg chg="addSp delSp modSp new mod">
        <pc:chgData name="성현 이" userId="2f0182ffdb5a30a3" providerId="LiveId" clId="{96CFCBFF-3B86-4DA3-8BC4-90A0DDDF2BC8}" dt="2026-05-15T04:19:23.485" v="4120" actId="113"/>
        <pc:sldMkLst>
          <pc:docMk/>
          <pc:sldMk cId="2730707291" sldId="263"/>
        </pc:sldMkLst>
        <pc:spChg chg="mod">
          <ac:chgData name="성현 이" userId="2f0182ffdb5a30a3" providerId="LiveId" clId="{96CFCBFF-3B86-4DA3-8BC4-90A0DDDF2BC8}" dt="2026-05-14T15:18:40.460" v="1725" actId="20577"/>
          <ac:spMkLst>
            <pc:docMk/>
            <pc:sldMk cId="2730707291" sldId="263"/>
            <ac:spMk id="2" creationId="{81A5DEC0-692E-E2C7-0C46-123AE09BC2B5}"/>
          </ac:spMkLst>
        </pc:spChg>
        <pc:spChg chg="add mod">
          <ac:chgData name="성현 이" userId="2f0182ffdb5a30a3" providerId="LiveId" clId="{96CFCBFF-3B86-4DA3-8BC4-90A0DDDF2BC8}" dt="2026-05-15T03:34:43.405" v="3160" actId="1076"/>
          <ac:spMkLst>
            <pc:docMk/>
            <pc:sldMk cId="2730707291" sldId="263"/>
            <ac:spMk id="5" creationId="{D50F122C-0AD6-D3FA-2197-1302879D9183}"/>
          </ac:spMkLst>
        </pc:spChg>
        <pc:spChg chg="add mod">
          <ac:chgData name="성현 이" userId="2f0182ffdb5a30a3" providerId="LiveId" clId="{96CFCBFF-3B86-4DA3-8BC4-90A0DDDF2BC8}" dt="2026-05-15T03:34:17.638" v="3154" actId="164"/>
          <ac:spMkLst>
            <pc:docMk/>
            <pc:sldMk cId="2730707291" sldId="263"/>
            <ac:spMk id="6" creationId="{84BCA61D-90A5-964B-B9A9-E9930F6161FF}"/>
          </ac:spMkLst>
        </pc:spChg>
        <pc:spChg chg="add mod">
          <ac:chgData name="성현 이" userId="2f0182ffdb5a30a3" providerId="LiveId" clId="{96CFCBFF-3B86-4DA3-8BC4-90A0DDDF2BC8}" dt="2026-05-15T03:34:17.638" v="3154" actId="164"/>
          <ac:spMkLst>
            <pc:docMk/>
            <pc:sldMk cId="2730707291" sldId="263"/>
            <ac:spMk id="7" creationId="{184EE420-8CD8-3130-7674-574E0248ED3A}"/>
          </ac:spMkLst>
        </pc:spChg>
        <pc:spChg chg="add mod">
          <ac:chgData name="성현 이" userId="2f0182ffdb5a30a3" providerId="LiveId" clId="{96CFCBFF-3B86-4DA3-8BC4-90A0DDDF2BC8}" dt="2026-05-15T03:34:17.638" v="3154" actId="164"/>
          <ac:spMkLst>
            <pc:docMk/>
            <pc:sldMk cId="2730707291" sldId="263"/>
            <ac:spMk id="8" creationId="{5CBA7821-C833-BE7D-BB22-9F0C35A9A54F}"/>
          </ac:spMkLst>
        </pc:spChg>
        <pc:spChg chg="add mod">
          <ac:chgData name="성현 이" userId="2f0182ffdb5a30a3" providerId="LiveId" clId="{96CFCBFF-3B86-4DA3-8BC4-90A0DDDF2BC8}" dt="2026-05-15T03:34:17.638" v="3154" actId="164"/>
          <ac:spMkLst>
            <pc:docMk/>
            <pc:sldMk cId="2730707291" sldId="263"/>
            <ac:spMk id="10" creationId="{E5991D0A-46E8-94B8-E3BA-5E8D0B45A86C}"/>
          </ac:spMkLst>
        </pc:spChg>
        <pc:spChg chg="add mod">
          <ac:chgData name="성현 이" userId="2f0182ffdb5a30a3" providerId="LiveId" clId="{96CFCBFF-3B86-4DA3-8BC4-90A0DDDF2BC8}" dt="2026-05-15T03:33:07.268" v="3134" actId="20577"/>
          <ac:spMkLst>
            <pc:docMk/>
            <pc:sldMk cId="2730707291" sldId="263"/>
            <ac:spMk id="12" creationId="{A4CDF704-52A7-59B1-8E05-0C557FF5C71B}"/>
          </ac:spMkLst>
        </pc:spChg>
        <pc:grpChg chg="add mod">
          <ac:chgData name="성현 이" userId="2f0182ffdb5a30a3" providerId="LiveId" clId="{96CFCBFF-3B86-4DA3-8BC4-90A0DDDF2BC8}" dt="2026-05-15T03:34:33.486" v="3156" actId="164"/>
          <ac:grpSpMkLst>
            <pc:docMk/>
            <pc:sldMk cId="2730707291" sldId="263"/>
            <ac:grpSpMk id="13" creationId="{C3720D7C-E425-107F-A3DD-024C96342EC2}"/>
          </ac:grpSpMkLst>
        </pc:grpChg>
        <pc:grpChg chg="add mod">
          <ac:chgData name="성현 이" userId="2f0182ffdb5a30a3" providerId="LiveId" clId="{96CFCBFF-3B86-4DA3-8BC4-90A0DDDF2BC8}" dt="2026-05-15T03:34:33.486" v="3156" actId="164"/>
          <ac:grpSpMkLst>
            <pc:docMk/>
            <pc:sldMk cId="2730707291" sldId="263"/>
            <ac:grpSpMk id="14" creationId="{E6026347-D5B5-CDEC-510C-2968A0E67D93}"/>
          </ac:grpSpMkLst>
        </pc:grpChg>
        <pc:graphicFrameChg chg="add mod modGraphic">
          <ac:chgData name="성현 이" userId="2f0182ffdb5a30a3" providerId="LiveId" clId="{96CFCBFF-3B86-4DA3-8BC4-90A0DDDF2BC8}" dt="2026-05-15T04:19:23.485" v="4120" actId="113"/>
          <ac:graphicFrameMkLst>
            <pc:docMk/>
            <pc:sldMk cId="2730707291" sldId="263"/>
            <ac:graphicFrameMk id="11" creationId="{7F6A0E7B-6954-EA8B-D478-8397A5384EA7}"/>
          </ac:graphicFrameMkLst>
        </pc:graphicFrameChg>
      </pc:sldChg>
      <pc:sldChg chg="addSp delSp modSp new del mod">
        <pc:chgData name="성현 이" userId="2f0182ffdb5a30a3" providerId="LiveId" clId="{96CFCBFF-3B86-4DA3-8BC4-90A0DDDF2BC8}" dt="2026-05-15T02:47:10.308" v="2968" actId="2696"/>
        <pc:sldMkLst>
          <pc:docMk/>
          <pc:sldMk cId="476910566" sldId="264"/>
        </pc:sldMkLst>
      </pc:sldChg>
      <pc:sldChg chg="addSp delSp modSp new mod modNotesTx">
        <pc:chgData name="성현 이" userId="2f0182ffdb5a30a3" providerId="LiveId" clId="{96CFCBFF-3B86-4DA3-8BC4-90A0DDDF2BC8}" dt="2026-05-20T04:45:27.202" v="15012" actId="20577"/>
        <pc:sldMkLst>
          <pc:docMk/>
          <pc:sldMk cId="1167935431" sldId="264"/>
        </pc:sldMkLst>
        <pc:spChg chg="mod">
          <ac:chgData name="성현 이" userId="2f0182ffdb5a30a3" providerId="LiveId" clId="{96CFCBFF-3B86-4DA3-8BC4-90A0DDDF2BC8}" dt="2026-05-15T03:35:03.251" v="3176" actId="20577"/>
          <ac:spMkLst>
            <pc:docMk/>
            <pc:sldMk cId="1167935431" sldId="264"/>
            <ac:spMk id="2" creationId="{DB9E1F94-33DF-9959-8F8D-B0A9518567C8}"/>
          </ac:spMkLst>
        </pc:spChg>
        <pc:spChg chg="add mod">
          <ac:chgData name="성현 이" userId="2f0182ffdb5a30a3" providerId="LiveId" clId="{96CFCBFF-3B86-4DA3-8BC4-90A0DDDF2BC8}" dt="2026-05-15T03:40:34.628" v="3240" actId="1076"/>
          <ac:spMkLst>
            <pc:docMk/>
            <pc:sldMk cId="1167935431" sldId="264"/>
            <ac:spMk id="5" creationId="{CD120A52-292E-349A-3EA8-E175A4ABDFDD}"/>
          </ac:spMkLst>
        </pc:spChg>
        <pc:spChg chg="add mod">
          <ac:chgData name="성현 이" userId="2f0182ffdb5a30a3" providerId="LiveId" clId="{96CFCBFF-3B86-4DA3-8BC4-90A0DDDF2BC8}" dt="2026-05-15T03:41:18.678" v="3243" actId="14100"/>
          <ac:spMkLst>
            <pc:docMk/>
            <pc:sldMk cId="1167935431" sldId="264"/>
            <ac:spMk id="6" creationId="{2B03F712-68A9-2F89-F0F3-AB68B4D70DF2}"/>
          </ac:spMkLst>
        </pc:spChg>
        <pc:spChg chg="add mod">
          <ac:chgData name="성현 이" userId="2f0182ffdb5a30a3" providerId="LiveId" clId="{96CFCBFF-3B86-4DA3-8BC4-90A0DDDF2BC8}" dt="2026-05-15T03:41:25.009" v="3246" actId="14100"/>
          <ac:spMkLst>
            <pc:docMk/>
            <pc:sldMk cId="1167935431" sldId="264"/>
            <ac:spMk id="7" creationId="{39378BCE-D41D-C4C6-2328-A17D4023D875}"/>
          </ac:spMkLst>
        </pc:spChg>
        <pc:spChg chg="add mod">
          <ac:chgData name="성현 이" userId="2f0182ffdb5a30a3" providerId="LiveId" clId="{96CFCBFF-3B86-4DA3-8BC4-90A0DDDF2BC8}" dt="2026-05-15T03:41:42.028" v="3269" actId="14100"/>
          <ac:spMkLst>
            <pc:docMk/>
            <pc:sldMk cId="1167935431" sldId="264"/>
            <ac:spMk id="8" creationId="{54E695E6-D748-FE7E-93A8-BF88F3F85908}"/>
          </ac:spMkLst>
        </pc:spChg>
        <pc:spChg chg="add mod">
          <ac:chgData name="성현 이" userId="2f0182ffdb5a30a3" providerId="LiveId" clId="{96CFCBFF-3B86-4DA3-8BC4-90A0DDDF2BC8}" dt="2026-05-15T03:42:00.793" v="3296" actId="1076"/>
          <ac:spMkLst>
            <pc:docMk/>
            <pc:sldMk cId="1167935431" sldId="264"/>
            <ac:spMk id="9" creationId="{5FEFF83D-3C49-582C-845A-3567B6D661FF}"/>
          </ac:spMkLst>
        </pc:spChg>
        <pc:spChg chg="add mod">
          <ac:chgData name="성현 이" userId="2f0182ffdb5a30a3" providerId="LiveId" clId="{96CFCBFF-3B86-4DA3-8BC4-90A0DDDF2BC8}" dt="2026-05-15T03:51:12.187" v="3511" actId="1076"/>
          <ac:spMkLst>
            <pc:docMk/>
            <pc:sldMk cId="1167935431" sldId="264"/>
            <ac:spMk id="10" creationId="{2763AA85-DFC5-56F4-DB03-BC637FBAADFF}"/>
          </ac:spMkLst>
        </pc:spChg>
        <pc:spChg chg="add mod">
          <ac:chgData name="성현 이" userId="2f0182ffdb5a30a3" providerId="LiveId" clId="{96CFCBFF-3B86-4DA3-8BC4-90A0DDDF2BC8}" dt="2026-05-15T04:07:40.653" v="3924" actId="1076"/>
          <ac:spMkLst>
            <pc:docMk/>
            <pc:sldMk cId="1167935431" sldId="264"/>
            <ac:spMk id="12" creationId="{E56D455D-2D2F-C45C-2250-91C996BC09D4}"/>
          </ac:spMkLst>
        </pc:spChg>
        <pc:graphicFrameChg chg="add mod modGraphic">
          <ac:chgData name="성현 이" userId="2f0182ffdb5a30a3" providerId="LiveId" clId="{96CFCBFF-3B86-4DA3-8BC4-90A0DDDF2BC8}" dt="2026-05-15T04:19:31.010" v="4122" actId="114"/>
          <ac:graphicFrameMkLst>
            <pc:docMk/>
            <pc:sldMk cId="1167935431" sldId="264"/>
            <ac:graphicFrameMk id="11" creationId="{05702821-AE98-17A8-4C6C-4909197A1CCB}"/>
          </ac:graphicFrameMkLst>
        </pc:graphicFrameChg>
      </pc:sldChg>
      <pc:sldChg chg="addSp delSp modSp new mod modNotesTx">
        <pc:chgData name="성현 이" userId="2f0182ffdb5a30a3" providerId="LiveId" clId="{96CFCBFF-3B86-4DA3-8BC4-90A0DDDF2BC8}" dt="2026-05-20T04:51:13.734" v="15014" actId="20577"/>
        <pc:sldMkLst>
          <pc:docMk/>
          <pc:sldMk cId="715428149" sldId="265"/>
        </pc:sldMkLst>
        <pc:spChg chg="mod">
          <ac:chgData name="성현 이" userId="2f0182ffdb5a30a3" providerId="LiveId" clId="{96CFCBFF-3B86-4DA3-8BC4-90A0DDDF2BC8}" dt="2026-05-15T04:31:55.695" v="4159" actId="16959"/>
          <ac:spMkLst>
            <pc:docMk/>
            <pc:sldMk cId="715428149" sldId="265"/>
            <ac:spMk id="2" creationId="{CB5F4D5C-5BB1-ADD1-7BF4-D62C3759E035}"/>
          </ac:spMkLst>
        </pc:spChg>
        <pc:spChg chg="add mod">
          <ac:chgData name="성현 이" userId="2f0182ffdb5a30a3" providerId="LiveId" clId="{96CFCBFF-3B86-4DA3-8BC4-90A0DDDF2BC8}" dt="2026-05-19T10:50:42.874" v="14262" actId="20577"/>
          <ac:spMkLst>
            <pc:docMk/>
            <pc:sldMk cId="715428149" sldId="265"/>
            <ac:spMk id="5" creationId="{D6821003-842B-0C53-7BFB-A9FD85F625B9}"/>
          </ac:spMkLst>
        </pc:spChg>
        <pc:spChg chg="add mod">
          <ac:chgData name="성현 이" userId="2f0182ffdb5a30a3" providerId="LiveId" clId="{96CFCBFF-3B86-4DA3-8BC4-90A0DDDF2BC8}" dt="2026-05-15T08:30:47.022" v="5439" actId="20577"/>
          <ac:spMkLst>
            <pc:docMk/>
            <pc:sldMk cId="715428149" sldId="265"/>
            <ac:spMk id="7" creationId="{5E8E5670-F315-DF98-F8C9-EE74CDF77A68}"/>
          </ac:spMkLst>
        </pc:spChg>
        <pc:graphicFrameChg chg="add mod modGraphic">
          <ac:chgData name="성현 이" userId="2f0182ffdb5a30a3" providerId="LiveId" clId="{96CFCBFF-3B86-4DA3-8BC4-90A0DDDF2BC8}" dt="2026-05-19T10:52:57.182" v="14288" actId="20577"/>
          <ac:graphicFrameMkLst>
            <pc:docMk/>
            <pc:sldMk cId="715428149" sldId="265"/>
            <ac:graphicFrameMk id="6" creationId="{0FB371FD-0FC0-A023-7814-D3D15739CB0F}"/>
          </ac:graphicFrameMkLst>
        </pc:graphicFrameChg>
      </pc:sldChg>
      <pc:sldChg chg="addSp delSp modSp new mod">
        <pc:chgData name="성현 이" userId="2f0182ffdb5a30a3" providerId="LiveId" clId="{96CFCBFF-3B86-4DA3-8BC4-90A0DDDF2BC8}" dt="2026-05-18T11:59:18.310" v="12677" actId="20577"/>
        <pc:sldMkLst>
          <pc:docMk/>
          <pc:sldMk cId="1334369965" sldId="266"/>
        </pc:sldMkLst>
        <pc:spChg chg="mod">
          <ac:chgData name="성현 이" userId="2f0182ffdb5a30a3" providerId="LiveId" clId="{96CFCBFF-3B86-4DA3-8BC4-90A0DDDF2BC8}" dt="2026-05-15T08:40:52.424" v="5513"/>
          <ac:spMkLst>
            <pc:docMk/>
            <pc:sldMk cId="1334369965" sldId="266"/>
            <ac:spMk id="2" creationId="{E7C41D53-7FE7-5A3B-5D20-89149CB802FE}"/>
          </ac:spMkLst>
        </pc:spChg>
        <pc:spChg chg="add mod">
          <ac:chgData name="성현 이" userId="2f0182ffdb5a30a3" providerId="LiveId" clId="{96CFCBFF-3B86-4DA3-8BC4-90A0DDDF2BC8}" dt="2026-05-18T11:59:18.310" v="12677" actId="20577"/>
          <ac:spMkLst>
            <pc:docMk/>
            <pc:sldMk cId="1334369965" sldId="266"/>
            <ac:spMk id="5" creationId="{53191310-7612-7298-69DA-78C674ABC569}"/>
          </ac:spMkLst>
        </pc:spChg>
      </pc:sldChg>
      <pc:sldChg chg="del">
        <pc:chgData name="성현 이" userId="2f0182ffdb5a30a3" providerId="LiveId" clId="{96CFCBFF-3B86-4DA3-8BC4-90A0DDDF2BC8}" dt="2026-05-06T12:34:45.794" v="3" actId="2696"/>
        <pc:sldMkLst>
          <pc:docMk/>
          <pc:sldMk cId="3760390242" sldId="266"/>
        </pc:sldMkLst>
      </pc:sldChg>
      <pc:sldChg chg="addSp delSp modSp new mod modNotesTx">
        <pc:chgData name="성현 이" userId="2f0182ffdb5a30a3" providerId="LiveId" clId="{96CFCBFF-3B86-4DA3-8BC4-90A0DDDF2BC8}" dt="2026-05-20T07:13:17.181" v="15196" actId="20577"/>
        <pc:sldMkLst>
          <pc:docMk/>
          <pc:sldMk cId="1422492013" sldId="267"/>
        </pc:sldMkLst>
        <pc:spChg chg="mod">
          <ac:chgData name="성현 이" userId="2f0182ffdb5a30a3" providerId="LiveId" clId="{96CFCBFF-3B86-4DA3-8BC4-90A0DDDF2BC8}" dt="2026-05-15T10:49:31.428" v="6012" actId="20577"/>
          <ac:spMkLst>
            <pc:docMk/>
            <pc:sldMk cId="1422492013" sldId="267"/>
            <ac:spMk id="2" creationId="{E26A6E79-4019-F669-F5C6-E06D83FE4518}"/>
          </ac:spMkLst>
        </pc:spChg>
        <pc:spChg chg="add mod">
          <ac:chgData name="성현 이" userId="2f0182ffdb5a30a3" providerId="LiveId" clId="{96CFCBFF-3B86-4DA3-8BC4-90A0DDDF2BC8}" dt="2026-05-20T05:10:04.680" v="15087" actId="20577"/>
          <ac:spMkLst>
            <pc:docMk/>
            <pc:sldMk cId="1422492013" sldId="267"/>
            <ac:spMk id="5" creationId="{E9683D1B-EB59-70D1-CEBE-6D1F6A7B7E04}"/>
          </ac:spMkLst>
        </pc:spChg>
      </pc:sldChg>
      <pc:sldChg chg="del">
        <pc:chgData name="성현 이" userId="2f0182ffdb5a30a3" providerId="LiveId" clId="{96CFCBFF-3B86-4DA3-8BC4-90A0DDDF2BC8}" dt="2026-05-06T12:34:43.224" v="0" actId="2696"/>
        <pc:sldMkLst>
          <pc:docMk/>
          <pc:sldMk cId="2154389215" sldId="268"/>
        </pc:sldMkLst>
      </pc:sldChg>
      <pc:sldChg chg="addSp delSp modSp new mod">
        <pc:chgData name="성현 이" userId="2f0182ffdb5a30a3" providerId="LiveId" clId="{96CFCBFF-3B86-4DA3-8BC4-90A0DDDF2BC8}" dt="2026-05-20T05:16:57.982" v="15149" actId="20577"/>
        <pc:sldMkLst>
          <pc:docMk/>
          <pc:sldMk cId="3363468836" sldId="268"/>
        </pc:sldMkLst>
        <pc:spChg chg="mod">
          <ac:chgData name="성현 이" userId="2f0182ffdb5a30a3" providerId="LiveId" clId="{96CFCBFF-3B86-4DA3-8BC4-90A0DDDF2BC8}" dt="2026-05-16T05:46:21.224" v="7470" actId="20577"/>
          <ac:spMkLst>
            <pc:docMk/>
            <pc:sldMk cId="3363468836" sldId="268"/>
            <ac:spMk id="2" creationId="{85995F77-2B9C-54A1-F644-14EE518F4C7E}"/>
          </ac:spMkLst>
        </pc:spChg>
        <pc:spChg chg="add mod">
          <ac:chgData name="성현 이" userId="2f0182ffdb5a30a3" providerId="LiveId" clId="{96CFCBFF-3B86-4DA3-8BC4-90A0DDDF2BC8}" dt="2026-05-18T12:00:23.064" v="12678" actId="2711"/>
          <ac:spMkLst>
            <pc:docMk/>
            <pc:sldMk cId="3363468836" sldId="268"/>
            <ac:spMk id="7" creationId="{5C9DEB58-1F2C-0272-FC76-73775477ACF5}"/>
          </ac:spMkLst>
        </pc:spChg>
        <pc:spChg chg="add mod">
          <ac:chgData name="성현 이" userId="2f0182ffdb5a30a3" providerId="LiveId" clId="{96CFCBFF-3B86-4DA3-8BC4-90A0DDDF2BC8}" dt="2026-05-20T05:16:57.982" v="15149" actId="20577"/>
          <ac:spMkLst>
            <pc:docMk/>
            <pc:sldMk cId="3363468836" sldId="268"/>
            <ac:spMk id="8" creationId="{56C7DA87-825E-F95C-9B0E-967B0AA3F643}"/>
          </ac:spMkLst>
        </pc:spChg>
        <pc:picChg chg="add mod ord">
          <ac:chgData name="성현 이" userId="2f0182ffdb5a30a3" providerId="LiveId" clId="{96CFCBFF-3B86-4DA3-8BC4-90A0DDDF2BC8}" dt="2026-05-16T08:06:40.673" v="8177" actId="1076"/>
          <ac:picMkLst>
            <pc:docMk/>
            <pc:sldMk cId="3363468836" sldId="268"/>
            <ac:picMk id="24" creationId="{EB6E2CEE-4BF1-271F-49BF-50D01F0E821A}"/>
          </ac:picMkLst>
        </pc:picChg>
      </pc:sldChg>
      <pc:sldChg chg="addSp delSp modSp new mod">
        <pc:chgData name="성현 이" userId="2f0182ffdb5a30a3" providerId="LiveId" clId="{96CFCBFF-3B86-4DA3-8BC4-90A0DDDF2BC8}" dt="2026-05-18T12:00:57.661" v="12684" actId="2711"/>
        <pc:sldMkLst>
          <pc:docMk/>
          <pc:sldMk cId="1594915423" sldId="269"/>
        </pc:sldMkLst>
        <pc:spChg chg="mod">
          <ac:chgData name="성현 이" userId="2f0182ffdb5a30a3" providerId="LiveId" clId="{96CFCBFF-3B86-4DA3-8BC4-90A0DDDF2BC8}" dt="2026-05-18T06:05:16.263" v="8205" actId="20577"/>
          <ac:spMkLst>
            <pc:docMk/>
            <pc:sldMk cId="1594915423" sldId="269"/>
            <ac:spMk id="2" creationId="{83EBA6B4-B966-46AE-5D24-F4E67D211DEC}"/>
          </ac:spMkLst>
        </pc:spChg>
        <pc:spChg chg="add mod">
          <ac:chgData name="성현 이" userId="2f0182ffdb5a30a3" providerId="LiveId" clId="{96CFCBFF-3B86-4DA3-8BC4-90A0DDDF2BC8}" dt="2026-05-18T12:00:57.661" v="12684" actId="2711"/>
          <ac:spMkLst>
            <pc:docMk/>
            <pc:sldMk cId="1594915423" sldId="269"/>
            <ac:spMk id="5" creationId="{743FB2C9-65A0-3B41-BB4D-551731CB4360}"/>
          </ac:spMkLst>
        </pc:spChg>
        <pc:spChg chg="add mod">
          <ac:chgData name="성현 이" userId="2f0182ffdb5a30a3" providerId="LiveId" clId="{96CFCBFF-3B86-4DA3-8BC4-90A0DDDF2BC8}" dt="2026-05-18T12:00:34.532" v="12680" actId="2711"/>
          <ac:spMkLst>
            <pc:docMk/>
            <pc:sldMk cId="1594915423" sldId="269"/>
            <ac:spMk id="7" creationId="{2D7910B3-6735-7DB5-4C0F-63943FE531DA}"/>
          </ac:spMkLst>
        </pc:spChg>
        <pc:spChg chg="add mod">
          <ac:chgData name="성현 이" userId="2f0182ffdb5a30a3" providerId="LiveId" clId="{96CFCBFF-3B86-4DA3-8BC4-90A0DDDF2BC8}" dt="2026-05-18T12:00:50.293" v="12683" actId="2711"/>
          <ac:spMkLst>
            <pc:docMk/>
            <pc:sldMk cId="1594915423" sldId="269"/>
            <ac:spMk id="8" creationId="{EF38BEA7-74A2-59CD-1A98-612AF54FD398}"/>
          </ac:spMkLst>
        </pc:spChg>
        <pc:spChg chg="add mod">
          <ac:chgData name="성현 이" userId="2f0182ffdb5a30a3" providerId="LiveId" clId="{96CFCBFF-3B86-4DA3-8BC4-90A0DDDF2BC8}" dt="2026-05-18T07:17:12.329" v="8924"/>
          <ac:spMkLst>
            <pc:docMk/>
            <pc:sldMk cId="1594915423" sldId="269"/>
            <ac:spMk id="9" creationId="{08AE9432-32D6-7E43-8DFD-F4F3DDF2A32A}"/>
          </ac:spMkLst>
        </pc:spChg>
        <pc:spChg chg="add mod">
          <ac:chgData name="성현 이" userId="2f0182ffdb5a30a3" providerId="LiveId" clId="{96CFCBFF-3B86-4DA3-8BC4-90A0DDDF2BC8}" dt="2026-05-18T12:00:44.898" v="12682" actId="2711"/>
          <ac:spMkLst>
            <pc:docMk/>
            <pc:sldMk cId="1594915423" sldId="269"/>
            <ac:spMk id="10" creationId="{CB8B350D-A1AC-2145-F6B1-AF26335C4776}"/>
          </ac:spMkLst>
        </pc:spChg>
        <pc:spChg chg="add mod">
          <ac:chgData name="성현 이" userId="2f0182ffdb5a30a3" providerId="LiveId" clId="{96CFCBFF-3B86-4DA3-8BC4-90A0DDDF2BC8}" dt="2026-05-18T12:00:38.472" v="12681" actId="2711"/>
          <ac:spMkLst>
            <pc:docMk/>
            <pc:sldMk cId="1594915423" sldId="269"/>
            <ac:spMk id="11" creationId="{8EE97C23-D882-E269-2397-A39EEAC0CF87}"/>
          </ac:spMkLst>
        </pc:spChg>
      </pc:sldChg>
      <pc:sldChg chg="del">
        <pc:chgData name="성현 이" userId="2f0182ffdb5a30a3" providerId="LiveId" clId="{96CFCBFF-3B86-4DA3-8BC4-90A0DDDF2BC8}" dt="2026-05-06T12:34:44.106" v="1" actId="2696"/>
        <pc:sldMkLst>
          <pc:docMk/>
          <pc:sldMk cId="3133766332" sldId="269"/>
        </pc:sldMkLst>
      </pc:sldChg>
      <pc:sldChg chg="addSp delSp modSp new mod">
        <pc:chgData name="성현 이" userId="2f0182ffdb5a30a3" providerId="LiveId" clId="{96CFCBFF-3B86-4DA3-8BC4-90A0DDDF2BC8}" dt="2026-05-18T12:02:31.624" v="12701" actId="2711"/>
        <pc:sldMkLst>
          <pc:docMk/>
          <pc:sldMk cId="1308387307" sldId="270"/>
        </pc:sldMkLst>
        <pc:spChg chg="mod">
          <ac:chgData name="성현 이" userId="2f0182ffdb5a30a3" providerId="LiveId" clId="{96CFCBFF-3B86-4DA3-8BC4-90A0DDDF2BC8}" dt="2026-05-18T07:38:50.008" v="9477" actId="20577"/>
          <ac:spMkLst>
            <pc:docMk/>
            <pc:sldMk cId="1308387307" sldId="270"/>
            <ac:spMk id="2" creationId="{3A1FF09B-8E73-16F1-CA9A-88DF7BF75EEA}"/>
          </ac:spMkLst>
        </pc:spChg>
        <pc:spChg chg="add mod">
          <ac:chgData name="성현 이" userId="2f0182ffdb5a30a3" providerId="LiveId" clId="{96CFCBFF-3B86-4DA3-8BC4-90A0DDDF2BC8}" dt="2026-05-18T12:02:31.624" v="12701" actId="2711"/>
          <ac:spMkLst>
            <pc:docMk/>
            <pc:sldMk cId="1308387307" sldId="270"/>
            <ac:spMk id="6" creationId="{7C4713DD-C5AD-0478-08AD-7595A9C86694}"/>
          </ac:spMkLst>
        </pc:spChg>
        <pc:picChg chg="add mod ord">
          <ac:chgData name="성현 이" userId="2f0182ffdb5a30a3" providerId="LiveId" clId="{96CFCBFF-3B86-4DA3-8BC4-90A0DDDF2BC8}" dt="2026-05-18T08:08:26.609" v="10098" actId="1076"/>
          <ac:picMkLst>
            <pc:docMk/>
            <pc:sldMk cId="1308387307" sldId="270"/>
            <ac:picMk id="5" creationId="{DAD56E33-8E24-8C35-8F01-4CE9E4970E9D}"/>
          </ac:picMkLst>
        </pc:picChg>
      </pc:sldChg>
      <pc:sldChg chg="del">
        <pc:chgData name="성현 이" userId="2f0182ffdb5a30a3" providerId="LiveId" clId="{96CFCBFF-3B86-4DA3-8BC4-90A0DDDF2BC8}" dt="2026-05-06T12:34:45.055" v="2" actId="2696"/>
        <pc:sldMkLst>
          <pc:docMk/>
          <pc:sldMk cId="4248633752" sldId="270"/>
        </pc:sldMkLst>
      </pc:sldChg>
      <pc:sldChg chg="addSp delSp modSp new mod">
        <pc:chgData name="성현 이" userId="2f0182ffdb5a30a3" providerId="LiveId" clId="{96CFCBFF-3B86-4DA3-8BC4-90A0DDDF2BC8}" dt="2026-05-18T12:02:56.526" v="12702" actId="2711"/>
        <pc:sldMkLst>
          <pc:docMk/>
          <pc:sldMk cId="1757824235" sldId="271"/>
        </pc:sldMkLst>
        <pc:spChg chg="mod">
          <ac:chgData name="성현 이" userId="2f0182ffdb5a30a3" providerId="LiveId" clId="{96CFCBFF-3B86-4DA3-8BC4-90A0DDDF2BC8}" dt="2026-05-18T08:38:10.270" v="10247" actId="20577"/>
          <ac:spMkLst>
            <pc:docMk/>
            <pc:sldMk cId="1757824235" sldId="271"/>
            <ac:spMk id="2" creationId="{B66F54BC-46C3-5D5C-932B-3EC268DF2739}"/>
          </ac:spMkLst>
        </pc:spChg>
        <pc:spChg chg="add mod">
          <ac:chgData name="성현 이" userId="2f0182ffdb5a30a3" providerId="LiveId" clId="{96CFCBFF-3B86-4DA3-8BC4-90A0DDDF2BC8}" dt="2026-05-18T12:02:56.526" v="12702" actId="2711"/>
          <ac:spMkLst>
            <pc:docMk/>
            <pc:sldMk cId="1757824235" sldId="271"/>
            <ac:spMk id="5" creationId="{370A1EB0-A21E-CC24-3EB7-450530CF4341}"/>
          </ac:spMkLst>
        </pc:spChg>
        <pc:spChg chg="add mod">
          <ac:chgData name="성현 이" userId="2f0182ffdb5a30a3" providerId="LiveId" clId="{96CFCBFF-3B86-4DA3-8BC4-90A0DDDF2BC8}" dt="2026-05-18T12:02:12.855" v="12696" actId="2711"/>
          <ac:spMkLst>
            <pc:docMk/>
            <pc:sldMk cId="1757824235" sldId="271"/>
            <ac:spMk id="6" creationId="{41D2B6E8-3245-3191-9DBF-9BC5EB0ABB1C}"/>
          </ac:spMkLst>
        </pc:spChg>
      </pc:sldChg>
      <pc:sldChg chg="addSp delSp modSp new mod modNotesTx">
        <pc:chgData name="성현 이" userId="2f0182ffdb5a30a3" providerId="LiveId" clId="{96CFCBFF-3B86-4DA3-8BC4-90A0DDDF2BC8}" dt="2026-05-20T06:13:17.299" v="15192" actId="20577"/>
        <pc:sldMkLst>
          <pc:docMk/>
          <pc:sldMk cId="4230143471" sldId="272"/>
        </pc:sldMkLst>
        <pc:spChg chg="mod">
          <ac:chgData name="성현 이" userId="2f0182ffdb5a30a3" providerId="LiveId" clId="{96CFCBFF-3B86-4DA3-8BC4-90A0DDDF2BC8}" dt="2026-05-18T09:38:21.547" v="10952"/>
          <ac:spMkLst>
            <pc:docMk/>
            <pc:sldMk cId="4230143471" sldId="272"/>
            <ac:spMk id="2" creationId="{0F620977-94D5-5156-70FE-4A20641703CC}"/>
          </ac:spMkLst>
        </pc:spChg>
        <pc:spChg chg="add mod">
          <ac:chgData name="성현 이" userId="2f0182ffdb5a30a3" providerId="LiveId" clId="{96CFCBFF-3B86-4DA3-8BC4-90A0DDDF2BC8}" dt="2026-05-18T12:02:07.466" v="12695" actId="2711"/>
          <ac:spMkLst>
            <pc:docMk/>
            <pc:sldMk cId="4230143471" sldId="272"/>
            <ac:spMk id="5" creationId="{691908E9-D90E-E74B-D0FD-08144F8F17CD}"/>
          </ac:spMkLst>
        </pc:spChg>
        <pc:spChg chg="add mod">
          <ac:chgData name="성현 이" userId="2f0182ffdb5a30a3" providerId="LiveId" clId="{96CFCBFF-3B86-4DA3-8BC4-90A0DDDF2BC8}" dt="2026-05-18T12:02:03.385" v="12694" actId="2711"/>
          <ac:spMkLst>
            <pc:docMk/>
            <pc:sldMk cId="4230143471" sldId="272"/>
            <ac:spMk id="6" creationId="{AD598C34-36D1-E8AD-5601-D8394BD979C6}"/>
          </ac:spMkLst>
        </pc:spChg>
        <pc:spChg chg="add mod">
          <ac:chgData name="성현 이" userId="2f0182ffdb5a30a3" providerId="LiveId" clId="{96CFCBFF-3B86-4DA3-8BC4-90A0DDDF2BC8}" dt="2026-05-18T12:01:59.139" v="12693" actId="2711"/>
          <ac:spMkLst>
            <pc:docMk/>
            <pc:sldMk cId="4230143471" sldId="272"/>
            <ac:spMk id="7" creationId="{DBA7BA6F-B9EE-86B5-503B-6844E2E13DD0}"/>
          </ac:spMkLst>
        </pc:spChg>
        <pc:spChg chg="add mod">
          <ac:chgData name="성현 이" userId="2f0182ffdb5a30a3" providerId="LiveId" clId="{96CFCBFF-3B86-4DA3-8BC4-90A0DDDF2BC8}" dt="2026-05-18T12:01:55.607" v="12692" actId="2711"/>
          <ac:spMkLst>
            <pc:docMk/>
            <pc:sldMk cId="4230143471" sldId="272"/>
            <ac:spMk id="8" creationId="{C16DFC14-3D0C-83FB-2742-6920CC7679F1}"/>
          </ac:spMkLst>
        </pc:spChg>
        <pc:spChg chg="add mod">
          <ac:chgData name="성현 이" userId="2f0182ffdb5a30a3" providerId="LiveId" clId="{96CFCBFF-3B86-4DA3-8BC4-90A0DDDF2BC8}" dt="2026-05-18T12:01:49.583" v="12689" actId="2711"/>
          <ac:spMkLst>
            <pc:docMk/>
            <pc:sldMk cId="4230143471" sldId="272"/>
            <ac:spMk id="9" creationId="{7ECBE106-CAB6-CE84-8EEE-710B3152722A}"/>
          </ac:spMkLst>
        </pc:spChg>
      </pc:sldChg>
      <pc:sldChg chg="addSp delSp modSp new mod">
        <pc:chgData name="성현 이" userId="2f0182ffdb5a30a3" providerId="LiveId" clId="{96CFCBFF-3B86-4DA3-8BC4-90A0DDDF2BC8}" dt="2026-05-18T12:01:40.819" v="12688" actId="2711"/>
        <pc:sldMkLst>
          <pc:docMk/>
          <pc:sldMk cId="832841876" sldId="273"/>
        </pc:sldMkLst>
        <pc:spChg chg="mod">
          <ac:chgData name="성현 이" userId="2f0182ffdb5a30a3" providerId="LiveId" clId="{96CFCBFF-3B86-4DA3-8BC4-90A0DDDF2BC8}" dt="2026-05-18T11:47:14.063" v="12220" actId="20577"/>
          <ac:spMkLst>
            <pc:docMk/>
            <pc:sldMk cId="832841876" sldId="273"/>
            <ac:spMk id="2" creationId="{439CAA87-5673-3B2E-CCF1-60EC0608B131}"/>
          </ac:spMkLst>
        </pc:spChg>
        <pc:spChg chg="add mod">
          <ac:chgData name="성현 이" userId="2f0182ffdb5a30a3" providerId="LiveId" clId="{96CFCBFF-3B86-4DA3-8BC4-90A0DDDF2BC8}" dt="2026-05-18T12:01:40.819" v="12688" actId="2711"/>
          <ac:spMkLst>
            <pc:docMk/>
            <pc:sldMk cId="832841876" sldId="273"/>
            <ac:spMk id="5" creationId="{E9549F9F-F61B-9872-AF60-45F46B37375B}"/>
          </ac:spMkLst>
        </pc:spChg>
      </pc:sldChg>
      <pc:sldChg chg="addSp delSp modSp new mod">
        <pc:chgData name="성현 이" userId="2f0182ffdb5a30a3" providerId="LiveId" clId="{96CFCBFF-3B86-4DA3-8BC4-90A0DDDF2BC8}" dt="2026-05-19T08:22:26.340" v="14247" actId="122"/>
        <pc:sldMkLst>
          <pc:docMk/>
          <pc:sldMk cId="3048062793" sldId="274"/>
        </pc:sldMkLst>
        <pc:spChg chg="mod">
          <ac:chgData name="성현 이" userId="2f0182ffdb5a30a3" providerId="LiveId" clId="{96CFCBFF-3B86-4DA3-8BC4-90A0DDDF2BC8}" dt="2026-05-19T04:58:33.163" v="13279" actId="20577"/>
          <ac:spMkLst>
            <pc:docMk/>
            <pc:sldMk cId="3048062793" sldId="274"/>
            <ac:spMk id="2" creationId="{B8632D5D-1C44-6F21-9DF3-8F7CC0B4AC3D}"/>
          </ac:spMkLst>
        </pc:spChg>
        <pc:spChg chg="del">
          <ac:chgData name="성현 이" userId="2f0182ffdb5a30a3" providerId="LiveId" clId="{96CFCBFF-3B86-4DA3-8BC4-90A0DDDF2BC8}" dt="2026-05-19T04:39:21.664" v="12704" actId="478"/>
          <ac:spMkLst>
            <pc:docMk/>
            <pc:sldMk cId="3048062793" sldId="274"/>
            <ac:spMk id="3" creationId="{007E0F18-6167-D472-6BE9-CEB3A8AA7FED}"/>
          </ac:spMkLst>
        </pc:spChg>
        <pc:spChg chg="add del mod">
          <ac:chgData name="성현 이" userId="2f0182ffdb5a30a3" providerId="LiveId" clId="{96CFCBFF-3B86-4DA3-8BC4-90A0DDDF2BC8}" dt="2026-05-19T05:04:25.556" v="13293" actId="478"/>
          <ac:spMkLst>
            <pc:docMk/>
            <pc:sldMk cId="3048062793" sldId="274"/>
            <ac:spMk id="7" creationId="{76646065-FFA6-440E-2BD5-89E9012B8B9D}"/>
          </ac:spMkLst>
        </pc:spChg>
        <pc:spChg chg="add mod">
          <ac:chgData name="성현 이" userId="2f0182ffdb5a30a3" providerId="LiveId" clId="{96CFCBFF-3B86-4DA3-8BC4-90A0DDDF2BC8}" dt="2026-05-19T06:29:43.668" v="13754" actId="20577"/>
          <ac:spMkLst>
            <pc:docMk/>
            <pc:sldMk cId="3048062793" sldId="274"/>
            <ac:spMk id="8" creationId="{EEDBF129-E07B-85A1-48DF-86853F98947D}"/>
          </ac:spMkLst>
        </pc:spChg>
        <pc:graphicFrameChg chg="add del">
          <ac:chgData name="성현 이" userId="2f0182ffdb5a30a3" providerId="LiveId" clId="{96CFCBFF-3B86-4DA3-8BC4-90A0DDDF2BC8}" dt="2026-05-19T04:40:26.995" v="12706" actId="478"/>
          <ac:graphicFrameMkLst>
            <pc:docMk/>
            <pc:sldMk cId="3048062793" sldId="274"/>
            <ac:graphicFrameMk id="5" creationId="{095F4E6B-F1BA-4669-C184-E3A3F81BCCFA}"/>
          </ac:graphicFrameMkLst>
        </pc:graphicFrameChg>
        <pc:graphicFrameChg chg="add mod modGraphic">
          <ac:chgData name="성현 이" userId="2f0182ffdb5a30a3" providerId="LiveId" clId="{96CFCBFF-3B86-4DA3-8BC4-90A0DDDF2BC8}" dt="2026-05-19T08:22:26.340" v="14247" actId="122"/>
          <ac:graphicFrameMkLst>
            <pc:docMk/>
            <pc:sldMk cId="3048062793" sldId="274"/>
            <ac:graphicFrameMk id="6" creationId="{12B1DB49-E495-C28C-B84B-04118B1BD3F2}"/>
          </ac:graphicFrameMkLst>
        </pc:graphicFrameChg>
      </pc:sldChg>
      <pc:sldChg chg="addSp delSp modSp new mod">
        <pc:chgData name="성현 이" userId="2f0182ffdb5a30a3" providerId="LiveId" clId="{96CFCBFF-3B86-4DA3-8BC4-90A0DDDF2BC8}" dt="2026-05-19T11:27:55.235" v="14669" actId="20577"/>
        <pc:sldMkLst>
          <pc:docMk/>
          <pc:sldMk cId="3970754047" sldId="275"/>
        </pc:sldMkLst>
        <pc:spChg chg="mod">
          <ac:chgData name="성현 이" userId="2f0182ffdb5a30a3" providerId="LiveId" clId="{96CFCBFF-3B86-4DA3-8BC4-90A0DDDF2BC8}" dt="2026-05-19T11:27:55.235" v="14669" actId="20577"/>
          <ac:spMkLst>
            <pc:docMk/>
            <pc:sldMk cId="3970754047" sldId="275"/>
            <ac:spMk id="2" creationId="{6C1500B2-748C-8C43-7C25-8EAB6FA75DE7}"/>
          </ac:spMkLst>
        </pc:spChg>
        <pc:spChg chg="add mod">
          <ac:chgData name="성현 이" userId="2f0182ffdb5a30a3" providerId="LiveId" clId="{96CFCBFF-3B86-4DA3-8BC4-90A0DDDF2BC8}" dt="2026-05-19T08:02:47.431" v="14237" actId="20577"/>
          <ac:spMkLst>
            <pc:docMk/>
            <pc:sldMk cId="3970754047" sldId="275"/>
            <ac:spMk id="3" creationId="{49C265BC-21AA-EE4A-4E93-991C8716BD6B}"/>
          </ac:spMkLst>
        </pc:spChg>
        <pc:spChg chg="del">
          <ac:chgData name="성현 이" userId="2f0182ffdb5a30a3" providerId="LiveId" clId="{96CFCBFF-3B86-4DA3-8BC4-90A0DDDF2BC8}" dt="2026-05-19T06:14:54.266" v="13329" actId="478"/>
          <ac:spMkLst>
            <pc:docMk/>
            <pc:sldMk cId="3970754047" sldId="275"/>
            <ac:spMk id="3" creationId="{CE3F5013-4DB8-E43C-1E60-4DC741C97A7A}"/>
          </ac:spMkLst>
        </pc:spChg>
        <pc:graphicFrameChg chg="add mod modGraphic">
          <ac:chgData name="성현 이" userId="2f0182ffdb5a30a3" providerId="LiveId" clId="{96CFCBFF-3B86-4DA3-8BC4-90A0DDDF2BC8}" dt="2026-05-19T08:22:18.099" v="14246" actId="122"/>
          <ac:graphicFrameMkLst>
            <pc:docMk/>
            <pc:sldMk cId="3970754047" sldId="275"/>
            <ac:graphicFrameMk id="5" creationId="{DE10C9B6-9B00-D09D-66FF-6E110A0BB8A1}"/>
          </ac:graphicFrameMkLst>
        </pc:graphicFrameChg>
      </pc:sldChg>
      <pc:sldChg chg="addSp delSp modSp new mod">
        <pc:chgData name="성현 이" userId="2f0182ffdb5a30a3" providerId="LiveId" clId="{96CFCBFF-3B86-4DA3-8BC4-90A0DDDF2BC8}" dt="2026-05-19T11:31:00.761" v="14946" actId="1076"/>
        <pc:sldMkLst>
          <pc:docMk/>
          <pc:sldMk cId="909662224" sldId="276"/>
        </pc:sldMkLst>
        <pc:spChg chg="mod">
          <ac:chgData name="성현 이" userId="2f0182ffdb5a30a3" providerId="LiveId" clId="{96CFCBFF-3B86-4DA3-8BC4-90A0DDDF2BC8}" dt="2026-05-19T07:59:24.205" v="14190" actId="20577"/>
          <ac:spMkLst>
            <pc:docMk/>
            <pc:sldMk cId="909662224" sldId="276"/>
            <ac:spMk id="2" creationId="{40A61206-EB83-717C-8978-45B5BD3EDD65}"/>
          </ac:spMkLst>
        </pc:spChg>
        <pc:spChg chg="del">
          <ac:chgData name="성현 이" userId="2f0182ffdb5a30a3" providerId="LiveId" clId="{96CFCBFF-3B86-4DA3-8BC4-90A0DDDF2BC8}" dt="2026-05-19T07:59:27.543" v="14191" actId="478"/>
          <ac:spMkLst>
            <pc:docMk/>
            <pc:sldMk cId="909662224" sldId="276"/>
            <ac:spMk id="3" creationId="{F8EBB178-E47A-D552-4A84-2B5BDCDE1D04}"/>
          </ac:spMkLst>
        </pc:spChg>
        <pc:spChg chg="add mod">
          <ac:chgData name="성현 이" userId="2f0182ffdb5a30a3" providerId="LiveId" clId="{96CFCBFF-3B86-4DA3-8BC4-90A0DDDF2BC8}" dt="2026-05-19T11:31:00.761" v="14946" actId="1076"/>
          <ac:spMkLst>
            <pc:docMk/>
            <pc:sldMk cId="909662224" sldId="276"/>
            <ac:spMk id="5" creationId="{10FB435F-D4C9-D952-2690-678781A46943}"/>
          </ac:spMkLst>
        </pc:spChg>
        <pc:graphicFrameChg chg="add mod modGraphic">
          <ac:chgData name="성현 이" userId="2f0182ffdb5a30a3" providerId="LiveId" clId="{96CFCBFF-3B86-4DA3-8BC4-90A0DDDF2BC8}" dt="2026-05-19T11:19:07.647" v="14646" actId="1076"/>
          <ac:graphicFrameMkLst>
            <pc:docMk/>
            <pc:sldMk cId="909662224" sldId="276"/>
            <ac:graphicFrameMk id="6" creationId="{8EF84A0F-513B-7DF2-5D57-56A0B513409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3×3 kernel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binary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양자화하면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binary kernel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전체 집합은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2^9, 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512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SNN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이 전체 집합을 다 사용하지 않고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중 일부인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2^τ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사용해서 모델을 압축합니다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τ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subset P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크기를 결정하는 하이퍼파라미터이고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subset P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codebook</a:t>
            </a:r>
            <a:r>
              <a:rPr lang="ko-KR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부릅니다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748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이러한 방식이 가능한 이유는</a:t>
            </a:r>
            <a:r>
              <a:rPr lang="en-US" altLang="ko-KR"/>
              <a:t>, </a:t>
            </a:r>
            <a:r>
              <a:rPr lang="ko-KR" altLang="en-US"/>
              <a:t>원논문에서 </a:t>
            </a:r>
            <a:r>
              <a:rPr lang="en-US" altLang="ko-KR"/>
              <a:t>ImageNet</a:t>
            </a:r>
            <a:r>
              <a:rPr lang="ko-KR" altLang="en-US"/>
              <a:t>으로 학습된 </a:t>
            </a:r>
            <a:r>
              <a:rPr lang="en-US" altLang="ko-KR"/>
              <a:t>BNN</a:t>
            </a:r>
            <a:r>
              <a:rPr lang="ko-KR" altLang="en-US"/>
              <a:t>의 </a:t>
            </a:r>
            <a:r>
              <a:rPr lang="en-US" altLang="ko-KR"/>
              <a:t>ResNet-18</a:t>
            </a:r>
            <a:r>
              <a:rPr lang="ko-KR" altLang="en-US"/>
              <a:t>을 분석한 결과에서 찾을 수 있습니다</a:t>
            </a:r>
            <a:r>
              <a:rPr lang="en-US" altLang="ko-KR"/>
              <a:t>. </a:t>
            </a:r>
            <a:r>
              <a:rPr lang="ko-KR" altLang="en-US"/>
              <a:t>왼쪽 그래프를 보시면</a:t>
            </a:r>
            <a:r>
              <a:rPr lang="en-US" altLang="ko-KR"/>
              <a:t>, </a:t>
            </a:r>
            <a:r>
              <a:rPr lang="ko-KR" altLang="en-US"/>
              <a:t>전체 </a:t>
            </a:r>
            <a:r>
              <a:rPr lang="en-US" altLang="ko-KR"/>
              <a:t>512</a:t>
            </a:r>
            <a:r>
              <a:rPr lang="ko-KR" altLang="en-US"/>
              <a:t>가지 </a:t>
            </a:r>
            <a:r>
              <a:rPr lang="en-US" altLang="ko-KR"/>
              <a:t>binary kernel </a:t>
            </a:r>
            <a:r>
              <a:rPr lang="ko-KR" altLang="en-US"/>
              <a:t>중 특정 </a:t>
            </a:r>
            <a:r>
              <a:rPr lang="en-US" altLang="ko-KR"/>
              <a:t>pattern</a:t>
            </a:r>
            <a:r>
              <a:rPr lang="ko-KR" altLang="en-US"/>
              <a:t>들에 사용량이 강하게 집중되는 </a:t>
            </a:r>
            <a:r>
              <a:rPr lang="en-US" altLang="ko-KR"/>
              <a:t>clustering </a:t>
            </a:r>
            <a:r>
              <a:rPr lang="ko-KR" altLang="en-US"/>
              <a:t>현상이 관찰됩니다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Top-K percentage </a:t>
            </a:r>
            <a:r>
              <a:rPr lang="ko-KR" altLang="en-US"/>
              <a:t>그래프를 보면</a:t>
            </a:r>
            <a:r>
              <a:rPr lang="en-US" altLang="ko-KR"/>
              <a:t>, </a:t>
            </a:r>
            <a:r>
              <a:rPr lang="ko-KR" altLang="en-US"/>
              <a:t>상위 </a:t>
            </a:r>
            <a:r>
              <a:rPr lang="en-US" altLang="ko-KR"/>
              <a:t>64</a:t>
            </a:r>
            <a:r>
              <a:rPr lang="ko-KR" altLang="en-US"/>
              <a:t>개 </a:t>
            </a:r>
            <a:r>
              <a:rPr lang="en-US" altLang="ko-KR"/>
              <a:t>pattern</a:t>
            </a:r>
            <a:r>
              <a:rPr lang="ko-KR" altLang="en-US"/>
              <a:t>만으로 </a:t>
            </a:r>
            <a:r>
              <a:rPr lang="en-US" altLang="ko-KR"/>
              <a:t>layer 5 </a:t>
            </a:r>
            <a:r>
              <a:rPr lang="ko-KR" altLang="en-US"/>
              <a:t>이상에서는 사용량의 </a:t>
            </a:r>
            <a:r>
              <a:rPr lang="en-US" altLang="ko-KR"/>
              <a:t>60%</a:t>
            </a:r>
            <a:r>
              <a:rPr lang="ko-KR" altLang="en-US"/>
              <a:t>대 이상을 차지하며</a:t>
            </a:r>
            <a:r>
              <a:rPr lang="en-US" altLang="ko-KR"/>
              <a:t>, </a:t>
            </a:r>
            <a:r>
              <a:rPr lang="ko-KR" altLang="en-US"/>
              <a:t>가장 얕은 </a:t>
            </a:r>
            <a:r>
              <a:rPr lang="en-US" altLang="ko-KR"/>
              <a:t>layer 1</a:t>
            </a:r>
            <a:r>
              <a:rPr lang="ko-KR" altLang="en-US"/>
              <a:t>만 </a:t>
            </a:r>
            <a:r>
              <a:rPr lang="en-US" altLang="ko-KR"/>
              <a:t>42.5%</a:t>
            </a:r>
            <a:r>
              <a:rPr lang="ko-KR" altLang="en-US"/>
              <a:t>로 다소 낮습니다</a:t>
            </a:r>
            <a:r>
              <a:rPr lang="en-US" altLang="ko-KR"/>
              <a:t>. 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깊은 </a:t>
            </a:r>
            <a:r>
              <a:rPr lang="en-US" altLang="ko-KR"/>
              <a:t>layer</a:t>
            </a:r>
            <a:r>
              <a:rPr lang="ko-KR" altLang="en-US"/>
              <a:t>일수록 </a:t>
            </a:r>
            <a:r>
              <a:rPr lang="en-US" altLang="ko-KR"/>
              <a:t>clustering</a:t>
            </a:r>
            <a:r>
              <a:rPr lang="ko-KR" altLang="en-US"/>
              <a:t>이 강해지는 경향이 보입니다</a:t>
            </a:r>
            <a:r>
              <a:rPr lang="en-US" altLang="ko-KR"/>
              <a:t>. </a:t>
            </a:r>
            <a:r>
              <a:rPr lang="ko-KR" altLang="en-US"/>
              <a:t>그래서 </a:t>
            </a:r>
            <a:r>
              <a:rPr lang="en-US" altLang="ko-KR"/>
              <a:t>SNN</a:t>
            </a:r>
            <a:r>
              <a:rPr lang="ko-KR" altLang="en-US"/>
              <a:t>은 이러한 관찰을 근거로</a:t>
            </a:r>
            <a:r>
              <a:rPr lang="en-US" altLang="ko-KR"/>
              <a:t>, </a:t>
            </a:r>
            <a:r>
              <a:rPr lang="ko-KR" altLang="en-US"/>
              <a:t>각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weight</a:t>
            </a:r>
            <a:r>
              <a:rPr lang="ko-KR" altLang="en-US"/>
              <a:t>를 전체 집합이 아닌 </a:t>
            </a:r>
            <a:r>
              <a:rPr lang="en-US" altLang="ko-KR"/>
              <a:t>small subset</a:t>
            </a:r>
            <a:r>
              <a:rPr lang="ko-KR" altLang="en-US"/>
              <a:t>으로 제한한 것입니다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446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그렇다면 이 방식으로 얼마나 압축이 되는지 보겠습니다</a:t>
            </a:r>
            <a:r>
              <a:rPr lang="en-US" altLang="ko-KR"/>
              <a:t>. </a:t>
            </a:r>
            <a:r>
              <a:rPr lang="ko-KR" altLang="en-US"/>
              <a:t>위 수식을 보시면</a:t>
            </a:r>
            <a:r>
              <a:rPr lang="en-US" altLang="ko-KR"/>
              <a:t>, layer i</a:t>
            </a:r>
            <a:r>
              <a:rPr lang="ko-KR" altLang="en-US"/>
              <a:t>의 </a:t>
            </a:r>
            <a:r>
              <a:rPr lang="en-US" altLang="ko-KR"/>
              <a:t>storage S_i(τ)</a:t>
            </a:r>
            <a:r>
              <a:rPr lang="ko-KR" altLang="en-US"/>
              <a:t>는 두 항으로 구성됩니다</a:t>
            </a:r>
            <a:r>
              <a:rPr lang="en-US" altLang="ko-KR"/>
              <a:t>. </a:t>
            </a:r>
            <a:r>
              <a:rPr lang="ko-KR" altLang="en-US"/>
              <a:t>앞 항 </a:t>
            </a:r>
            <a:r>
              <a:rPr lang="en-US" altLang="ko-KR"/>
              <a:t>τ·c_in·c_out</a:t>
            </a:r>
            <a:r>
              <a:rPr lang="ko-KR" altLang="en-US"/>
              <a:t>은 </a:t>
            </a:r>
            <a:r>
              <a:rPr lang="en-US" altLang="ko-KR"/>
              <a:t>weight </a:t>
            </a:r>
            <a:r>
              <a:rPr lang="ko-KR" altLang="en-US"/>
              <a:t>저장 비용입니다</a:t>
            </a:r>
            <a:r>
              <a:rPr lang="en-US" altLang="ko-KR"/>
              <a:t>. </a:t>
            </a:r>
            <a:r>
              <a:rPr lang="ko-KR" altLang="en-US"/>
              <a:t>각 </a:t>
            </a:r>
            <a:r>
              <a:rPr lang="en-US" altLang="ko-KR"/>
              <a:t>kernel</a:t>
            </a:r>
            <a:r>
              <a:rPr lang="ko-KR" altLang="en-US"/>
              <a:t>을 </a:t>
            </a:r>
            <a:r>
              <a:rPr lang="en-US" altLang="ko-KR"/>
              <a:t>9-bit</a:t>
            </a:r>
            <a:r>
              <a:rPr lang="ko-KR" altLang="en-US"/>
              <a:t>로 그대로 저장하는 대신</a:t>
            </a:r>
            <a:r>
              <a:rPr lang="en-US" altLang="ko-KR"/>
              <a:t>, codebook </a:t>
            </a:r>
            <a:r>
              <a:rPr lang="ko-KR" altLang="en-US"/>
              <a:t>내 </a:t>
            </a:r>
            <a:r>
              <a:rPr lang="en-US" altLang="ko-KR"/>
              <a:t>pattern</a:t>
            </a:r>
            <a:r>
              <a:rPr lang="ko-KR" altLang="en-US"/>
              <a:t>의 </a:t>
            </a:r>
            <a:r>
              <a:rPr lang="en-US" altLang="ko-KR"/>
              <a:t>index</a:t>
            </a:r>
            <a:r>
              <a:rPr lang="ko-KR" altLang="en-US"/>
              <a:t>만 저장하면 </a:t>
            </a:r>
            <a:r>
              <a:rPr lang="en-US" altLang="ko-KR"/>
              <a:t>kernel </a:t>
            </a:r>
            <a:r>
              <a:rPr lang="ko-KR" altLang="en-US"/>
              <a:t>하나당 </a:t>
            </a:r>
            <a:r>
              <a:rPr lang="en-US" altLang="ko-KR"/>
              <a:t>τ bits</a:t>
            </a:r>
            <a:r>
              <a:rPr lang="ko-KR" altLang="en-US"/>
              <a:t>면 충분합니다</a:t>
            </a:r>
            <a:r>
              <a:rPr lang="en-US" altLang="ko-KR"/>
              <a:t>. </a:t>
            </a:r>
            <a:r>
              <a:rPr lang="ko-KR" altLang="en-US"/>
              <a:t>결과적으로 </a:t>
            </a:r>
            <a:r>
              <a:rPr lang="en-US" altLang="ko-KR"/>
              <a:t>weight </a:t>
            </a:r>
            <a:r>
              <a:rPr lang="ko-KR" altLang="en-US"/>
              <a:t>하나당 평균 </a:t>
            </a:r>
            <a:r>
              <a:rPr lang="en-US" altLang="ko-KR"/>
              <a:t>τ/9 bits</a:t>
            </a:r>
            <a:r>
              <a:rPr lang="ko-KR" altLang="en-US"/>
              <a:t>로 표현됩니다</a:t>
            </a:r>
            <a:r>
              <a:rPr lang="en-US" altLang="ko-KR"/>
              <a:t>. </a:t>
            </a:r>
            <a:r>
              <a:rPr lang="ko-KR" altLang="en-US"/>
              <a:t>뒤 항 </a:t>
            </a:r>
            <a:r>
              <a:rPr lang="en-US" altLang="ko-KR"/>
              <a:t>9·2^τ</a:t>
            </a:r>
            <a:r>
              <a:rPr lang="ko-KR" altLang="en-US"/>
              <a:t>은 </a:t>
            </a:r>
            <a:r>
              <a:rPr lang="en-US" altLang="ko-KR"/>
              <a:t>codebook </a:t>
            </a:r>
            <a:r>
              <a:rPr lang="ko-KR" altLang="en-US"/>
              <a:t>자체를 저장하는 </a:t>
            </a:r>
            <a:r>
              <a:rPr lang="en-US" altLang="ko-KR"/>
              <a:t>overhead</a:t>
            </a:r>
            <a:r>
              <a:rPr lang="ko-KR" altLang="en-US"/>
              <a:t>인데</a:t>
            </a:r>
            <a:r>
              <a:rPr lang="en-US" altLang="ko-KR"/>
              <a:t>, </a:t>
            </a:r>
            <a:r>
              <a:rPr lang="ko-KR" altLang="en-US"/>
              <a:t>채널 수 대비 </a:t>
            </a:r>
            <a:r>
              <a:rPr lang="en-US" altLang="ko-KR"/>
              <a:t>0.01%</a:t>
            </a:r>
            <a:r>
              <a:rPr lang="ko-KR" altLang="en-US"/>
              <a:t>에서 </a:t>
            </a:r>
            <a:r>
              <a:rPr lang="en-US" altLang="ko-KR"/>
              <a:t>0.7% </a:t>
            </a:r>
            <a:r>
              <a:rPr lang="ko-KR" altLang="en-US"/>
              <a:t>수준으로 무시 가능합니다</a:t>
            </a:r>
            <a:r>
              <a:rPr lang="en-US" altLang="ko-KR"/>
              <a:t>. </a:t>
            </a:r>
            <a:r>
              <a:rPr lang="ko-KR" altLang="en-US"/>
              <a:t>그래서 아래 표를 보시면</a:t>
            </a:r>
            <a:r>
              <a:rPr lang="en-US" altLang="ko-KR"/>
              <a:t>, τ=5</a:t>
            </a:r>
            <a:r>
              <a:rPr lang="ko-KR" altLang="en-US"/>
              <a:t>일 때 </a:t>
            </a:r>
            <a:r>
              <a:rPr lang="en-US" altLang="ko-KR"/>
              <a:t>BNN </a:t>
            </a:r>
            <a:r>
              <a:rPr lang="ko-KR" altLang="en-US"/>
              <a:t>대비 </a:t>
            </a:r>
            <a:r>
              <a:rPr lang="en-US" altLang="ko-KR"/>
              <a:t>1.8</a:t>
            </a:r>
            <a:r>
              <a:rPr lang="ko-KR" altLang="en-US"/>
              <a:t>배의 압축률을 달성하는 것을 확인할 수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1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이번에는 가속 효과를 보겠습니다</a:t>
            </a:r>
            <a:r>
              <a:rPr lang="en-US" altLang="ko-KR"/>
              <a:t>. </a:t>
            </a:r>
            <a:r>
              <a:rPr lang="ko-KR" altLang="en-US"/>
              <a:t>위 수식을 보시면</a:t>
            </a:r>
            <a:r>
              <a:rPr lang="en-US" altLang="ko-KR"/>
              <a:t>, layer i</a:t>
            </a:r>
            <a:r>
              <a:rPr lang="ko-KR" altLang="en-US"/>
              <a:t>의 </a:t>
            </a:r>
            <a:r>
              <a:rPr lang="en-US" altLang="ko-KR"/>
              <a:t>BitOPs B_i(τ)</a:t>
            </a:r>
            <a:r>
              <a:rPr lang="ko-KR" altLang="en-US"/>
              <a:t>도 두 항으로 구성됩니다</a:t>
            </a:r>
            <a:r>
              <a:rPr lang="en-US" altLang="ko-KR"/>
              <a:t>. </a:t>
            </a:r>
            <a:r>
              <a:rPr lang="ko-KR" altLang="en-US"/>
              <a:t>앞 항은 </a:t>
            </a:r>
            <a:r>
              <a:rPr lang="en-US" altLang="ko-KR"/>
              <a:t>bit-wise operation, </a:t>
            </a:r>
            <a:r>
              <a:rPr lang="ko-KR" altLang="en-US"/>
              <a:t>뒤 항은 </a:t>
            </a:r>
            <a:r>
              <a:rPr lang="en-US" altLang="ko-KR"/>
              <a:t>channel-wise addition</a:t>
            </a:r>
            <a:r>
              <a:rPr lang="ko-KR" altLang="en-US"/>
              <a:t>입니다</a:t>
            </a:r>
            <a:r>
              <a:rPr lang="en-US" altLang="ko-KR"/>
              <a:t>. BNN</a:t>
            </a:r>
            <a:r>
              <a:rPr lang="ko-KR" altLang="en-US"/>
              <a:t>과 비교했을 때 핵심적인 차이는 </a:t>
            </a:r>
            <a:r>
              <a:rPr lang="en-US" altLang="ko-KR"/>
              <a:t>bit-wise operation </a:t>
            </a:r>
            <a:r>
              <a:rPr lang="ko-KR" altLang="en-US"/>
              <a:t>항에서 출력 채널 수 </a:t>
            </a:r>
            <a:r>
              <a:rPr lang="en-US" altLang="ko-KR"/>
              <a:t>c_out</a:t>
            </a:r>
            <a:r>
              <a:rPr lang="ko-KR" altLang="en-US"/>
              <a:t>이 </a:t>
            </a:r>
            <a:r>
              <a:rPr lang="en-US" altLang="ko-KR"/>
              <a:t>2^τ</a:t>
            </a:r>
            <a:r>
              <a:rPr lang="ko-KR" altLang="en-US"/>
              <a:t>로 대체된다는 점입니다</a:t>
            </a:r>
            <a:r>
              <a:rPr lang="en-US" altLang="ko-KR"/>
              <a:t>. </a:t>
            </a:r>
            <a:r>
              <a:rPr lang="ko-KR" altLang="en-US"/>
              <a:t>결과적으로 </a:t>
            </a:r>
            <a:r>
              <a:rPr lang="en-US" altLang="ko-KR"/>
              <a:t>bit-wise operation </a:t>
            </a:r>
            <a:r>
              <a:rPr lang="ko-KR" altLang="en-US"/>
              <a:t>항이 </a:t>
            </a:r>
            <a:r>
              <a:rPr lang="en-US" altLang="ko-KR"/>
              <a:t>2^τ/c_out </a:t>
            </a:r>
            <a:r>
              <a:rPr lang="ko-KR" altLang="en-US"/>
              <a:t>배로 축소되며</a:t>
            </a:r>
            <a:r>
              <a:rPr lang="en-US" altLang="ko-KR"/>
              <a:t>, layer</a:t>
            </a:r>
            <a:r>
              <a:rPr lang="ko-KR" altLang="en-US"/>
              <a:t>가 깊어져 </a:t>
            </a:r>
            <a:r>
              <a:rPr lang="en-US" altLang="ko-KR"/>
              <a:t>c_out</a:t>
            </a:r>
            <a:r>
              <a:rPr lang="ko-KR" altLang="en-US"/>
              <a:t>이 커질수록 </a:t>
            </a:r>
            <a:r>
              <a:rPr lang="en-US" altLang="ko-KR"/>
              <a:t>reduction ratio</a:t>
            </a:r>
            <a:r>
              <a:rPr lang="ko-KR" altLang="en-US"/>
              <a:t>가 표에서 보시는 것처럼 </a:t>
            </a:r>
            <a:r>
              <a:rPr lang="en-US" altLang="ko-KR"/>
              <a:t>2</a:t>
            </a:r>
            <a:r>
              <a:rPr lang="ko-KR" altLang="en-US"/>
              <a:t>배</a:t>
            </a:r>
            <a:r>
              <a:rPr lang="en-US" altLang="ko-KR"/>
              <a:t>, 4</a:t>
            </a:r>
            <a:r>
              <a:rPr lang="ko-KR" altLang="en-US"/>
              <a:t>배</a:t>
            </a:r>
            <a:r>
              <a:rPr lang="en-US" altLang="ko-KR"/>
              <a:t>, 8</a:t>
            </a:r>
            <a:r>
              <a:rPr lang="ko-KR" altLang="en-US"/>
              <a:t>배</a:t>
            </a:r>
            <a:r>
              <a:rPr lang="en-US" altLang="ko-KR"/>
              <a:t>, 16</a:t>
            </a:r>
            <a:r>
              <a:rPr lang="ko-KR" altLang="en-US"/>
              <a:t>배로 누적됩니다</a:t>
            </a:r>
            <a:r>
              <a:rPr lang="en-US" altLang="ko-KR"/>
              <a:t>. ResNet-18 </a:t>
            </a:r>
            <a:r>
              <a:rPr lang="ko-KR" altLang="en-US"/>
              <a:t>전체 모델 기준</a:t>
            </a:r>
            <a:r>
              <a:rPr lang="en-US" altLang="ko-KR"/>
              <a:t>, τ=5</a:t>
            </a:r>
            <a:r>
              <a:rPr lang="ko-KR" altLang="en-US"/>
              <a:t>일 때 </a:t>
            </a:r>
            <a:r>
              <a:rPr lang="en-US" altLang="ko-KR"/>
              <a:t>BitOPs</a:t>
            </a:r>
            <a:r>
              <a:rPr lang="ko-KR" altLang="en-US"/>
              <a:t>는 </a:t>
            </a:r>
            <a:r>
              <a:rPr lang="en-US" altLang="ko-KR"/>
              <a:t>BNN </a:t>
            </a:r>
            <a:r>
              <a:rPr lang="ko-KR" altLang="en-US"/>
              <a:t>대비 약 </a:t>
            </a:r>
            <a:r>
              <a:rPr lang="en-US" altLang="ko-KR"/>
              <a:t>3.3</a:t>
            </a:r>
            <a:r>
              <a:rPr lang="ko-KR" altLang="en-US"/>
              <a:t>배 감소합니다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*</a:t>
            </a:r>
            <a:r>
              <a:rPr lang="ko-KR" altLang="en-US"/>
              <a:t>대체되는 이유 </a:t>
            </a:r>
            <a:r>
              <a:rPr lang="en-US" altLang="ko-KR"/>
              <a:t>: codebook</a:t>
            </a:r>
            <a:r>
              <a:rPr lang="ko-KR" altLang="en-US"/>
              <a:t>에 고유 </a:t>
            </a:r>
            <a:r>
              <a:rPr lang="en-US" altLang="ko-KR"/>
              <a:t>pattern</a:t>
            </a:r>
            <a:r>
              <a:rPr lang="ko-KR" altLang="en-US"/>
              <a:t>이 </a:t>
            </a:r>
            <a:r>
              <a:rPr lang="en-US" altLang="ko-KR"/>
              <a:t>2^τ</a:t>
            </a:r>
            <a:r>
              <a:rPr lang="ko-KR" altLang="en-US"/>
              <a:t>개뿐이라서</a:t>
            </a:r>
            <a:r>
              <a:rPr lang="en-US" altLang="ko-KR"/>
              <a:t>, c_out</a:t>
            </a:r>
            <a:r>
              <a:rPr lang="ko-KR" altLang="en-US"/>
              <a:t>개 채널이 그 </a:t>
            </a:r>
            <a:r>
              <a:rPr lang="en-US" altLang="ko-KR"/>
              <a:t>pattern</a:t>
            </a:r>
            <a:r>
              <a:rPr lang="ko-KR" altLang="en-US"/>
              <a:t>들을 공유한다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042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앞서 슬라이드에서 보신 것처럼 </a:t>
            </a:r>
            <a:r>
              <a:rPr lang="en-US" altLang="ko-KR"/>
              <a:t>layer</a:t>
            </a:r>
            <a:r>
              <a:rPr lang="ko-KR" altLang="en-US"/>
              <a:t>별로 </a:t>
            </a:r>
            <a:r>
              <a:rPr lang="en-US" altLang="ko-KR"/>
              <a:t>clustering </a:t>
            </a:r>
            <a:r>
              <a:rPr lang="ko-KR" altLang="en-US"/>
              <a:t>강도가 다른데</a:t>
            </a:r>
            <a:r>
              <a:rPr lang="en-US" altLang="ko-KR"/>
              <a:t>, </a:t>
            </a:r>
            <a:r>
              <a:rPr lang="ko-KR" altLang="en-US"/>
              <a:t>그렇다면 모든 </a:t>
            </a:r>
            <a:r>
              <a:rPr lang="en-US" altLang="ko-KR"/>
              <a:t>layer</a:t>
            </a:r>
            <a:r>
              <a:rPr lang="ko-KR" altLang="en-US"/>
              <a:t>에 동일한 </a:t>
            </a:r>
            <a:r>
              <a:rPr lang="en-US" altLang="ko-KR"/>
              <a:t>τ</a:t>
            </a:r>
            <a:r>
              <a:rPr lang="ko-KR" altLang="en-US"/>
              <a:t>를 적용하는 </a:t>
            </a:r>
            <a:r>
              <a:rPr lang="en-US" altLang="ko-KR"/>
              <a:t>SNN</a:t>
            </a:r>
            <a:r>
              <a:rPr lang="ko-KR" altLang="en-US"/>
              <a:t>의 방식이 정말 적절할까요</a:t>
            </a:r>
            <a:r>
              <a:rPr lang="en-US" altLang="ko-KR"/>
              <a:t>? </a:t>
            </a:r>
            <a:r>
              <a:rPr lang="ko-KR" altLang="en-US"/>
              <a:t>이를 확인하기 위해 같은 </a:t>
            </a:r>
            <a:r>
              <a:rPr lang="en-US" altLang="ko-KR"/>
              <a:t>ImageNet </a:t>
            </a:r>
            <a:r>
              <a:rPr lang="ko-KR" altLang="en-US"/>
              <a:t>학습 </a:t>
            </a:r>
            <a:r>
              <a:rPr lang="en-US" altLang="ko-KR"/>
              <a:t>BNN</a:t>
            </a:r>
            <a:r>
              <a:rPr lang="ko-KR" altLang="en-US"/>
              <a:t>에서 </a:t>
            </a:r>
            <a:r>
              <a:rPr lang="en-US" altLang="ko-KR"/>
              <a:t>layer 8</a:t>
            </a:r>
            <a:r>
              <a:rPr lang="ko-KR" altLang="en-US"/>
              <a:t>과 </a:t>
            </a:r>
            <a:r>
              <a:rPr lang="en-US" altLang="ko-KR"/>
              <a:t>layer 13</a:t>
            </a:r>
            <a:r>
              <a:rPr lang="ko-KR" altLang="en-US"/>
              <a:t>을 비교해봤습니다</a:t>
            </a:r>
            <a:r>
              <a:rPr lang="en-US" altLang="ko-KR"/>
              <a:t>. </a:t>
            </a:r>
            <a:r>
              <a:rPr lang="ko-KR" altLang="en-US"/>
              <a:t>비슷한 </a:t>
            </a:r>
            <a:r>
              <a:rPr lang="en-US" altLang="ko-KR"/>
              <a:t>Top-K percentage 51~54%</a:t>
            </a:r>
            <a:r>
              <a:rPr lang="ko-KR" altLang="en-US"/>
              <a:t>를 달성하기 위해</a:t>
            </a:r>
            <a:r>
              <a:rPr lang="en-US" altLang="ko-KR"/>
              <a:t>, </a:t>
            </a:r>
            <a:r>
              <a:rPr lang="ko-KR" altLang="en-US"/>
              <a:t>깊은 </a:t>
            </a:r>
            <a:r>
              <a:rPr lang="en-US" altLang="ko-KR"/>
              <a:t>layer 13</a:t>
            </a:r>
            <a:r>
              <a:rPr lang="ko-KR" altLang="en-US"/>
              <a:t>은 </a:t>
            </a:r>
            <a:r>
              <a:rPr lang="en-US" altLang="ko-KR"/>
              <a:t>32</a:t>
            </a:r>
            <a:r>
              <a:rPr lang="ko-KR" altLang="en-US"/>
              <a:t>개의 </a:t>
            </a:r>
            <a:r>
              <a:rPr lang="en-US" altLang="ko-KR"/>
              <a:t>binary kernel</a:t>
            </a:r>
            <a:r>
              <a:rPr lang="ko-KR" altLang="en-US"/>
              <a:t>로 충분한 반면</a:t>
            </a:r>
            <a:r>
              <a:rPr lang="en-US" altLang="ko-KR"/>
              <a:t>, </a:t>
            </a:r>
            <a:r>
              <a:rPr lang="ko-KR" altLang="en-US"/>
              <a:t>더 얕은 </a:t>
            </a:r>
            <a:r>
              <a:rPr lang="en-US" altLang="ko-KR"/>
              <a:t>layer 8</a:t>
            </a:r>
            <a:r>
              <a:rPr lang="ko-KR" altLang="en-US"/>
              <a:t>은 </a:t>
            </a:r>
            <a:r>
              <a:rPr lang="en-US" altLang="ko-KR"/>
              <a:t>4</a:t>
            </a:r>
            <a:r>
              <a:rPr lang="ko-KR" altLang="en-US"/>
              <a:t>배 더 많은 </a:t>
            </a:r>
            <a:r>
              <a:rPr lang="en-US" altLang="ko-KR"/>
              <a:t>128</a:t>
            </a:r>
            <a:r>
              <a:rPr lang="ko-KR" altLang="en-US"/>
              <a:t>개가 필요합니다</a:t>
            </a:r>
            <a:r>
              <a:rPr lang="en-US" altLang="ko-KR"/>
              <a:t>. </a:t>
            </a:r>
            <a:r>
              <a:rPr lang="ko-KR" altLang="en-US"/>
              <a:t>이는 각 </a:t>
            </a:r>
            <a:r>
              <a:rPr lang="en-US" altLang="ko-KR"/>
              <a:t>layer</a:t>
            </a:r>
            <a:r>
              <a:rPr lang="ko-KR" altLang="en-US"/>
              <a:t>가 본질적으로 서로 다른 </a:t>
            </a:r>
            <a:r>
              <a:rPr lang="en-US" altLang="ko-KR"/>
              <a:t>codebook size</a:t>
            </a:r>
            <a:r>
              <a:rPr lang="ko-KR" altLang="en-US"/>
              <a:t>를 요구함을 시사합니다</a:t>
            </a:r>
            <a:r>
              <a:rPr lang="en-US" altLang="ko-KR"/>
              <a:t>. Low clustering layer</a:t>
            </a:r>
            <a:r>
              <a:rPr lang="ko-KR" altLang="en-US"/>
              <a:t>에서는 큰 </a:t>
            </a:r>
            <a:r>
              <a:rPr lang="en-US" altLang="ko-KR"/>
              <a:t>codebook</a:t>
            </a:r>
            <a:r>
              <a:rPr lang="ko-KR" altLang="en-US"/>
              <a:t>이 필요하기 때문에 작은 </a:t>
            </a:r>
            <a:r>
              <a:rPr lang="en-US" altLang="ko-KR"/>
              <a:t>τ</a:t>
            </a:r>
            <a:r>
              <a:rPr lang="ko-KR" altLang="en-US"/>
              <a:t>를 일괄 적용하면 </a:t>
            </a:r>
            <a:r>
              <a:rPr lang="en-US" altLang="ko-KR"/>
              <a:t>accuracy </a:t>
            </a:r>
            <a:r>
              <a:rPr lang="ko-KR" altLang="en-US"/>
              <a:t>병목이 발생하고</a:t>
            </a:r>
            <a:r>
              <a:rPr lang="en-US" altLang="ko-KR"/>
              <a:t>, </a:t>
            </a:r>
            <a:r>
              <a:rPr lang="ko-KR" altLang="en-US"/>
              <a:t>반대로 </a:t>
            </a:r>
            <a:r>
              <a:rPr lang="en-US" altLang="ko-KR"/>
              <a:t>high clustering layer</a:t>
            </a:r>
            <a:r>
              <a:rPr lang="ko-KR" altLang="en-US"/>
              <a:t>에서는 작은 </a:t>
            </a:r>
            <a:r>
              <a:rPr lang="en-US" altLang="ko-KR"/>
              <a:t>codebook</a:t>
            </a:r>
            <a:r>
              <a:rPr lang="ko-KR" altLang="en-US"/>
              <a:t>으로도 충분하기 때문에 큰 </a:t>
            </a:r>
            <a:r>
              <a:rPr lang="en-US" altLang="ko-KR"/>
              <a:t>τ</a:t>
            </a:r>
            <a:r>
              <a:rPr lang="ko-KR" altLang="en-US"/>
              <a:t>를 일괄 적용하면 </a:t>
            </a:r>
            <a:r>
              <a:rPr lang="en-US" altLang="ko-KR"/>
              <a:t>storage</a:t>
            </a:r>
            <a:r>
              <a:rPr lang="ko-KR" altLang="en-US"/>
              <a:t>와 </a:t>
            </a:r>
            <a:r>
              <a:rPr lang="en-US" altLang="ko-KR"/>
              <a:t>BitOPs</a:t>
            </a:r>
            <a:r>
              <a:rPr lang="ko-KR" altLang="en-US"/>
              <a:t>가 낭비됩니다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accuracy</a:t>
            </a:r>
            <a:r>
              <a:rPr lang="ko-KR" altLang="en-US"/>
              <a:t>와 </a:t>
            </a:r>
            <a:r>
              <a:rPr lang="en-US" altLang="ko-KR"/>
              <a:t>efficiency</a:t>
            </a:r>
            <a:r>
              <a:rPr lang="ko-KR" altLang="en-US"/>
              <a:t>를 동시에 달성하려면 </a:t>
            </a:r>
            <a:r>
              <a:rPr lang="en-US" altLang="ko-KR"/>
              <a:t>layer</a:t>
            </a:r>
            <a:r>
              <a:rPr lang="ko-KR" altLang="en-US"/>
              <a:t>마다 서로 다른 </a:t>
            </a:r>
            <a:r>
              <a:rPr lang="en-US" altLang="ko-KR"/>
              <a:t>τ</a:t>
            </a:r>
            <a:r>
              <a:rPr lang="ko-KR" altLang="en-US"/>
              <a:t>를 부여하는 </a:t>
            </a:r>
            <a:r>
              <a:rPr lang="en-US" altLang="ko-KR"/>
              <a:t>mixed-τ allocation</a:t>
            </a:r>
            <a:r>
              <a:rPr lang="ko-KR" altLang="en-US"/>
              <a:t>이 본질적으로 요구됩니다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90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</a:t>
            </a:r>
            <a:r>
              <a:rPr lang="en-US" altLang="ko-KR"/>
              <a:t>deployment </a:t>
            </a:r>
            <a:r>
              <a:rPr lang="ko-KR" altLang="en-US"/>
              <a:t>상황에서 사용자는 </a:t>
            </a:r>
            <a:r>
              <a:rPr lang="en-US" altLang="ko-KR"/>
              <a:t>target device</a:t>
            </a:r>
            <a:r>
              <a:rPr lang="ko-KR" altLang="en-US"/>
              <a:t>의 </a:t>
            </a:r>
            <a:r>
              <a:rPr lang="en-US" altLang="ko-KR"/>
              <a:t>memory</a:t>
            </a:r>
            <a:r>
              <a:rPr lang="ko-KR" altLang="en-US"/>
              <a:t>나 </a:t>
            </a:r>
            <a:r>
              <a:rPr lang="en-US" altLang="ko-KR"/>
              <a:t>latency </a:t>
            </a:r>
            <a:r>
              <a:rPr lang="ko-KR" altLang="en-US"/>
              <a:t>요구사항에 따라 </a:t>
            </a:r>
            <a:r>
              <a:rPr lang="en-US" altLang="ko-KR"/>
              <a:t>weight storage</a:t>
            </a:r>
            <a:r>
              <a:rPr lang="ko-KR" altLang="en-US"/>
              <a:t>와 </a:t>
            </a:r>
            <a:r>
              <a:rPr lang="en-US" altLang="ko-KR"/>
              <a:t>BitOPs</a:t>
            </a:r>
            <a:r>
              <a:rPr lang="ko-KR" altLang="en-US"/>
              <a:t>에 대한 명시적인 </a:t>
            </a:r>
            <a:r>
              <a:rPr lang="en-US" altLang="ko-KR"/>
              <a:t>hardware constraint</a:t>
            </a:r>
            <a:r>
              <a:rPr lang="ko-KR" altLang="en-US"/>
              <a:t>를 갖습니다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constraint</a:t>
            </a:r>
            <a:r>
              <a:rPr lang="ko-KR" altLang="en-US"/>
              <a:t>를 만족하면서 </a:t>
            </a:r>
            <a:r>
              <a:rPr lang="en-US" altLang="ko-KR"/>
              <a:t>accuracy</a:t>
            </a:r>
            <a:r>
              <a:rPr lang="ko-KR" altLang="en-US"/>
              <a:t>를 최대화하려면 각 </a:t>
            </a:r>
            <a:r>
              <a:rPr lang="en-US" altLang="ko-KR"/>
              <a:t>layer</a:t>
            </a:r>
            <a:r>
              <a:rPr lang="ko-KR" altLang="en-US"/>
              <a:t>에 최적의 </a:t>
            </a:r>
            <a:r>
              <a:rPr lang="en-US" altLang="ko-KR"/>
              <a:t>τ</a:t>
            </a:r>
            <a:r>
              <a:rPr lang="ko-KR" altLang="en-US"/>
              <a:t>를 개별적으로 할당해야 합니다</a:t>
            </a:r>
            <a:r>
              <a:rPr lang="en-US" altLang="ko-KR"/>
              <a:t>. </a:t>
            </a:r>
            <a:r>
              <a:rPr lang="ko-KR" altLang="en-US"/>
              <a:t>그러나 </a:t>
            </a:r>
            <a:r>
              <a:rPr lang="en-US" altLang="ko-KR"/>
              <a:t>ResNet-18</a:t>
            </a:r>
            <a:r>
              <a:rPr lang="ko-KR" altLang="en-US"/>
              <a:t>을 예로 들면 </a:t>
            </a:r>
            <a:r>
              <a:rPr lang="en-US" altLang="ko-KR"/>
              <a:t>layer </a:t>
            </a:r>
            <a:r>
              <a:rPr lang="ko-KR" altLang="en-US"/>
              <a:t>수 </a:t>
            </a:r>
            <a:r>
              <a:rPr lang="en-US" altLang="ko-KR"/>
              <a:t>L</a:t>
            </a:r>
            <a:r>
              <a:rPr lang="ko-KR" altLang="en-US"/>
              <a:t>이 </a:t>
            </a:r>
            <a:r>
              <a:rPr lang="en-US" altLang="ko-KR"/>
              <a:t>16</a:t>
            </a:r>
            <a:r>
              <a:rPr lang="ko-KR" altLang="en-US"/>
              <a:t>이고 </a:t>
            </a:r>
            <a:r>
              <a:rPr lang="en-US" altLang="ko-KR"/>
              <a:t>τ </a:t>
            </a:r>
            <a:r>
              <a:rPr lang="ko-KR" altLang="en-US"/>
              <a:t>후보가 </a:t>
            </a:r>
            <a:r>
              <a:rPr lang="en-US" altLang="ko-KR"/>
              <a:t>{1, 2, ..., 8}</a:t>
            </a:r>
            <a:r>
              <a:rPr lang="ko-KR" altLang="en-US"/>
              <a:t>이므로</a:t>
            </a:r>
            <a:r>
              <a:rPr lang="en-US" altLang="ko-KR"/>
              <a:t>, </a:t>
            </a:r>
            <a:r>
              <a:rPr lang="ko-KR" altLang="en-US"/>
              <a:t>조합 공간이 </a:t>
            </a:r>
            <a:r>
              <a:rPr lang="en-US" altLang="ko-KR"/>
              <a:t>8^16, </a:t>
            </a:r>
            <a:r>
              <a:rPr lang="ko-KR" altLang="en-US"/>
              <a:t>약 </a:t>
            </a:r>
            <a:r>
              <a:rPr lang="en-US" altLang="ko-KR"/>
              <a:t>2.8×10^14</a:t>
            </a:r>
            <a:r>
              <a:rPr lang="ko-KR" altLang="en-US"/>
              <a:t>에 달합니다</a:t>
            </a:r>
            <a:r>
              <a:rPr lang="en-US" altLang="ko-KR"/>
              <a:t>. </a:t>
            </a:r>
            <a:r>
              <a:rPr lang="ko-KR" altLang="en-US"/>
              <a:t>사람이 직접 탐색하는 것은 불가능합니다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hardware constraint</a:t>
            </a:r>
            <a:r>
              <a:rPr lang="ko-KR" altLang="en-US"/>
              <a:t>를 만족하는 최적의 </a:t>
            </a:r>
            <a:r>
              <a:rPr lang="en-US" altLang="ko-KR"/>
              <a:t>mixed-τ allocation</a:t>
            </a:r>
            <a:r>
              <a:rPr lang="ko-KR" altLang="en-US"/>
              <a:t>을 자동으로 탐색하는 </a:t>
            </a:r>
            <a:r>
              <a:rPr lang="en-US" altLang="ko-KR"/>
              <a:t>framework</a:t>
            </a:r>
            <a:r>
              <a:rPr lang="ko-KR" altLang="en-US"/>
              <a:t>가 필요합니다</a:t>
            </a:r>
            <a:r>
              <a:rPr lang="en-US" altLang="ko-KR"/>
              <a:t>. </a:t>
            </a:r>
            <a:r>
              <a:rPr lang="ko-KR" altLang="en-US"/>
              <a:t>이를 위해 본 연구는 </a:t>
            </a:r>
            <a:r>
              <a:rPr lang="en-US" altLang="ko-KR"/>
              <a:t>3-phase framework</a:t>
            </a:r>
            <a:r>
              <a:rPr lang="ko-KR" altLang="en-US"/>
              <a:t>를 제안합니다</a:t>
            </a:r>
            <a:r>
              <a:rPr lang="en-US" altLang="ko-KR"/>
              <a:t>. Phase 1</a:t>
            </a:r>
            <a:r>
              <a:rPr lang="ko-KR" altLang="en-US"/>
              <a:t>에서는 </a:t>
            </a:r>
            <a:r>
              <a:rPr lang="en-US" altLang="ko-KR"/>
              <a:t>Gumbel-Softmax </a:t>
            </a:r>
            <a:r>
              <a:rPr lang="ko-KR" altLang="en-US"/>
              <a:t>기반 </a:t>
            </a:r>
            <a:r>
              <a:rPr lang="en-US" altLang="ko-KR"/>
              <a:t>DNAS</a:t>
            </a:r>
            <a:r>
              <a:rPr lang="ko-KR" altLang="en-US"/>
              <a:t>로 </a:t>
            </a:r>
            <a:r>
              <a:rPr lang="en-US" altLang="ko-KR"/>
              <a:t>layer</a:t>
            </a:r>
            <a:r>
              <a:rPr lang="ko-KR" altLang="en-US"/>
              <a:t>별 </a:t>
            </a:r>
            <a:r>
              <a:rPr lang="en-US" altLang="ko-KR"/>
              <a:t>τ </a:t>
            </a:r>
            <a:r>
              <a:rPr lang="ko-KR" altLang="en-US"/>
              <a:t>확률 분포를 학습하고</a:t>
            </a:r>
            <a:r>
              <a:rPr lang="en-US" altLang="ko-KR"/>
              <a:t>, Phase 2</a:t>
            </a:r>
            <a:r>
              <a:rPr lang="ko-KR" altLang="en-US"/>
              <a:t>에서는 </a:t>
            </a:r>
            <a:r>
              <a:rPr lang="en-US" altLang="ko-KR"/>
              <a:t>Multiple-Choice Knapsack DP</a:t>
            </a:r>
            <a:r>
              <a:rPr lang="ko-KR" altLang="en-US"/>
              <a:t>로 </a:t>
            </a:r>
            <a:r>
              <a:rPr lang="en-US" altLang="ko-KR"/>
              <a:t>hardware constraint</a:t>
            </a:r>
            <a:r>
              <a:rPr lang="ko-KR" altLang="en-US"/>
              <a:t>를 만족하는 최적의 </a:t>
            </a:r>
            <a:r>
              <a:rPr lang="en-US" altLang="ko-KR"/>
              <a:t>τ allocation</a:t>
            </a:r>
            <a:r>
              <a:rPr lang="ko-KR" altLang="en-US"/>
              <a:t>을 도출하며</a:t>
            </a:r>
            <a:r>
              <a:rPr lang="en-US" altLang="ko-KR"/>
              <a:t>, Phase 3</a:t>
            </a:r>
            <a:r>
              <a:rPr lang="ko-KR" altLang="en-US"/>
              <a:t>에서는 결정된 </a:t>
            </a:r>
            <a:r>
              <a:rPr lang="en-US" altLang="ko-KR"/>
              <a:t>τ-list</a:t>
            </a:r>
            <a:r>
              <a:rPr lang="ko-KR" altLang="en-US"/>
              <a:t>로 재학습합니다</a:t>
            </a:r>
            <a:r>
              <a:rPr lang="en-US" altLang="ko-KR"/>
              <a:t>. </a:t>
            </a:r>
            <a:r>
              <a:rPr lang="ko-KR" altLang="en-US"/>
              <a:t>이어지는 슬라이드에서 각 </a:t>
            </a:r>
            <a:r>
              <a:rPr lang="en-US" altLang="ko-KR"/>
              <a:t>phase</a:t>
            </a:r>
            <a:r>
              <a:rPr lang="ko-KR" altLang="en-US"/>
              <a:t>를 자세히 설명드리겠습니다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18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Plain softmax</a:t>
            </a:r>
            <a:r>
              <a:rPr lang="ko-KR" altLang="en-US"/>
              <a:t>는 매 </a:t>
            </a:r>
            <a:r>
              <a:rPr lang="en-US" altLang="ko-KR"/>
              <a:t>forward</a:t>
            </a:r>
            <a:r>
              <a:rPr lang="ko-KR" altLang="en-US"/>
              <a:t>에 동일한 </a:t>
            </a:r>
            <a:r>
              <a:rPr lang="en-US" altLang="ko-KR"/>
              <a:t>mixture weight</a:t>
            </a:r>
            <a:r>
              <a:rPr lang="ko-KR" altLang="en-US"/>
              <a:t>를 주기 때문에</a:t>
            </a:r>
            <a:r>
              <a:rPr lang="en-US" altLang="ko-KR"/>
              <a:t>:</a:t>
            </a:r>
          </a:p>
          <a:p>
            <a:r>
              <a:rPr lang="en-US" altLang="ko-KR"/>
              <a:t>  ▎ 1. </a:t>
            </a:r>
            <a:r>
              <a:rPr lang="ko-KR" altLang="en-US"/>
              <a:t>모든 </a:t>
            </a:r>
            <a:r>
              <a:rPr lang="en-US" altLang="ko-KR"/>
              <a:t>τ</a:t>
            </a:r>
            <a:r>
              <a:rPr lang="ko-KR" altLang="en-US"/>
              <a:t>가 항상 같은 비율로 섞임 → 어느 </a:t>
            </a:r>
            <a:r>
              <a:rPr lang="en-US" altLang="ko-KR"/>
              <a:t>τ</a:t>
            </a:r>
            <a:r>
              <a:rPr lang="ko-KR" altLang="en-US"/>
              <a:t>가 더 나은지 신호가 약함</a:t>
            </a:r>
          </a:p>
          <a:p>
            <a:r>
              <a:rPr lang="ko-KR" altLang="en-US"/>
              <a:t>  ▎ </a:t>
            </a:r>
            <a:r>
              <a:rPr lang="en-US" altLang="ko-KR"/>
              <a:t>2. mixed op (continuous)</a:t>
            </a:r>
            <a:r>
              <a:rPr lang="ko-KR" altLang="en-US"/>
              <a:t>에 최적화된 </a:t>
            </a:r>
            <a:r>
              <a:rPr lang="en-US" altLang="ko-KR"/>
              <a:t>α</a:t>
            </a:r>
            <a:r>
              <a:rPr lang="ko-KR" altLang="en-US"/>
              <a:t>가 </a:t>
            </a:r>
            <a:r>
              <a:rPr lang="en-US" altLang="ko-KR"/>
              <a:t>retrain </a:t>
            </a:r>
            <a:r>
              <a:rPr lang="ko-KR" altLang="en-US"/>
              <a:t>시 하나의 </a:t>
            </a:r>
            <a:r>
              <a:rPr lang="en-US" altLang="ko-KR"/>
              <a:t>τ</a:t>
            </a:r>
            <a:r>
              <a:rPr lang="ko-KR" altLang="en-US"/>
              <a:t>로 </a:t>
            </a:r>
            <a:r>
              <a:rPr lang="en-US" altLang="ko-KR"/>
              <a:t>discretize</a:t>
            </a:r>
            <a:r>
              <a:rPr lang="ko-KR" altLang="en-US"/>
              <a:t>되면 성능 갭 발생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이제 </a:t>
            </a:r>
            <a:r>
              <a:rPr lang="en-US" altLang="ko-KR"/>
              <a:t>Phase 1</a:t>
            </a:r>
            <a:r>
              <a:rPr lang="ko-KR" altLang="en-US"/>
              <a:t>을 자세히 보겠습니다</a:t>
            </a:r>
            <a:r>
              <a:rPr lang="en-US" altLang="ko-KR"/>
              <a:t>. </a:t>
            </a:r>
          </a:p>
          <a:p>
            <a:r>
              <a:rPr lang="en-US" altLang="ko-KR"/>
              <a:t>-</a:t>
            </a:r>
            <a:r>
              <a:rPr lang="ko-KR" altLang="en-US"/>
              <a:t>먼저 </a:t>
            </a:r>
            <a:r>
              <a:rPr lang="en-US" altLang="ko-KR"/>
              <a:t>architecture parameter</a:t>
            </a:r>
            <a:r>
              <a:rPr lang="ko-KR" altLang="en-US"/>
              <a:t>를 정의합니다</a:t>
            </a:r>
            <a:r>
              <a:rPr lang="en-US" altLang="ko-KR"/>
              <a:t>. </a:t>
            </a:r>
            <a:r>
              <a:rPr lang="ko-KR" altLang="en-US"/>
              <a:t>각 </a:t>
            </a:r>
            <a:r>
              <a:rPr lang="en-US" altLang="ko-KR"/>
              <a:t>binary conv layer i</a:t>
            </a:r>
            <a:r>
              <a:rPr lang="ko-KR" altLang="en-US"/>
              <a:t>에 </a:t>
            </a:r>
            <a:r>
              <a:rPr lang="en-US" altLang="ko-KR"/>
              <a:t>logit α_i</a:t>
            </a:r>
            <a:r>
              <a:rPr lang="ko-KR" altLang="en-US"/>
              <a:t>를 도입하는데</a:t>
            </a:r>
            <a:r>
              <a:rPr lang="en-US" altLang="ko-KR"/>
              <a:t>, α_i</a:t>
            </a:r>
            <a:r>
              <a:rPr lang="ko-KR" altLang="en-US"/>
              <a:t>는 </a:t>
            </a:r>
            <a:r>
              <a:rPr lang="en-US" altLang="ko-KR"/>
              <a:t>τ=1</a:t>
            </a:r>
            <a:r>
              <a:rPr lang="ko-KR" altLang="en-US"/>
              <a:t>부터 </a:t>
            </a:r>
            <a:r>
              <a:rPr lang="en-US" altLang="ko-KR"/>
              <a:t>8</a:t>
            </a:r>
            <a:r>
              <a:rPr lang="ko-KR" altLang="en-US"/>
              <a:t>까지 </a:t>
            </a:r>
            <a:r>
              <a:rPr lang="en-US" altLang="ko-KR"/>
              <a:t>8</a:t>
            </a:r>
            <a:r>
              <a:rPr lang="ko-KR" altLang="en-US"/>
              <a:t>개 후보에 대한 </a:t>
            </a:r>
            <a:r>
              <a:rPr lang="en-US" altLang="ko-KR"/>
              <a:t>logit</a:t>
            </a:r>
            <a:r>
              <a:rPr lang="ko-KR" altLang="en-US"/>
              <a:t>으로 </a:t>
            </a:r>
            <a:r>
              <a:rPr lang="en-US" altLang="ko-KR"/>
              <a:t>R^8 </a:t>
            </a:r>
            <a:r>
              <a:rPr lang="ko-KR" altLang="en-US"/>
              <a:t>벡터입니다</a:t>
            </a:r>
            <a:r>
              <a:rPr lang="en-US" altLang="ko-KR"/>
              <a:t>. ResNet-18</a:t>
            </a:r>
            <a:r>
              <a:rPr lang="ko-KR" altLang="en-US"/>
              <a:t>은 </a:t>
            </a:r>
            <a:r>
              <a:rPr lang="en-US" altLang="ko-KR"/>
              <a:t>16</a:t>
            </a:r>
            <a:r>
              <a:rPr lang="ko-KR" altLang="en-US"/>
              <a:t>개 </a:t>
            </a:r>
            <a:r>
              <a:rPr lang="en-US" altLang="ko-KR"/>
              <a:t>binary conv layer</a:t>
            </a:r>
            <a:r>
              <a:rPr lang="ko-KR" altLang="en-US"/>
              <a:t>를 가지므로 전체 모델의 </a:t>
            </a:r>
            <a:r>
              <a:rPr lang="en-US" altLang="ko-KR"/>
              <a:t>architecture parameter Π</a:t>
            </a:r>
            <a:r>
              <a:rPr lang="ko-KR" altLang="en-US"/>
              <a:t>는 </a:t>
            </a:r>
            <a:r>
              <a:rPr lang="en-US" altLang="ko-KR"/>
              <a:t>16×8 </a:t>
            </a:r>
            <a:r>
              <a:rPr lang="ko-KR" altLang="en-US"/>
              <a:t>행렬이 됩니다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α</a:t>
            </a:r>
            <a:r>
              <a:rPr lang="ko-KR" altLang="en-US"/>
              <a:t>를 학습해서 </a:t>
            </a:r>
            <a:r>
              <a:rPr lang="en-US" altLang="ko-KR"/>
              <a:t>layer</a:t>
            </a:r>
            <a:r>
              <a:rPr lang="ko-KR" altLang="en-US"/>
              <a:t>별 적합한 </a:t>
            </a:r>
            <a:r>
              <a:rPr lang="en-US" altLang="ko-KR"/>
              <a:t>τ</a:t>
            </a:r>
            <a:r>
              <a:rPr lang="ko-KR" altLang="en-US"/>
              <a:t>를 찾는 것이 목표입니다</a:t>
            </a:r>
            <a:r>
              <a:rPr lang="en-US" altLang="ko-KR"/>
              <a:t>. </a:t>
            </a:r>
          </a:p>
          <a:p>
            <a:r>
              <a:rPr lang="en-US" altLang="ko-KR"/>
              <a:t>-</a:t>
            </a:r>
            <a:r>
              <a:rPr lang="ko-KR" altLang="en-US"/>
              <a:t>그런데 </a:t>
            </a:r>
            <a:r>
              <a:rPr lang="en-US" altLang="ko-KR"/>
              <a:t>8</a:t>
            </a:r>
            <a:r>
              <a:rPr lang="ko-KR" altLang="en-US"/>
              <a:t>개 </a:t>
            </a:r>
            <a:r>
              <a:rPr lang="en-US" altLang="ko-KR"/>
              <a:t>τ </a:t>
            </a:r>
            <a:r>
              <a:rPr lang="ko-KR" altLang="en-US"/>
              <a:t>후보 중 하나를 선택하는 이산적 선택은 미분이 불가능하기 때문에</a:t>
            </a:r>
            <a:r>
              <a:rPr lang="en-US" altLang="ko-KR"/>
              <a:t>, α</a:t>
            </a:r>
            <a:r>
              <a:rPr lang="ko-KR" altLang="en-US"/>
              <a:t>를 </a:t>
            </a:r>
            <a:r>
              <a:rPr lang="en-US" altLang="ko-KR"/>
              <a:t>gradient</a:t>
            </a:r>
            <a:r>
              <a:rPr lang="ko-KR" altLang="en-US"/>
              <a:t>로 학습할 수 없습니다</a:t>
            </a:r>
            <a:r>
              <a:rPr lang="en-US" altLang="ko-KR"/>
              <a:t>. </a:t>
            </a:r>
            <a:r>
              <a:rPr lang="ko-KR" altLang="en-US"/>
              <a:t>이를 해결하기 위해 이산적 </a:t>
            </a:r>
            <a:r>
              <a:rPr lang="en-US" altLang="ko-KR"/>
              <a:t>τ </a:t>
            </a:r>
            <a:r>
              <a:rPr lang="ko-KR" altLang="en-US"/>
              <a:t>선택을 확률 분포 </a:t>
            </a:r>
            <a:r>
              <a:rPr lang="en-US" altLang="ko-KR"/>
              <a:t>p_{i,k}</a:t>
            </a:r>
            <a:r>
              <a:rPr lang="ko-KR" altLang="en-US"/>
              <a:t>로 근사해서 </a:t>
            </a:r>
            <a:r>
              <a:rPr lang="en-US" altLang="ko-KR"/>
              <a:t>α</a:t>
            </a:r>
            <a:r>
              <a:rPr lang="ko-KR" altLang="en-US"/>
              <a:t>에 </a:t>
            </a:r>
            <a:r>
              <a:rPr lang="en-US" altLang="ko-KR"/>
              <a:t>gradient</a:t>
            </a:r>
            <a:r>
              <a:rPr lang="ko-KR" altLang="en-US"/>
              <a:t>가 흐르게 만듭니다</a:t>
            </a:r>
            <a:r>
              <a:rPr lang="en-US" altLang="ko-KR"/>
              <a:t>. </a:t>
            </a:r>
            <a:r>
              <a:rPr lang="ko-KR" altLang="en-US"/>
              <a:t>수식을 보시면</a:t>
            </a:r>
            <a:r>
              <a:rPr lang="en-US" altLang="ko-KR"/>
              <a:t>, logit α</a:t>
            </a:r>
            <a:r>
              <a:rPr lang="ko-KR" altLang="en-US"/>
              <a:t>에 노이즈 </a:t>
            </a:r>
            <a:r>
              <a:rPr lang="en-US" altLang="ko-KR"/>
              <a:t>g_k</a:t>
            </a:r>
            <a:r>
              <a:rPr lang="ko-KR" altLang="en-US"/>
              <a:t>를 더한 뒤 </a:t>
            </a:r>
            <a:r>
              <a:rPr lang="en-US" altLang="ko-KR"/>
              <a:t>temperature T</a:t>
            </a:r>
            <a:r>
              <a:rPr lang="ko-KR" altLang="en-US"/>
              <a:t>로 나눠 </a:t>
            </a:r>
            <a:r>
              <a:rPr lang="en-US" altLang="ko-KR"/>
              <a:t>softmax</a:t>
            </a:r>
            <a:r>
              <a:rPr lang="ko-KR" altLang="en-US"/>
              <a:t>를 취하는 형태입니다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g_k</a:t>
            </a:r>
            <a:r>
              <a:rPr lang="ko-KR" altLang="en-US"/>
              <a:t>는 </a:t>
            </a:r>
            <a:r>
              <a:rPr lang="en-US" altLang="ko-KR"/>
              <a:t>Gumbel </a:t>
            </a:r>
            <a:r>
              <a:rPr lang="ko-KR" altLang="en-US"/>
              <a:t>분포에서 샘플링된 노이즈인데</a:t>
            </a:r>
            <a:r>
              <a:rPr lang="en-US" altLang="ko-KR"/>
              <a:t>, </a:t>
            </a:r>
            <a:r>
              <a:rPr lang="ko-KR" altLang="en-US"/>
              <a:t>이 노이즈를 더하는 이유는 이산적 </a:t>
            </a:r>
            <a:r>
              <a:rPr lang="en-US" altLang="ko-KR"/>
              <a:t>τ </a:t>
            </a:r>
            <a:r>
              <a:rPr lang="ko-KR" altLang="en-US"/>
              <a:t>샘플링을 미분 가능하게 근사하기 위함입니다</a:t>
            </a:r>
            <a:r>
              <a:rPr lang="en-US" altLang="ko-KR"/>
              <a:t>. Temperature T</a:t>
            </a:r>
            <a:r>
              <a:rPr lang="ko-KR" altLang="en-US"/>
              <a:t>는 학습 단계에 따라 조정합니다</a:t>
            </a:r>
            <a:r>
              <a:rPr lang="en-US" altLang="ko-KR"/>
              <a:t>. </a:t>
            </a:r>
            <a:r>
              <a:rPr lang="ko-KR" altLang="en-US"/>
              <a:t>학습 초반 </a:t>
            </a:r>
            <a:r>
              <a:rPr lang="en-US" altLang="ko-KR"/>
              <a:t>T=5</a:t>
            </a:r>
            <a:r>
              <a:rPr lang="ko-KR" altLang="en-US"/>
              <a:t>에서는 분포가 거의 균등해서 </a:t>
            </a:r>
            <a:r>
              <a:rPr lang="en-US" altLang="ko-KR"/>
              <a:t>8</a:t>
            </a:r>
            <a:r>
              <a:rPr lang="ko-KR" altLang="en-US"/>
              <a:t>개 </a:t>
            </a:r>
            <a:r>
              <a:rPr lang="en-US" altLang="ko-KR"/>
              <a:t>τ </a:t>
            </a:r>
            <a:r>
              <a:rPr lang="ko-KR" altLang="en-US"/>
              <a:t>후보가 비슷한 비중으로 </a:t>
            </a:r>
            <a:r>
              <a:rPr lang="en-US" altLang="ko-KR"/>
              <a:t>forward</a:t>
            </a:r>
            <a:r>
              <a:rPr lang="ko-KR" altLang="en-US"/>
              <a:t>에 기여하므로 폭넓은 탐색이 이루어지고</a:t>
            </a:r>
            <a:r>
              <a:rPr lang="en-US" altLang="ko-KR"/>
              <a:t>, </a:t>
            </a:r>
            <a:r>
              <a:rPr lang="ko-KR" altLang="en-US"/>
              <a:t>후반 </a:t>
            </a:r>
            <a:r>
              <a:rPr lang="en-US" altLang="ko-KR"/>
              <a:t>T=1</a:t>
            </a:r>
            <a:r>
              <a:rPr lang="ko-KR" altLang="en-US"/>
              <a:t>에서는 </a:t>
            </a:r>
            <a:r>
              <a:rPr lang="en-US" altLang="ko-KR"/>
              <a:t>logit </a:t>
            </a:r>
            <a:r>
              <a:rPr lang="ko-KR" altLang="en-US"/>
              <a:t>차이가 분포에 반영되어 </a:t>
            </a:r>
            <a:r>
              <a:rPr lang="en-US" altLang="ko-KR"/>
              <a:t>layer</a:t>
            </a:r>
            <a:r>
              <a:rPr lang="ko-KR" altLang="en-US"/>
              <a:t>별 분포가 점차 분화되면서 적합한 </a:t>
            </a:r>
            <a:r>
              <a:rPr lang="en-US" altLang="ko-KR"/>
              <a:t>τ</a:t>
            </a:r>
            <a:r>
              <a:rPr lang="ko-KR" altLang="en-US"/>
              <a:t>로 수렴합니다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594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다음은 </a:t>
                </a:r>
                <a:r>
                  <a:rPr lang="en-US" altLang="ko-KR"/>
                  <a:t>Phase 1</a:t>
                </a:r>
                <a:r>
                  <a:rPr lang="ko-KR" altLang="en-US"/>
                  <a:t>에서 사용하는 </a:t>
                </a:r>
                <a:r>
                  <a:rPr lang="en-US" altLang="ko-KR"/>
                  <a:t>mixed operation </a:t>
                </a:r>
                <a:r>
                  <a:rPr lang="ko-KR" altLang="en-US"/>
                  <a:t>구조입니다</a:t>
                </a:r>
                <a:r>
                  <a:rPr lang="en-US" altLang="ko-KR"/>
                  <a:t>. </a:t>
                </a:r>
                <a:r>
                  <a:rPr lang="ko-KR" altLang="en-US"/>
                  <a:t>각 </a:t>
                </a:r>
                <a:r>
                  <a:rPr lang="en-US" altLang="ko-KR"/>
                  <a:t>binary conv layer i</a:t>
                </a:r>
                <a:r>
                  <a:rPr lang="ko-KR" altLang="en-US"/>
                  <a:t>는 단일 </a:t>
                </a:r>
                <a:r>
                  <a:rPr lang="en-US" altLang="ko-KR"/>
                  <a:t>full-precision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ko-KR" altLang="en-US"/>
                  <a:t>를 공유합니다</a:t>
                </a:r>
                <a:r>
                  <a:rPr lang="en-US" altLang="ko-KR"/>
                  <a:t>. </a:t>
                </a:r>
                <a:r>
                  <a:rPr lang="ko-KR" altLang="en-US"/>
                  <a:t>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ko-KR" altLang="en-US"/>
                  <a:t>를 </a:t>
                </a:r>
                <a:r>
                  <a:rPr lang="en-US" altLang="ko-KR"/>
                  <a:t>8</a:t>
                </a:r>
                <a:r>
                  <a:rPr lang="ko-KR" altLang="en-US"/>
                  <a:t>개 후보 </a:t>
                </a:r>
                <a:r>
                  <a:rPr lang="en-US" altLang="ko-KR"/>
                  <a:t>τ_k </a:t>
                </a:r>
                <a:r>
                  <a:rPr lang="ko-KR" altLang="en-US"/>
                  <a:t>별로 </a:t>
                </a:r>
                <a:r>
                  <a:rPr lang="en-US" altLang="ko-KR"/>
                  <a:t>binarize</a:t>
                </a:r>
                <a:r>
                  <a:rPr lang="ko-KR" altLang="en-US"/>
                  <a:t>해서 </a:t>
                </a:r>
                <a:r>
                  <a:rPr lang="en-US" altLang="ko-KR"/>
                  <a:t>layer</a:t>
                </a:r>
                <a:r>
                  <a:rPr lang="ko-KR" altLang="en-US"/>
                  <a:t>당 </a:t>
                </a: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ko-KR" altLang="en-US"/>
                  <a:t>를 생성합니다</a:t>
                </a:r>
                <a:r>
                  <a:rPr lang="en-US" altLang="ko-KR"/>
                  <a:t>. </a:t>
                </a:r>
                <a:r>
                  <a:rPr lang="ko-KR" altLang="en-US"/>
                  <a:t>그리고 이 </a:t>
                </a:r>
                <a:r>
                  <a:rPr lang="en-US" altLang="ko-KR"/>
                  <a:t>8</a:t>
                </a:r>
                <a:r>
                  <a:rPr lang="ko-KR" altLang="en-US"/>
                  <a:t>개를 앞 슬라이드의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로 가중합한 </a:t>
                </a:r>
                <a:r>
                  <a:rPr lang="en-US" altLang="ko-KR"/>
                  <a:t>weight</a:t>
                </a:r>
                <a:r>
                  <a:rPr lang="ko-KR" altLang="en-US"/>
                  <a:t>를 만들고</a:t>
                </a:r>
                <a:r>
                  <a:rPr lang="en-US" altLang="ko-KR"/>
                  <a:t>, </a:t>
                </a:r>
                <a:r>
                  <a:rPr lang="ko-KR" altLang="en-US"/>
                  <a:t>이걸로 단일 </a:t>
                </a:r>
                <a:r>
                  <a:rPr lang="en-US" altLang="ko-KR"/>
                  <a:t>conv</a:t>
                </a:r>
                <a:r>
                  <a:rPr lang="ko-KR" altLang="en-US"/>
                  <a:t>를 수행하여 출력 </a:t>
                </a:r>
                <a:r>
                  <a:rPr lang="en-US" altLang="ko-KR"/>
                  <a:t>y_i</a:t>
                </a:r>
                <a:r>
                  <a:rPr lang="ko-KR" altLang="en-US"/>
                  <a:t>를 얻습니다</a:t>
                </a:r>
                <a:r>
                  <a:rPr lang="en-US" altLang="ko-KR"/>
                  <a:t>. </a:t>
                </a:r>
                <a:r>
                  <a:rPr lang="ko-KR" altLang="en-US"/>
                  <a:t>그런데 이 단일 </a:t>
                </a:r>
                <a:r>
                  <a:rPr lang="en-US" altLang="ko-KR"/>
                  <a:t>conv </a:t>
                </a:r>
                <a:r>
                  <a:rPr lang="ko-KR" altLang="en-US"/>
                  <a:t>결과는</a:t>
                </a:r>
                <a:r>
                  <a:rPr lang="en-US" altLang="ko-KR"/>
                  <a:t>, convolution</a:t>
                </a:r>
                <a:r>
                  <a:rPr lang="ko-KR" altLang="en-US"/>
                  <a:t>의 선형성에 의해 </a:t>
                </a:r>
                <a:r>
                  <a:rPr lang="en-US" altLang="ko-KR"/>
                  <a:t>8</a:t>
                </a:r>
                <a:r>
                  <a:rPr lang="ko-KR" altLang="en-US"/>
                  <a:t>개 후보 </a:t>
                </a:r>
                <a:r>
                  <a:rPr lang="en-US" altLang="ko-KR"/>
                  <a:t>conv </a:t>
                </a:r>
                <a:r>
                  <a:rPr lang="ko-KR" altLang="en-US"/>
                  <a:t>결과를 </a:t>
                </a:r>
                <a:r>
                  <a:rPr lang="en-US" altLang="ko-KR"/>
                  <a:t>p_{i,k}</a:t>
                </a:r>
                <a:r>
                  <a:rPr lang="ko-KR" altLang="en-US"/>
                  <a:t>로 가중합한 형태와 수학적으로 동치입니다</a:t>
                </a:r>
                <a:r>
                  <a:rPr lang="en-US" altLang="ko-KR"/>
                  <a:t>. </a:t>
                </a:r>
                <a:r>
                  <a:rPr lang="ko-KR" altLang="en-US"/>
                  <a:t>즉 의미상으로는 </a:t>
                </a: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:r>
                  <a:rPr lang="en-US" altLang="ko-KR"/>
                  <a:t>conv </a:t>
                </a:r>
                <a:r>
                  <a:rPr lang="ko-KR" altLang="en-US"/>
                  <a:t>연산을 동시에 탐색하는 </a:t>
                </a:r>
                <a:r>
                  <a:rPr lang="en-US" altLang="ko-KR"/>
                  <a:t>mixed operation</a:t>
                </a:r>
                <a:r>
                  <a:rPr lang="ko-KR" altLang="en-US"/>
                  <a:t>이지만</a:t>
                </a:r>
                <a:r>
                  <a:rPr lang="en-US" altLang="ko-KR"/>
                  <a:t>, </a:t>
                </a:r>
                <a:r>
                  <a:rPr lang="ko-KR" altLang="en-US"/>
                  <a:t>실제 계산 비용은 단일 </a:t>
                </a:r>
                <a:r>
                  <a:rPr lang="en-US" altLang="ko-KR"/>
                  <a:t>conv </a:t>
                </a:r>
                <a:r>
                  <a:rPr lang="ko-KR" altLang="en-US"/>
                  <a:t>한 번으로 끝납니다</a:t>
                </a:r>
                <a:r>
                  <a:rPr lang="en-US" altLang="ko-KR"/>
                  <a:t>. </a:t>
                </a:r>
                <a:r>
                  <a:rPr lang="ko-KR" altLang="en-US"/>
                  <a:t>오른쪽 그림이 이 과정을 시각화한 것입니다</a:t>
                </a:r>
                <a:r>
                  <a:rPr lang="en-US" altLang="ko-KR"/>
                  <a:t>. 8</a:t>
                </a:r>
                <a:r>
                  <a:rPr lang="ko-KR" altLang="en-US"/>
                  <a:t>개의 후보 </a:t>
                </a:r>
                <a:r>
                  <a:rPr lang="en-US" altLang="ko-KR"/>
                  <a:t>weight</a:t>
                </a:r>
                <a:r>
                  <a:rPr lang="ko-KR" altLang="en-US"/>
                  <a:t>가 확률 </a:t>
                </a:r>
                <a:r>
                  <a:rPr lang="en-US" altLang="ko-KR"/>
                  <a:t>p_{i,1}</a:t>
                </a:r>
                <a:r>
                  <a:rPr lang="ko-KR" altLang="en-US"/>
                  <a:t>부터 </a:t>
                </a:r>
                <a:r>
                  <a:rPr lang="en-US" altLang="ko-KR"/>
                  <a:t>p_{i,8}</a:t>
                </a:r>
                <a:r>
                  <a:rPr lang="ko-KR" altLang="en-US"/>
                  <a:t>까지로 가중합된 뒤</a:t>
                </a:r>
                <a:r>
                  <a:rPr lang="en-US" altLang="ko-KR"/>
                  <a:t>, </a:t>
                </a:r>
                <a:r>
                  <a:rPr lang="ko-KR" altLang="en-US"/>
                  <a:t>단일 </a:t>
                </a:r>
                <a:r>
                  <a:rPr lang="en-US" altLang="ko-KR"/>
                  <a:t>conv</a:t>
                </a:r>
                <a:r>
                  <a:rPr lang="ko-KR" altLang="en-US"/>
                  <a:t>로 들어가서 </a:t>
                </a:r>
                <a:r>
                  <a:rPr lang="en-US" altLang="ko-KR"/>
                  <a:t>y_i</a:t>
                </a:r>
                <a:r>
                  <a:rPr lang="ko-KR" altLang="en-US"/>
                  <a:t>를 출력합니다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다음은 </a:t>
                </a:r>
                <a:r>
                  <a:rPr lang="en-US" altLang="ko-KR"/>
                  <a:t>Phase 1</a:t>
                </a:r>
                <a:r>
                  <a:rPr lang="ko-KR" altLang="en-US"/>
                  <a:t>에서 사용하는 </a:t>
                </a:r>
                <a:r>
                  <a:rPr lang="en-US" altLang="ko-KR"/>
                  <a:t>mixed operation </a:t>
                </a:r>
                <a:r>
                  <a:rPr lang="ko-KR" altLang="en-US"/>
                  <a:t>구조입니다</a:t>
                </a:r>
                <a:r>
                  <a:rPr lang="en-US" altLang="ko-KR"/>
                  <a:t>. </a:t>
                </a:r>
                <a:r>
                  <a:rPr lang="ko-KR" altLang="en-US"/>
                  <a:t>각 </a:t>
                </a:r>
                <a:r>
                  <a:rPr lang="en-US" altLang="ko-KR"/>
                  <a:t>binary conv layer i</a:t>
                </a:r>
                <a:r>
                  <a:rPr lang="ko-KR" altLang="en-US"/>
                  <a:t>는 단일 </a:t>
                </a:r>
                <a:r>
                  <a:rPr lang="en-US" altLang="ko-KR"/>
                  <a:t>full-precision weight </a:t>
                </a:r>
                <a:r>
                  <a:rPr lang="en-US" altLang="ko-KR" i="0">
                    <a:latin typeface="Cambria Math" panose="02040503050406030204" pitchFamily="18" charset="0"/>
                  </a:rPr>
                  <a:t>W_i</a:t>
                </a:r>
                <a:r>
                  <a:rPr lang="ko-KR" altLang="en-US"/>
                  <a:t>를 공유합니다</a:t>
                </a:r>
                <a:r>
                  <a:rPr lang="en-US" altLang="ko-KR"/>
                  <a:t>. </a:t>
                </a:r>
                <a:r>
                  <a:rPr lang="ko-KR" altLang="en-US"/>
                  <a:t>이 </a:t>
                </a:r>
                <a:r>
                  <a:rPr lang="en-US" altLang="ko-KR" i="0">
                    <a:latin typeface="Cambria Math" panose="02040503050406030204" pitchFamily="18" charset="0"/>
                  </a:rPr>
                  <a:t>W_i</a:t>
                </a:r>
                <a:r>
                  <a:rPr lang="ko-KR" altLang="en-US"/>
                  <a:t>를 </a:t>
                </a:r>
                <a:r>
                  <a:rPr lang="en-US" altLang="ko-KR"/>
                  <a:t>8</a:t>
                </a:r>
                <a:r>
                  <a:rPr lang="ko-KR" altLang="en-US"/>
                  <a:t>개 후보 </a:t>
                </a:r>
                <a:r>
                  <a:rPr lang="en-US" altLang="ko-KR"/>
                  <a:t>τ_k </a:t>
                </a:r>
                <a:r>
                  <a:rPr lang="ko-KR" altLang="en-US"/>
                  <a:t>별로 </a:t>
                </a:r>
                <a:r>
                  <a:rPr lang="en-US" altLang="ko-KR"/>
                  <a:t>binarize</a:t>
                </a:r>
                <a:r>
                  <a:rPr lang="ko-KR" altLang="en-US"/>
                  <a:t>해서 </a:t>
                </a:r>
                <a:r>
                  <a:rPr lang="en-US" altLang="ko-KR"/>
                  <a:t>layer</a:t>
                </a:r>
                <a:r>
                  <a:rPr lang="ko-KR" altLang="en-US"/>
                  <a:t>당 </a:t>
                </a: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W ̅_i^((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_k))</a:t>
                </a:r>
                <a:r>
                  <a:rPr lang="ko-KR" altLang="en-US"/>
                  <a:t>를 생성합니다</a:t>
                </a:r>
                <a:r>
                  <a:rPr lang="en-US" altLang="ko-KR"/>
                  <a:t>. </a:t>
                </a:r>
                <a:r>
                  <a:rPr lang="ko-KR" altLang="en-US"/>
                  <a:t>그리고 이 </a:t>
                </a:r>
                <a:r>
                  <a:rPr lang="en-US" altLang="ko-KR"/>
                  <a:t>8</a:t>
                </a:r>
                <a:r>
                  <a:rPr lang="ko-KR" altLang="en-US"/>
                  <a:t>개를 앞 슬라이드의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p_(i,k)</a:t>
                </a:r>
                <a:r>
                  <a:rPr lang="ko-KR" altLang="en-US"/>
                  <a:t>로 가중합한 </a:t>
                </a:r>
                <a:r>
                  <a:rPr lang="en-US" altLang="ko-KR"/>
                  <a:t>weight</a:t>
                </a:r>
                <a:r>
                  <a:rPr lang="ko-KR" altLang="en-US"/>
                  <a:t>를 만들고</a:t>
                </a:r>
                <a:r>
                  <a:rPr lang="en-US" altLang="ko-KR"/>
                  <a:t>, </a:t>
                </a:r>
                <a:r>
                  <a:rPr lang="ko-KR" altLang="en-US"/>
                  <a:t>이걸로 단일 </a:t>
                </a:r>
                <a:r>
                  <a:rPr lang="en-US" altLang="ko-KR"/>
                  <a:t>conv</a:t>
                </a:r>
                <a:r>
                  <a:rPr lang="ko-KR" altLang="en-US"/>
                  <a:t>를 수행하여 출력 </a:t>
                </a:r>
                <a:r>
                  <a:rPr lang="en-US" altLang="ko-KR"/>
                  <a:t>y_i</a:t>
                </a:r>
                <a:r>
                  <a:rPr lang="ko-KR" altLang="en-US"/>
                  <a:t>를 얻습니다</a:t>
                </a:r>
                <a:r>
                  <a:rPr lang="en-US" altLang="ko-KR"/>
                  <a:t>. </a:t>
                </a:r>
                <a:r>
                  <a:rPr lang="ko-KR" altLang="en-US"/>
                  <a:t>그런데 이 단일 </a:t>
                </a:r>
                <a:r>
                  <a:rPr lang="en-US" altLang="ko-KR"/>
                  <a:t>conv </a:t>
                </a:r>
                <a:r>
                  <a:rPr lang="ko-KR" altLang="en-US"/>
                  <a:t>결과는</a:t>
                </a:r>
                <a:r>
                  <a:rPr lang="en-US" altLang="ko-KR"/>
                  <a:t>, convolution</a:t>
                </a:r>
                <a:r>
                  <a:rPr lang="ko-KR" altLang="en-US"/>
                  <a:t>의 선형성에 의해 </a:t>
                </a:r>
                <a:r>
                  <a:rPr lang="en-US" altLang="ko-KR"/>
                  <a:t>8</a:t>
                </a:r>
                <a:r>
                  <a:rPr lang="ko-KR" altLang="en-US"/>
                  <a:t>개 후보 </a:t>
                </a:r>
                <a:r>
                  <a:rPr lang="en-US" altLang="ko-KR"/>
                  <a:t>conv </a:t>
                </a:r>
                <a:r>
                  <a:rPr lang="ko-KR" altLang="en-US"/>
                  <a:t>결과를 </a:t>
                </a:r>
                <a:r>
                  <a:rPr lang="en-US" altLang="ko-KR"/>
                  <a:t>p_{i,k}</a:t>
                </a:r>
                <a:r>
                  <a:rPr lang="ko-KR" altLang="en-US"/>
                  <a:t>로 가중합한 형태와 수학적으로 동치입니다</a:t>
                </a:r>
                <a:r>
                  <a:rPr lang="en-US" altLang="ko-KR"/>
                  <a:t>. </a:t>
                </a:r>
                <a:r>
                  <a:rPr lang="ko-KR" altLang="en-US"/>
                  <a:t>즉 의미상으로는 </a:t>
                </a: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:r>
                  <a:rPr lang="en-US" altLang="ko-KR"/>
                  <a:t>conv </a:t>
                </a:r>
                <a:r>
                  <a:rPr lang="ko-KR" altLang="en-US"/>
                  <a:t>연산을 동시에 탐색하는 </a:t>
                </a:r>
                <a:r>
                  <a:rPr lang="en-US" altLang="ko-KR"/>
                  <a:t>mixed operation</a:t>
                </a:r>
                <a:r>
                  <a:rPr lang="ko-KR" altLang="en-US"/>
                  <a:t>이지만</a:t>
                </a:r>
                <a:r>
                  <a:rPr lang="en-US" altLang="ko-KR"/>
                  <a:t>, </a:t>
                </a:r>
                <a:r>
                  <a:rPr lang="ko-KR" altLang="en-US"/>
                  <a:t>실제 계산 비용은 단일 </a:t>
                </a:r>
                <a:r>
                  <a:rPr lang="en-US" altLang="ko-KR"/>
                  <a:t>conv </a:t>
                </a:r>
                <a:r>
                  <a:rPr lang="ko-KR" altLang="en-US"/>
                  <a:t>한 번으로 끝납니다</a:t>
                </a:r>
                <a:r>
                  <a:rPr lang="en-US" altLang="ko-KR"/>
                  <a:t>. </a:t>
                </a:r>
                <a:r>
                  <a:rPr lang="ko-KR" altLang="en-US"/>
                  <a:t>오른쪽 그림이 이 과정을 시각화한 것입니다</a:t>
                </a:r>
                <a:r>
                  <a:rPr lang="en-US" altLang="ko-KR"/>
                  <a:t>. 8</a:t>
                </a:r>
                <a:r>
                  <a:rPr lang="ko-KR" altLang="en-US"/>
                  <a:t>개의 후보 </a:t>
                </a:r>
                <a:r>
                  <a:rPr lang="en-US" altLang="ko-KR"/>
                  <a:t>weight</a:t>
                </a:r>
                <a:r>
                  <a:rPr lang="ko-KR" altLang="en-US"/>
                  <a:t>가 확률 </a:t>
                </a:r>
                <a:r>
                  <a:rPr lang="en-US" altLang="ko-KR"/>
                  <a:t>p_{i,1}</a:t>
                </a:r>
                <a:r>
                  <a:rPr lang="ko-KR" altLang="en-US"/>
                  <a:t>부터 </a:t>
                </a:r>
                <a:r>
                  <a:rPr lang="en-US" altLang="ko-KR"/>
                  <a:t>p_{i,8}</a:t>
                </a:r>
                <a:r>
                  <a:rPr lang="ko-KR" altLang="en-US"/>
                  <a:t>까지로 가중합된 뒤</a:t>
                </a:r>
                <a:r>
                  <a:rPr lang="en-US" altLang="ko-KR"/>
                  <a:t>, </a:t>
                </a:r>
                <a:r>
                  <a:rPr lang="ko-KR" altLang="en-US"/>
                  <a:t>단일 </a:t>
                </a:r>
                <a:r>
                  <a:rPr lang="en-US" altLang="ko-KR"/>
                  <a:t>conv</a:t>
                </a:r>
                <a:r>
                  <a:rPr lang="ko-KR" altLang="en-US"/>
                  <a:t>로 들어가서 </a:t>
                </a:r>
                <a:r>
                  <a:rPr lang="en-US" altLang="ko-KR"/>
                  <a:t>y_i</a:t>
                </a:r>
                <a:r>
                  <a:rPr lang="ko-KR" altLang="en-US"/>
                  <a:t>를 출력합니다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60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L_acc</a:t>
            </a:r>
            <a:r>
              <a:rPr lang="ko-KR" altLang="en-US"/>
              <a:t>만으로 학습하면 </a:t>
            </a:r>
            <a:r>
              <a:rPr lang="en-US" altLang="ko-KR"/>
              <a:t>α</a:t>
            </a:r>
            <a:r>
              <a:rPr lang="ko-KR" altLang="en-US"/>
              <a:t>는 당연히 정확도가 가장 높은 </a:t>
            </a:r>
            <a:r>
              <a:rPr lang="en-US" altLang="ko-KR"/>
              <a:t>τ, </a:t>
            </a:r>
            <a:r>
              <a:rPr lang="ko-KR" altLang="en-US"/>
              <a:t>즉 </a:t>
            </a:r>
            <a:r>
              <a:rPr lang="en-US" altLang="ko-KR"/>
              <a:t>τ=8 </a:t>
            </a:r>
            <a:r>
              <a:rPr lang="ko-KR" altLang="en-US"/>
              <a:t>쪽으로 수렴합니다</a:t>
            </a:r>
            <a:r>
              <a:rPr lang="en-US" altLang="ko-KR"/>
              <a:t>. Framework</a:t>
            </a:r>
            <a:r>
              <a:rPr lang="ko-KR" altLang="en-US"/>
              <a:t>의 목적은 </a:t>
            </a:r>
            <a:r>
              <a:rPr lang="en-US" altLang="ko-KR"/>
              <a:t>hardware constraint </a:t>
            </a:r>
            <a:r>
              <a:rPr lang="ko-KR" altLang="en-US"/>
              <a:t>안에서 </a:t>
            </a:r>
            <a:r>
              <a:rPr lang="en-US" altLang="ko-KR"/>
              <a:t>accuracy</a:t>
            </a:r>
            <a:r>
              <a:rPr lang="ko-KR" altLang="en-US"/>
              <a:t>를 최대화하는 것이므로</a:t>
            </a:r>
            <a:r>
              <a:rPr lang="en-US" altLang="ko-KR"/>
              <a:t>, τ</a:t>
            </a:r>
            <a:r>
              <a:rPr lang="ko-KR" altLang="en-US"/>
              <a:t>를 줄이려는 압력을 학습 신호에 추가로 주입해야 합니다</a:t>
            </a:r>
            <a:r>
              <a:rPr lang="en-US" altLang="ko-KR"/>
              <a:t>. </a:t>
            </a:r>
            <a:r>
              <a:rPr lang="ko-KR" altLang="en-US"/>
              <a:t>이를 위해 </a:t>
            </a:r>
            <a:r>
              <a:rPr lang="en-US" altLang="ko-KR"/>
              <a:t>storage loss</a:t>
            </a:r>
            <a:r>
              <a:rPr lang="ko-KR" altLang="en-US"/>
              <a:t>를 도입합니다</a:t>
            </a:r>
            <a:r>
              <a:rPr lang="en-US" altLang="ko-KR"/>
              <a:t>. </a:t>
            </a:r>
            <a:r>
              <a:rPr lang="ko-KR" altLang="en-US"/>
              <a:t>먼저 </a:t>
            </a:r>
            <a:r>
              <a:rPr lang="en-US" altLang="ko-KR"/>
              <a:t>layer i</a:t>
            </a:r>
            <a:r>
              <a:rPr lang="ko-KR" altLang="en-US"/>
              <a:t>의 </a:t>
            </a:r>
            <a:r>
              <a:rPr lang="en-US" altLang="ko-KR"/>
              <a:t>expected storage E[S_i]</a:t>
            </a:r>
            <a:r>
              <a:rPr lang="ko-KR" altLang="en-US"/>
              <a:t>를 정의하는데</a:t>
            </a:r>
            <a:r>
              <a:rPr lang="en-US" altLang="ko-KR"/>
              <a:t>, 8</a:t>
            </a:r>
            <a:r>
              <a:rPr lang="ko-KR" altLang="en-US"/>
              <a:t>개 </a:t>
            </a:r>
            <a:r>
              <a:rPr lang="en-US" altLang="ko-KR"/>
              <a:t>τ </a:t>
            </a:r>
            <a:r>
              <a:rPr lang="ko-KR" altLang="en-US"/>
              <a:t>후보의 </a:t>
            </a:r>
            <a:r>
              <a:rPr lang="en-US" altLang="ko-KR"/>
              <a:t>storage S_i(τ_k)</a:t>
            </a:r>
            <a:r>
              <a:rPr lang="ko-KR" altLang="en-US"/>
              <a:t>를 </a:t>
            </a:r>
            <a:r>
              <a:rPr lang="en-US" altLang="ko-KR"/>
              <a:t>softmax </a:t>
            </a:r>
            <a:r>
              <a:rPr lang="ko-KR" altLang="en-US"/>
              <a:t>확률 </a:t>
            </a:r>
            <a:r>
              <a:rPr lang="en-US" altLang="ko-KR"/>
              <a:t>π_{i,k}</a:t>
            </a:r>
            <a:r>
              <a:rPr lang="ko-KR" altLang="en-US"/>
              <a:t>로 가중합한 값입니다</a:t>
            </a:r>
            <a:r>
              <a:rPr lang="en-US" altLang="ko-KR"/>
              <a:t>. </a:t>
            </a:r>
            <a:r>
              <a:rPr lang="ko-KR" altLang="en-US"/>
              <a:t>한 가지 짚을 점은</a:t>
            </a:r>
            <a:r>
              <a:rPr lang="en-US" altLang="ko-KR"/>
              <a:t>, </a:t>
            </a:r>
            <a:r>
              <a:rPr lang="ko-KR" altLang="en-US"/>
              <a:t>여기서는 </a:t>
            </a:r>
            <a:r>
              <a:rPr lang="en-US" altLang="ko-KR"/>
              <a:t>Gumbel </a:t>
            </a:r>
            <a:r>
              <a:rPr lang="ko-KR" altLang="en-US"/>
              <a:t>노이즈 없이 </a:t>
            </a:r>
            <a:r>
              <a:rPr lang="en-US" altLang="ko-KR"/>
              <a:t>plain softmax</a:t>
            </a:r>
            <a:r>
              <a:rPr lang="ko-KR" altLang="en-US"/>
              <a:t>를 사용한다는 점입니다</a:t>
            </a:r>
            <a:r>
              <a:rPr lang="en-US" altLang="ko-KR"/>
              <a:t>. Mixed operation</a:t>
            </a:r>
            <a:r>
              <a:rPr lang="ko-KR" altLang="en-US"/>
              <a:t>의 </a:t>
            </a:r>
            <a:r>
              <a:rPr lang="en-US" altLang="ko-KR"/>
              <a:t>forward pass</a:t>
            </a:r>
            <a:r>
              <a:rPr lang="ko-KR" altLang="en-US"/>
              <a:t>에서는 탐색 다양성을 위해 </a:t>
            </a:r>
            <a:r>
              <a:rPr lang="en-US" altLang="ko-KR"/>
              <a:t>Gumbel-Softmax</a:t>
            </a:r>
            <a:r>
              <a:rPr lang="ko-KR" altLang="en-US"/>
              <a:t>를 썼지만</a:t>
            </a:r>
            <a:r>
              <a:rPr lang="en-US" altLang="ko-KR"/>
              <a:t>, </a:t>
            </a:r>
            <a:r>
              <a:rPr lang="ko-KR" altLang="en-US"/>
              <a:t>여기서는 기댓값을 계산하는 것이므로 일반적인 </a:t>
            </a:r>
            <a:r>
              <a:rPr lang="en-US" altLang="ko-KR"/>
              <a:t>softmax</a:t>
            </a:r>
            <a:r>
              <a:rPr lang="ko-KR" altLang="en-US"/>
              <a:t>를 사용합니다</a:t>
            </a:r>
            <a:r>
              <a:rPr lang="en-US" altLang="ko-KR"/>
              <a:t>. </a:t>
            </a:r>
            <a:r>
              <a:rPr lang="ko-KR" altLang="en-US"/>
              <a:t>그다음 전체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expected storage </a:t>
            </a:r>
            <a:r>
              <a:rPr lang="ko-KR" altLang="en-US"/>
              <a:t>합을 </a:t>
            </a:r>
            <a:r>
              <a:rPr lang="en-US" altLang="ko-KR"/>
              <a:t>S_min</a:t>
            </a:r>
            <a:r>
              <a:rPr lang="ko-KR" altLang="en-US"/>
              <a:t>과 </a:t>
            </a:r>
            <a:r>
              <a:rPr lang="en-US" altLang="ko-KR"/>
              <a:t>S_max</a:t>
            </a:r>
            <a:r>
              <a:rPr lang="ko-KR" altLang="en-US"/>
              <a:t>로 </a:t>
            </a:r>
            <a:r>
              <a:rPr lang="en-US" altLang="ko-KR"/>
              <a:t>[0,1] </a:t>
            </a:r>
            <a:r>
              <a:rPr lang="ko-KR" altLang="en-US"/>
              <a:t>범위로 정규화합니다</a:t>
            </a:r>
            <a:r>
              <a:rPr lang="en-US" altLang="ko-KR"/>
              <a:t>. S_min</a:t>
            </a:r>
            <a:r>
              <a:rPr lang="ko-KR" altLang="en-US"/>
              <a:t>과 </a:t>
            </a:r>
            <a:r>
              <a:rPr lang="en-US" altLang="ko-KR"/>
              <a:t>S_max</a:t>
            </a:r>
            <a:r>
              <a:rPr lang="ko-KR" altLang="en-US"/>
              <a:t>는 각각 모든 </a:t>
            </a:r>
            <a:r>
              <a:rPr lang="en-US" altLang="ko-KR"/>
              <a:t>layer</a:t>
            </a:r>
            <a:r>
              <a:rPr lang="ko-KR" altLang="en-US"/>
              <a:t>가 </a:t>
            </a:r>
            <a:r>
              <a:rPr lang="en-US" altLang="ko-KR"/>
              <a:t>τ_min=1, τ_max=8</a:t>
            </a:r>
            <a:r>
              <a:rPr lang="ko-KR" altLang="en-US"/>
              <a:t>을 선택할 때의 총 </a:t>
            </a:r>
            <a:r>
              <a:rPr lang="en-US" altLang="ko-KR"/>
              <a:t>storage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최종 </a:t>
            </a:r>
            <a:r>
              <a:rPr lang="en-US" altLang="ko-KR"/>
              <a:t>loss</a:t>
            </a:r>
            <a:r>
              <a:rPr lang="ko-KR" altLang="en-US"/>
              <a:t>는 </a:t>
            </a:r>
            <a:r>
              <a:rPr lang="en-US" altLang="ko-KR"/>
              <a:t>cross-entropy L_acc</a:t>
            </a:r>
            <a:r>
              <a:rPr lang="ko-KR" altLang="en-US"/>
              <a:t>에 </a:t>
            </a:r>
            <a:r>
              <a:rPr lang="en-US" altLang="ko-KR"/>
              <a:t>λ·L_storage</a:t>
            </a:r>
            <a:r>
              <a:rPr lang="ko-KR" altLang="en-US"/>
              <a:t>를 더한 형태이고</a:t>
            </a:r>
            <a:r>
              <a:rPr lang="en-US" altLang="ko-KR"/>
              <a:t>, λ</a:t>
            </a:r>
            <a:r>
              <a:rPr lang="ko-KR" altLang="en-US"/>
              <a:t>는 두 항 사이의 균형을 정하는 하이퍼파라미터입니다</a:t>
            </a:r>
            <a:r>
              <a:rPr lang="en-US" altLang="ko-KR"/>
              <a:t>. </a:t>
            </a:r>
            <a:r>
              <a:rPr lang="ko-KR" altLang="en-US"/>
              <a:t>그리고 한 가지 흥미로운 점은</a:t>
            </a:r>
            <a:r>
              <a:rPr lang="en-US" altLang="ko-KR"/>
              <a:t>, S_i(τ)</a:t>
            </a:r>
            <a:r>
              <a:rPr lang="ko-KR" altLang="en-US"/>
              <a:t>가 </a:t>
            </a:r>
            <a:r>
              <a:rPr lang="en-US" altLang="ko-KR"/>
              <a:t>c_in·c_out</a:t>
            </a:r>
            <a:r>
              <a:rPr lang="ko-KR" altLang="en-US"/>
              <a:t>에 비례하기 때문에 깊은 </a:t>
            </a:r>
            <a:r>
              <a:rPr lang="en-US" altLang="ko-KR"/>
              <a:t>layer</a:t>
            </a:r>
            <a:r>
              <a:rPr lang="ko-KR" altLang="en-US"/>
              <a:t>일수록 </a:t>
            </a:r>
            <a:r>
              <a:rPr lang="en-US" altLang="ko-KR"/>
              <a:t>L_storage </a:t>
            </a:r>
            <a:r>
              <a:rPr lang="ko-KR" altLang="en-US"/>
              <a:t>기여도가 커지고</a:t>
            </a:r>
            <a:r>
              <a:rPr lang="en-US" altLang="ko-KR"/>
              <a:t>, </a:t>
            </a:r>
            <a:r>
              <a:rPr lang="ko-KR" altLang="en-US"/>
              <a:t>그 결과 별도의 </a:t>
            </a:r>
            <a:r>
              <a:rPr lang="en-US" altLang="ko-KR"/>
              <a:t>prior </a:t>
            </a:r>
            <a:r>
              <a:rPr lang="ko-KR" altLang="en-US"/>
              <a:t>없이도 </a:t>
            </a:r>
            <a:r>
              <a:rPr lang="en-US" altLang="ko-KR"/>
              <a:t>storage loss</a:t>
            </a:r>
            <a:r>
              <a:rPr lang="ko-KR" altLang="en-US"/>
              <a:t>가 깊은 </a:t>
            </a:r>
            <a:r>
              <a:rPr lang="en-US" altLang="ko-KR"/>
              <a:t>layer</a:t>
            </a:r>
            <a:r>
              <a:rPr lang="ko-KR" altLang="en-US"/>
              <a:t>에 우선적으로 낮은 </a:t>
            </a:r>
            <a:r>
              <a:rPr lang="en-US" altLang="ko-KR"/>
              <a:t>τ</a:t>
            </a:r>
            <a:r>
              <a:rPr lang="ko-KR" altLang="en-US"/>
              <a:t>를 할당하도록 자동으로 유도한다는 점입니다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907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</a:t>
            </a:r>
            <a:r>
              <a:rPr lang="en-US" altLang="ko-KR"/>
              <a:t>Phase 2</a:t>
            </a:r>
            <a:r>
              <a:rPr lang="ko-KR" altLang="en-US"/>
              <a:t>로 넘어가겠습니다</a:t>
            </a:r>
            <a:r>
              <a:rPr lang="en-US" altLang="ko-KR"/>
              <a:t>. Phase 2</a:t>
            </a:r>
            <a:r>
              <a:rPr lang="ko-KR" altLang="en-US"/>
              <a:t>는 </a:t>
            </a:r>
            <a:r>
              <a:rPr lang="en-US" altLang="ko-KR"/>
              <a:t>Phase 1</a:t>
            </a:r>
            <a:r>
              <a:rPr lang="ko-KR" altLang="en-US"/>
              <a:t>에서 학습한 </a:t>
            </a:r>
            <a:r>
              <a:rPr lang="en-US" altLang="ko-KR"/>
              <a:t>architecture parameter Π ∈ R^{16×8}</a:t>
            </a:r>
            <a:r>
              <a:rPr lang="ko-KR" altLang="en-US"/>
              <a:t>을 입력으로 받아</a:t>
            </a:r>
            <a:r>
              <a:rPr lang="en-US" altLang="ko-KR"/>
              <a:t>, </a:t>
            </a:r>
            <a:r>
              <a:rPr lang="ko-KR" altLang="en-US"/>
              <a:t>사용자가 지정한 </a:t>
            </a:r>
            <a:r>
              <a:rPr lang="en-US" altLang="ko-KR"/>
              <a:t>hardware constraint(storage </a:t>
            </a:r>
            <a:r>
              <a:rPr lang="ko-KR" altLang="en-US"/>
              <a:t>또는 </a:t>
            </a:r>
            <a:r>
              <a:rPr lang="en-US" altLang="ko-KR"/>
              <a:t>BitOPs) </a:t>
            </a:r>
            <a:r>
              <a:rPr lang="ko-KR" altLang="en-US"/>
              <a:t>안에서 </a:t>
            </a:r>
            <a:r>
              <a:rPr lang="en-US" altLang="ko-KR"/>
              <a:t>accuracy</a:t>
            </a:r>
            <a:r>
              <a:rPr lang="ko-KR" altLang="en-US"/>
              <a:t>를 최대화하는 </a:t>
            </a:r>
            <a:r>
              <a:rPr lang="en-US" altLang="ko-KR"/>
              <a:t>τ-list</a:t>
            </a:r>
            <a:r>
              <a:rPr lang="ko-KR" altLang="en-US"/>
              <a:t>를 도출합니다</a:t>
            </a:r>
            <a:r>
              <a:rPr lang="en-US" altLang="ko-KR"/>
              <a:t>. </a:t>
            </a:r>
            <a:r>
              <a:rPr lang="ko-KR" altLang="en-US"/>
              <a:t>슬라이드의 그림으로 흐름을 보시면</a:t>
            </a:r>
            <a:r>
              <a:rPr lang="en-US" altLang="ko-KR"/>
              <a:t>, </a:t>
            </a:r>
            <a:r>
              <a:rPr lang="ko-KR" altLang="en-US"/>
              <a:t>입력은 두 가지입니다</a:t>
            </a:r>
            <a:r>
              <a:rPr lang="en-US" altLang="ko-KR"/>
              <a:t>. Phase 1</a:t>
            </a:r>
            <a:r>
              <a:rPr lang="ko-KR" altLang="en-US"/>
              <a:t>의 분포 </a:t>
            </a:r>
            <a:r>
              <a:rPr lang="en-US" altLang="ko-KR"/>
              <a:t>Π</a:t>
            </a:r>
            <a:r>
              <a:rPr lang="ko-KR" altLang="en-US"/>
              <a:t>와</a:t>
            </a:r>
            <a:r>
              <a:rPr lang="en-US" altLang="ko-KR"/>
              <a:t>, weight storage 5Mbit </a:t>
            </a:r>
            <a:r>
              <a:rPr lang="ko-KR" altLang="en-US"/>
              <a:t>또는 </a:t>
            </a:r>
            <a:r>
              <a:rPr lang="en-US" altLang="ko-KR"/>
              <a:t>BitOPs 0.08G </a:t>
            </a:r>
            <a:r>
              <a:rPr lang="ko-KR" altLang="en-US"/>
              <a:t>같은 </a:t>
            </a:r>
            <a:r>
              <a:rPr lang="en-US" altLang="ko-KR"/>
              <a:t>hardware constraint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 두 입력을 </a:t>
            </a:r>
            <a:r>
              <a:rPr lang="en-US" altLang="ko-KR"/>
              <a:t>Multiple-Choice Knapsack DP</a:t>
            </a:r>
            <a:r>
              <a:rPr lang="ko-KR" altLang="en-US"/>
              <a:t>에 넣으면</a:t>
            </a:r>
            <a:r>
              <a:rPr lang="en-US" altLang="ko-KR"/>
              <a:t>, </a:t>
            </a:r>
            <a:r>
              <a:rPr lang="ko-KR" altLang="en-US"/>
              <a:t>결과로 각 </a:t>
            </a:r>
            <a:r>
              <a:rPr lang="en-US" altLang="ko-KR"/>
              <a:t>layer</a:t>
            </a:r>
            <a:r>
              <a:rPr lang="ko-KR" altLang="en-US"/>
              <a:t>별 </a:t>
            </a:r>
            <a:r>
              <a:rPr lang="en-US" altLang="ko-KR"/>
              <a:t>τ-list</a:t>
            </a:r>
            <a:r>
              <a:rPr lang="ko-KR" altLang="en-US"/>
              <a:t>가 도출되고</a:t>
            </a:r>
            <a:r>
              <a:rPr lang="en-US" altLang="ko-KR"/>
              <a:t>, </a:t>
            </a:r>
            <a:r>
              <a:rPr lang="ko-KR" altLang="en-US"/>
              <a:t>슬라이드 오른쪽처럼 </a:t>
            </a:r>
            <a:r>
              <a:rPr lang="en-US" altLang="ko-KR"/>
              <a:t>weight storage 4.76Mbit, BitOPs 0.0795G</a:t>
            </a:r>
            <a:r>
              <a:rPr lang="ko-KR" altLang="en-US"/>
              <a:t>로 </a:t>
            </a:r>
            <a:r>
              <a:rPr lang="en-US" altLang="ko-KR"/>
              <a:t>constraint</a:t>
            </a:r>
            <a:r>
              <a:rPr lang="ko-KR" altLang="en-US"/>
              <a:t>를 만족하는 </a:t>
            </a:r>
            <a:r>
              <a:rPr lang="en-US" altLang="ko-KR"/>
              <a:t>proposal</a:t>
            </a:r>
            <a:r>
              <a:rPr lang="ko-KR" altLang="en-US"/>
              <a:t>이 나옵니다</a:t>
            </a:r>
            <a:r>
              <a:rPr lang="en-US" altLang="ko-KR"/>
              <a:t>. </a:t>
            </a:r>
            <a:r>
              <a:rPr lang="ko-KR" altLang="en-US"/>
              <a:t>수식으로 정리하면</a:t>
            </a:r>
            <a:r>
              <a:rPr lang="en-US" altLang="ko-KR"/>
              <a:t>, 16</a:t>
            </a:r>
            <a:r>
              <a:rPr lang="ko-KR" altLang="en-US"/>
              <a:t>개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τ </a:t>
            </a:r>
            <a:r>
              <a:rPr lang="ko-KR" altLang="en-US"/>
              <a:t>조합 중에서 </a:t>
            </a:r>
            <a:r>
              <a:rPr lang="en-US" altLang="ko-KR"/>
              <a:t>value v(i, τ_i)</a:t>
            </a:r>
            <a:r>
              <a:rPr lang="ko-KR" altLang="en-US"/>
              <a:t>의 합을 최대화하되</a:t>
            </a:r>
            <a:r>
              <a:rPr lang="en-US" altLang="ko-KR"/>
              <a:t>, storage </a:t>
            </a:r>
            <a:r>
              <a:rPr lang="ko-KR" altLang="en-US"/>
              <a:t>또는 </a:t>
            </a:r>
            <a:r>
              <a:rPr lang="en-US" altLang="ko-KR"/>
              <a:t>BitOPs constraint</a:t>
            </a:r>
            <a:r>
              <a:rPr lang="ko-KR" altLang="en-US"/>
              <a:t>를 초과해서는 안 됩니다</a:t>
            </a:r>
            <a:r>
              <a:rPr lang="en-US" altLang="ko-KR"/>
              <a:t>. </a:t>
            </a:r>
            <a:r>
              <a:rPr lang="ko-KR" altLang="en-US"/>
              <a:t>다음 슬라이드에서 </a:t>
            </a:r>
            <a:r>
              <a:rPr lang="en-US" altLang="ko-KR"/>
              <a:t>value function v</a:t>
            </a:r>
            <a:r>
              <a:rPr lang="ko-KR" altLang="en-US"/>
              <a:t>를 정의하고</a:t>
            </a:r>
            <a:r>
              <a:rPr lang="en-US" altLang="ko-KR"/>
              <a:t>, </a:t>
            </a:r>
            <a:r>
              <a:rPr lang="ko-KR" altLang="en-US"/>
              <a:t>그다음 슬라이드에서 </a:t>
            </a:r>
            <a:r>
              <a:rPr lang="en-US" altLang="ko-KR"/>
              <a:t>DP </a:t>
            </a:r>
            <a:r>
              <a:rPr lang="ko-KR" altLang="en-US"/>
              <a:t>절차를 설명드리겠습니다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861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Phase 2</a:t>
            </a:r>
            <a:r>
              <a:rPr lang="ko-KR" altLang="en-US"/>
              <a:t>에서 어떤 </a:t>
            </a:r>
            <a:r>
              <a:rPr lang="en-US" altLang="ko-KR"/>
              <a:t>τ-list</a:t>
            </a:r>
            <a:r>
              <a:rPr lang="ko-KR" altLang="en-US"/>
              <a:t>가 좋은 선택인지 판단하기 위해 </a:t>
            </a:r>
            <a:r>
              <a:rPr lang="en-US" altLang="ko-KR"/>
              <a:t>value function v(i, τ)</a:t>
            </a:r>
            <a:r>
              <a:rPr lang="ko-KR" altLang="en-US"/>
              <a:t>를 정의합니다</a:t>
            </a:r>
            <a:r>
              <a:rPr lang="en-US" altLang="ko-KR"/>
              <a:t>. </a:t>
            </a:r>
            <a:r>
              <a:rPr lang="ko-KR" altLang="en-US"/>
              <a:t>직관적으로 풀면</a:t>
            </a:r>
            <a:r>
              <a:rPr lang="en-US" altLang="ko-KR"/>
              <a:t>, Phase 1</a:t>
            </a:r>
            <a:r>
              <a:rPr lang="ko-KR" altLang="en-US"/>
              <a:t>이 </a:t>
            </a:r>
            <a:r>
              <a:rPr lang="en-US" altLang="ko-KR"/>
              <a:t>layer i</a:t>
            </a:r>
            <a:r>
              <a:rPr lang="ko-KR" altLang="en-US"/>
              <a:t>에 대해 학습한 </a:t>
            </a:r>
            <a:r>
              <a:rPr lang="en-US" altLang="ko-KR"/>
              <a:t>τ </a:t>
            </a:r>
            <a:r>
              <a:rPr lang="ko-KR" altLang="en-US"/>
              <a:t>확률 분포가 있을 텐데</a:t>
            </a:r>
            <a:r>
              <a:rPr lang="en-US" altLang="ko-KR"/>
              <a:t>, layer i</a:t>
            </a:r>
            <a:r>
              <a:rPr lang="ko-KR" altLang="en-US"/>
              <a:t>에 대한 </a:t>
            </a:r>
            <a:r>
              <a:rPr lang="en-US" altLang="ko-KR"/>
              <a:t>τ </a:t>
            </a:r>
            <a:r>
              <a:rPr lang="ko-KR" altLang="en-US"/>
              <a:t>할당이 그 분포의 </a:t>
            </a:r>
            <a:r>
              <a:rPr lang="en-US" altLang="ko-KR"/>
              <a:t>peak</a:t>
            </a:r>
            <a:r>
              <a:rPr lang="ko-KR" altLang="en-US"/>
              <a:t>와 가까울수록 좋은 선택이고</a:t>
            </a:r>
            <a:r>
              <a:rPr lang="en-US" altLang="ko-KR"/>
              <a:t>, </a:t>
            </a:r>
            <a:r>
              <a:rPr lang="ko-KR" altLang="en-US"/>
              <a:t>멀어질수록 나쁜 선택이라는 아이디어입니다</a:t>
            </a:r>
            <a:r>
              <a:rPr lang="en-US" altLang="ko-KR"/>
              <a:t>. </a:t>
            </a:r>
            <a:r>
              <a:rPr lang="ko-KR" altLang="en-US"/>
              <a:t>이를 수식화한 것이 슬라이드의 </a:t>
            </a:r>
            <a:r>
              <a:rPr lang="en-US" altLang="ko-KR"/>
              <a:t>v(i, τ)</a:t>
            </a:r>
            <a:r>
              <a:rPr lang="ko-KR" altLang="en-US"/>
              <a:t>입니다</a:t>
            </a:r>
            <a:r>
              <a:rPr lang="en-US" altLang="ko-KR"/>
              <a:t>. Π_{i,k}</a:t>
            </a:r>
            <a:r>
              <a:rPr lang="ko-KR" altLang="en-US"/>
              <a:t>는 </a:t>
            </a:r>
            <a:r>
              <a:rPr lang="en-US" altLang="ko-KR"/>
              <a:t>Phase 1 </a:t>
            </a:r>
            <a:r>
              <a:rPr lang="ko-KR" altLang="en-US"/>
              <a:t>학습 결과 </a:t>
            </a:r>
            <a:r>
              <a:rPr lang="en-US" altLang="ko-KR"/>
              <a:t>layer i</a:t>
            </a:r>
            <a:r>
              <a:rPr lang="ko-KR" altLang="en-US"/>
              <a:t>가 </a:t>
            </a:r>
            <a:r>
              <a:rPr lang="en-US" altLang="ko-KR"/>
              <a:t>τ_k</a:t>
            </a:r>
            <a:r>
              <a:rPr lang="ko-KR" altLang="en-US"/>
              <a:t>에 부여한 확률이고</a:t>
            </a:r>
            <a:r>
              <a:rPr lang="en-US" altLang="ko-KR"/>
              <a:t>, |τ_k − τ|</a:t>
            </a:r>
            <a:r>
              <a:rPr lang="ko-KR" altLang="en-US"/>
              <a:t>는 평가하려는 </a:t>
            </a:r>
            <a:r>
              <a:rPr lang="en-US" altLang="ko-KR"/>
              <a:t>τ</a:t>
            </a:r>
            <a:r>
              <a:rPr lang="ko-KR" altLang="en-US"/>
              <a:t>와 후보 </a:t>
            </a:r>
            <a:r>
              <a:rPr lang="en-US" altLang="ko-KR"/>
              <a:t>τ_k </a:t>
            </a:r>
            <a:r>
              <a:rPr lang="ko-KR" altLang="en-US"/>
              <a:t>사이의 거리입니다</a:t>
            </a:r>
            <a:r>
              <a:rPr lang="en-US" altLang="ko-KR"/>
              <a:t>. </a:t>
            </a:r>
            <a:r>
              <a:rPr lang="ko-KR" altLang="en-US"/>
              <a:t>두 값을 모든 </a:t>
            </a:r>
            <a:r>
              <a:rPr lang="en-US" altLang="ko-KR"/>
              <a:t>k</a:t>
            </a:r>
            <a:r>
              <a:rPr lang="ko-KR" altLang="en-US"/>
              <a:t>에 대해 가중합한 뒤 음수 부호를 붙였기 때문에</a:t>
            </a:r>
            <a:r>
              <a:rPr lang="en-US" altLang="ko-KR"/>
              <a:t>, </a:t>
            </a:r>
            <a:r>
              <a:rPr lang="ko-KR" altLang="en-US"/>
              <a:t>거리가 작을수록 </a:t>
            </a:r>
            <a:r>
              <a:rPr lang="en-US" altLang="ko-KR"/>
              <a:t>v</a:t>
            </a:r>
            <a:r>
              <a:rPr lang="ko-KR" altLang="en-US"/>
              <a:t>가 커지는 구조입니다</a:t>
            </a:r>
            <a:r>
              <a:rPr lang="en-US" altLang="ko-KR"/>
              <a:t>. </a:t>
            </a:r>
            <a:r>
              <a:rPr lang="ko-KR" altLang="en-US"/>
              <a:t>결과적으로 </a:t>
            </a:r>
            <a:r>
              <a:rPr lang="en-US" altLang="ko-KR"/>
              <a:t>hardware constraint </a:t>
            </a:r>
            <a:r>
              <a:rPr lang="ko-KR" altLang="en-US"/>
              <a:t>안에서 </a:t>
            </a:r>
            <a:r>
              <a:rPr lang="en-US" altLang="ko-KR"/>
              <a:t>v</a:t>
            </a:r>
            <a:r>
              <a:rPr lang="ko-KR" altLang="en-US"/>
              <a:t>의 합을 최대화하는 것은</a:t>
            </a:r>
            <a:r>
              <a:rPr lang="en-US" altLang="ko-KR"/>
              <a:t>, Phase 1</a:t>
            </a:r>
            <a:r>
              <a:rPr lang="ko-KR" altLang="en-US"/>
              <a:t>의 선호도에서 최대한 벗어나지 않는 </a:t>
            </a:r>
            <a:r>
              <a:rPr lang="en-US" altLang="ko-KR"/>
              <a:t>τ-list</a:t>
            </a:r>
            <a:r>
              <a:rPr lang="ko-KR" altLang="en-US"/>
              <a:t>를 선택한다는 의미이고</a:t>
            </a:r>
            <a:r>
              <a:rPr lang="en-US" altLang="ko-KR"/>
              <a:t>, </a:t>
            </a:r>
            <a:r>
              <a:rPr lang="ko-KR" altLang="en-US"/>
              <a:t>이게 </a:t>
            </a:r>
            <a:r>
              <a:rPr lang="en-US" altLang="ko-KR"/>
              <a:t>accuracy </a:t>
            </a:r>
            <a:r>
              <a:rPr lang="ko-KR" altLang="en-US"/>
              <a:t>손실을 최소화하는 것과 직결됩니다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769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Multiple-Choice Knapsack Problem (MCKP): N</a:t>
            </a:r>
            <a:r>
              <a:rPr lang="ko-KR" altLang="en-US"/>
              <a:t>개의 그룹이 주어지고 각 그룹은 여러 후보 아이템</a:t>
            </a:r>
            <a:r>
              <a:rPr lang="en-US" altLang="ko-KR"/>
              <a:t>(</a:t>
            </a:r>
            <a:r>
              <a:rPr lang="ko-KR" altLang="en-US"/>
              <a:t>가치 </a:t>
            </a:r>
            <a:r>
              <a:rPr lang="en-US" altLang="ko-KR"/>
              <a:t>v, </a:t>
            </a:r>
            <a:r>
              <a:rPr lang="ko-KR" altLang="en-US"/>
              <a:t>비용 </a:t>
            </a:r>
            <a:r>
              <a:rPr lang="en-US" altLang="ko-KR"/>
              <a:t>c)</a:t>
            </a:r>
            <a:r>
              <a:rPr lang="ko-KR" altLang="en-US"/>
              <a:t>을 가질 때</a:t>
            </a:r>
            <a:r>
              <a:rPr lang="en-US" altLang="ko-KR"/>
              <a:t>, </a:t>
            </a:r>
            <a:r>
              <a:rPr lang="ko-KR" altLang="en-US"/>
              <a:t>각 그룹에서 정확히 하나의 아이템을 골라 총 비용이 예산 </a:t>
            </a:r>
            <a:r>
              <a:rPr lang="en-US" altLang="ko-KR"/>
              <a:t>B </a:t>
            </a:r>
            <a:r>
              <a:rPr lang="ko-KR" altLang="en-US"/>
              <a:t>이하인 조건 하에 가치 합을 최대화하는 문제</a:t>
            </a:r>
            <a:endParaRPr lang="en-US" altLang="ko-KR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/>
              <a:t>MCKP in DNAS_SNN_budget: 16</a:t>
            </a:r>
            <a:r>
              <a:rPr lang="ko-KR" altLang="en-US"/>
              <a:t>개 </a:t>
            </a:r>
            <a:r>
              <a:rPr lang="en-US" altLang="ko-KR"/>
              <a:t>binary conv </a:t>
            </a:r>
            <a:r>
              <a:rPr lang="ko-KR" altLang="en-US"/>
              <a:t>레이어를 그룹</a:t>
            </a:r>
            <a:r>
              <a:rPr lang="en-US" altLang="ko-KR"/>
              <a:t>, </a:t>
            </a:r>
            <a:r>
              <a:rPr lang="ko-KR" altLang="en-US"/>
              <a:t>각 레이어의 </a:t>
            </a:r>
            <a:r>
              <a:rPr lang="en-US" altLang="ko-KR"/>
              <a:t>τ </a:t>
            </a:r>
            <a:r>
              <a:rPr lang="ko-KR" altLang="en-US"/>
              <a:t>후보 </a:t>
            </a:r>
            <a:r>
              <a:rPr lang="en-US" altLang="ko-KR"/>
              <a:t>{1,...,8}</a:t>
            </a:r>
            <a:r>
              <a:rPr lang="ko-KR" altLang="en-US"/>
              <a:t>을 아이템으로 두고</a:t>
            </a:r>
            <a:r>
              <a:rPr lang="en-US" altLang="ko-KR"/>
              <a:t>, </a:t>
            </a:r>
            <a:r>
              <a:rPr lang="ko-KR" altLang="en-US"/>
              <a:t>레이어마다 정확히 하나의 </a:t>
            </a:r>
            <a:r>
              <a:rPr lang="en-US" altLang="ko-KR"/>
              <a:t>τ</a:t>
            </a:r>
            <a:r>
              <a:rPr lang="ko-KR" altLang="en-US"/>
              <a:t>를 선택하여 </a:t>
            </a:r>
            <a:r>
              <a:rPr lang="en-US" altLang="ko-KR"/>
              <a:t>storage/BitOPs budget </a:t>
            </a:r>
            <a:r>
              <a:rPr lang="ko-KR" altLang="en-US"/>
              <a:t>안에서 </a:t>
            </a:r>
            <a:r>
              <a:rPr lang="en-US" altLang="ko-KR"/>
              <a:t>Phase 1 sensitivity</a:t>
            </a:r>
            <a:r>
              <a:rPr lang="ko-KR" altLang="en-US"/>
              <a:t>와의 일치도</a:t>
            </a:r>
            <a:r>
              <a:rPr lang="en-US" altLang="ko-KR"/>
              <a:t>(value) </a:t>
            </a:r>
            <a:r>
              <a:rPr lang="ko-KR" altLang="en-US"/>
              <a:t>합을 최대화하는 문제로 정식화된다</a:t>
            </a:r>
            <a:endParaRPr lang="en-US" altLang="ko-KR"/>
          </a:p>
          <a:p>
            <a:pPr marL="0" indent="0">
              <a:buFont typeface="Symbol" panose="05050102010706020507" pitchFamily="18" charset="2"/>
              <a:buNone/>
            </a:pPr>
            <a:endParaRPr lang="en-US" altLang="ko-KR"/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/>
              <a:t>-</a:t>
            </a:r>
            <a:r>
              <a:rPr lang="ko-KR" altLang="en-US"/>
              <a:t>먼저 표기를 간결화하기 위해</a:t>
            </a:r>
            <a:r>
              <a:rPr lang="en-US" altLang="ko-KR"/>
              <a:t>, layer i</a:t>
            </a:r>
            <a:r>
              <a:rPr lang="ko-KR" altLang="en-US"/>
              <a:t>의 </a:t>
            </a:r>
            <a:r>
              <a:rPr lang="en-US" altLang="ko-KR"/>
              <a:t>cost C_i(τ)</a:t>
            </a:r>
            <a:r>
              <a:rPr lang="ko-KR" altLang="en-US"/>
              <a:t>를 도입하는데</a:t>
            </a:r>
            <a:r>
              <a:rPr lang="en-US" altLang="ko-KR"/>
              <a:t>, </a:t>
            </a:r>
            <a:r>
              <a:rPr lang="ko-KR" altLang="en-US"/>
              <a:t>이는 </a:t>
            </a:r>
            <a:r>
              <a:rPr lang="en-US" altLang="ko-KR"/>
              <a:t>storage S_i(τ) </a:t>
            </a:r>
            <a:r>
              <a:rPr lang="ko-KR" altLang="en-US"/>
              <a:t>또는 </a:t>
            </a:r>
            <a:r>
              <a:rPr lang="en-US" altLang="ko-KR"/>
              <a:t>BitOPs B_i(τ) </a:t>
            </a:r>
            <a:r>
              <a:rPr lang="ko-KR" altLang="en-US"/>
              <a:t>중 하나를 가리킵니다</a:t>
            </a:r>
            <a:r>
              <a:rPr lang="en-US" altLang="ko-KR"/>
              <a:t>. </a:t>
            </a:r>
            <a:r>
              <a:rPr lang="ko-KR" altLang="en-US"/>
              <a:t>사용자가 어떤 </a:t>
            </a:r>
            <a:r>
              <a:rPr lang="en-US" altLang="ko-KR"/>
              <a:t>constraint</a:t>
            </a:r>
            <a:r>
              <a:rPr lang="ko-KR" altLang="en-US"/>
              <a:t>를 걸었는지에 따라 둘 중 하나로 결정됩니다</a:t>
            </a:r>
            <a:r>
              <a:rPr lang="en-US" altLang="ko-KR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/>
              <a:t>-</a:t>
            </a:r>
            <a:r>
              <a:rPr lang="ko-KR" altLang="en-US"/>
              <a:t>다음으로 </a:t>
            </a:r>
            <a:r>
              <a:rPr lang="en-US" altLang="ko-KR"/>
              <a:t>cost </a:t>
            </a:r>
            <a:r>
              <a:rPr lang="ko-KR" altLang="en-US"/>
              <a:t>인덱스를 축소하는 과정이 필요합니다</a:t>
            </a:r>
            <a:r>
              <a:rPr lang="en-US" altLang="ko-KR"/>
              <a:t>. C_i(τ_k)</a:t>
            </a:r>
            <a:r>
              <a:rPr lang="ko-KR" altLang="en-US"/>
              <a:t>와 </a:t>
            </a:r>
            <a:r>
              <a:rPr lang="en-US" altLang="ko-KR"/>
              <a:t>C_constraint</a:t>
            </a:r>
            <a:r>
              <a:rPr lang="ko-KR" altLang="en-US"/>
              <a:t>는 단위 값이 매우 큰 정수입니다</a:t>
            </a:r>
            <a:r>
              <a:rPr lang="en-US" altLang="ko-KR"/>
              <a:t>. Storage</a:t>
            </a:r>
            <a:r>
              <a:rPr lang="ko-KR" altLang="en-US"/>
              <a:t>는 약 </a:t>
            </a:r>
            <a:r>
              <a:rPr lang="en-US" altLang="ko-KR"/>
              <a:t>10^6 bits, BitOPs</a:t>
            </a:r>
            <a:r>
              <a:rPr lang="ko-KR" altLang="en-US"/>
              <a:t>는 약 </a:t>
            </a:r>
            <a:r>
              <a:rPr lang="en-US" altLang="ko-KR"/>
              <a:t>10^8 ops </a:t>
            </a:r>
            <a:r>
              <a:rPr lang="ko-KR" altLang="en-US"/>
              <a:t>수준이기 때문에</a:t>
            </a:r>
            <a:r>
              <a:rPr lang="en-US" altLang="ko-KR"/>
              <a:t>, </a:t>
            </a:r>
            <a:r>
              <a:rPr lang="ko-KR" altLang="en-US"/>
              <a:t>이 값을 그대로 </a:t>
            </a:r>
            <a:r>
              <a:rPr lang="en-US" altLang="ko-KR"/>
              <a:t>DP </a:t>
            </a:r>
            <a:r>
              <a:rPr lang="ko-KR" altLang="en-US"/>
              <a:t>테이블의 인덱스로 사용하면 테이블 크기가 폭발해서 계산이 불가능합니다</a:t>
            </a:r>
            <a:r>
              <a:rPr lang="en-US" altLang="ko-KR"/>
              <a:t>. </a:t>
            </a:r>
            <a:r>
              <a:rPr lang="ko-KR" altLang="en-US"/>
              <a:t>그래서 </a:t>
            </a:r>
            <a:r>
              <a:rPr lang="en-US" altLang="ko-KR"/>
              <a:t>Δ </a:t>
            </a:r>
            <a:r>
              <a:rPr lang="ko-KR" altLang="en-US"/>
              <a:t>단위로 나누어</a:t>
            </a:r>
            <a:r>
              <a:rPr lang="en-US" altLang="ko-KR"/>
              <a:t>, [k·Δ, (k+1)·Δ) </a:t>
            </a:r>
            <a:r>
              <a:rPr lang="ko-KR" altLang="en-US"/>
              <a:t>범위의 </a:t>
            </a:r>
            <a:r>
              <a:rPr lang="en-US" altLang="ko-KR"/>
              <a:t>cost </a:t>
            </a:r>
            <a:r>
              <a:rPr lang="ko-KR" altLang="en-US"/>
              <a:t>값을 모두 같은 정수 인덱스 </a:t>
            </a:r>
            <a:r>
              <a:rPr lang="en-US" altLang="ko-KR"/>
              <a:t>k</a:t>
            </a:r>
            <a:r>
              <a:rPr lang="ko-KR" altLang="en-US"/>
              <a:t>로 매핑합니다</a:t>
            </a:r>
            <a:r>
              <a:rPr lang="en-US" altLang="ko-KR"/>
              <a:t>. C_constraint</a:t>
            </a:r>
            <a:r>
              <a:rPr lang="ko-KR" altLang="en-US"/>
              <a:t>도 동일하게 ⌈</a:t>
            </a:r>
            <a:r>
              <a:rPr lang="en-US" altLang="ko-KR"/>
              <a:t>C_constraint/Δ⌉</a:t>
            </a:r>
            <a:r>
              <a:rPr lang="ko-KR" altLang="en-US"/>
              <a:t>로 변환합니다</a:t>
            </a:r>
            <a:r>
              <a:rPr lang="en-US" altLang="ko-KR"/>
              <a:t>. </a:t>
            </a:r>
            <a:r>
              <a:rPr lang="ko-KR" altLang="en-US"/>
              <a:t>이렇게 하면 </a:t>
            </a:r>
            <a:r>
              <a:rPr lang="en-US" altLang="ko-KR"/>
              <a:t>DP </a:t>
            </a:r>
            <a:r>
              <a:rPr lang="ko-KR" altLang="en-US"/>
              <a:t>테이블이 다룰 수 있는 크기로 줄어듭니다</a:t>
            </a:r>
            <a:r>
              <a:rPr lang="en-US" altLang="ko-KR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/>
              <a:t>-</a:t>
            </a:r>
            <a:r>
              <a:rPr lang="ko-KR" altLang="en-US"/>
              <a:t>이제 </a:t>
            </a:r>
            <a:r>
              <a:rPr lang="en-US" altLang="ko-KR"/>
              <a:t>DP </a:t>
            </a:r>
            <a:r>
              <a:rPr lang="ko-KR" altLang="en-US"/>
              <a:t>점화식을 보겠습니다</a:t>
            </a:r>
            <a:r>
              <a:rPr lang="en-US" altLang="ko-KR"/>
              <a:t>. dp[i, </a:t>
            </a:r>
            <a:r>
              <a:rPr lang="ko-KR" altLang="en-US"/>
              <a:t>누적 </a:t>
            </a:r>
            <a:r>
              <a:rPr lang="en-US" altLang="ko-KR"/>
              <a:t>cost]</a:t>
            </a:r>
            <a:r>
              <a:rPr lang="ko-KR" altLang="en-US"/>
              <a:t>는 </a:t>
            </a:r>
            <a:r>
              <a:rPr lang="en-US" altLang="ko-KR"/>
              <a:t>'layer 1</a:t>
            </a:r>
            <a:r>
              <a:rPr lang="ko-KR" altLang="en-US"/>
              <a:t>부터 </a:t>
            </a:r>
            <a:r>
              <a:rPr lang="en-US" altLang="ko-KR"/>
              <a:t>i</a:t>
            </a:r>
            <a:r>
              <a:rPr lang="ko-KR" altLang="en-US"/>
              <a:t>까지 살펴봤을 때 누적 </a:t>
            </a:r>
            <a:r>
              <a:rPr lang="en-US" altLang="ko-KR"/>
              <a:t>cost </a:t>
            </a:r>
            <a:r>
              <a:rPr lang="ko-KR" altLang="en-US"/>
              <a:t>조건에서의 최대 누적 </a:t>
            </a:r>
            <a:r>
              <a:rPr lang="en-US" altLang="ko-KR"/>
              <a:t>value'</a:t>
            </a:r>
            <a:r>
              <a:rPr lang="ko-KR" altLang="en-US"/>
              <a:t>를 의미합니다</a:t>
            </a:r>
            <a:r>
              <a:rPr lang="en-US" altLang="ko-KR"/>
              <a:t>. </a:t>
            </a:r>
            <a:r>
              <a:rPr lang="ko-KR" altLang="en-US"/>
              <a:t>점화식은 직관적으로</a:t>
            </a:r>
            <a:r>
              <a:rPr lang="en-US" altLang="ko-KR"/>
              <a:t>, </a:t>
            </a:r>
            <a:r>
              <a:rPr lang="ko-KR" altLang="en-US"/>
              <a:t>직전 </a:t>
            </a:r>
            <a:r>
              <a:rPr lang="en-US" altLang="ko-KR"/>
              <a:t>layer</a:t>
            </a:r>
            <a:r>
              <a:rPr lang="ko-KR" altLang="en-US"/>
              <a:t>까지의 </a:t>
            </a:r>
            <a:r>
              <a:rPr lang="en-US" altLang="ko-KR"/>
              <a:t>dp </a:t>
            </a:r>
            <a:r>
              <a:rPr lang="ko-KR" altLang="en-US"/>
              <a:t>값에 </a:t>
            </a:r>
            <a:r>
              <a:rPr lang="en-US" altLang="ko-KR"/>
              <a:t>layer i</a:t>
            </a:r>
            <a:r>
              <a:rPr lang="ko-KR" altLang="en-US"/>
              <a:t>에서 선택한 </a:t>
            </a:r>
            <a:r>
              <a:rPr lang="en-US" altLang="ko-KR"/>
              <a:t>τ</a:t>
            </a:r>
            <a:r>
              <a:rPr lang="ko-KR" altLang="en-US"/>
              <a:t>의 </a:t>
            </a:r>
            <a:r>
              <a:rPr lang="en-US" altLang="ko-KR"/>
              <a:t>value</a:t>
            </a:r>
            <a:r>
              <a:rPr lang="ko-KR" altLang="en-US"/>
              <a:t>를 더한 값 중</a:t>
            </a:r>
            <a:r>
              <a:rPr lang="en-US" altLang="ko-KR"/>
              <a:t>, 8</a:t>
            </a:r>
            <a:r>
              <a:rPr lang="ko-KR" altLang="en-US"/>
              <a:t>개 </a:t>
            </a:r>
            <a:r>
              <a:rPr lang="en-US" altLang="ko-KR"/>
              <a:t>τ </a:t>
            </a:r>
            <a:r>
              <a:rPr lang="ko-KR" altLang="en-US"/>
              <a:t>후보 전체에서 최댓값을 취하는 형태입니다</a:t>
            </a:r>
            <a:r>
              <a:rPr lang="en-US" altLang="ko-KR"/>
              <a:t>. </a:t>
            </a:r>
            <a:r>
              <a:rPr lang="ko-KR" altLang="en-US"/>
              <a:t>즉 </a:t>
            </a:r>
            <a:r>
              <a:rPr lang="en-US" altLang="ko-KR"/>
              <a:t>layer 1</a:t>
            </a:r>
            <a:r>
              <a:rPr lang="ko-KR" altLang="en-US"/>
              <a:t>부터 </a:t>
            </a:r>
            <a:r>
              <a:rPr lang="en-US" altLang="ko-KR"/>
              <a:t>16</a:t>
            </a:r>
            <a:r>
              <a:rPr lang="ko-KR" altLang="en-US"/>
              <a:t>까지 순회하며</a:t>
            </a:r>
            <a:r>
              <a:rPr lang="en-US" altLang="ko-KR"/>
              <a:t>, </a:t>
            </a:r>
            <a:r>
              <a:rPr lang="ko-KR" altLang="en-US"/>
              <a:t>각 </a:t>
            </a:r>
            <a:r>
              <a:rPr lang="en-US" altLang="ko-KR"/>
              <a:t>layer</a:t>
            </a:r>
            <a:r>
              <a:rPr lang="ko-KR" altLang="en-US"/>
              <a:t>에서 </a:t>
            </a:r>
            <a:r>
              <a:rPr lang="en-US" altLang="ko-KR"/>
              <a:t>8</a:t>
            </a:r>
            <a:r>
              <a:rPr lang="ko-KR" altLang="en-US"/>
              <a:t>개 </a:t>
            </a:r>
            <a:r>
              <a:rPr lang="en-US" altLang="ko-KR"/>
              <a:t>τ </a:t>
            </a:r>
            <a:r>
              <a:rPr lang="ko-KR" altLang="en-US"/>
              <a:t>후보를 모두 평가해 누적 </a:t>
            </a:r>
            <a:r>
              <a:rPr lang="en-US" altLang="ko-KR"/>
              <a:t>value</a:t>
            </a:r>
            <a:r>
              <a:rPr lang="ko-KR" altLang="en-US"/>
              <a:t>가 최대가 되는 후보를 </a:t>
            </a:r>
            <a:r>
              <a:rPr lang="en-US" altLang="ko-KR"/>
              <a:t>dp </a:t>
            </a:r>
            <a:r>
              <a:rPr lang="ko-KR" altLang="en-US"/>
              <a:t>테이블에 기록하는 절차입니다</a:t>
            </a:r>
            <a:r>
              <a:rPr lang="en-US" altLang="ko-KR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/>
              <a:t>- Layer 16</a:t>
            </a:r>
            <a:r>
              <a:rPr lang="ko-KR" altLang="en-US"/>
              <a:t>까지 순회가 완료된 후</a:t>
            </a:r>
            <a:r>
              <a:rPr lang="en-US" altLang="ko-KR"/>
              <a:t>, </a:t>
            </a:r>
            <a:r>
              <a:rPr lang="ko-KR" altLang="en-US"/>
              <a:t>누적 </a:t>
            </a:r>
            <a:r>
              <a:rPr lang="en-US" altLang="ko-KR"/>
              <a:t>cost</a:t>
            </a:r>
            <a:r>
              <a:rPr lang="ko-KR" altLang="en-US"/>
              <a:t>가 ⌈</a:t>
            </a:r>
            <a:r>
              <a:rPr lang="en-US" altLang="ko-KR"/>
              <a:t>C_constraint/Δ⌉ </a:t>
            </a:r>
            <a:r>
              <a:rPr lang="ko-KR" altLang="en-US"/>
              <a:t>이하인 항목 중 </a:t>
            </a:r>
            <a:r>
              <a:rPr lang="en-US" altLang="ko-KR"/>
              <a:t>dp </a:t>
            </a:r>
            <a:r>
              <a:rPr lang="ko-KR" altLang="en-US"/>
              <a:t>값이 최대인 지점을 찾아서</a:t>
            </a:r>
            <a:r>
              <a:rPr lang="en-US" altLang="ko-KR"/>
              <a:t>, </a:t>
            </a:r>
            <a:r>
              <a:rPr lang="ko-KR" altLang="en-US"/>
              <a:t>그 지점에 최종 </a:t>
            </a:r>
            <a:r>
              <a:rPr lang="en-US" altLang="ko-KR"/>
              <a:t>τ-list</a:t>
            </a:r>
            <a:r>
              <a:rPr lang="ko-KR" altLang="en-US"/>
              <a:t>를 얻습니다</a:t>
            </a:r>
            <a:r>
              <a:rPr lang="en-US" altLang="ko-KR"/>
              <a:t>.</a:t>
            </a:r>
          </a:p>
          <a:p>
            <a:r>
              <a:rPr lang="en-US" altLang="ko-KR"/>
              <a:t>-</a:t>
            </a:r>
            <a:r>
              <a:rPr lang="ko-KR" altLang="en-US"/>
              <a:t>복잡도는 </a:t>
            </a:r>
            <a:r>
              <a:rPr lang="en-US" altLang="ko-KR"/>
              <a:t>O(L · K · ⌈C_constraint/Δ⌉)</a:t>
            </a:r>
            <a:r>
              <a:rPr lang="ko-KR" altLang="en-US"/>
              <a:t>로</a:t>
            </a:r>
            <a:r>
              <a:rPr lang="en-US" altLang="ko-KR"/>
              <a:t>, L=16, K=8 </a:t>
            </a:r>
            <a:r>
              <a:rPr lang="ko-KR" altLang="en-US"/>
              <a:t>정도면 매우 가볍게 풀립니다</a:t>
            </a:r>
            <a:r>
              <a:rPr lang="en-US" altLang="ko-KR"/>
              <a:t>.</a:t>
            </a:r>
          </a:p>
          <a:p>
            <a:r>
              <a:rPr lang="ko-KR" altLang="en-US"/>
              <a:t>마지막으로 강조하고 싶은 점은 </a:t>
            </a:r>
            <a:r>
              <a:rPr lang="en-US" altLang="ko-KR"/>
              <a:t>constraint reusability</a:t>
            </a:r>
            <a:r>
              <a:rPr lang="ko-KR" altLang="en-US"/>
              <a:t>입니다</a:t>
            </a:r>
            <a:r>
              <a:rPr lang="en-US" altLang="ko-KR"/>
              <a:t>. Π</a:t>
            </a:r>
            <a:r>
              <a:rPr lang="ko-KR" altLang="en-US"/>
              <a:t>를 한 번 학습해두면</a:t>
            </a:r>
            <a:r>
              <a:rPr lang="en-US" altLang="ko-KR"/>
              <a:t>, hardware constraint</a:t>
            </a:r>
            <a:r>
              <a:rPr lang="ko-KR" altLang="en-US"/>
              <a:t>가 바뀌어도 </a:t>
            </a:r>
            <a:r>
              <a:rPr lang="en-US" altLang="ko-KR"/>
              <a:t>Phase 1</a:t>
            </a:r>
            <a:r>
              <a:rPr lang="ko-KR" altLang="en-US"/>
              <a:t>을 재학습할 필요 없이 </a:t>
            </a:r>
            <a:r>
              <a:rPr lang="en-US" altLang="ko-KR"/>
              <a:t>DP</a:t>
            </a:r>
            <a:r>
              <a:rPr lang="ko-KR" altLang="en-US"/>
              <a:t>만 다시 돌리면 즉시 새로운 </a:t>
            </a:r>
            <a:r>
              <a:rPr lang="en-US" altLang="ko-KR"/>
              <a:t>τ-list</a:t>
            </a:r>
            <a:r>
              <a:rPr lang="ko-KR" altLang="en-US"/>
              <a:t>를 도출할 수 있습니다</a:t>
            </a:r>
            <a:r>
              <a:rPr lang="en-US" altLang="ko-KR"/>
              <a:t>. </a:t>
            </a:r>
            <a:r>
              <a:rPr lang="ko-KR" altLang="en-US"/>
              <a:t>실제 </a:t>
            </a:r>
            <a:r>
              <a:rPr lang="en-US" altLang="ko-KR"/>
              <a:t>deployment </a:t>
            </a:r>
            <a:r>
              <a:rPr lang="ko-KR" altLang="en-US"/>
              <a:t>환경에서 다양한 디바이스에 맞춰 모델을 배포해야 할 때 매우 실용적인 장점입니다</a:t>
            </a:r>
            <a:r>
              <a:rPr lang="en-US" altLang="ko-KR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8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 </a:t>
            </a:r>
            <a:r>
              <a:rPr lang="en-US" altLang="ko-KR"/>
              <a:t>Phase 3</a:t>
            </a:r>
            <a:r>
              <a:rPr lang="ko-KR" altLang="en-US"/>
              <a:t>는 </a:t>
            </a:r>
            <a:r>
              <a:rPr lang="en-US" altLang="ko-KR"/>
              <a:t>retrain </a:t>
            </a:r>
            <a:r>
              <a:rPr lang="ko-KR" altLang="en-US"/>
              <a:t>단계입니다</a:t>
            </a:r>
            <a:r>
              <a:rPr lang="en-US" altLang="ko-KR"/>
              <a:t>. Phase 2</a:t>
            </a:r>
            <a:r>
              <a:rPr lang="ko-KR" altLang="en-US"/>
              <a:t>에서 결정된 </a:t>
            </a:r>
            <a:r>
              <a:rPr lang="en-US" altLang="ko-KR"/>
              <a:t>τ-list [τ_1, τ_2, ..., τ_16]</a:t>
            </a:r>
            <a:r>
              <a:rPr lang="ko-KR" altLang="en-US"/>
              <a:t>으로 각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codebook size</a:t>
            </a:r>
            <a:r>
              <a:rPr lang="ko-KR" altLang="en-US"/>
              <a:t>를 고정합니다</a:t>
            </a:r>
            <a:r>
              <a:rPr lang="en-US" altLang="ko-KR"/>
              <a:t>. </a:t>
            </a:r>
            <a:r>
              <a:rPr lang="ko-KR" altLang="en-US"/>
              <a:t>그리고 </a:t>
            </a:r>
            <a:r>
              <a:rPr lang="en-US" altLang="ko-KR"/>
              <a:t>Phase 1</a:t>
            </a:r>
            <a:r>
              <a:rPr lang="ko-KR" altLang="en-US"/>
              <a:t>에서 사용했던 </a:t>
            </a:r>
            <a:r>
              <a:rPr lang="en-US" altLang="ko-KR"/>
              <a:t>mixed operation </a:t>
            </a:r>
            <a:r>
              <a:rPr lang="ko-KR" altLang="en-US"/>
              <a:t>구조는 더 이상 필요 없으므로</a:t>
            </a:r>
            <a:r>
              <a:rPr lang="en-US" altLang="ko-KR"/>
              <a:t>, </a:t>
            </a:r>
            <a:r>
              <a:rPr lang="ko-KR" altLang="en-US"/>
              <a:t>단일 </a:t>
            </a:r>
            <a:r>
              <a:rPr lang="en-US" altLang="ko-KR"/>
              <a:t>binary conv </a:t>
            </a:r>
            <a:r>
              <a:rPr lang="ko-KR" altLang="en-US"/>
              <a:t>구조로 재학습합니다</a:t>
            </a:r>
            <a:r>
              <a:rPr lang="en-US" altLang="ko-KR"/>
              <a:t>. </a:t>
            </a:r>
            <a:r>
              <a:rPr lang="ko-KR" altLang="en-US"/>
              <a:t>학습 절차 자체는 </a:t>
            </a:r>
            <a:r>
              <a:rPr lang="en-US" altLang="ko-KR"/>
              <a:t>SNN </a:t>
            </a:r>
            <a:r>
              <a:rPr lang="ko-KR" altLang="en-US"/>
              <a:t>원논문</a:t>
            </a:r>
            <a:r>
              <a:rPr lang="en-US" altLang="ko-KR"/>
              <a:t>, Wang et al. 2021</a:t>
            </a:r>
            <a:r>
              <a:rPr lang="ko-KR" altLang="en-US"/>
              <a:t>의 방식을 그대로 따르며</a:t>
            </a:r>
            <a:r>
              <a:rPr lang="en-US" altLang="ko-KR"/>
              <a:t>, </a:t>
            </a:r>
            <a:r>
              <a:rPr lang="ko-KR" altLang="en-US"/>
              <a:t>차이점은 각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τ</a:t>
            </a:r>
            <a:r>
              <a:rPr lang="ko-KR" altLang="en-US"/>
              <a:t>가 </a:t>
            </a:r>
            <a:r>
              <a:rPr lang="en-US" altLang="ko-KR"/>
              <a:t>uniform</a:t>
            </a:r>
            <a:r>
              <a:rPr lang="ko-KR" altLang="en-US"/>
              <a:t>이 아니라 </a:t>
            </a:r>
            <a:r>
              <a:rPr lang="en-US" altLang="ko-KR"/>
              <a:t>Phase 2</a:t>
            </a:r>
            <a:r>
              <a:rPr lang="ko-KR" altLang="en-US"/>
              <a:t>에서 결정된 </a:t>
            </a:r>
            <a:r>
              <a:rPr lang="en-US" altLang="ko-KR"/>
              <a:t>mixed τ-list</a:t>
            </a:r>
            <a:r>
              <a:rPr lang="ko-KR" altLang="en-US"/>
              <a:t>로 고정된다는 점뿐입니다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94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10.png"/><Relationship Id="rId4" Type="http://schemas.openxmlformats.org/officeDocument/2006/relationships/image" Target="../media/image2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논문 </a:t>
            </a:r>
            <a:r>
              <a:rPr lang="en-US" altLang="ko-KR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FLOW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05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20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28E6B-A16A-ACEE-1B27-14CF754B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SNN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0E2E-FAA5-0398-6A0E-C548EF93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7A6331-F6AE-65BD-10DE-752B3E3648BF}"/>
              </a:ext>
            </a:extLst>
          </p:cNvPr>
          <p:cNvSpPr txBox="1"/>
          <p:nvPr/>
        </p:nvSpPr>
        <p:spPr>
          <a:xfrm>
            <a:off x="561777" y="1018809"/>
            <a:ext cx="925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3x3 convolutional kernel</a:t>
            </a:r>
            <a:r>
              <a:rPr lang="ko-KR" altLang="en-US"/>
              <a:t>을 </a:t>
            </a:r>
            <a:r>
              <a:rPr lang="en-US" altLang="ko-KR"/>
              <a:t>binary</a:t>
            </a:r>
            <a:r>
              <a:rPr lang="ko-KR" altLang="en-US"/>
              <a:t>로 양자화하면</a:t>
            </a:r>
            <a:r>
              <a:rPr lang="en-US" altLang="ko-KR"/>
              <a:t>, </a:t>
            </a:r>
            <a:r>
              <a:rPr lang="ko-KR" altLang="en-US"/>
              <a:t>가능한 </a:t>
            </a:r>
            <a:r>
              <a:rPr lang="en-US" altLang="ko-KR"/>
              <a:t>binary kernel</a:t>
            </a:r>
            <a:r>
              <a:rPr lang="ko-KR" altLang="en-US"/>
              <a:t>의 전체 집합은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E67F10-F2C3-7045-0B82-26D34458350C}"/>
                  </a:ext>
                </a:extLst>
              </p:cNvPr>
              <p:cNvSpPr txBox="1"/>
              <p:nvPr/>
            </p:nvSpPr>
            <p:spPr>
              <a:xfrm>
                <a:off x="1411834" y="1470194"/>
                <a:ext cx="6934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{±1}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,   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=512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E67F10-F2C3-7045-0B82-26D344583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834" y="1470194"/>
                <a:ext cx="6934809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670CA5-8877-BE3A-9CD4-64ED88B46D42}"/>
                  </a:ext>
                </a:extLst>
              </p:cNvPr>
              <p:cNvSpPr txBox="1"/>
              <p:nvPr/>
            </p:nvSpPr>
            <p:spPr>
              <a:xfrm>
                <a:off x="569092" y="2385532"/>
                <a:ext cx="100964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SNN</a:t>
                </a:r>
                <a:r>
                  <a:rPr lang="ko-KR" altLang="en-US"/>
                  <a:t>은 </a:t>
                </a:r>
                <a:r>
                  <a:rPr lang="en-US" altLang="ko-KR"/>
                  <a:t>binary kernel</a:t>
                </a:r>
                <a:r>
                  <a:rPr lang="ko-KR" altLang="en-US"/>
                  <a:t>을 전체 집합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ko-KR" altLang="en-US"/>
                  <a:t> 가 아닌 </a:t>
                </a:r>
                <a:r>
                  <a:rPr lang="en-US" altLang="ko-KR"/>
                  <a:t>subset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ko-KR" altLang="en-US"/>
                  <a:t> 로 제한한다</a:t>
                </a:r>
                <a:r>
                  <a:rPr lang="en-US" altLang="ko-KR"/>
                  <a:t>. (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⊂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/>
                  <a:t>)</a:t>
                </a:r>
                <a:endParaRPr lang="ko-KR" alt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670CA5-8877-BE3A-9CD4-64ED88B46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2" y="2385532"/>
                <a:ext cx="10096470" cy="369332"/>
              </a:xfrm>
              <a:prstGeom prst="rect">
                <a:avLst/>
              </a:prstGeom>
              <a:blipFill>
                <a:blip r:embed="rId4"/>
                <a:stretch>
                  <a:fillRect l="-483"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C18FDF-36F5-46D6-B171-D4D332DE518A}"/>
                  </a:ext>
                </a:extLst>
              </p:cNvPr>
              <p:cNvSpPr txBox="1"/>
              <p:nvPr/>
            </p:nvSpPr>
            <p:spPr>
              <a:xfrm>
                <a:off x="1411833" y="2910069"/>
                <a:ext cx="6934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, 1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&lt;9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C18FDF-36F5-46D6-B171-D4D332DE5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833" y="2910069"/>
                <a:ext cx="6934809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911B5A68-F092-78B4-4CE1-95E648B8E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647879"/>
            <a:ext cx="10681847" cy="2800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BE3DD-60CB-4CF8-2C95-4E8074FA7E63}"/>
                  </a:ext>
                </a:extLst>
              </p:cNvPr>
              <p:cNvSpPr txBox="1"/>
              <p:nvPr/>
            </p:nvSpPr>
            <p:spPr>
              <a:xfrm>
                <a:off x="561777" y="3445876"/>
                <a:ext cx="10096470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는 </a:t>
                </a:r>
                <a:r>
                  <a:rPr lang="en-US" altLang="ko-KR"/>
                  <a:t>subset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의 크기를 결정하는 </a:t>
                </a:r>
                <a:r>
                  <a:rPr lang="en-US" altLang="ko-KR"/>
                  <a:t>hyperparameter. subset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ko-KR" altLang="en-US"/>
                  <a:t> 를 </a:t>
                </a:r>
                <a:r>
                  <a:rPr lang="en-US" altLang="ko-KR"/>
                  <a:t>Codebook</a:t>
                </a:r>
                <a:r>
                  <a:rPr lang="ko-KR" altLang="en-US"/>
                  <a:t>이라고도 부른다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BE3DD-60CB-4CF8-2C95-4E8074FA7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7" y="3445876"/>
                <a:ext cx="10096470" cy="374526"/>
              </a:xfrm>
              <a:prstGeom prst="rect">
                <a:avLst/>
              </a:prstGeom>
              <a:blipFill>
                <a:blip r:embed="rId7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35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EC8F1-F444-7041-CC0D-17252A3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Observation BNN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1D293-A2D2-6573-24B2-F8CE785E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6CB90-84B6-E26C-A6BC-E179F05548BB}"/>
              </a:ext>
            </a:extLst>
          </p:cNvPr>
          <p:cNvSpPr txBox="1"/>
          <p:nvPr/>
        </p:nvSpPr>
        <p:spPr>
          <a:xfrm>
            <a:off x="1191010" y="793049"/>
            <a:ext cx="1056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원논문에서 </a:t>
            </a:r>
            <a:r>
              <a:rPr lang="en-US" altLang="ko-KR"/>
              <a:t>ImageNet</a:t>
            </a:r>
            <a:r>
              <a:rPr lang="ko-KR" altLang="en-US"/>
              <a:t>으로 학습된 </a:t>
            </a:r>
            <a:r>
              <a:rPr lang="en-US" altLang="ko-KR"/>
              <a:t>BNN</a:t>
            </a:r>
            <a:r>
              <a:rPr lang="ko-KR" altLang="en-US"/>
              <a:t>의 </a:t>
            </a:r>
            <a:r>
              <a:rPr lang="en-US" altLang="ko-KR"/>
              <a:t>ResNet-18 </a:t>
            </a:r>
            <a:r>
              <a:rPr lang="ko-KR" altLang="en-US"/>
              <a:t>분석하여 다음과 같이 발견</a:t>
            </a:r>
            <a:r>
              <a:rPr lang="en-US" altLang="ko-KR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layer</a:t>
            </a:r>
            <a:r>
              <a:rPr lang="ko-KR" altLang="en-US"/>
              <a:t>마다 사용되는 </a:t>
            </a:r>
            <a:r>
              <a:rPr lang="en-US" altLang="ko-KR"/>
              <a:t>binary kernel</a:t>
            </a:r>
            <a:r>
              <a:rPr lang="ko-KR" altLang="en-US"/>
              <a:t>이 특정 부분집합에 강하게 </a:t>
            </a:r>
            <a:r>
              <a:rPr lang="en-US" altLang="ko-KR"/>
              <a:t>clustering</a:t>
            </a:r>
            <a:r>
              <a:rPr lang="ko-KR" altLang="en-US"/>
              <a:t> 현상을 발견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E238ECD-61C8-E941-89AA-C86CE23CB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494" y="1570873"/>
            <a:ext cx="6130137" cy="4906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4ADEFC-2DA6-3188-F6EF-4CA8BFBC7E31}"/>
              </a:ext>
            </a:extLst>
          </p:cNvPr>
          <p:cNvSpPr txBox="1"/>
          <p:nvPr/>
        </p:nvSpPr>
        <p:spPr>
          <a:xfrm>
            <a:off x="420718" y="6477610"/>
            <a:ext cx="1152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Binary kernel</a:t>
            </a:r>
            <a:r>
              <a:rPr lang="ko-KR" altLang="en-US"/>
              <a:t>이 특정 </a:t>
            </a:r>
            <a:r>
              <a:rPr lang="en-US" altLang="ko-KR"/>
              <a:t>subset</a:t>
            </a:r>
            <a:r>
              <a:rPr lang="ko-KR" altLang="en-US"/>
              <a:t>에 집중된다는 관찰을 바탕으로</a:t>
            </a:r>
            <a:r>
              <a:rPr lang="en-US" altLang="ko-KR"/>
              <a:t>, SNN</a:t>
            </a:r>
            <a:r>
              <a:rPr lang="ko-KR" altLang="en-US"/>
              <a:t>은 각 </a:t>
            </a:r>
            <a:r>
              <a:rPr lang="en-US" altLang="ko-KR"/>
              <a:t>layer</a:t>
            </a:r>
            <a:r>
              <a:rPr lang="ko-KR" altLang="en-US"/>
              <a:t>의 </a:t>
            </a:r>
            <a:r>
              <a:rPr lang="en-US" altLang="ko-KR"/>
              <a:t>weight</a:t>
            </a:r>
            <a:r>
              <a:rPr lang="ko-KR" altLang="en-US"/>
              <a:t> 를 </a:t>
            </a:r>
            <a:r>
              <a:rPr lang="en-US" altLang="ko-KR"/>
              <a:t>small subset</a:t>
            </a:r>
            <a:r>
              <a:rPr lang="ko-KR" altLang="en-US"/>
              <a:t>으로 제한</a:t>
            </a:r>
          </a:p>
        </p:txBody>
      </p:sp>
    </p:spTree>
    <p:extLst>
      <p:ext uri="{BB962C8B-B14F-4D97-AF65-F5344CB8AC3E}">
        <p14:creationId xmlns:p14="http://schemas.microsoft.com/office/powerpoint/2010/main" val="195683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5DEC0-692E-E2C7-0C46-123AE09B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Compression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0645D-C2DC-EB15-28F1-FCED7B4A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026347-D5B5-CDEC-510C-2968A0E67D93}"/>
              </a:ext>
            </a:extLst>
          </p:cNvPr>
          <p:cNvGrpSpPr/>
          <p:nvPr/>
        </p:nvGrpSpPr>
        <p:grpSpPr>
          <a:xfrm>
            <a:off x="1141171" y="992140"/>
            <a:ext cx="10263225" cy="2031325"/>
            <a:chOff x="1141171" y="992140"/>
            <a:chExt cx="10263225" cy="20313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50F122C-0AD6-D3FA-2197-1302879D9183}"/>
                    </a:ext>
                  </a:extLst>
                </p:cNvPr>
                <p:cNvSpPr txBox="1"/>
                <p:nvPr/>
              </p:nvSpPr>
              <p:spPr>
                <a:xfrm>
                  <a:off x="1141171" y="992140"/>
                  <a:ext cx="10263225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altLang="ko-KR"/>
                </a:p>
                <a:p>
                  <a:r>
                    <a:rPr lang="en-US" altLang="ko-KR"/>
                    <a:t>                                  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∙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+ 9∙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a14:m>
                  <a:r>
                    <a:rPr lang="en-US" altLang="ko-KR"/>
                    <a:t> [bits]</a:t>
                  </a:r>
                </a:p>
                <a:p>
                  <a:endParaRPr lang="en-US" altLang="ko-KR"/>
                </a:p>
                <a:p>
                  <a:endParaRPr lang="en-US" altLang="ko-KR"/>
                </a:p>
                <a:p>
                  <a:r>
                    <a:rPr lang="ko-KR" altLang="en-US"/>
                    <a:t>각 </a:t>
                  </a:r>
                  <a:r>
                    <a:rPr lang="en-US" altLang="ko-KR"/>
                    <a:t>kernel</a:t>
                  </a:r>
                  <a:r>
                    <a:rPr lang="ko-KR" altLang="en-US"/>
                    <a:t>은 </a:t>
                  </a:r>
                  <a:r>
                    <a:rPr lang="en-US" altLang="ko-KR"/>
                    <a:t>codebook </a:t>
                  </a:r>
                  <a:r>
                    <a:rPr lang="ko-KR" altLang="en-US"/>
                    <a:t>내 </a:t>
                  </a:r>
                  <a:r>
                    <a:rPr lang="en-US" altLang="ko-KR"/>
                    <a:t>pattern</a:t>
                  </a:r>
                  <a:r>
                    <a:rPr lang="ko-KR" altLang="en-US"/>
                    <a:t>의 </a:t>
                  </a:r>
                  <a:r>
                    <a:rPr lang="en-US" altLang="ko-KR"/>
                    <a:t>index</a:t>
                  </a:r>
                  <a:r>
                    <a:rPr lang="ko-KR" altLang="en-US"/>
                    <a:t>으로 저장되며 </a:t>
                  </a:r>
                  <a:r>
                    <a:rPr lang="en-US" altLang="ko-KR"/>
                    <a:t>kernel </a:t>
                  </a:r>
                  <a:r>
                    <a:rPr lang="ko-KR" altLang="en-US"/>
                    <a:t>당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ko-KR" altLang="en-US"/>
                    <a:t> </a:t>
                  </a:r>
                  <a:r>
                    <a:rPr lang="en-US" altLang="ko-KR"/>
                    <a:t>bits </a:t>
                  </a:r>
                  <a:r>
                    <a:rPr lang="ko-KR" altLang="en-US"/>
                    <a:t>저장</a:t>
                  </a:r>
                  <a:r>
                    <a:rPr lang="en-US" altLang="ko-KR"/>
                    <a:t>. </a:t>
                  </a:r>
                  <a:r>
                    <a:rPr lang="ko-KR" altLang="en-US"/>
                    <a:t>결과적으로 </a:t>
                  </a:r>
                  <a:r>
                    <a:rPr lang="en-US" altLang="ko-KR"/>
                    <a:t>weight </a:t>
                  </a:r>
                  <a:r>
                    <a:rPr lang="ko-KR" altLang="en-US"/>
                    <a:t>당 평균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/9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bits</m:t>
                      </m:r>
                    </m:oMath>
                  </a14:m>
                  <a:r>
                    <a:rPr lang="ko-KR" altLang="en-US"/>
                    <a:t> 로 표현 </a:t>
                  </a:r>
                  <a:endParaRPr lang="en-US" altLang="ko-KR"/>
                </a:p>
                <a:p>
                  <a:endParaRPr lang="en-US" altLang="ko-KR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50F122C-0AD6-D3FA-2197-1302879D9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171" y="992140"/>
                  <a:ext cx="10263225" cy="2031325"/>
                </a:xfrm>
                <a:prstGeom prst="rect">
                  <a:avLst/>
                </a:prstGeom>
                <a:blipFill>
                  <a:blip r:embed="rId3"/>
                  <a:stretch>
                    <a:fillRect l="-47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3720D7C-E425-107F-A3DD-024C96342EC2}"/>
                </a:ext>
              </a:extLst>
            </p:cNvPr>
            <p:cNvGrpSpPr/>
            <p:nvPr/>
          </p:nvGrpSpPr>
          <p:grpSpPr>
            <a:xfrm>
              <a:off x="4895764" y="1574564"/>
              <a:ext cx="2488390" cy="433238"/>
              <a:chOff x="4853431" y="1878061"/>
              <a:chExt cx="2488390" cy="433238"/>
            </a:xfrm>
          </p:grpSpPr>
          <p:sp>
            <p:nvSpPr>
              <p:cNvPr id="6" name="오른쪽 중괄호 5">
                <a:extLst>
                  <a:ext uri="{FF2B5EF4-FFF2-40B4-BE49-F238E27FC236}">
                    <a16:creationId xmlns:a16="http://schemas.microsoft.com/office/drawing/2014/main" id="{84BCA61D-90A5-964B-B9A9-E9930F6161FF}"/>
                  </a:ext>
                </a:extLst>
              </p:cNvPr>
              <p:cNvSpPr/>
              <p:nvPr/>
            </p:nvSpPr>
            <p:spPr>
              <a:xfrm rot="5400000">
                <a:off x="5339994" y="1391498"/>
                <a:ext cx="127811" cy="1100938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오른쪽 중괄호 6">
                <a:extLst>
                  <a:ext uri="{FF2B5EF4-FFF2-40B4-BE49-F238E27FC236}">
                    <a16:creationId xmlns:a16="http://schemas.microsoft.com/office/drawing/2014/main" id="{184EE420-8CD8-3130-7674-574E0248ED3A}"/>
                  </a:ext>
                </a:extLst>
              </p:cNvPr>
              <p:cNvSpPr/>
              <p:nvPr/>
            </p:nvSpPr>
            <p:spPr>
              <a:xfrm rot="5400000">
                <a:off x="6513476" y="1752991"/>
                <a:ext cx="127810" cy="37795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BA7821-C833-BE7D-BB22-9F0C35A9A54F}"/>
                  </a:ext>
                </a:extLst>
              </p:cNvPr>
              <p:cNvSpPr txBox="1"/>
              <p:nvPr/>
            </p:nvSpPr>
            <p:spPr>
              <a:xfrm>
                <a:off x="4983889" y="1941967"/>
                <a:ext cx="1100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weights</a:t>
                </a:r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991D0A-46E8-94B8-E3BA-5E8D0B45A86C}"/>
                  </a:ext>
                </a:extLst>
              </p:cNvPr>
              <p:cNvSpPr txBox="1"/>
              <p:nvPr/>
            </p:nvSpPr>
            <p:spPr>
              <a:xfrm>
                <a:off x="6084828" y="1941967"/>
                <a:ext cx="12569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codebook</a:t>
                </a:r>
                <a:endParaRPr lang="ko-KR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7F6A0E7B-6954-EA8B-D478-8397A538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770315"/>
                  </p:ext>
                </p:extLst>
              </p:nvPr>
            </p:nvGraphicFramePr>
            <p:xfrm>
              <a:off x="2297197" y="2870030"/>
              <a:ext cx="7768146" cy="38115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9338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1569183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1769875">
                      <a:extLst>
                        <a:ext uri="{9D8B030D-6E8A-4147-A177-3AD203B41FA5}">
                          <a16:colId xmlns:a16="http://schemas.microsoft.com/office/drawing/2014/main" val="3530648501"/>
                        </a:ext>
                      </a:extLst>
                    </a:gridCol>
                    <a:gridCol w="2562788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976962">
                      <a:extLst>
                        <a:ext uri="{9D8B030D-6E8A-4147-A177-3AD203B41FA5}">
                          <a16:colId xmlns:a16="http://schemas.microsoft.com/office/drawing/2014/main" val="2621572889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layer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kernel</m:t>
                              </m:r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sub>
                              </m:sSub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SNN (0.56bit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Reduction ratio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𝑜𝑢𝑡</m:t>
                                    </m:r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∙ 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𝑖𝑛</m:t>
                                    </m:r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∙9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bits</m:t>
                                </m:r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chemeClr val="tx1"/>
                            </a:solidFill>
                            <a:latin typeface="+mn-lt"/>
                            <a:ea typeface="+mj-ea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ko-KR" alt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bits</a:t>
                          </a:r>
                          <a:endParaRPr lang="ko-KR" altLang="en-US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</a:t>
                          </a:r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64 × 9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64 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64 × 5 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1">
                              <a:latin typeface="+mn-lt"/>
                            </a:rPr>
                            <a:t>1.8x</a:t>
                          </a:r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5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128 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×5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9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128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128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13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  <m:r>
                                  <a:rPr lang="en-US" altLang="ko-KR" sz="13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×5</m:t>
                                </m:r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7F6A0E7B-6954-EA8B-D478-8397A538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770315"/>
                  </p:ext>
                </p:extLst>
              </p:nvPr>
            </p:nvGraphicFramePr>
            <p:xfrm>
              <a:off x="2297197" y="2870030"/>
              <a:ext cx="7768146" cy="38115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9338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1569183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1769875">
                      <a:extLst>
                        <a:ext uri="{9D8B030D-6E8A-4147-A177-3AD203B41FA5}">
                          <a16:colId xmlns:a16="http://schemas.microsoft.com/office/drawing/2014/main" val="3530648501"/>
                        </a:ext>
                      </a:extLst>
                    </a:gridCol>
                    <a:gridCol w="2562788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976962">
                      <a:extLst>
                        <a:ext uri="{9D8B030D-6E8A-4147-A177-3AD203B41FA5}">
                          <a16:colId xmlns:a16="http://schemas.microsoft.com/office/drawing/2014/main" val="2621572889"/>
                        </a:ext>
                      </a:extLst>
                    </a:gridCol>
                  </a:tblGrid>
                  <a:tr h="4827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layer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589" t="-1266" r="-338760" b="-693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SNN (0.56bit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Reduction ratio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832" t="-91954" r="-200344" b="-529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083" t="-91954" r="-38480" b="-529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</a:t>
                          </a:r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589" t="-187640" r="-338760" b="-4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832" t="-187640" r="-200344" b="-4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083" t="-187640" r="-38480" b="-4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1">
                              <a:latin typeface="+mn-lt"/>
                            </a:rPr>
                            <a:t>1.8x</a:t>
                          </a:r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5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589" t="-287640" r="-338760" b="-3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832" t="-287640" r="-200344" b="-3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083" t="-287640" r="-38480" b="-3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9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589" t="-387640" r="-338760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832" t="-387640" r="-200344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083" t="-387640" r="-38480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13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589" t="-487640" r="-338760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8832" t="-487640" r="-200344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083" t="-487640" r="-38480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latin typeface="+mn-lt"/>
                            </a:rPr>
                            <a:t>1.8x</a:t>
                          </a:r>
                          <a:endParaRPr lang="en-US" altLang="ko-KR" sz="1300" b="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DF704-52A7-59B1-8E05-0C557FF5C71B}"/>
                  </a:ext>
                </a:extLst>
              </p:cNvPr>
              <p:cNvSpPr txBox="1"/>
              <p:nvPr/>
            </p:nvSpPr>
            <p:spPr>
              <a:xfrm>
                <a:off x="395021" y="6333612"/>
                <a:ext cx="11872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수식의 </a:t>
                </a:r>
                <a:r>
                  <a:rPr lang="en-US" altLang="ko-KR"/>
                  <a:t>codebook </a:t>
                </a:r>
                <a:r>
                  <a:rPr lang="ko-KR" altLang="en-US"/>
                  <a:t>항은 채널 수 대비 무시 가능한 수준</a:t>
                </a:r>
                <a:r>
                  <a:rPr lang="en-US" altLang="ko-KR"/>
                  <a:t>(0.01%~0.7%)</a:t>
                </a:r>
                <a:r>
                  <a:rPr lang="ko-KR" altLang="en-US"/>
                  <a:t>이며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ko-KR" altLang="en-US"/>
                  <a:t>일때</a:t>
                </a:r>
                <a:r>
                  <a:rPr lang="en-US" altLang="ko-KR"/>
                  <a:t>, BNN </a:t>
                </a:r>
                <a:r>
                  <a:rPr lang="ko-KR" altLang="en-US"/>
                  <a:t>대비 </a:t>
                </a:r>
                <a:r>
                  <a:rPr lang="en-US" altLang="ko-KR"/>
                  <a:t>1.8</a:t>
                </a:r>
                <a:r>
                  <a:rPr lang="ko-KR" altLang="en-US"/>
                  <a:t>배 압축 달성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DF704-52A7-59B1-8E05-0C557FF5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21" y="6333612"/>
                <a:ext cx="11872570" cy="369332"/>
              </a:xfrm>
              <a:prstGeom prst="rect">
                <a:avLst/>
              </a:prstGeom>
              <a:blipFill>
                <a:blip r:embed="rId5"/>
                <a:stretch>
                  <a:fillRect l="-462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70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E1F94-33DF-9959-8F8D-B0A95185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Acceleration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81C2B-ED1F-D222-4BB2-1D1C32A3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20A52-292E-349A-3EA8-E175A4ABDFDD}"/>
                  </a:ext>
                </a:extLst>
              </p:cNvPr>
              <p:cNvSpPr txBox="1"/>
              <p:nvPr/>
            </p:nvSpPr>
            <p:spPr>
              <a:xfrm>
                <a:off x="2238451" y="1272844"/>
                <a:ext cx="66787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∙9+1)+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−1)/2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20A52-292E-349A-3EA8-E175A4ABD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451" y="1272844"/>
                <a:ext cx="6678778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2B03F712-68A9-2F89-F0F3-AB68B4D70DF2}"/>
              </a:ext>
            </a:extLst>
          </p:cNvPr>
          <p:cNvSpPr/>
          <p:nvPr/>
        </p:nvSpPr>
        <p:spPr>
          <a:xfrm rot="5400000">
            <a:off x="4721035" y="587951"/>
            <a:ext cx="142735" cy="225118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39378BCE-D41D-C4C6-2328-A17D4023D875}"/>
              </a:ext>
            </a:extLst>
          </p:cNvPr>
          <p:cNvSpPr/>
          <p:nvPr/>
        </p:nvSpPr>
        <p:spPr>
          <a:xfrm rot="5400000">
            <a:off x="7277224" y="656971"/>
            <a:ext cx="142735" cy="211314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695E6-D748-FE7E-93A8-BF88F3F85908}"/>
              </a:ext>
            </a:extLst>
          </p:cNvPr>
          <p:cNvSpPr txBox="1"/>
          <p:nvPr/>
        </p:nvSpPr>
        <p:spPr>
          <a:xfrm>
            <a:off x="3775589" y="1784912"/>
            <a:ext cx="214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bit-wise operations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FF83D-3C49-582C-845A-3567B6D661FF}"/>
              </a:ext>
            </a:extLst>
          </p:cNvPr>
          <p:cNvSpPr txBox="1"/>
          <p:nvPr/>
        </p:nvSpPr>
        <p:spPr>
          <a:xfrm>
            <a:off x="6292018" y="1784912"/>
            <a:ext cx="278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channel-wise addition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63AA85-DFC5-56F4-DB03-BC637FBAADFF}"/>
                  </a:ext>
                </a:extLst>
              </p:cNvPr>
              <p:cNvSpPr txBox="1"/>
              <p:nvPr/>
            </p:nvSpPr>
            <p:spPr>
              <a:xfrm>
                <a:off x="67130" y="2154244"/>
                <a:ext cx="12057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BNN </a:t>
                </a:r>
                <a:r>
                  <a:rPr lang="ko-KR" altLang="en-US"/>
                  <a:t>대비 핵심 차이는 </a:t>
                </a:r>
                <a:r>
                  <a:rPr lang="en-US" altLang="ko-KR"/>
                  <a:t>bit-wise operation </a:t>
                </a:r>
                <a:r>
                  <a:rPr lang="ko-KR" altLang="en-US"/>
                  <a:t>항에서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ko-KR" altLang="en-US"/>
                  <a:t>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ko-KR" altLang="en-US"/>
                  <a:t>로 대체</a:t>
                </a:r>
                <a:r>
                  <a:rPr lang="en-US" altLang="ko-KR"/>
                  <a:t>. </a:t>
                </a:r>
                <a:r>
                  <a:rPr lang="ko-KR" altLang="en-US"/>
                  <a:t>결과적으로 </a:t>
                </a:r>
                <a:r>
                  <a:rPr lang="en-US" altLang="ko-KR"/>
                  <a:t>bit-wise operations </a:t>
                </a:r>
                <a:r>
                  <a:rPr lang="ko-KR" altLang="en-US"/>
                  <a:t>항에서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ko-KR" altLang="en-US"/>
                  <a:t> 배로 축소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63AA85-DFC5-56F4-DB03-BC637FBAA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0" y="2154244"/>
                <a:ext cx="12057740" cy="646331"/>
              </a:xfrm>
              <a:prstGeom prst="rect">
                <a:avLst/>
              </a:prstGeom>
              <a:blipFill>
                <a:blip r:embed="rId4"/>
                <a:stretch>
                  <a:fillRect l="-404" t="-4717" r="-455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5702821-AE98-17A8-4C6C-4909197A1C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495856"/>
                  </p:ext>
                </p:extLst>
              </p:nvPr>
            </p:nvGraphicFramePr>
            <p:xfrm>
              <a:off x="857171" y="2800575"/>
              <a:ext cx="10477657" cy="38115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9537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16511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982749">
                      <a:extLst>
                        <a:ext uri="{9D8B030D-6E8A-4147-A177-3AD203B41FA5}">
                          <a16:colId xmlns:a16="http://schemas.microsoft.com/office/drawing/2014/main" val="3530648501"/>
                        </a:ext>
                      </a:extLst>
                    </a:gridCol>
                    <a:gridCol w="2982749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96111">
                      <a:extLst>
                        <a:ext uri="{9D8B030D-6E8A-4147-A177-3AD203B41FA5}">
                          <a16:colId xmlns:a16="http://schemas.microsoft.com/office/drawing/2014/main" val="3214083578"/>
                        </a:ext>
                      </a:extLst>
                    </a:gridCol>
                  </a:tblGrid>
                  <a:tr h="2840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layer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kernel</m:t>
                              </m:r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3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sub>
                              </m:sSub>
                              <m:r>
                                <a:rPr lang="en-US" altLang="ko-KR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SNN (0.56bit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Reduction ratio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∙ 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out</m:t>
                                    </m:r>
                                  </m:sub>
                                </m:sSub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in</m:t>
                                    </m:r>
                                  </m:sub>
                                </m:sSub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∙9+1)</m:t>
                                </m:r>
                              </m:oMath>
                            </m:oMathPara>
                          </a14:m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+mn-lt"/>
                            <a:ea typeface="+mj-ea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ko-KR" altLang="en-US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τ</m:t>
                                    </m:r>
                                  </m:sup>
                                </m:sSup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in</m:t>
                                    </m:r>
                                  </m:sub>
                                </m:sSub>
                                <m:r>
                                  <a:rPr lang="en-US" altLang="ko-KR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∙9+1) </m:t>
                                </m:r>
                              </m:oMath>
                            </m:oMathPara>
                          </a14:m>
                          <a:endParaRPr lang="ko-KR" altLang="en-US" sz="1600" b="1" i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</a:t>
                          </a:r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×56×64×(64×9+1)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×56×32×(64×9+1)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2x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5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28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×28×128×(64×9+1)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28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×28×32×(64×9+1)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4x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9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128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14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×14×256×(128×9+1)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14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×14×32×(128×9+1)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8x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13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×3,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512</m:t>
                                          </m:r>
                                          <m:r>
                                            <a:rPr lang="en-US" altLang="ko-KR" sz="130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altLang="ko-KR" sz="1300" b="0" i="1" smtClean="0">
                                              <a:latin typeface="Cambria Math" panose="02040503050406030204" pitchFamily="18" charset="0"/>
                                            </a:rPr>
                                            <m:t>256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×7×512×(256×9+1)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</m:t>
                                </m:r>
                                <m:r>
                                  <a:rPr lang="en-US" altLang="ko-KR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×7×32×(256×9+1)</m:t>
                                </m:r>
                              </m:oMath>
                            </m:oMathPara>
                          </a14:m>
                          <a:endParaRPr lang="en-US" altLang="ko-KR" sz="1300" b="0" i="1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16x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5702821-AE98-17A8-4C6C-4909197A1C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495856"/>
                  </p:ext>
                </p:extLst>
              </p:nvPr>
            </p:nvGraphicFramePr>
            <p:xfrm>
              <a:off x="857171" y="2800575"/>
              <a:ext cx="10477657" cy="38115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9537">
                      <a:extLst>
                        <a:ext uri="{9D8B030D-6E8A-4147-A177-3AD203B41FA5}">
                          <a16:colId xmlns:a16="http://schemas.microsoft.com/office/drawing/2014/main" val="2437775849"/>
                        </a:ext>
                      </a:extLst>
                    </a:gridCol>
                    <a:gridCol w="2116511">
                      <a:extLst>
                        <a:ext uri="{9D8B030D-6E8A-4147-A177-3AD203B41FA5}">
                          <a16:colId xmlns:a16="http://schemas.microsoft.com/office/drawing/2014/main" val="94959117"/>
                        </a:ext>
                      </a:extLst>
                    </a:gridCol>
                    <a:gridCol w="2982749">
                      <a:extLst>
                        <a:ext uri="{9D8B030D-6E8A-4147-A177-3AD203B41FA5}">
                          <a16:colId xmlns:a16="http://schemas.microsoft.com/office/drawing/2014/main" val="3530648501"/>
                        </a:ext>
                      </a:extLst>
                    </a:gridCol>
                    <a:gridCol w="2982749">
                      <a:extLst>
                        <a:ext uri="{9D8B030D-6E8A-4147-A177-3AD203B41FA5}">
                          <a16:colId xmlns:a16="http://schemas.microsoft.com/office/drawing/2014/main" val="1188568723"/>
                        </a:ext>
                      </a:extLst>
                    </a:gridCol>
                    <a:gridCol w="1196111">
                      <a:extLst>
                        <a:ext uri="{9D8B030D-6E8A-4147-A177-3AD203B41FA5}">
                          <a16:colId xmlns:a16="http://schemas.microsoft.com/office/drawing/2014/main" val="3214083578"/>
                        </a:ext>
                      </a:extLst>
                    </a:gridCol>
                  </a:tblGrid>
                  <a:tr h="4827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layer 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72" t="-2532" r="-339481" b="-692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BNN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SNN (0.56bit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>
                              <a:solidFill>
                                <a:schemeClr val="tx1"/>
                              </a:solidFill>
                            </a:rPr>
                            <a:t>Reduction ratio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6523" marR="86523" marT="43261" marB="4326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038399"/>
                      </a:ext>
                    </a:extLst>
                  </a:tr>
                  <a:tr h="52815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20" t="-93103" r="-140408" b="-5287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020" t="-93103" r="-40408" b="-5287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77732" marR="77732" marT="38867" marB="38867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3167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</a:t>
                          </a:r>
                          <a:endParaRPr lang="en-US" altLang="ko-KR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72" t="-188764" r="-339481" b="-4168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20" t="-188764" r="-140408" b="-4168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020" t="-188764" r="-40408" b="-4168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2x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6523" marR="86523" marT="43261" marB="432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70613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5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72" t="-292045" r="-339481" b="-321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20" t="-292045" r="-140408" b="-321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020" t="-292045" r="-40408" b="-321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4x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395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9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72" t="-387640" r="-339481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20" t="-387640" r="-140408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020" t="-387640" r="-40408" b="-2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8x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82141" marR="82141" marT="41070" marB="410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946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>
                              <a:latin typeface="+mn-lt"/>
                            </a:rPr>
                            <a:t>layer 13</a:t>
                          </a:r>
                          <a:endParaRPr lang="ko-KR" altLang="en-US" sz="130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72" t="-487640" r="-339481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20" t="-487640" r="-140408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020" t="-487640" r="-40408" b="-1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i="0">
                              <a:latin typeface="+mn-lt"/>
                            </a:rPr>
                            <a:t>16x</a:t>
                          </a:r>
                          <a:endParaRPr lang="en-US" altLang="ko-KR" sz="1300" b="0" i="0" dirty="0">
                            <a:latin typeface="+mn-lt"/>
                          </a:endParaRPr>
                        </a:p>
                      </a:txBody>
                      <a:tcPr marL="77732" marR="77732" marT="38867" marB="3886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2431476"/>
                      </a:ext>
                    </a:extLst>
                  </a:tr>
                  <a:tr h="640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3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500" b="1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500" dirty="0"/>
                        </a:p>
                      </a:txBody>
                      <a:tcPr marL="38867" marR="38867" marT="38867" marB="3886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dirty="0"/>
                        </a:p>
                      </a:txBody>
                      <a:tcPr marL="86523" marR="86523" marT="43261" marB="432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06825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6D455D-2D2F-C45C-2250-91C996BC09D4}"/>
                  </a:ext>
                </a:extLst>
              </p:cNvPr>
              <p:cNvSpPr txBox="1"/>
              <p:nvPr/>
            </p:nvSpPr>
            <p:spPr>
              <a:xfrm>
                <a:off x="67130" y="6010640"/>
                <a:ext cx="12057740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ResNet-18 </a:t>
                </a:r>
                <a:r>
                  <a:rPr lang="ko-KR" altLang="en-US"/>
                  <a:t>전체 모델 기준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ko-KR" altLang="en-US"/>
                  <a:t> 일 때 </a:t>
                </a:r>
                <a:r>
                  <a:rPr lang="en-US" altLang="ko-KR"/>
                  <a:t>BitOPs</a:t>
                </a:r>
                <a:r>
                  <a:rPr lang="ko-KR" altLang="en-US"/>
                  <a:t>는 </a:t>
                </a:r>
                <a:r>
                  <a:rPr lang="en-US" altLang="ko-KR"/>
                  <a:t>BNN </a:t>
                </a:r>
                <a:r>
                  <a:rPr lang="ko-KR" altLang="en-US"/>
                  <a:t>대비 약 </a:t>
                </a:r>
                <a:r>
                  <a:rPr lang="en-US" altLang="ko-KR"/>
                  <a:t>3.3</a:t>
                </a:r>
                <a:r>
                  <a:rPr lang="ko-KR" altLang="en-US"/>
                  <a:t>배 감소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6D455D-2D2F-C45C-2250-91C996BC0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0" y="6010640"/>
                <a:ext cx="12057740" cy="374526"/>
              </a:xfrm>
              <a:prstGeom prst="rect">
                <a:avLst/>
              </a:prstGeom>
              <a:blipFill>
                <a:blip r:embed="rId6"/>
                <a:stretch>
                  <a:fillRect l="-404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93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B5F4D5C-5BB1-ADD1-7BF4-D62C3759E0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SNN</a:t>
                </a:r>
                <a:r>
                  <a:rPr lang="ko-KR" altLang="en-US"/>
                  <a:t>의 한계 </a:t>
                </a:r>
                <a:r>
                  <a:rPr lang="en-US" altLang="ko-KR"/>
                  <a:t>– uniform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B5F4D5C-5BB1-ADD1-7BF4-D62C3759E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2124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40EA5-9CC0-6DBB-52E7-1D96478F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821003-842B-0C53-7BFB-A9FD85F625B9}"/>
                  </a:ext>
                </a:extLst>
              </p:cNvPr>
              <p:cNvSpPr txBox="1"/>
              <p:nvPr/>
            </p:nvSpPr>
            <p:spPr>
              <a:xfrm>
                <a:off x="693577" y="1300320"/>
                <a:ext cx="111351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SNN</a:t>
                </a:r>
                <a:r>
                  <a:rPr lang="ko-KR" altLang="en-US"/>
                  <a:t>에서 </a:t>
                </a:r>
                <a:r>
                  <a:rPr lang="en-US" altLang="ko-KR"/>
                  <a:t>codebook size(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en-US" altLang="ko-KR"/>
                  <a:t>)</a:t>
                </a:r>
                <a:r>
                  <a:rPr lang="ko-KR" altLang="en-US"/>
                  <a:t>는 모든 </a:t>
                </a:r>
                <a:r>
                  <a:rPr lang="en-US" altLang="ko-KR"/>
                  <a:t>layer</a:t>
                </a:r>
                <a:r>
                  <a:rPr lang="ko-KR" altLang="en-US"/>
                  <a:t>에 동일한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적용</a:t>
                </a:r>
                <a:r>
                  <a:rPr lang="en-US" altLang="ko-KR"/>
                  <a:t>. </a:t>
                </a:r>
                <a:r>
                  <a:rPr lang="ko-KR" altLang="en-US"/>
                  <a:t>그런데 </a:t>
                </a:r>
                <a:r>
                  <a:rPr lang="en-US" altLang="ko-KR"/>
                  <a:t>layer</a:t>
                </a:r>
                <a:r>
                  <a:rPr lang="ko-KR" altLang="en-US"/>
                  <a:t>마다 필요한 </a:t>
                </a:r>
                <a:r>
                  <a:rPr lang="en-US" altLang="ko-KR"/>
                  <a:t>codebook size</a:t>
                </a:r>
                <a:r>
                  <a:rPr lang="ko-KR" altLang="en-US"/>
                  <a:t>가 다름</a:t>
                </a:r>
                <a:r>
                  <a:rPr lang="en-US" altLang="ko-KR"/>
                  <a:t>.</a:t>
                </a:r>
              </a:p>
              <a:p>
                <a:endParaRPr lang="en-US" altLang="ko-KR"/>
              </a:p>
              <a:p>
                <a:r>
                  <a:rPr lang="en-US" altLang="ko-KR"/>
                  <a:t>ImageNet</a:t>
                </a:r>
                <a:r>
                  <a:rPr lang="ko-KR" altLang="en-US"/>
                  <a:t>으로 학습된 </a:t>
                </a:r>
                <a:r>
                  <a:rPr lang="en-US" altLang="ko-KR"/>
                  <a:t>BNN(ResNet-18)</a:t>
                </a:r>
                <a:r>
                  <a:rPr lang="ko-KR" altLang="en-US"/>
                  <a:t>의 각 </a:t>
                </a:r>
                <a:r>
                  <a:rPr lang="en-US" altLang="ko-KR"/>
                  <a:t>layer</a:t>
                </a:r>
                <a:r>
                  <a:rPr lang="ko-KR" altLang="en-US"/>
                  <a:t>에서 </a:t>
                </a:r>
                <a:r>
                  <a:rPr lang="en-US" altLang="ko-KR"/>
                  <a:t>binary kernel</a:t>
                </a:r>
                <a:r>
                  <a:rPr lang="ko-KR" altLang="en-US"/>
                  <a:t>이 어떻게 분포하는지 분석</a:t>
                </a:r>
                <a:endParaRPr lang="en-US" altLang="ko-KR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821003-842B-0C53-7BFB-A9FD85F6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77" y="1300320"/>
                <a:ext cx="11135101" cy="923330"/>
              </a:xfrm>
              <a:prstGeom prst="rect">
                <a:avLst/>
              </a:prstGeom>
              <a:blipFill>
                <a:blip r:embed="rId4"/>
                <a:stretch>
                  <a:fillRect l="-493" t="-3289" b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FB371FD-0FC0-A023-7814-D3D15739C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37330"/>
              </p:ext>
            </p:extLst>
          </p:nvPr>
        </p:nvGraphicFramePr>
        <p:xfrm>
          <a:off x="1600403" y="2373694"/>
          <a:ext cx="812799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237143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645259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3039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layer 8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layer 13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995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Top-K patterns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128 patterns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32 patterns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1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53.05%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51.25%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678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8E5670-F315-DF98-F8C9-EE74CDF77A68}"/>
                  </a:ext>
                </a:extLst>
              </p:cNvPr>
              <p:cNvSpPr txBox="1"/>
              <p:nvPr/>
            </p:nvSpPr>
            <p:spPr>
              <a:xfrm>
                <a:off x="693577" y="3936181"/>
                <a:ext cx="1113510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비슷한 </a:t>
                </a:r>
                <a:r>
                  <a:rPr lang="en-US" altLang="ko-KR"/>
                  <a:t>coverage</a:t>
                </a:r>
                <a:r>
                  <a:rPr lang="ko-KR" altLang="en-US"/>
                  <a:t>를 달성하는 데 필요한 </a:t>
                </a:r>
                <a:r>
                  <a:rPr lang="en-US" altLang="ko-KR"/>
                  <a:t>codebook size</a:t>
                </a:r>
                <a:r>
                  <a:rPr lang="ko-KR" altLang="en-US"/>
                  <a:t>가 </a:t>
                </a:r>
                <a:r>
                  <a:rPr lang="en-US" altLang="ko-KR"/>
                  <a:t>4</a:t>
                </a:r>
                <a:r>
                  <a:rPr lang="ko-KR" altLang="en-US"/>
                  <a:t>배 차이</a:t>
                </a:r>
                <a:endParaRPr lang="en-US" altLang="ko-KR"/>
              </a:p>
              <a:p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low clustering layer : </a:t>
                </a:r>
                <a:r>
                  <a:rPr lang="ko-KR" altLang="en-US"/>
                  <a:t>큰 </a:t>
                </a:r>
                <a:r>
                  <a:rPr lang="en-US" altLang="ko-KR"/>
                  <a:t>codebook</a:t>
                </a:r>
                <a:r>
                  <a:rPr lang="ko-KR" altLang="en-US"/>
                  <a:t>이 필요하기 때문에</a:t>
                </a:r>
                <a:r>
                  <a:rPr lang="en-US" altLang="ko-KR"/>
                  <a:t>, </a:t>
                </a:r>
                <a:r>
                  <a:rPr lang="ko-KR" altLang="en-US"/>
                  <a:t>작은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를 일괄 적용하면 </a:t>
                </a:r>
                <a:r>
                  <a:rPr lang="en-US" altLang="ko-KR"/>
                  <a:t>accuracy </a:t>
                </a:r>
                <a:r>
                  <a:rPr lang="ko-KR" altLang="en-US"/>
                  <a:t>병목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High clustering layer : </a:t>
                </a:r>
                <a:r>
                  <a:rPr lang="ko-KR" altLang="en-US"/>
                  <a:t>작은 </a:t>
                </a:r>
                <a:r>
                  <a:rPr lang="en-US" altLang="ko-KR"/>
                  <a:t>codebook</a:t>
                </a:r>
                <a:r>
                  <a:rPr lang="ko-KR" altLang="en-US"/>
                  <a:t>으로도 충분하기 때문에</a:t>
                </a:r>
                <a:r>
                  <a:rPr lang="en-US" altLang="ko-KR"/>
                  <a:t>, </a:t>
                </a:r>
                <a:r>
                  <a:rPr lang="ko-KR" altLang="en-US"/>
                  <a:t>큰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를 일괄 적용하면 </a:t>
                </a:r>
                <a:r>
                  <a:rPr lang="en-US" altLang="ko-KR"/>
                  <a:t>storage/BitOPs </a:t>
                </a:r>
                <a:r>
                  <a:rPr lang="ko-KR" altLang="en-US"/>
                  <a:t>낭비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/>
              </a:p>
              <a:p>
                <a:r>
                  <a:rPr lang="en-US" altLang="ko-KR"/>
                  <a:t>accuracy</a:t>
                </a:r>
                <a:r>
                  <a:rPr lang="ko-KR" altLang="en-US"/>
                  <a:t>와 </a:t>
                </a:r>
                <a:r>
                  <a:rPr lang="en-US" altLang="ko-KR"/>
                  <a:t>efficiency</a:t>
                </a:r>
                <a:r>
                  <a:rPr lang="ko-KR" altLang="en-US"/>
                  <a:t>를 동시에 달성할려면 </a:t>
                </a:r>
                <a:r>
                  <a:rPr lang="en-US" altLang="ko-KR"/>
                  <a:t>layer</a:t>
                </a:r>
                <a:r>
                  <a:rPr lang="ko-KR" altLang="en-US"/>
                  <a:t>마다 서로 다른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를 부여하는 </a:t>
                </a:r>
                <a:r>
                  <a:rPr lang="en-US" altLang="ko-KR"/>
                  <a:t>mixed-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 allocation</a:t>
                </a:r>
                <a:r>
                  <a:rPr lang="ko-KR" altLang="en-US"/>
                  <a:t>이 필요</a:t>
                </a:r>
                <a:endParaRPr lang="en-US" altLang="ko-KR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8E5670-F315-DF98-F8C9-EE74CDF77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77" y="3936181"/>
                <a:ext cx="11135101" cy="1754326"/>
              </a:xfrm>
              <a:prstGeom prst="rect">
                <a:avLst/>
              </a:prstGeom>
              <a:blipFill>
                <a:blip r:embed="rId5"/>
                <a:stretch>
                  <a:fillRect l="-493" t="-2091" r="-164" b="-5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428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7C41D53-7FE7-5A3B-5D20-89149CB802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Beyond Uniform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7C41D53-7FE7-5A3B-5D20-89149CB80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E9F5C5-C231-E22A-4511-B0ED9D61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191310-7612-7298-69DA-78C674ABC569}"/>
                  </a:ext>
                </a:extLst>
              </p:cNvPr>
              <p:cNvSpPr txBox="1"/>
              <p:nvPr/>
            </p:nvSpPr>
            <p:spPr>
              <a:xfrm>
                <a:off x="665683" y="1148487"/>
                <a:ext cx="1063630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ResNet-18</a:t>
                </a:r>
                <a:r>
                  <a:rPr lang="ko-KR" altLang="en-US"/>
                  <a:t>의 </a:t>
                </a:r>
                <a:r>
                  <a:rPr lang="en-US" altLang="ko-KR"/>
                  <a:t>16</a:t>
                </a:r>
                <a:r>
                  <a:rPr lang="ko-KR" altLang="en-US"/>
                  <a:t>개 </a:t>
                </a:r>
                <a:r>
                  <a:rPr lang="en-US" altLang="ko-KR"/>
                  <a:t>binary conv layer </a:t>
                </a:r>
                <a:r>
                  <a:rPr lang="ko-KR" altLang="en-US"/>
                  <a:t>각각에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l-GR" altLang="ko-KR"/>
                  <a:t> ∈ {1,...,8}</a:t>
                </a:r>
                <a:r>
                  <a:rPr lang="ko-KR" altLang="en-US"/>
                  <a:t>을 할당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실제 </a:t>
                </a:r>
                <a:r>
                  <a:rPr lang="en-US" altLang="ko-KR"/>
                  <a:t>deployment</a:t>
                </a:r>
                <a:r>
                  <a:rPr lang="ko-KR" altLang="en-US"/>
                  <a:t>에서 </a:t>
                </a:r>
                <a:r>
                  <a:rPr lang="en-US" altLang="ko-KR"/>
                  <a:t>hardware constraint(storage, BitOPs)</a:t>
                </a:r>
                <a:r>
                  <a:rPr lang="ko-KR" altLang="en-US"/>
                  <a:t>를 만족하면서 </a:t>
                </a:r>
                <a:r>
                  <a:rPr lang="en-US" altLang="ko-KR"/>
                  <a:t>accuracy</a:t>
                </a:r>
                <a:r>
                  <a:rPr lang="ko-KR" altLang="en-US"/>
                  <a:t>를 최대화하는 최적 </a:t>
                </a:r>
                <a:r>
                  <a:rPr lang="en-US" altLang="ko-KR"/>
                  <a:t>mixed-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allocation</a:t>
                </a:r>
                <a:r>
                  <a:rPr lang="ko-KR" altLang="en-US"/>
                  <a:t>이 필요</a:t>
                </a:r>
                <a:r>
                  <a:rPr lang="en-US" altLang="ko-KR"/>
                  <a:t>. </a:t>
                </a:r>
                <a:r>
                  <a:rPr lang="ko-KR" altLang="en-US"/>
                  <a:t>그러나 탐색 공간이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ko-KR" altLang="en-US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2.8×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ko-KR" altLang="en-US"/>
                  <a:t>이므로 직접 탐색 불가능</a:t>
                </a:r>
                <a:endParaRPr lang="en-US" altLang="ko-KR"/>
              </a:p>
              <a:p>
                <a:endParaRPr lang="en-US" altLang="ko-KR"/>
              </a:p>
              <a:p>
                <a:r>
                  <a:rPr lang="en-US" altLang="ko-KR"/>
                  <a:t>3-phase framework</a:t>
                </a:r>
                <a:r>
                  <a:rPr lang="ko-KR" altLang="en-US"/>
                  <a:t>를 제안</a:t>
                </a:r>
                <a:endParaRPr lang="en-US" altLang="ko-KR"/>
              </a:p>
              <a:p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1 : Gumbel-Softmax</a:t>
                </a:r>
                <a:r>
                  <a:rPr lang="ko-KR" altLang="en-US"/>
                  <a:t>로 </a:t>
                </a:r>
                <a:r>
                  <a:rPr lang="en-US" altLang="ko-KR"/>
                  <a:t>layer</a:t>
                </a:r>
                <a:r>
                  <a:rPr lang="ko-KR" altLang="en-US"/>
                  <a:t>별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확률 분포 학습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</a:t>
                </a:r>
                <a:r>
                  <a:rPr lang="ko-KR" altLang="en-US"/>
                  <a:t> </a:t>
                </a:r>
                <a:r>
                  <a:rPr lang="en-US" altLang="ko-KR"/>
                  <a:t>2</a:t>
                </a:r>
                <a:r>
                  <a:rPr lang="ko-KR" altLang="en-US"/>
                  <a:t> </a:t>
                </a:r>
                <a:r>
                  <a:rPr lang="en-US" altLang="ko-KR"/>
                  <a:t>:</a:t>
                </a:r>
                <a:r>
                  <a:rPr lang="ko-KR" altLang="en-US"/>
                  <a:t> </a:t>
                </a:r>
                <a:r>
                  <a:rPr lang="en-US" altLang="ko-KR"/>
                  <a:t>Multiple-Choice</a:t>
                </a:r>
                <a:r>
                  <a:rPr lang="ko-KR" altLang="en-US"/>
                  <a:t> </a:t>
                </a:r>
                <a:r>
                  <a:rPr lang="en-US" altLang="ko-KR"/>
                  <a:t>Knapsack</a:t>
                </a:r>
                <a:r>
                  <a:rPr lang="ko-KR" altLang="en-US"/>
                  <a:t> </a:t>
                </a:r>
                <a:r>
                  <a:rPr lang="en-US" altLang="ko-KR"/>
                  <a:t>DP</a:t>
                </a:r>
                <a:r>
                  <a:rPr lang="ko-KR" altLang="en-US"/>
                  <a:t>로 </a:t>
                </a:r>
                <a:r>
                  <a:rPr lang="en-US" altLang="ko-KR"/>
                  <a:t>hardware constraint </a:t>
                </a:r>
                <a:r>
                  <a:rPr lang="ko-KR" altLang="en-US"/>
                  <a:t>만족하는 최적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allocation </a:t>
                </a:r>
                <a:r>
                  <a:rPr lang="ko-KR" altLang="en-US"/>
                  <a:t>도출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3 : </a:t>
                </a:r>
                <a:r>
                  <a:rPr lang="ko-KR" altLang="en-US"/>
                  <a:t>결정된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</a:t>
                </a:r>
                <a:r>
                  <a:rPr lang="ko-KR" altLang="en-US"/>
                  <a:t>로 재학습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191310-7612-7298-69DA-78C674ABC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83" y="1148487"/>
                <a:ext cx="10636301" cy="2585323"/>
              </a:xfrm>
              <a:prstGeom prst="rect">
                <a:avLst/>
              </a:prstGeom>
              <a:blipFill>
                <a:blip r:embed="rId4"/>
                <a:stretch>
                  <a:fillRect l="-458" t="-1176" r="-115" b="-2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36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26A6E79-4019-F669-F5C6-E06D83FE45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Phase 1 : Differentiable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 search </a:t>
                </a:r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26A6E79-4019-F669-F5C6-E06D83FE4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F8292-DCA0-427B-8AFD-76C6EA6D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683D1B-EB59-70D1-CEBE-6D1F6A7B7E04}"/>
                  </a:ext>
                </a:extLst>
              </p:cNvPr>
              <p:cNvSpPr txBox="1"/>
              <p:nvPr/>
            </p:nvSpPr>
            <p:spPr>
              <a:xfrm>
                <a:off x="260908" y="1367943"/>
                <a:ext cx="11796831" cy="4368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Architecture parameter</a:t>
                </a:r>
              </a:p>
              <a:p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각 </a:t>
                </a:r>
                <a:r>
                  <a:rPr lang="en-US" altLang="ko-KR"/>
                  <a:t>layer i </a:t>
                </a:r>
                <a:r>
                  <a:rPr lang="ko-KR" altLang="en-US"/>
                  <a:t>에 </a:t>
                </a:r>
                <a:r>
                  <a:rPr lang="en-US" altLang="ko-KR"/>
                  <a:t>logit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도입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전체 모델의 </a:t>
                </a:r>
                <a:r>
                  <a:rPr lang="en-US" altLang="ko-KR"/>
                  <a:t>architecture parameter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 × 8</m:t>
                        </m:r>
                      </m:sup>
                    </m:sSup>
                  </m:oMath>
                </a14:m>
                <a:endParaRPr lang="en-US" altLang="ko-KR"/>
              </a:p>
              <a:p>
                <a:endParaRPr lang="en-US" altLang="ko-KR"/>
              </a:p>
              <a:p>
                <a:r>
                  <a:rPr lang="en-US" altLang="ko-KR"/>
                  <a:t>Gumbel-Softmax</a:t>
                </a:r>
              </a:p>
              <a:p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8</a:t>
                </a:r>
                <a:r>
                  <a:rPr lang="ko-KR" altLang="en-US"/>
                  <a:t>개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후보 중 하나를 선택하는 이산적 선택은 미분 불가능하기 때문에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학습이 불가능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이산적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선택을 확률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/>
                  <a:t>로 근사해서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/>
                  <a:t>에 </a:t>
                </a:r>
                <a:r>
                  <a:rPr lang="en-US" altLang="ko-KR"/>
                  <a:t>gradient </a:t>
                </a:r>
                <a:r>
                  <a:rPr lang="ko-KR" altLang="en-US"/>
                  <a:t>흐름을 가능하게 한다</a:t>
                </a:r>
                <a:r>
                  <a:rPr lang="en-US" altLang="ko-KR"/>
                  <a:t>.</a:t>
                </a:r>
              </a:p>
              <a:p>
                <a:endParaRPr lang="en-US" altLang="ko-KR"/>
              </a:p>
              <a:p>
                <a:r>
                  <a:rPr lang="en-US" altLang="ko-KR"/>
                  <a:t>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9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((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)/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altLang="ko-KR" sz="2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T=5 (</a:t>
                </a:r>
                <a:r>
                  <a:rPr lang="ko-KR" altLang="en-US"/>
                  <a:t>초반</a:t>
                </a:r>
                <a:r>
                  <a:rPr lang="en-US" altLang="ko-KR"/>
                  <a:t>): </a:t>
                </a:r>
                <a:r>
                  <a:rPr lang="ko-KR" altLang="en-US"/>
                  <a:t>분포가 균등 → </a:t>
                </a:r>
                <a:r>
                  <a:rPr lang="en-US" altLang="ko-KR"/>
                  <a:t>8</a:t>
                </a:r>
                <a:r>
                  <a:rPr lang="ko-KR" altLang="en-US"/>
                  <a:t>개 후보 폭넓게 탐색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T=1 (</a:t>
                </a:r>
                <a:r>
                  <a:rPr lang="ko-KR" altLang="en-US"/>
                  <a:t>후반</a:t>
                </a:r>
                <a:r>
                  <a:rPr lang="en-US" altLang="ko-KR"/>
                  <a:t>): </a:t>
                </a:r>
                <a:r>
                  <a:rPr lang="ko-KR" altLang="en-US"/>
                  <a:t>분포가 분화 → </a:t>
                </a:r>
                <a:r>
                  <a:rPr lang="en-US" altLang="ko-KR"/>
                  <a:t>layer</a:t>
                </a:r>
                <a:r>
                  <a:rPr lang="ko-KR" altLang="en-US"/>
                  <a:t>별 적합한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로 수렴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ko-KR"/>
                  <a:t> : Gumbel </a:t>
                </a:r>
                <a:r>
                  <a:rPr lang="ko-KR" altLang="en-US"/>
                  <a:t>분포에서 샘플링된 노이즈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683D1B-EB59-70D1-CEBE-6D1F6A7B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08" y="1367943"/>
                <a:ext cx="11796831" cy="4368440"/>
              </a:xfrm>
              <a:prstGeom prst="rect">
                <a:avLst/>
              </a:prstGeom>
              <a:blipFill>
                <a:blip r:embed="rId4"/>
                <a:stretch>
                  <a:fillRect l="-465" t="-697" b="-1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492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95F77-2B9C-54A1-F644-14EE518F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1 : Mixed operation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C430E-DD69-FD1E-5BA0-40A56F05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DEB58-1F2C-0272-FC76-73775477ACF5}"/>
                  </a:ext>
                </a:extLst>
              </p:cNvPr>
              <p:cNvSpPr txBox="1"/>
              <p:nvPr/>
            </p:nvSpPr>
            <p:spPr>
              <a:xfrm>
                <a:off x="826617" y="1684634"/>
                <a:ext cx="5888736" cy="443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conv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  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mean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ko-KR" altLang="en-US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DEB58-1F2C-0272-FC76-73775477A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7" y="1684634"/>
                <a:ext cx="5888736" cy="443519"/>
              </a:xfrm>
              <a:prstGeom prst="rect">
                <a:avLst/>
              </a:prstGeom>
              <a:blipFill>
                <a:blip r:embed="rId3"/>
                <a:stretch>
                  <a:fillRect t="-86301" b="-1506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EB6E2CEE-4BF1-271F-49BF-50D01F0E8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835" y="1229597"/>
            <a:ext cx="4383409" cy="45170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C7DA87-825E-F95C-9B0E-967B0AA3F643}"/>
                  </a:ext>
                </a:extLst>
              </p:cNvPr>
              <p:cNvSpPr txBox="1"/>
              <p:nvPr/>
            </p:nvSpPr>
            <p:spPr>
              <a:xfrm>
                <a:off x="445160" y="2416417"/>
                <a:ext cx="7521091" cy="144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각 </a:t>
                </a:r>
                <a:r>
                  <a:rPr lang="en-US" altLang="ko-KR"/>
                  <a:t>layer i </a:t>
                </a:r>
                <a:r>
                  <a:rPr lang="ko-KR" altLang="en-US"/>
                  <a:t>는 단일 </a:t>
                </a:r>
                <a:r>
                  <a:rPr lang="en-US" altLang="ko-KR"/>
                  <a:t>full-precision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ko-KR" altLang="en-US"/>
                  <a:t>를 공유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 별로 </a:t>
                </a:r>
                <a:r>
                  <a:rPr lang="en-US" altLang="ko-KR"/>
                  <a:t>binarize</a:t>
                </a:r>
                <a:r>
                  <a:rPr lang="ko-KR" altLang="en-US"/>
                  <a:t>한 다음에 </a:t>
                </a:r>
                <a:r>
                  <a:rPr lang="en-US" altLang="ko-KR"/>
                  <a:t>layer</a:t>
                </a:r>
                <a:r>
                  <a:rPr lang="ko-KR" altLang="en-US"/>
                  <a:t>당 </a:t>
                </a: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생성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8</a:t>
                </a:r>
                <a:r>
                  <a:rPr lang="ko-KR" altLang="en-US"/>
                  <a:t>개의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로 가중합한 </a:t>
                </a:r>
                <a:r>
                  <a:rPr lang="en-US" altLang="ko-KR"/>
                  <a:t>weight</a:t>
                </a:r>
                <a:r>
                  <a:rPr lang="ko-KR" altLang="en-US"/>
                  <a:t>로 단일 </a:t>
                </a:r>
                <a:r>
                  <a:rPr lang="en-US" altLang="ko-KR"/>
                  <a:t>conv </a:t>
                </a:r>
                <a:r>
                  <a:rPr lang="ko-KR" altLang="en-US"/>
                  <a:t>수행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conv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동치</a:t>
                </a:r>
                <a:endParaRPr lang="en-US" altLang="ko-KR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C7DA87-825E-F95C-9B0E-967B0AA3F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60" y="2416417"/>
                <a:ext cx="7521091" cy="1447256"/>
              </a:xfrm>
              <a:prstGeom prst="rect">
                <a:avLst/>
              </a:prstGeom>
              <a:blipFill>
                <a:blip r:embed="rId5"/>
                <a:stretch>
                  <a:fillRect l="-648" t="-2101" b="-436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6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BA6B4-B966-46AE-5D24-F4E67D21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1: storage loss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7F9B8C-2E60-6F3A-4BEC-8D8105DE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3FB2C9-65A0-3B41-BB4D-551731CB4360}"/>
                  </a:ext>
                </a:extLst>
              </p:cNvPr>
              <p:cNvSpPr txBox="1"/>
              <p:nvPr/>
            </p:nvSpPr>
            <p:spPr>
              <a:xfrm>
                <a:off x="1177747" y="1803832"/>
                <a:ext cx="9356141" cy="1820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softmax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US" altLang="ko-K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] −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</m:sSub>
                  </m:oMath>
                </a14:m>
                <a:r>
                  <a:rPr lang="ko-KR" altLang="en-US"/>
                  <a:t> 는 각 모든 </a:t>
                </a:r>
                <a:r>
                  <a:rPr lang="en-US" altLang="ko-KR"/>
                  <a:t>layer</a:t>
                </a:r>
                <a:r>
                  <a:rPr lang="ko-KR" altLang="en-US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  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ko-KR" altLang="en-US"/>
                  <a:t> 을 선택할 때의 총 </a:t>
                </a:r>
                <a:r>
                  <a:rPr lang="en-US" altLang="ko-KR"/>
                  <a:t>storage</a:t>
                </a:r>
                <a:r>
                  <a:rPr lang="ko-KR" altLang="en-US"/>
                  <a:t>이다</a:t>
                </a:r>
                <a:r>
                  <a:rPr lang="en-US" altLang="ko-KR"/>
                  <a:t>. </a:t>
                </a:r>
                <a:r>
                  <a:rPr lang="ko-KR" altLang="en-US"/>
                  <a:t>이들을 통해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/>
                  <a:t>을 </a:t>
                </a:r>
                <a:r>
                  <a:rPr lang="en-US" altLang="ko-KR"/>
                  <a:t>[0,1] </a:t>
                </a:r>
                <a:r>
                  <a:rPr lang="ko-KR" altLang="en-US"/>
                  <a:t>범위로 정규화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3FB2C9-65A0-3B41-BB4D-551731CB4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747" y="1803832"/>
                <a:ext cx="9356141" cy="1820050"/>
              </a:xfrm>
              <a:prstGeom prst="rect">
                <a:avLst/>
              </a:prstGeom>
              <a:blipFill>
                <a:blip r:embed="rId3"/>
                <a:stretch>
                  <a:fillRect l="-521" b="-36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7910B3-6735-7DB5-4C0F-63943FE531DA}"/>
                  </a:ext>
                </a:extLst>
              </p:cNvPr>
              <p:cNvSpPr txBox="1"/>
              <p:nvPr/>
            </p:nvSpPr>
            <p:spPr>
              <a:xfrm>
                <a:off x="1097280" y="965959"/>
                <a:ext cx="9261043" cy="677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/>
                  <a:t>으로 학습하면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/>
                  <a:t>는 정확도가 가장 높은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로 수렴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를 도입해서 낮은 </a:t>
                </a:r>
                <a:r>
                  <a:rPr lang="en-US" altLang="ko-KR"/>
                  <a:t>storage</a:t>
                </a:r>
                <a:r>
                  <a:rPr lang="ko-KR" altLang="en-US"/>
                  <a:t>를 갖는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쪽으로 수렴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7910B3-6735-7DB5-4C0F-63943FE5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965959"/>
                <a:ext cx="9261043" cy="677686"/>
              </a:xfrm>
              <a:prstGeom prst="rect">
                <a:avLst/>
              </a:prstGeom>
              <a:blipFill>
                <a:blip r:embed="rId4"/>
                <a:stretch>
                  <a:fillRect l="-395" t="-4464" b="-89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38BEA7-74A2-59CD-1A98-612AF54FD398}"/>
                  </a:ext>
                </a:extLst>
              </p:cNvPr>
              <p:cNvSpPr txBox="1"/>
              <p:nvPr/>
            </p:nvSpPr>
            <p:spPr>
              <a:xfrm>
                <a:off x="3361333" y="3705021"/>
                <a:ext cx="4988967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∙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38BEA7-74A2-59CD-1A98-612AF54FD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333" y="3705021"/>
                <a:ext cx="4988967" cy="395493"/>
              </a:xfrm>
              <a:prstGeom prst="rect">
                <a:avLst/>
              </a:prstGeom>
              <a:blipFill>
                <a:blip r:embed="rId5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8AE9432-32D6-7E43-8DFD-F4F3DDF2A32A}"/>
              </a:ext>
            </a:extLst>
          </p:cNvPr>
          <p:cNvSpPr txBox="1"/>
          <p:nvPr/>
        </p:nvSpPr>
        <p:spPr>
          <a:xfrm>
            <a:off x="5618073" y="297362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B350D-A1AC-2145-F6B1-AF26335C4776}"/>
                  </a:ext>
                </a:extLst>
              </p:cNvPr>
              <p:cNvSpPr txBox="1"/>
              <p:nvPr/>
            </p:nvSpPr>
            <p:spPr>
              <a:xfrm>
                <a:off x="1177747" y="4213555"/>
                <a:ext cx="9180576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/>
                  <a:t> 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</m:oMath>
                </a14:m>
                <a:r>
                  <a:rPr lang="ko-KR" altLang="en-US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사이의 균형을 정하는 하이퍼파라미터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B350D-A1AC-2145-F6B1-AF26335C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747" y="4213555"/>
                <a:ext cx="9180576" cy="395493"/>
              </a:xfrm>
              <a:prstGeom prst="rect">
                <a:avLst/>
              </a:prstGeom>
              <a:blipFill>
                <a:blip r:embed="rId6"/>
                <a:stretch>
                  <a:fillRect t="-9231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E97C23-D882-E269-2397-A39EEAC0CF87}"/>
                  </a:ext>
                </a:extLst>
              </p:cNvPr>
              <p:cNvSpPr txBox="1"/>
              <p:nvPr/>
            </p:nvSpPr>
            <p:spPr>
              <a:xfrm>
                <a:off x="1177747" y="4661089"/>
                <a:ext cx="9261043" cy="672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ko-KR" altLang="en-US"/>
                  <a:t> 에 비례하므로 깊은 </a:t>
                </a:r>
                <a:r>
                  <a:rPr lang="en-US" altLang="ko-KR"/>
                  <a:t>layer</a:t>
                </a:r>
                <a:r>
                  <a:rPr lang="ko-KR" altLang="en-US"/>
                  <a:t>일수록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가 커지기 때문에 깊은 </a:t>
                </a:r>
                <a:r>
                  <a:rPr lang="en-US" altLang="ko-KR"/>
                  <a:t>layer</a:t>
                </a:r>
                <a:r>
                  <a:rPr lang="ko-KR" altLang="en-US"/>
                  <a:t>가 우선적으로 낮은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를 할당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E97C23-D882-E269-2397-A39EEAC0C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747" y="4661089"/>
                <a:ext cx="9261043" cy="672492"/>
              </a:xfrm>
              <a:prstGeom prst="rect">
                <a:avLst/>
              </a:prstGeom>
              <a:blipFill>
                <a:blip r:embed="rId7"/>
                <a:stretch>
                  <a:fillRect l="-395" t="-6364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91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D56E33-8E24-8C35-8F01-4CE9E4970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88" y="264986"/>
            <a:ext cx="7323412" cy="36925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A1FF09B-8E73-16F1-CA9A-88DF7BF7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2: overview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AB831-AB53-51EB-DBFE-9AD530A5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4713DD-C5AD-0478-08AD-7595A9C86694}"/>
                  </a:ext>
                </a:extLst>
              </p:cNvPr>
              <p:cNvSpPr txBox="1"/>
              <p:nvPr/>
            </p:nvSpPr>
            <p:spPr>
              <a:xfrm>
                <a:off x="629107" y="3957524"/>
                <a:ext cx="10599725" cy="262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Phase 1</a:t>
                </a:r>
                <a:r>
                  <a:rPr lang="ko-KR" altLang="en-US"/>
                  <a:t>에서 학습한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 × 8</m:t>
                        </m:r>
                      </m:sup>
                    </m:sSup>
                  </m:oMath>
                </a14:m>
                <a:r>
                  <a:rPr lang="ko-KR" altLang="en-US"/>
                  <a:t> 과 </a:t>
                </a:r>
                <a:r>
                  <a:rPr lang="en-US" altLang="ko-KR"/>
                  <a:t>hardware constraint</a:t>
                </a:r>
                <a:r>
                  <a:rPr lang="ko-KR" altLang="en-US"/>
                  <a:t>를 입력으로 받아 최적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–list </a:t>
                </a:r>
                <a:r>
                  <a:rPr lang="ko-KR" altLang="en-US"/>
                  <a:t>도출</a:t>
                </a:r>
                <a:endParaRPr lang="en-US" altLang="ko-KR"/>
              </a:p>
              <a:p>
                <a:endParaRPr lang="en-US" altLang="ko-K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 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  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constraint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/>
                  <a:t> (storage constraint </a:t>
                </a:r>
                <a:r>
                  <a:rPr lang="ko-KR" altLang="en-US"/>
                  <a:t>적용 시</a:t>
                </a:r>
                <a:r>
                  <a:rPr lang="en-US" altLang="ko-KR"/>
                  <a:t>)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constraint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/>
                  <a:t> (BitOPs constraint </a:t>
                </a:r>
                <a:r>
                  <a:rPr lang="ko-KR" altLang="en-US"/>
                  <a:t>적용 시</a:t>
                </a:r>
                <a:r>
                  <a:rPr lang="en-US" altLang="ko-KR"/>
                  <a:t>)</a:t>
                </a:r>
              </a:p>
              <a:p>
                <a:pPr algn="ctr"/>
                <a:endParaRPr lang="en-US" altLang="ko-KR"/>
              </a:p>
              <a:p>
                <a:r>
                  <a:rPr lang="ko-KR" altLang="en-US"/>
                  <a:t>각 </a:t>
                </a:r>
                <a:r>
                  <a:rPr lang="en-US" altLang="ko-KR"/>
                  <a:t>layer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ko-KR" altLang="en-US"/>
                  <a:t>를 선택해서 전체 </a:t>
                </a:r>
                <a:r>
                  <a:rPr lang="en-US" altLang="ko-KR"/>
                  <a:t>value</a:t>
                </a:r>
                <a:r>
                  <a:rPr lang="ko-KR" altLang="en-US"/>
                  <a:t>를 최대화하되</a:t>
                </a:r>
                <a:r>
                  <a:rPr lang="en-US" altLang="ko-KR"/>
                  <a:t>, storage </a:t>
                </a:r>
                <a:r>
                  <a:rPr lang="ko-KR" altLang="en-US"/>
                  <a:t>또는 </a:t>
                </a:r>
                <a:r>
                  <a:rPr lang="en-US" altLang="ko-KR"/>
                  <a:t>BitOPs</a:t>
                </a:r>
                <a:r>
                  <a:rPr lang="ko-KR" altLang="en-US"/>
                  <a:t>가 </a:t>
                </a:r>
                <a:r>
                  <a:rPr lang="en-US" altLang="ko-KR"/>
                  <a:t>constraint</a:t>
                </a:r>
                <a:r>
                  <a:rPr lang="ko-KR" altLang="en-US"/>
                  <a:t>를 초과하면 안됨</a:t>
                </a:r>
                <a:endParaRPr lang="en-US" altLang="ko-KR"/>
              </a:p>
              <a:p>
                <a:pPr algn="ctr"/>
                <a:endParaRPr lang="en-US" altLang="ko-KR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4713DD-C5AD-0478-08AD-7595A9C86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07" y="3957524"/>
                <a:ext cx="10599725" cy="2627001"/>
              </a:xfrm>
              <a:prstGeom prst="rect">
                <a:avLst/>
              </a:prstGeom>
              <a:blipFill>
                <a:blip r:embed="rId4"/>
                <a:stretch>
                  <a:fillRect l="-460" t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38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F54BC-46C3-5D5C-932B-3EC268DF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2: value function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82092-B0E2-388E-AAAB-50A64E80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0A1EB0-A21E-CC24-3EB7-450530CF4341}"/>
                  </a:ext>
                </a:extLst>
              </p:cNvPr>
              <p:cNvSpPr txBox="1"/>
              <p:nvPr/>
            </p:nvSpPr>
            <p:spPr>
              <a:xfrm>
                <a:off x="1615440" y="1792338"/>
                <a:ext cx="7629753" cy="682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 −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|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ko-KR" alt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0A1EB0-A21E-CC24-3EB7-450530CF4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440" y="1792338"/>
                <a:ext cx="7629753" cy="682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D2B6E8-3245-3191-9DBF-9BC5EB0ABB1C}"/>
                  </a:ext>
                </a:extLst>
              </p:cNvPr>
              <p:cNvSpPr txBox="1"/>
              <p:nvPr/>
            </p:nvSpPr>
            <p:spPr>
              <a:xfrm>
                <a:off x="782652" y="2869076"/>
                <a:ext cx="10007194" cy="94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: phase 1 </a:t>
                </a:r>
                <a:r>
                  <a:rPr lang="ko-KR" altLang="en-US"/>
                  <a:t>학습 결과 </a:t>
                </a:r>
                <a:r>
                  <a:rPr lang="en-US" altLang="ko-KR"/>
                  <a:t>layer i</a:t>
                </a:r>
                <a:r>
                  <a:rPr lang="ko-KR" altLang="en-US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/>
                  <a:t> 부여할 확률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가 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ko-KR" altLang="en-US"/>
                  <a:t>와 가까운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선택할수록 </a:t>
                </a:r>
                <a:r>
                  <a:rPr lang="en-US" altLang="ko-KR"/>
                  <a:t>v </a:t>
                </a:r>
                <a:r>
                  <a:rPr lang="ko-KR" altLang="en-US"/>
                  <a:t>증가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hardware constraint </a:t>
                </a:r>
                <a:r>
                  <a:rPr lang="ko-KR" altLang="en-US"/>
                  <a:t>안에서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/>
                  <a:t>의 합을 최대화 </a:t>
                </a:r>
                <a:r>
                  <a:rPr lang="en-US" altLang="ko-KR"/>
                  <a:t>= accuracy </a:t>
                </a:r>
                <a:r>
                  <a:rPr lang="ko-KR" altLang="en-US"/>
                  <a:t>손실을 최소화하는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</a:t>
                </a:r>
                <a:r>
                  <a:rPr lang="ko-KR" altLang="en-US"/>
                  <a:t>선택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D2B6E8-3245-3191-9DBF-9BC5EB0AB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52" y="2869076"/>
                <a:ext cx="10007194" cy="947695"/>
              </a:xfrm>
              <a:prstGeom prst="rect">
                <a:avLst/>
              </a:prstGeom>
              <a:blipFill>
                <a:blip r:embed="rId4"/>
                <a:stretch>
                  <a:fillRect l="-365" t="-4516"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82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0977-94D5-5156-70FE-4A206417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 : Multiple-Choice Knapsack DP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B7510-F103-EFFB-7E7D-10F62E70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908E9-D90E-E74B-D0FD-08144F8F17CD}"/>
                  </a:ext>
                </a:extLst>
              </p:cNvPr>
              <p:cNvSpPr txBox="1"/>
              <p:nvPr/>
            </p:nvSpPr>
            <p:spPr>
              <a:xfrm>
                <a:off x="326746" y="982523"/>
                <a:ext cx="105192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 ∈ {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 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로 표기 간결화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908E9-D90E-E74B-D0FD-08144F8F1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46" y="982523"/>
                <a:ext cx="10519258" cy="646331"/>
              </a:xfrm>
              <a:prstGeom prst="rect">
                <a:avLst/>
              </a:prstGeom>
              <a:blipFill>
                <a:blip r:embed="rId3"/>
                <a:stretch>
                  <a:fillRect l="-406" t="-47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598C34-36D1-E8AD-5601-D8394BD979C6}"/>
                  </a:ext>
                </a:extLst>
              </p:cNvPr>
              <p:cNvSpPr txBox="1"/>
              <p:nvPr/>
            </p:nvSpPr>
            <p:spPr>
              <a:xfrm>
                <a:off x="326746" y="1378847"/>
                <a:ext cx="9763354" cy="708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598C34-36D1-E8AD-5601-D8394BD97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46" y="1378847"/>
                <a:ext cx="9763354" cy="70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A7BA6F-B9EE-86B5-503B-6844E2E13DD0}"/>
                  </a:ext>
                </a:extLst>
              </p:cNvPr>
              <p:cNvSpPr txBox="1"/>
              <p:nvPr/>
            </p:nvSpPr>
            <p:spPr>
              <a:xfrm>
                <a:off x="326746" y="2304022"/>
                <a:ext cx="115750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0" i="1"/>
                  <a:t> </a:t>
                </a:r>
                <a:r>
                  <a:rPr lang="ko-KR" altLang="en-US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constraint</m:t>
                        </m:r>
                      </m:sub>
                    </m:sSub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는 단위 값이 큰 정수</a:t>
                </a:r>
                <a:r>
                  <a:rPr lang="en-US" altLang="ko-KR"/>
                  <a:t>(storage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ko-KR"/>
                  <a:t> bits, BitOPs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ko-KR"/>
                  <a:t> ops </a:t>
                </a:r>
                <a:r>
                  <a:rPr lang="ko-KR" altLang="en-US"/>
                  <a:t>수준</a:t>
                </a:r>
                <a:r>
                  <a:rPr lang="en-US" altLang="ko-KR"/>
                  <a:t>) </a:t>
                </a:r>
                <a:r>
                  <a:rPr lang="ko-KR" altLang="en-US"/>
                  <a:t>그대로 인덱스 사용 불가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ko-KR" altLang="en-US"/>
                  <a:t> 는 </a:t>
                </a:r>
                <a:r>
                  <a:rPr lang="en-US" altLang="ko-KR"/>
                  <a:t>cost</a:t>
                </a:r>
                <a:r>
                  <a:rPr lang="ko-KR" altLang="en-US"/>
                  <a:t>를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ko-KR" altLang="en-US"/>
                  <a:t> 크기의 </a:t>
                </a:r>
                <a:r>
                  <a:rPr lang="en-US" altLang="ko-KR"/>
                  <a:t>bucket</a:t>
                </a:r>
                <a:r>
                  <a:rPr lang="ko-KR" altLang="en-US"/>
                  <a:t>으로 나누어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∆ , 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+1)∙ ∆ )</m:t>
                    </m:r>
                  </m:oMath>
                </a14:m>
                <a:r>
                  <a:rPr lang="ko-KR" altLang="en-US"/>
                  <a:t> 범위의 </a:t>
                </a:r>
                <a:r>
                  <a:rPr lang="en-US" altLang="ko-KR"/>
                  <a:t>cost </a:t>
                </a:r>
                <a:r>
                  <a:rPr lang="ko-KR" altLang="en-US"/>
                  <a:t>값을 모두 같은 정수 인덱스 </a:t>
                </a:r>
                <a:r>
                  <a:rPr lang="en-US" altLang="ko-KR"/>
                  <a:t>k</a:t>
                </a:r>
                <a:r>
                  <a:rPr lang="ko-KR" altLang="en-US"/>
                  <a:t>로 매핑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constraint</m:t>
                        </m:r>
                      </m:sub>
                    </m:sSub>
                  </m:oMath>
                </a14:m>
                <a:r>
                  <a:rPr lang="ko-KR" altLang="en-US"/>
                  <a:t> 도 동일하게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constraint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/>
                  <a:t> 로 변환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A7BA6F-B9EE-86B5-503B-6844E2E13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46" y="2304022"/>
                <a:ext cx="11575084" cy="923330"/>
              </a:xfrm>
              <a:prstGeom prst="rect">
                <a:avLst/>
              </a:prstGeom>
              <a:blipFill>
                <a:blip r:embed="rId5"/>
                <a:stretch>
                  <a:fillRect l="-369" t="-3311" b="-72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6DFC14-3D0C-83FB-2742-6920CC7679F1}"/>
                  </a:ext>
                </a:extLst>
              </p:cNvPr>
              <p:cNvSpPr txBox="1"/>
              <p:nvPr/>
            </p:nvSpPr>
            <p:spPr>
              <a:xfrm>
                <a:off x="-297483" y="3571869"/>
                <a:ext cx="11162995" cy="930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dp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∈ {1,…,8}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dp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−1,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+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6DFC14-3D0C-83FB-2742-6920CC767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7483" y="3571869"/>
                <a:ext cx="11162995" cy="9303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BE106-CAB6-CE84-8EEE-710B3152722A}"/>
                  </a:ext>
                </a:extLst>
              </p:cNvPr>
              <p:cNvSpPr txBox="1"/>
              <p:nvPr/>
            </p:nvSpPr>
            <p:spPr>
              <a:xfrm>
                <a:off x="519378" y="4550054"/>
                <a:ext cx="11575083" cy="1904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layer 1~16 </a:t>
                </a:r>
                <a:r>
                  <a:rPr lang="ko-KR" altLang="en-US"/>
                  <a:t>순회하며</a:t>
                </a:r>
                <a:r>
                  <a:rPr lang="en-US" altLang="ko-KR"/>
                  <a:t> </a:t>
                </a:r>
                <a:r>
                  <a:rPr lang="ko-KR" altLang="en-US"/>
                  <a:t>각 </a:t>
                </a:r>
                <a:r>
                  <a:rPr lang="en-US" altLang="ko-KR"/>
                  <a:t>layer</a:t>
                </a:r>
                <a:r>
                  <a:rPr lang="ko-KR" altLang="en-US"/>
                  <a:t>에서 </a:t>
                </a:r>
                <a:r>
                  <a:rPr lang="en-US" altLang="ko-KR"/>
                  <a:t>8</a:t>
                </a:r>
                <a:r>
                  <a:rPr lang="ko-KR" altLang="en-US"/>
                  <a:t>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/>
                  <a:t>후보 중 하나 선택하여 누적 </a:t>
                </a:r>
                <a:r>
                  <a:rPr lang="en-US" altLang="ko-KR"/>
                  <a:t>value</a:t>
                </a:r>
                <a:r>
                  <a:rPr lang="ko-KR" altLang="en-US"/>
                  <a:t>를 갱신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layer</a:t>
                </a:r>
                <a:r>
                  <a:rPr lang="ko-KR" altLang="en-US"/>
                  <a:t> </a:t>
                </a:r>
                <a:r>
                  <a:rPr lang="en-US" altLang="ko-KR"/>
                  <a:t>16</a:t>
                </a:r>
                <a:r>
                  <a:rPr lang="ko-KR" altLang="en-US"/>
                  <a:t>까지 순회가 완료된 후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  <m:e>
                        <m:sSubSup>
                          <m:sSub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constraint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den>
                            </m:f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만족하는 항목 중 </a:t>
                </a:r>
                <a:r>
                  <a:rPr lang="en-US" altLang="ko-KR"/>
                  <a:t>dp[16, : ] </a:t>
                </a:r>
                <a:r>
                  <a:rPr lang="ko-KR" altLang="en-US"/>
                  <a:t>이 최대 항목에서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</a:t>
                </a:r>
                <a:r>
                  <a:rPr lang="ko-KR" altLang="en-US"/>
                  <a:t>를 도출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복잡도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constraint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ko-KR" b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Constraint reusability </a:t>
                </a:r>
                <a:r>
                  <a:rPr lang="en-US" altLang="ko-KR" b="1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1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ko-KR" altLang="en-US"/>
                  <a:t> 한 번 학습 후 </a:t>
                </a:r>
                <a:r>
                  <a:rPr lang="en-US" altLang="ko-KR"/>
                  <a:t>constraint</a:t>
                </a:r>
                <a:r>
                  <a:rPr lang="ko-KR" altLang="en-US"/>
                  <a:t>만 변경하면 즉시 새로운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</a:t>
                </a:r>
                <a:r>
                  <a:rPr lang="ko-KR" altLang="en-US"/>
                  <a:t>도출 가능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BE106-CAB6-CE84-8EEE-710B31527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78" y="4550054"/>
                <a:ext cx="11575083" cy="1904560"/>
              </a:xfrm>
              <a:prstGeom prst="rect">
                <a:avLst/>
              </a:prstGeom>
              <a:blipFill>
                <a:blip r:embed="rId7"/>
                <a:stretch>
                  <a:fillRect l="-316" t="-4473" b="-47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143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39CAA87-5673-3B2E-CCF1-60EC0608B1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Phase 3: Retrain with Fixed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/>
                  <a:t>-list</a:t>
                </a:r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39CAA87-5673-3B2E-CCF1-60EC0608B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F850C-5AC6-5981-096D-40FC524E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549F9F-F61B-9872-AF60-45F46B37375B}"/>
                  </a:ext>
                </a:extLst>
              </p:cNvPr>
              <p:cNvSpPr txBox="1"/>
              <p:nvPr/>
            </p:nvSpPr>
            <p:spPr>
              <a:xfrm>
                <a:off x="933906" y="1923899"/>
                <a:ext cx="100388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2</a:t>
                </a:r>
                <a:r>
                  <a:rPr lang="ko-KR" altLang="en-US"/>
                  <a:t>에서 결정된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각 </a:t>
                </a:r>
                <a:r>
                  <a:rPr lang="en-US" altLang="ko-KR"/>
                  <a:t>layer</a:t>
                </a:r>
                <a:r>
                  <a:rPr lang="ko-KR" altLang="en-US"/>
                  <a:t>의 </a:t>
                </a:r>
                <a:r>
                  <a:rPr lang="en-US" altLang="ko-KR"/>
                  <a:t>codebook size </a:t>
                </a:r>
                <a:r>
                  <a:rPr lang="ko-KR" altLang="en-US"/>
                  <a:t>고정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1</a:t>
                </a:r>
                <a:r>
                  <a:rPr lang="ko-KR" altLang="en-US"/>
                  <a:t>의 </a:t>
                </a:r>
                <a:r>
                  <a:rPr lang="en-US" altLang="ko-KR"/>
                  <a:t>mixed operation </a:t>
                </a:r>
                <a:r>
                  <a:rPr lang="ko-KR" altLang="en-US"/>
                  <a:t>대신 단일 </a:t>
                </a:r>
                <a:r>
                  <a:rPr lang="en-US" altLang="ko-KR"/>
                  <a:t>binary conv </a:t>
                </a:r>
                <a:r>
                  <a:rPr lang="ko-KR" altLang="en-US"/>
                  <a:t>구조로 재학습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[Wang et al., 2021]</a:t>
                </a:r>
                <a:r>
                  <a:rPr lang="ko-KR" altLang="en-US"/>
                  <a:t>의 </a:t>
                </a:r>
                <a:r>
                  <a:rPr lang="en-US" altLang="ko-KR"/>
                  <a:t>SNN </a:t>
                </a:r>
                <a:r>
                  <a:rPr lang="ko-KR" altLang="en-US"/>
                  <a:t>학습 절차를 그대로 적용</a:t>
                </a:r>
                <a:r>
                  <a:rPr lang="en-US" altLang="ko-KR"/>
                  <a:t>. </a:t>
                </a:r>
                <a:r>
                  <a:rPr lang="ko-KR" altLang="en-US"/>
                  <a:t>단</a:t>
                </a:r>
                <a:r>
                  <a:rPr lang="en-US" altLang="ko-KR"/>
                  <a:t>, </a:t>
                </a:r>
                <a:r>
                  <a:rPr lang="ko-KR" altLang="en-US"/>
                  <a:t>각 </a:t>
                </a:r>
                <a:r>
                  <a:rPr lang="en-US" altLang="ko-KR"/>
                  <a:t>layer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는 </a:t>
                </a:r>
                <a:r>
                  <a:rPr lang="en-US" altLang="ko-KR"/>
                  <a:t>phase 2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</a:t>
                </a:r>
                <a:r>
                  <a:rPr lang="ko-KR" altLang="en-US"/>
                  <a:t>로 고정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549F9F-F61B-9872-AF60-45F46B373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06" y="1923899"/>
                <a:ext cx="10038894" cy="923330"/>
              </a:xfrm>
              <a:prstGeom prst="rect">
                <a:avLst/>
              </a:prstGeom>
              <a:blipFill>
                <a:blip r:embed="rId4"/>
                <a:stretch>
                  <a:fillRect l="-364" t="-3974" b="-10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84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32D5D-1C44-6F21-9DF3-8F7CC0B4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CIFAR-10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26990-2FE4-341F-C360-7B9D82FB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12B1DB49-E495-C28C-B84B-04118B1BD3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739849"/>
                  </p:ext>
                </p:extLst>
              </p:nvPr>
            </p:nvGraphicFramePr>
            <p:xfrm>
              <a:off x="3069946" y="520023"/>
              <a:ext cx="9122054" cy="5852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259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427183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44109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 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706751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 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91.11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4.88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30336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90.40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3.66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89.31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2.44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(Storage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5Mbit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91.18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0.293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906739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4.5Mbit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0.285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7613600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3.5Mbit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3.45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0.290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90.33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1.99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0.283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(BitOPs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4.73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3144114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4.60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0.0996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0.08G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0.39/1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4.29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0.0795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675686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90.50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4.18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0.0594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12B1DB49-E495-C28C-B84B-04118B1BD3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739849"/>
                  </p:ext>
                </p:extLst>
              </p:nvPr>
            </p:nvGraphicFramePr>
            <p:xfrm>
              <a:off x="3069946" y="520023"/>
              <a:ext cx="9122054" cy="5852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259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427183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44109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108333" r="-200" b="-14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208333" r="-422648" b="-1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70675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308333" r="-422648" b="-1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91.11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4.88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408333" r="-422648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90.40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3.66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508333" r="-422648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89.31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2.44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608333" r="-200" b="-9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696721" r="-422648" b="-8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91.18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0.293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9067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810000" r="-422648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0.285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76136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910000" r="-422648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3.45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0.290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010000" r="-422648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90.33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1.99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0.283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1110000" r="-200" b="-4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210000" r="-422648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4.73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31441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310000" r="-422648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0.42/1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91.23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4.60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0.0996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410000" r="-42264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0.39/1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90.96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4.29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0.0795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675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510000" r="-422648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90.50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4.18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0.0594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BF129-E07B-85A1-48DF-86853F98947D}"/>
                  </a:ext>
                </a:extLst>
              </p:cNvPr>
              <p:cNvSpPr txBox="1"/>
              <p:nvPr/>
            </p:nvSpPr>
            <p:spPr>
              <a:xfrm>
                <a:off x="0" y="1468580"/>
                <a:ext cx="2999232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실험 설정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altLang="ko-KR"/>
                  <a:t>, 100 epochs, ResNet-18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/>
              </a:p>
              <a:p>
                <a:r>
                  <a:rPr lang="ko-KR" altLang="en-US"/>
                  <a:t>결과 </a:t>
                </a:r>
                <a:r>
                  <a:rPr lang="en-US" altLang="ko-KR"/>
                  <a:t>1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≤ 2Mbit: uniform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l-GR" altLang="ko-KR"/>
                  <a:t> </a:t>
                </a:r>
                <a:r>
                  <a:rPr lang="ko-KR" altLang="en-US"/>
                  <a:t>대비 −</a:t>
                </a:r>
                <a:r>
                  <a:rPr lang="en-US" altLang="ko-KR"/>
                  <a:t>0.45Mbit, +1.02%p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≤0.06G: uniform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/>
                  <a:t> 대비 −</a:t>
                </a:r>
                <a:r>
                  <a:rPr lang="en-US" altLang="ko-KR"/>
                  <a:t>0.005G, +0.10%p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/>
              </a:p>
              <a:p>
                <a:r>
                  <a:rPr lang="ko-KR" altLang="en-US"/>
                  <a:t>결과 </a:t>
                </a:r>
                <a:r>
                  <a:rPr lang="en-US" altLang="ko-KR"/>
                  <a:t>2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Storage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2.4x, BitOPs</a:t>
                </a:r>
                <a:r>
                  <a:rPr lang="ko-KR" altLang="en-US"/>
                  <a:t>는 </a:t>
                </a:r>
                <a:r>
                  <a:rPr lang="en-US" altLang="ko-KR"/>
                  <a:t>0.293G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0.283G </a:t>
                </a:r>
                <a:r>
                  <a:rPr lang="ko-KR" altLang="en-US"/>
                  <a:t>소폭 감소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BitOPs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3x , Storage</a:t>
                </a:r>
                <a:r>
                  <a:rPr lang="ko-KR" altLang="en-US"/>
                  <a:t>는 </a:t>
                </a:r>
                <a:r>
                  <a:rPr lang="en-US" altLang="ko-KR"/>
                  <a:t>4.73Mbit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4.18Mbit </a:t>
                </a:r>
                <a:r>
                  <a:rPr lang="ko-KR" altLang="en-US"/>
                  <a:t>소폭 감소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BF129-E07B-85A1-48DF-86853F989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68580"/>
                <a:ext cx="2999232" cy="4801314"/>
              </a:xfrm>
              <a:prstGeom prst="rect">
                <a:avLst/>
              </a:prstGeom>
              <a:blipFill>
                <a:blip r:embed="rId3"/>
                <a:stretch>
                  <a:fillRect l="-1626" t="-761" r="-1626" b="-10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062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500B2-748C-8C43-7C25-8EAB6FA7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TinyImageNet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1847D-F821-527B-2755-83F94B87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E10C9B6-9B00-D09D-66FF-6E110A0BB8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309124"/>
                  </p:ext>
                </p:extLst>
              </p:nvPr>
            </p:nvGraphicFramePr>
            <p:xfrm>
              <a:off x="3069946" y="863604"/>
              <a:ext cx="9122054" cy="548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259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427183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44109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 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706751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 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4.88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30336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47.42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3.66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45.26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2.44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(Storage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4.5Mbit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49.05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3.73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7613600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3.5Mbit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48.73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47.11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1.99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0.183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328969">
                    <a:tc grid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 (BitOPs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49.05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3.73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3144114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3.55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0.08G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48.12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3.46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0.079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675686"/>
                      </a:ext>
                    </a:extLst>
                  </a:tr>
                  <a:tr h="3289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0.30/1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47.13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3.33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0.0597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E10C9B6-9B00-D09D-66FF-6E110A0BB8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309124"/>
                  </p:ext>
                </p:extLst>
              </p:nvPr>
            </p:nvGraphicFramePr>
            <p:xfrm>
              <a:off x="3069946" y="863604"/>
              <a:ext cx="9122054" cy="548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259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751259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427183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44109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108333" r="-200" b="-13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208333" r="-422648" b="-1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70675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308333" r="-422648" b="-1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4.88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408333" r="-422648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47.42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3.66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508333" r="-422648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45.26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2.44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608333" r="-200" b="-8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696721" r="-422648" b="-7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49.05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3.73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76136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810000" r="-422648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48.73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3.47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910000" r="-422648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47.11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1.99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0.183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" t="-1010000" r="-200" b="-4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110000" r="-422648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49.05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3.73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0.191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31441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210000" r="-42264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3.55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0.099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310000" r="-42264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48.12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3.46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0.079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675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8" t="-1410000" r="-42264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0.30/1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47.13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</a:rPr>
                            <a:t>3.33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0.0597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265BC-21AA-EE4A-4E93-991C8716BD6B}"/>
                  </a:ext>
                </a:extLst>
              </p:cNvPr>
              <p:cNvSpPr txBox="1"/>
              <p:nvPr/>
            </p:nvSpPr>
            <p:spPr>
              <a:xfrm>
                <a:off x="0" y="1366163"/>
                <a:ext cx="3069946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실험 설정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altLang="ko-KR"/>
                  <a:t>, 100 epochs, ResNet-18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/>
              </a:p>
              <a:p>
                <a:r>
                  <a:rPr lang="ko-KR" altLang="en-US"/>
                  <a:t>결과 </a:t>
                </a:r>
                <a:r>
                  <a:rPr lang="en-US" altLang="ko-KR"/>
                  <a:t>1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≤ 3.5Mbit: uniform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l-GR" altLang="ko-KR"/>
                  <a:t> </a:t>
                </a:r>
                <a:r>
                  <a:rPr lang="ko-KR" altLang="en-US"/>
                  <a:t>대비 −</a:t>
                </a:r>
                <a:r>
                  <a:rPr lang="en-US" altLang="ko-KR"/>
                  <a:t>0.19Mbit, +0.91%p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≤0.1G: uniform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ko-KR" altLang="en-US"/>
                  <a:t> 대비 </a:t>
                </a:r>
                <a:r>
                  <a:rPr lang="en-US" altLang="ko-KR"/>
                  <a:t>-40%, accuracy </a:t>
                </a:r>
                <a:r>
                  <a:rPr lang="ko-KR" altLang="en-US"/>
                  <a:t>거의 동등</a:t>
                </a:r>
                <a:endParaRPr lang="en-US" altLang="ko-KR"/>
              </a:p>
              <a:p>
                <a:endParaRPr lang="en-US" altLang="ko-KR"/>
              </a:p>
              <a:p>
                <a:r>
                  <a:rPr lang="ko-KR" altLang="en-US"/>
                  <a:t>결과 </a:t>
                </a:r>
                <a:r>
                  <a:rPr lang="en-US" altLang="ko-KR"/>
                  <a:t>2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Storage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1.9x, BitOPs</a:t>
                </a:r>
                <a:r>
                  <a:rPr lang="ko-KR" altLang="en-US"/>
                  <a:t>는 </a:t>
                </a:r>
                <a:r>
                  <a:rPr lang="en-US" altLang="ko-KR"/>
                  <a:t>0.191G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0.183G </a:t>
                </a:r>
                <a:r>
                  <a:rPr lang="ko-KR" altLang="en-US"/>
                  <a:t>소폭 감소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BitOPs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3.2x , Storage</a:t>
                </a:r>
                <a:r>
                  <a:rPr lang="ko-KR" altLang="en-US"/>
                  <a:t>는 </a:t>
                </a:r>
                <a:r>
                  <a:rPr lang="en-US" altLang="ko-KR"/>
                  <a:t>3.73Mbit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3.33Mbit </a:t>
                </a:r>
                <a:r>
                  <a:rPr lang="ko-KR" altLang="en-US"/>
                  <a:t>소폭 감소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265BC-21AA-EE4A-4E93-991C8716B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66163"/>
                <a:ext cx="3069946" cy="5078313"/>
              </a:xfrm>
              <a:prstGeom prst="rect">
                <a:avLst/>
              </a:prstGeom>
              <a:blipFill>
                <a:blip r:embed="rId3"/>
                <a:stretch>
                  <a:fillRect l="-1587" t="-600" r="-1389" b="-9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754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61206-EB83-717C-8978-45B5BD3E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Random Sample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958E22-F1DC-227F-B654-5E1C7C23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FB435F-D4C9-D952-2690-678781A46943}"/>
                  </a:ext>
                </a:extLst>
              </p:cNvPr>
              <p:cNvSpPr txBox="1"/>
              <p:nvPr/>
            </p:nvSpPr>
            <p:spPr>
              <a:xfrm>
                <a:off x="826271" y="1478757"/>
                <a:ext cx="98131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본 </a:t>
                </a:r>
                <a:r>
                  <a:rPr lang="en-US" altLang="ko-KR"/>
                  <a:t>framework</a:t>
                </a:r>
                <a:r>
                  <a:rPr lang="ko-KR" altLang="en-US"/>
                  <a:t>로 학습한 </a:t>
                </a:r>
                <a:r>
                  <a:rPr lang="en-US" altLang="ko-KR"/>
                  <a:t>Mixed-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model(TinyImageNet, Storage=3.73Mbit)</a:t>
                </a:r>
                <a:r>
                  <a:rPr lang="ko-KR" altLang="en-US"/>
                  <a:t>과 동일 </a:t>
                </a:r>
                <a:r>
                  <a:rPr lang="en-US" altLang="ko-KR"/>
                  <a:t>storage </a:t>
                </a:r>
                <a:r>
                  <a:rPr lang="ko-KR" altLang="en-US"/>
                  <a:t>범위</a:t>
                </a:r>
                <a:r>
                  <a:rPr lang="en-US" altLang="ko-KR"/>
                  <a:t>(3.73Mbit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n-US" altLang="ko-KR"/>
                  <a:t>) </a:t>
                </a:r>
                <a:r>
                  <a:rPr lang="ko-KR" altLang="en-US"/>
                  <a:t>의 </a:t>
                </a:r>
                <a:r>
                  <a:rPr lang="en-US" altLang="ko-KR"/>
                  <a:t>random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model 14</a:t>
                </a:r>
                <a:r>
                  <a:rPr lang="ko-KR" altLang="en-US"/>
                  <a:t>개의 </a:t>
                </a:r>
                <a:r>
                  <a:rPr lang="en-US" altLang="ko-KR"/>
                  <a:t>accuracy </a:t>
                </a:r>
                <a:r>
                  <a:rPr lang="ko-KR" altLang="en-US"/>
                  <a:t>비교</a:t>
                </a:r>
                <a:r>
                  <a:rPr lang="en-US" altLang="ko-KR"/>
                  <a:t> </a:t>
                </a:r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FB435F-D4C9-D952-2690-678781A46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71" y="1478757"/>
                <a:ext cx="9813102" cy="646331"/>
              </a:xfrm>
              <a:prstGeom prst="rect">
                <a:avLst/>
              </a:prstGeom>
              <a:blipFill>
                <a:blip r:embed="rId2"/>
                <a:stretch>
                  <a:fillRect l="-559" t="-5660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EF84A0F-513B-7DF2-5D57-56A0B5134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213538"/>
              </p:ext>
            </p:extLst>
          </p:nvPr>
        </p:nvGraphicFramePr>
        <p:xfrm>
          <a:off x="1265789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029338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813189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8037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Storage(Mbit)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Accuracy(%)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Ours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49.05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Random(max)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3.74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48.76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83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Random(mean)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3.72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47.42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Random(min)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3.70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45.76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35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66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29797</TotalTime>
  <Words>3975</Words>
  <Application>Microsoft Office PowerPoint</Application>
  <PresentationFormat>와이드스크린</PresentationFormat>
  <Paragraphs>397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Symbol</vt:lpstr>
      <vt:lpstr>Office 테마</vt:lpstr>
      <vt:lpstr>논문 FLOW</vt:lpstr>
      <vt:lpstr>SNN</vt:lpstr>
      <vt:lpstr>Observation BNN</vt:lpstr>
      <vt:lpstr>Compression</vt:lpstr>
      <vt:lpstr>Acceleration</vt:lpstr>
      <vt:lpstr>SNN의 한계 – uniform τ</vt:lpstr>
      <vt:lpstr>Beyond Uniform τ</vt:lpstr>
      <vt:lpstr>Phase 1 : Differentiable τ search </vt:lpstr>
      <vt:lpstr>Phase 1 : Mixed operation </vt:lpstr>
      <vt:lpstr>Phase 1: storage loss</vt:lpstr>
      <vt:lpstr>Phase 2: overview</vt:lpstr>
      <vt:lpstr>Phase 2: value function</vt:lpstr>
      <vt:lpstr>Phase 2 : Multiple-Choice Knapsack DP</vt:lpstr>
      <vt:lpstr>Phase 3: Retrain with Fixed τ-list</vt:lpstr>
      <vt:lpstr>CIFAR-10</vt:lpstr>
      <vt:lpstr>TinyImageNet</vt:lpstr>
      <vt:lpstr>Random Sample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1363</cp:revision>
  <dcterms:created xsi:type="dcterms:W3CDTF">2023-03-06T16:32:37Z</dcterms:created>
  <dcterms:modified xsi:type="dcterms:W3CDTF">2026-05-20T07:13:32Z</dcterms:modified>
</cp:coreProperties>
</file>