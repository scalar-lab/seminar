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7"/>
  </p:notesMasterIdLst>
  <p:sldIdLst>
    <p:sldId id="256" r:id="rId2"/>
    <p:sldId id="359" r:id="rId3"/>
    <p:sldId id="371" r:id="rId4"/>
    <p:sldId id="372" r:id="rId5"/>
    <p:sldId id="366" r:id="rId6"/>
    <p:sldId id="376" r:id="rId7"/>
    <p:sldId id="375" r:id="rId8"/>
    <p:sldId id="365" r:id="rId9"/>
    <p:sldId id="367" r:id="rId10"/>
    <p:sldId id="364" r:id="rId11"/>
    <p:sldId id="357" r:id="rId12"/>
    <p:sldId id="373" r:id="rId13"/>
    <p:sldId id="368" r:id="rId14"/>
    <p:sldId id="369" r:id="rId15"/>
    <p:sldId id="374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65549" autoAdjust="0"/>
  </p:normalViewPr>
  <p:slideViewPr>
    <p:cSldViewPr snapToGrid="0">
      <p:cViewPr>
        <p:scale>
          <a:sx n="123" d="100"/>
          <a:sy n="123" d="100"/>
        </p:scale>
        <p:origin x="174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9" d="100"/>
        <a:sy n="99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B4688-E0ED-9E22-9ADF-A992CC38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2FB8E-F2C7-601A-814B-26EEA6267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1BDBC5-9AFD-7E2F-D427-497BA9B8D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Polygon </a:t>
            </a:r>
            <a:r>
              <a:rPr lang="en-US" altLang="ko-KR" dirty="0" err="1"/>
              <a:t>zkEVM</a:t>
            </a:r>
            <a:r>
              <a:rPr lang="en-US" altLang="ko-KR" dirty="0"/>
              <a:t>, Aztec</a:t>
            </a:r>
            <a:r>
              <a:rPr lang="ko-KR" altLang="en-US" dirty="0"/>
              <a:t>의 깊이가 </a:t>
            </a:r>
            <a:r>
              <a:rPr lang="en-US" altLang="ko-KR" dirty="0"/>
              <a:t>~32. </a:t>
            </a:r>
            <a:r>
              <a:rPr lang="ko-KR" altLang="en-US" dirty="0"/>
              <a:t>실용적 </a:t>
            </a:r>
            <a:r>
              <a:rPr lang="en-US" altLang="ko-KR" dirty="0"/>
              <a:t>mid-range</a:t>
            </a:r>
          </a:p>
          <a:p>
            <a:pPr marL="0" indent="0">
              <a:buNone/>
            </a:pPr>
            <a:r>
              <a:rPr lang="en-US" altLang="ko-KR" b="1" dirty="0"/>
              <a:t>Poseidon t=3 (arity 2) </a:t>
            </a:r>
            <a:r>
              <a:rPr lang="ko-KR" altLang="en-US" dirty="0"/>
              <a:t>모든 주요 </a:t>
            </a:r>
            <a:r>
              <a:rPr lang="en-US" altLang="ko-KR" dirty="0"/>
              <a:t>ZK-rollup (</a:t>
            </a:r>
            <a:r>
              <a:rPr lang="en-US" altLang="ko-KR" dirty="0" err="1"/>
              <a:t>zkSync</a:t>
            </a:r>
            <a:r>
              <a:rPr lang="en-US" altLang="ko-KR" dirty="0"/>
              <a:t>, Polygon, Scroll)</a:t>
            </a:r>
            <a:r>
              <a:rPr lang="ko-KR" altLang="en-US" dirty="0"/>
              <a:t>이 채택한 표준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8EE90-0FB9-E8AB-52B7-6FBA5B29C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721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E6DA-6A93-C4A9-E36C-BBC034AB8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77B8E0-F11E-6C0C-8F87-00093A702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74E3B4-94FC-524C-3ABA-F9E346278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34F073-A093-B5C9-A3F2-B584D5B44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454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820A5-5450-F70A-2A67-A04CFB81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E153E8-4C0C-EFA5-1D50-7164B73C1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3E0094-BBE8-BC46-D7CF-98A39F9A0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56C65B-E1C1-8A35-2B07-771C39A4A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201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0A8F3-D75D-E524-8C3D-66EA037E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EC5E04-B3AA-0274-27CE-83FC57BBF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145108-A413-10E1-22DC-49EB7EF04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39685E-288F-CFA2-D152-942FDAF32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522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3ADD-0358-485F-08CB-310CAB2BC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23783B-436A-F564-93C1-9AF21C031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B2131D-C926-400F-8561-E1D679347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【Experimental Setup】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Hardware</a:t>
            </a:r>
          </a:p>
          <a:p>
            <a:pPr marL="0" indent="0">
              <a:buNone/>
            </a:pPr>
            <a:r>
              <a:rPr kumimoji="1" lang="en-US" altLang="ko-KR" dirty="0"/>
              <a:t>- CPU: AMD Ryzen 9 7900X (12-core, 5.6 GHz boost)</a:t>
            </a:r>
          </a:p>
          <a:p>
            <a:pPr marL="0" indent="0">
              <a:buNone/>
            </a:pPr>
            <a:r>
              <a:rPr kumimoji="1" lang="en-US" altLang="ko-KR" dirty="0"/>
              <a:t>- RAM: 124 GiB DDR5</a:t>
            </a:r>
          </a:p>
          <a:p>
            <a:pPr marL="0" indent="0">
              <a:buNone/>
            </a:pPr>
            <a:r>
              <a:rPr kumimoji="1" lang="en-US" altLang="ko-KR" dirty="0"/>
              <a:t>- OS: Ubuntu 24.04 LTS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Software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Circom</a:t>
            </a:r>
            <a:r>
              <a:rPr kumimoji="1" lang="en-US" altLang="ko-KR" dirty="0"/>
              <a:t> 2.2.3 (circuit compiler)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snarkjs</a:t>
            </a:r>
            <a:r>
              <a:rPr kumimoji="1" lang="en-US" altLang="ko-KR" dirty="0"/>
              <a:t> 0.7.6 (Groth16 prover, Node.js)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rapidsnark</a:t>
            </a:r>
            <a:r>
              <a:rPr kumimoji="1" lang="en-US" altLang="ko-KR" dirty="0"/>
              <a:t> (latest, C++ Intel ASM optimized)</a:t>
            </a:r>
          </a:p>
          <a:p>
            <a:pPr marL="0" indent="0">
              <a:buNone/>
            </a:pPr>
            <a:r>
              <a:rPr kumimoji="1" lang="en-US" altLang="ko-KR" dirty="0"/>
              <a:t>- light-</a:t>
            </a:r>
            <a:r>
              <a:rPr kumimoji="1" lang="en-US" altLang="ko-KR" dirty="0" err="1"/>
              <a:t>poseidon</a:t>
            </a:r>
            <a:r>
              <a:rPr kumimoji="1" lang="en-US" altLang="ko-KR" dirty="0"/>
              <a:t> 0.3.0 (Rust, </a:t>
            </a:r>
            <a:r>
              <a:rPr kumimoji="1" lang="en-US" altLang="ko-KR" dirty="0" err="1"/>
              <a:t>Veridise</a:t>
            </a:r>
            <a:r>
              <a:rPr kumimoji="1" lang="en-US" altLang="ko-KR" dirty="0"/>
              <a:t>-audited)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circomlibjs</a:t>
            </a:r>
            <a:r>
              <a:rPr kumimoji="1" lang="en-US" altLang="ko-KR" dirty="0"/>
              <a:t> (JS Poseidon)</a:t>
            </a:r>
          </a:p>
          <a:p>
            <a:pPr marL="0" indent="0">
              <a:buNone/>
            </a:pPr>
            <a:r>
              <a:rPr kumimoji="1" lang="en-US" altLang="ko-KR" dirty="0"/>
              <a:t>- Foundry forge 1.7.1 (Solidity gas measurement)</a:t>
            </a:r>
          </a:p>
          <a:p>
            <a:pPr marL="0" indent="0">
              <a:buNone/>
            </a:pPr>
            <a:r>
              <a:rPr kumimoji="1" lang="en-US" altLang="ko-KR" dirty="0"/>
              <a:t>- Solidity 0.8.20 (post-London EVM, EIP-3529 </a:t>
            </a:r>
            <a:r>
              <a:rPr kumimoji="1" lang="ko-KR" altLang="en-US" dirty="0"/>
              <a:t>적용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Methodology</a:t>
            </a:r>
          </a:p>
          <a:p>
            <a:pPr marL="0" indent="0">
              <a:buNone/>
            </a:pPr>
            <a:r>
              <a:rPr kumimoji="1" lang="en-US" altLang="ko-KR" dirty="0"/>
              <a:t>- Curve: BN254 (Ethereum </a:t>
            </a:r>
            <a:r>
              <a:rPr kumimoji="1" lang="ko-KR" altLang="en-US" dirty="0"/>
              <a:t>호환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r>
              <a:rPr kumimoji="1" lang="en-US" altLang="ko-KR" dirty="0"/>
              <a:t>- Hash: Poseidon t=3 (arity 2, </a:t>
            </a:r>
            <a:r>
              <a:rPr kumimoji="1" lang="en-US" altLang="ko-KR" dirty="0" err="1"/>
              <a:t>circomlib</a:t>
            </a:r>
            <a:r>
              <a:rPr kumimoji="1" lang="en-US" altLang="ko-KR" dirty="0"/>
              <a:t> </a:t>
            </a:r>
            <a:r>
              <a:rPr kumimoji="1" lang="ko-KR" altLang="en-US" dirty="0"/>
              <a:t>표준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r>
              <a:rPr kumimoji="1" lang="en-US" altLang="ko-KR" dirty="0"/>
              <a:t>- Merkle depth: h ∈ {10, 20, 32}</a:t>
            </a:r>
          </a:p>
          <a:p>
            <a:pPr marL="0" indent="0">
              <a:buNone/>
            </a:pPr>
            <a:r>
              <a:rPr kumimoji="1" lang="en-US" altLang="ko-KR" dirty="0"/>
              <a:t>- Random samples: n=50 per config</a:t>
            </a:r>
          </a:p>
          <a:p>
            <a:pPr marL="0" indent="0">
              <a:buNone/>
            </a:pPr>
            <a:r>
              <a:rPr kumimoji="1" lang="en-US" altLang="ko-KR" dirty="0"/>
              <a:t>- Statistical: mean ± std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Reference Standards</a:t>
            </a:r>
          </a:p>
          <a:p>
            <a:pPr marL="0" indent="0">
              <a:buNone/>
            </a:pPr>
            <a:r>
              <a:rPr kumimoji="1" lang="en-US" altLang="ko-KR" dirty="0"/>
              <a:t>- Poseidon (USENIX'21), Reinforced Concrete (CCS'22)</a:t>
            </a:r>
          </a:p>
          <a:p>
            <a:pPr marL="0" indent="0">
              <a:buNone/>
            </a:pPr>
            <a:r>
              <a:rPr kumimoji="1" lang="en-US" altLang="ko-KR" dirty="0"/>
              <a:t>- ZK-Harness (IACR'23) benchmark framework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B6DD37-EDEA-024E-7A75-0AE84A76B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862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ABAED-4DFC-D2F8-02C7-97E44A602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A3AC73-D590-A8B8-5AEF-0F605164A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BF706B-4B29-DB6D-A046-9725B6E31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【Experimental Setup】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Hardware</a:t>
            </a:r>
          </a:p>
          <a:p>
            <a:pPr marL="0" indent="0">
              <a:buNone/>
            </a:pPr>
            <a:r>
              <a:rPr kumimoji="1" lang="en-US" altLang="ko-KR" dirty="0"/>
              <a:t>- CPU: AMD Ryzen 9 7900X (12-core, 5.6 GHz boost)</a:t>
            </a:r>
          </a:p>
          <a:p>
            <a:pPr marL="0" indent="0">
              <a:buNone/>
            </a:pPr>
            <a:r>
              <a:rPr kumimoji="1" lang="en-US" altLang="ko-KR" dirty="0"/>
              <a:t>- RAM: 124 GiB DDR5</a:t>
            </a:r>
          </a:p>
          <a:p>
            <a:pPr marL="0" indent="0">
              <a:buNone/>
            </a:pPr>
            <a:r>
              <a:rPr kumimoji="1" lang="en-US" altLang="ko-KR" dirty="0"/>
              <a:t>- OS: Ubuntu 24.04 LTS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Software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Circom</a:t>
            </a:r>
            <a:r>
              <a:rPr kumimoji="1" lang="en-US" altLang="ko-KR" dirty="0"/>
              <a:t> 2.2.3 (circuit compiler)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snarkjs</a:t>
            </a:r>
            <a:r>
              <a:rPr kumimoji="1" lang="en-US" altLang="ko-KR" dirty="0"/>
              <a:t> 0.7.6 (Groth16 prover, Node.js)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rapidsnark</a:t>
            </a:r>
            <a:r>
              <a:rPr kumimoji="1" lang="en-US" altLang="ko-KR" dirty="0"/>
              <a:t> (latest, C++ Intel ASM optimized)</a:t>
            </a:r>
          </a:p>
          <a:p>
            <a:pPr marL="0" indent="0">
              <a:buNone/>
            </a:pPr>
            <a:r>
              <a:rPr kumimoji="1" lang="en-US" altLang="ko-KR" dirty="0"/>
              <a:t>- light-</a:t>
            </a:r>
            <a:r>
              <a:rPr kumimoji="1" lang="en-US" altLang="ko-KR" dirty="0" err="1"/>
              <a:t>poseidon</a:t>
            </a:r>
            <a:r>
              <a:rPr kumimoji="1" lang="en-US" altLang="ko-KR" dirty="0"/>
              <a:t> 0.3.0 (Rust, </a:t>
            </a:r>
            <a:r>
              <a:rPr kumimoji="1" lang="en-US" altLang="ko-KR" dirty="0" err="1"/>
              <a:t>Veridise</a:t>
            </a:r>
            <a:r>
              <a:rPr kumimoji="1" lang="en-US" altLang="ko-KR" dirty="0"/>
              <a:t>-audited)</a:t>
            </a:r>
          </a:p>
          <a:p>
            <a:pPr marL="0" indent="0">
              <a:buNone/>
            </a:pPr>
            <a:r>
              <a:rPr kumimoji="1" lang="en-US" altLang="ko-KR" dirty="0"/>
              <a:t>- </a:t>
            </a:r>
            <a:r>
              <a:rPr kumimoji="1" lang="en-US" altLang="ko-KR" dirty="0" err="1"/>
              <a:t>circomlibjs</a:t>
            </a:r>
            <a:r>
              <a:rPr kumimoji="1" lang="en-US" altLang="ko-KR" dirty="0"/>
              <a:t> (JS Poseidon)</a:t>
            </a:r>
          </a:p>
          <a:p>
            <a:pPr marL="0" indent="0">
              <a:buNone/>
            </a:pPr>
            <a:r>
              <a:rPr kumimoji="1" lang="en-US" altLang="ko-KR" dirty="0"/>
              <a:t>- Foundry forge 1.7.1 (Solidity gas measurement)</a:t>
            </a:r>
          </a:p>
          <a:p>
            <a:pPr marL="0" indent="0">
              <a:buNone/>
            </a:pPr>
            <a:r>
              <a:rPr kumimoji="1" lang="en-US" altLang="ko-KR" dirty="0"/>
              <a:t>- Solidity 0.8.20 (post-London EVM, EIP-3529 </a:t>
            </a:r>
            <a:r>
              <a:rPr kumimoji="1" lang="ko-KR" altLang="en-US" dirty="0"/>
              <a:t>적용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Methodology</a:t>
            </a:r>
          </a:p>
          <a:p>
            <a:pPr marL="0" indent="0">
              <a:buNone/>
            </a:pPr>
            <a:r>
              <a:rPr kumimoji="1" lang="en-US" altLang="ko-KR" dirty="0"/>
              <a:t>- Curve: BN254 (Ethereum </a:t>
            </a:r>
            <a:r>
              <a:rPr kumimoji="1" lang="ko-KR" altLang="en-US" dirty="0"/>
              <a:t>호환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r>
              <a:rPr kumimoji="1" lang="en-US" altLang="ko-KR" dirty="0"/>
              <a:t>- Hash: Poseidon t=3 (arity 2, </a:t>
            </a:r>
            <a:r>
              <a:rPr kumimoji="1" lang="en-US" altLang="ko-KR" dirty="0" err="1"/>
              <a:t>circomlib</a:t>
            </a:r>
            <a:r>
              <a:rPr kumimoji="1" lang="en-US" altLang="ko-KR" dirty="0"/>
              <a:t> </a:t>
            </a:r>
            <a:r>
              <a:rPr kumimoji="1" lang="ko-KR" altLang="en-US" dirty="0"/>
              <a:t>표준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r>
              <a:rPr kumimoji="1" lang="en-US" altLang="ko-KR" dirty="0"/>
              <a:t>- Merkle depth: h ∈ {10, 20, 32}</a:t>
            </a:r>
          </a:p>
          <a:p>
            <a:pPr marL="0" indent="0">
              <a:buNone/>
            </a:pPr>
            <a:r>
              <a:rPr kumimoji="1" lang="en-US" altLang="ko-KR" dirty="0"/>
              <a:t>- Random samples: n=50 per config</a:t>
            </a:r>
          </a:p>
          <a:p>
            <a:pPr marL="0" indent="0">
              <a:buNone/>
            </a:pPr>
            <a:r>
              <a:rPr kumimoji="1" lang="en-US" altLang="ko-KR" dirty="0"/>
              <a:t>- Statistical: mean ± std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Reference Standards</a:t>
            </a:r>
          </a:p>
          <a:p>
            <a:pPr marL="0" indent="0">
              <a:buNone/>
            </a:pPr>
            <a:r>
              <a:rPr kumimoji="1" lang="en-US" altLang="ko-KR" dirty="0"/>
              <a:t>- Poseidon (USENIX'21), Reinforced Concrete (CCS'22)</a:t>
            </a:r>
          </a:p>
          <a:p>
            <a:pPr marL="0" indent="0">
              <a:buNone/>
            </a:pPr>
            <a:r>
              <a:rPr kumimoji="1" lang="en-US" altLang="ko-KR" dirty="0"/>
              <a:t>- ZK-Harness (IACR'23) benchmark framework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1CA4FC-FCFD-6EE1-AF1F-A3861786E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686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BBF8-7C79-5952-F203-5A7BAA08A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6D6759-7052-0411-DA6B-0EE4CF3756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8C2102-3962-4434-8C18-9833F3C88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Inline</a:t>
            </a:r>
            <a:r>
              <a:rPr kumimoji="1" lang="ko-KR" altLang="en-US" dirty="0"/>
              <a:t>으로 비교 지표 하는 것이 더 좋을 듯함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EIP-3529</a:t>
            </a:r>
            <a:r>
              <a:rPr kumimoji="1" lang="ko-KR" altLang="en-US" dirty="0"/>
              <a:t>를 반영하여 측정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(Solidity 0.8.20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Foundry </a:t>
            </a:r>
            <a:r>
              <a:rPr kumimoji="1" lang="ko-KR" altLang="en-US" dirty="0"/>
              <a:t>기본 설정이 </a:t>
            </a:r>
            <a:r>
              <a:rPr kumimoji="1" lang="en-US" altLang="ko-KR" dirty="0"/>
              <a:t>2021</a:t>
            </a:r>
            <a:r>
              <a:rPr kumimoji="1" lang="ko-KR" altLang="en-US" dirty="0"/>
              <a:t>년 이후의 </a:t>
            </a:r>
            <a:r>
              <a:rPr kumimoji="1" lang="en-US" altLang="ko-KR" dirty="0"/>
              <a:t>EVM </a:t>
            </a:r>
            <a:r>
              <a:rPr kumimoji="1" lang="ko-KR" altLang="en-US" dirty="0"/>
              <a:t>규칙을 따르기 때문에 자동으로 적용된 것</a:t>
            </a:r>
            <a:r>
              <a:rPr kumimoji="1" lang="en-US" altLang="ko-KR" dirty="0"/>
              <a:t>)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Verifier </a:t>
            </a:r>
            <a:r>
              <a:rPr kumimoji="1" lang="ko-KR" altLang="en-US" dirty="0"/>
              <a:t>측면에서는 </a:t>
            </a:r>
            <a:r>
              <a:rPr kumimoji="1" lang="en-US" altLang="ko-KR" dirty="0"/>
              <a:t>Strategy 1</a:t>
            </a:r>
            <a:r>
              <a:rPr kumimoji="1" lang="ko-KR" altLang="en-US" dirty="0"/>
              <a:t>의 효율이 더 좋고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대신 </a:t>
            </a:r>
            <a:r>
              <a:rPr kumimoji="1" lang="en-US" altLang="ko-KR" dirty="0"/>
              <a:t>Prover</a:t>
            </a:r>
            <a:r>
              <a:rPr kumimoji="1" lang="ko-KR" altLang="en-US" dirty="0"/>
              <a:t>의 부담이 조금 늘어남을 알 수 있음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Foundry</a:t>
            </a:r>
          </a:p>
          <a:p>
            <a:pPr marL="0" indent="0">
              <a:buNone/>
            </a:pPr>
            <a:r>
              <a:rPr kumimoji="1" lang="en-US" altLang="ko-KR" dirty="0"/>
              <a:t>ZK-rollup </a:t>
            </a:r>
            <a:r>
              <a:rPr kumimoji="1" lang="ko-KR" altLang="en-US" dirty="0"/>
              <a:t>연구에서 표준으로 채택하고 있음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EVM </a:t>
            </a:r>
            <a:r>
              <a:rPr kumimoji="1" lang="ko-KR" altLang="en-US" dirty="0"/>
              <a:t>정확하게 시뮬레이션 할 수 있음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ko-KR" altLang="en-US" dirty="0"/>
              <a:t>함수별 </a:t>
            </a:r>
            <a:r>
              <a:rPr kumimoji="1" lang="en-US" altLang="ko-KR" dirty="0"/>
              <a:t>gas </a:t>
            </a:r>
            <a:r>
              <a:rPr kumimoji="1" lang="ko-KR" altLang="en-US" dirty="0"/>
              <a:t>측정에 용이</a:t>
            </a: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Snapshot </a:t>
            </a:r>
            <a:r>
              <a:rPr kumimoji="1" lang="ko-KR" altLang="en-US" dirty="0"/>
              <a:t>가능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lang="ko-KR" altLang="en-US" b="1" dirty="0"/>
              <a:t>상세 분석</a:t>
            </a:r>
            <a:r>
              <a:rPr lang="en-US" altLang="ko-KR" dirty="0"/>
              <a:t>:</a:t>
            </a:r>
          </a:p>
          <a:p>
            <a:r>
              <a:rPr lang="en-US" altLang="ko-KR" b="1" dirty="0"/>
              <a:t>min</a:t>
            </a:r>
            <a:r>
              <a:rPr lang="en-US" altLang="ko-KR" dirty="0"/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abi.encodePacked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(uint8(0x01), bytes32(r))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33 bytes </a:t>
            </a:r>
            <a:r>
              <a:rPr lang="ko-KR" altLang="en-US" dirty="0"/>
              <a:t>메모리 할당 </a:t>
            </a:r>
            <a:r>
              <a:rPr lang="en-US" altLang="ko-KR" dirty="0"/>
              <a:t>(32-byte word boundary </a:t>
            </a:r>
            <a:r>
              <a:rPr lang="ko-KR" altLang="en-US" dirty="0" err="1"/>
              <a:t>미정렬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추가 </a:t>
            </a:r>
            <a:r>
              <a:rPr lang="en-US" altLang="ko-KR" dirty="0"/>
              <a:t>MSTORE/MLOAD </a:t>
            </a:r>
            <a:r>
              <a:rPr lang="ko-KR" altLang="en-US" dirty="0"/>
              <a:t>필요 </a:t>
            </a:r>
            <a:r>
              <a:rPr lang="en-US" altLang="ko-KR" dirty="0"/>
              <a:t>(1-byte </a:t>
            </a:r>
            <a:r>
              <a:rPr lang="ko-KR" altLang="en-US" dirty="0"/>
              <a:t>처리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prod</a:t>
            </a:r>
            <a:r>
              <a:rPr lang="en-US" altLang="ko-KR" dirty="0"/>
              <a:t>: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abi.encodePacked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(bytes32(DS), bytes32(r))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64 bytes </a:t>
            </a:r>
            <a:r>
              <a:rPr lang="ko-KR" altLang="en-US" dirty="0"/>
              <a:t>메모리 할당 </a:t>
            </a:r>
            <a:r>
              <a:rPr lang="en-US" altLang="ko-KR" dirty="0"/>
              <a:t>(</a:t>
            </a:r>
            <a:r>
              <a:rPr lang="ko-KR" altLang="en-US" dirty="0"/>
              <a:t>정확히 </a:t>
            </a:r>
            <a:r>
              <a:rPr lang="en-US" altLang="ko-KR" dirty="0"/>
              <a:t>2 words, </a:t>
            </a:r>
            <a:r>
              <a:rPr lang="en-US" altLang="ko-KR" b="1" dirty="0"/>
              <a:t>word-aligned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단순 </a:t>
            </a:r>
            <a:r>
              <a:rPr lang="en-US" altLang="ko-KR" dirty="0"/>
              <a:t>MSTORE 2</a:t>
            </a:r>
            <a:r>
              <a:rPr lang="ko-KR" altLang="en-US" dirty="0"/>
              <a:t>회</a:t>
            </a:r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lang="en-US" altLang="ko-KR" b="1" dirty="0"/>
              <a:t>EVM</a:t>
            </a:r>
            <a:r>
              <a:rPr lang="ko-KR" altLang="en-US" b="1" dirty="0"/>
              <a:t>은 </a:t>
            </a:r>
            <a:r>
              <a:rPr lang="en-US" altLang="ko-KR" b="1" dirty="0"/>
              <a:t>32-byte word </a:t>
            </a:r>
            <a:r>
              <a:rPr lang="ko-KR" altLang="en-US" b="1" dirty="0"/>
              <a:t>단위로 효율적</a:t>
            </a:r>
            <a:r>
              <a:rPr lang="en-US" altLang="ko-KR" dirty="0"/>
              <a:t>. 33 bytes</a:t>
            </a:r>
            <a:r>
              <a:rPr lang="ko-KR" altLang="en-US" dirty="0"/>
              <a:t>처럼 </a:t>
            </a:r>
            <a:r>
              <a:rPr lang="en-US" altLang="ko-KR" i="1" dirty="0"/>
              <a:t>misaligned</a:t>
            </a:r>
            <a:r>
              <a:rPr lang="ko-KR" altLang="en-US" dirty="0"/>
              <a:t>한 경우 추가 </a:t>
            </a:r>
            <a:r>
              <a:rPr lang="en-US" altLang="ko-KR" dirty="0"/>
              <a:t>8 gas </a:t>
            </a:r>
            <a:r>
              <a:rPr lang="ko-KR" altLang="en-US" dirty="0"/>
              <a:t>소비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CCDE9-F615-2D65-0D18-C7F88796B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085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7D26-1EA1-E48B-AC3E-89928EB13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619E45-2B6F-9F09-34D7-3094C4780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4361CBB-F383-DA80-26D4-973B3F7B4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B8533-BD33-50E7-8643-112E0F04C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01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8F09-5E09-9FD9-BBC7-DE4793990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58CC1B-71AC-06FD-B842-66EE88D1A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0F9793-5F7D-8065-E9D8-3A91D5BC7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r>
              <a:rPr lang="en-US" altLang="ko-KR" dirty="0"/>
              <a:t>【</a:t>
            </a:r>
            <a:r>
              <a:rPr lang="ko-KR" altLang="en-US" dirty="0"/>
              <a:t>측정 환경</a:t>
            </a:r>
            <a:r>
              <a:rPr lang="en-US" altLang="ko-KR" dirty="0"/>
              <a:t>】 - CPU: AMD Ryzen 9 7900X (12-core, 5.6 GHz) - RAM: 124 GiB - OS: Ubuntu 24 - </a:t>
            </a:r>
            <a:r>
              <a:rPr lang="en-US" altLang="ko-KR" dirty="0" err="1"/>
              <a:t>Circom</a:t>
            </a:r>
            <a:r>
              <a:rPr lang="en-US" altLang="ko-KR" dirty="0"/>
              <a:t> 2.2.3, </a:t>
            </a:r>
            <a:r>
              <a:rPr lang="en-US" altLang="ko-KR" dirty="0" err="1"/>
              <a:t>snarkjs</a:t>
            </a:r>
            <a:r>
              <a:rPr lang="en-US" altLang="ko-KR" dirty="0"/>
              <a:t> 0.7.6, </a:t>
            </a:r>
            <a:r>
              <a:rPr lang="en-US" altLang="ko-KR" dirty="0" err="1"/>
              <a:t>rapidsnark</a:t>
            </a:r>
            <a:r>
              <a:rPr lang="en-US" altLang="ko-KR" dirty="0"/>
              <a:t> (latest)</a:t>
            </a:r>
            <a:endParaRPr lang="en-US" altLang="ko-KR" sz="1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56769B-2B55-5321-A071-25BFFC9AA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35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F263-0E21-9225-9B73-5B8B43D7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269540-658D-249F-EED3-79AC4EDDC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7FCEF0-4B46-80C1-75DB-072693342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ko-KR" dirty="0"/>
              <a:t>h=32</a:t>
            </a:r>
            <a:r>
              <a:rPr kumimoji="1" lang="ko-KR" altLang="en-US" dirty="0"/>
              <a:t>인 </a:t>
            </a:r>
            <a:r>
              <a:rPr kumimoji="1" lang="en-US" altLang="ko-KR" dirty="0"/>
              <a:t>Merkle </a:t>
            </a:r>
            <a:r>
              <a:rPr kumimoji="1" lang="ko-KR" altLang="en-US" dirty="0"/>
              <a:t>트리에서의 측정 시간 비교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Prove generation time</a:t>
            </a:r>
            <a:r>
              <a:rPr kumimoji="1" lang="ko-KR" altLang="en-US" dirty="0"/>
              <a:t>을 측정할거면 제대로 측정하거나 제대로 측정한 결과를 가져오는 것이 좋을 듯함</a:t>
            </a:r>
            <a:endParaRPr kumimoji="1" lang="en-US" altLang="ko-KR" dirty="0"/>
          </a:p>
          <a:p>
            <a:pPr marL="0" indent="0">
              <a:buNone/>
            </a:pPr>
            <a:endParaRPr kumimoji="1" lang="en-US" altLang="ko-KR" dirty="0"/>
          </a:p>
          <a:p>
            <a:pPr marL="0" indent="0">
              <a:buNone/>
            </a:pPr>
            <a:r>
              <a:rPr kumimoji="1" lang="en-US" altLang="ko-KR" dirty="0"/>
              <a:t>Wrapper overhead</a:t>
            </a:r>
            <a:r>
              <a:rPr kumimoji="1" lang="ko-KR" altLang="en-US" dirty="0"/>
              <a:t>를 제거한 부분</a:t>
            </a: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A2580A-9813-F14F-F30F-F176EA254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793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487A7-7A03-F850-4C85-FB5A913E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2CEECD-34D6-0698-2C12-E88C03FA8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938BE-58AF-BF98-C11C-7E05884C5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AA118-4717-E15B-0DB9-70B7E256F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44051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20437-B306-EAD3-F935-70DD30A4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D0689-98D5-685A-0374-88546DEB0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CF79DC-34DA-8D9C-FEC6-A9643EBA5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497E1F-D9CD-0263-3F20-005EAC13C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75103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5B8A4-9E8E-E0CE-B462-348B9C71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43592-98C9-F471-8BC5-1309ED7454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8EA598-D18B-B202-1D08-8AFF1DB75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E9543-4DF6-F91E-1711-7E84A0A3C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426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D640-A336-43F1-A28E-E40D4E4E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5E7EB3C-FB53-93B0-FB5A-C56251182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BFCCE8-1D85-F803-55E4-7B23535B0C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7A32F1-6377-57C0-E15E-7D77817D5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598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28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7506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655" y="2463266"/>
            <a:ext cx="10453006" cy="1604508"/>
          </a:xfrm>
        </p:spPr>
        <p:txBody>
          <a:bodyPr lIns="90000" anchor="ctr" anchorCtr="0">
            <a:normAutofit/>
          </a:bodyPr>
          <a:lstStyle/>
          <a:p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 Evaluation</a:t>
            </a:r>
            <a:endParaRPr lang="ko-KR" altLang="en-US" sz="32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774195" y="1666695"/>
            <a:ext cx="2120261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05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27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D1BC4-FAA3-5D0E-1025-3B036561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B276F-19C1-425D-C3E1-BC306B10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Measurement Scenario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3D765F-8D9E-B227-E126-E149A82BA680}"/>
                  </a:ext>
                </a:extLst>
              </p:cNvPr>
              <p:cNvSpPr txBox="1"/>
              <p:nvPr/>
            </p:nvSpPr>
            <p:spPr>
              <a:xfrm>
                <a:off x="557560" y="1657815"/>
                <a:ext cx="11092469" cy="12926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Off-chain prover</a:t>
                </a:r>
                <a:r>
                  <a:rPr lang="ko-KR" altLang="en-US" b="1" dirty="0"/>
                  <a:t>가 </a:t>
                </a:r>
                <a:r>
                  <a:rPr lang="en-US" altLang="ko-KR" b="1" dirty="0"/>
                  <a:t>Merkle root</a:t>
                </a:r>
                <a:r>
                  <a:rPr lang="ko-KR" altLang="en-US" b="1" dirty="0"/>
                  <a:t>를 생성하고 </a:t>
                </a:r>
                <a:r>
                  <a:rPr lang="en-US" altLang="ko-KR" b="1" dirty="0"/>
                  <a:t>on-chain verifier</a:t>
                </a:r>
                <a:r>
                  <a:rPr lang="ko-KR" altLang="en-US" b="1" dirty="0"/>
                  <a:t>가 검증하는 표준 </a:t>
                </a:r>
                <a:r>
                  <a:rPr lang="en-US" altLang="ko-KR" b="1" dirty="0"/>
                  <a:t>ZK-Rollup </a:t>
                </a:r>
                <a:r>
                  <a:rPr lang="ko-KR" altLang="en-US" b="1" dirty="0"/>
                  <a:t>파이프라인</a:t>
                </a:r>
                <a:endParaRPr lang="en-US" altLang="ko-KR" b="1" dirty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 err="1"/>
                  <a:t>Sequncer</a:t>
                </a:r>
                <a:r>
                  <a:rPr lang="ko-KR" altLang="en-US" sz="1400" dirty="0"/>
                  <a:t> → </a:t>
                </a:r>
                <a:r>
                  <a:rPr lang="en-US" altLang="ko-KR" sz="1400" dirty="0"/>
                  <a:t>Prover</a:t>
                </a:r>
                <a:r>
                  <a:rPr lang="ko-KR" altLang="en-US" sz="1400" dirty="0"/>
                  <a:t> → </a:t>
                </a:r>
                <a:r>
                  <a:rPr lang="en-US" altLang="ko-KR" sz="1400" dirty="0"/>
                  <a:t>Verifier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h = 32, 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ko-KR" altLang="en-US" sz="1400" dirty="0"/>
                  <a:t>인 </a:t>
                </a:r>
                <a:r>
                  <a:rPr lang="en-US" altLang="ko-KR" sz="1400" dirty="0" err="1"/>
                  <a:t>merkle</a:t>
                </a:r>
                <a:r>
                  <a:rPr lang="en-US" altLang="ko-KR" sz="1400" dirty="0"/>
                  <a:t> tree</a:t>
                </a:r>
                <a:r>
                  <a:rPr lang="ko-KR" altLang="en-US" sz="1400" dirty="0"/>
                  <a:t>의 </a:t>
                </a:r>
                <a:r>
                  <a:rPr lang="en-US" altLang="ko-KR" sz="1400" dirty="0"/>
                  <a:t>leaf</a:t>
                </a:r>
                <a:r>
                  <a:rPr lang="ko-KR" altLang="en-US" sz="1400" dirty="0"/>
                  <a:t>가 </a:t>
                </a:r>
                <a:r>
                  <a:rPr lang="en-US" altLang="ko-KR" sz="1400" dirty="0"/>
                  <a:t>1</a:t>
                </a:r>
                <a:r>
                  <a:rPr lang="ko-KR" altLang="en-US" sz="1400" dirty="0"/>
                  <a:t>개 </a:t>
                </a:r>
                <a:r>
                  <a:rPr lang="en-US" altLang="ko-KR" sz="1400" dirty="0"/>
                  <a:t>update </a:t>
                </a:r>
                <a:r>
                  <a:rPr lang="ko-KR" altLang="en-US" sz="1400" dirty="0"/>
                  <a:t>되는 상황을 가정</a:t>
                </a: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Poseidon : t = 3, arity 2, BN254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3D765F-8D9E-B227-E126-E149A82BA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60" y="1657815"/>
                <a:ext cx="11092469" cy="1292662"/>
              </a:xfrm>
              <a:prstGeom prst="rect">
                <a:avLst/>
              </a:prstGeom>
              <a:blipFill>
                <a:blip r:embed="rId3"/>
                <a:stretch>
                  <a:fillRect l="-440" t="-2830" b="-3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75C6E64A-019C-AF26-8394-72704E8ED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4" y="3717073"/>
            <a:ext cx="6299545" cy="22167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0FA20A4-839F-7AA1-89FD-46A19C9EF5C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1855"/>
          <a:stretch>
            <a:fillRect/>
          </a:stretch>
        </p:blipFill>
        <p:spPr>
          <a:xfrm>
            <a:off x="7387726" y="3659458"/>
            <a:ext cx="4707630" cy="2391187"/>
          </a:xfrm>
          <a:prstGeom prst="rect">
            <a:avLst/>
          </a:prstGeom>
          <a:noFill/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BC59710-2173-79ED-7319-11600EC67CDB}"/>
              </a:ext>
            </a:extLst>
          </p:cNvPr>
          <p:cNvCxnSpPr>
            <a:cxnSpLocks/>
          </p:cNvCxnSpPr>
          <p:nvPr/>
        </p:nvCxnSpPr>
        <p:spPr>
          <a:xfrm flipH="1" flipV="1">
            <a:off x="6435500" y="3605106"/>
            <a:ext cx="1031292" cy="5332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4C11DA9-0D80-21A2-B45E-FF7164F335F3}"/>
              </a:ext>
            </a:extLst>
          </p:cNvPr>
          <p:cNvCxnSpPr>
            <a:cxnSpLocks/>
          </p:cNvCxnSpPr>
          <p:nvPr/>
        </p:nvCxnSpPr>
        <p:spPr>
          <a:xfrm flipH="1">
            <a:off x="6455093" y="5120744"/>
            <a:ext cx="1031292" cy="669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570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2460D-4D67-98A9-5CA2-F12F57546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3B846-2D7C-6EA2-3680-7F6CFD92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Canonical</a:t>
            </a:r>
            <a:r>
              <a:rPr lang="ko-KR" altLang="en-US" sz="4000" dirty="0"/>
              <a:t> </a:t>
            </a:r>
            <a:r>
              <a:rPr lang="en-US" altLang="ko-KR" sz="4000" dirty="0"/>
              <a:t>Export</a:t>
            </a:r>
            <a:r>
              <a:rPr lang="ko-KR" altLang="en-US" sz="4000" dirty="0"/>
              <a:t> </a:t>
            </a:r>
            <a:r>
              <a:rPr lang="en-US" altLang="ko-KR" sz="4000" dirty="0"/>
              <a:t>&amp;</a:t>
            </a:r>
            <a:r>
              <a:rPr lang="ko-KR" altLang="en-US" sz="4000" dirty="0"/>
              <a:t> </a:t>
            </a:r>
            <a:r>
              <a:rPr lang="en-US" altLang="ko-KR" sz="4000" dirty="0"/>
              <a:t>Strategy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6AE4C5-FEFD-6FC9-1A4C-9C0D84F8C5A4}"/>
                  </a:ext>
                </a:extLst>
              </p:cNvPr>
              <p:cNvSpPr txBox="1"/>
              <p:nvPr/>
            </p:nvSpPr>
            <p:spPr>
              <a:xfrm>
                <a:off x="527824" y="1657815"/>
                <a:ext cx="6030053" cy="33236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Canonical</a:t>
                </a:r>
                <a:r>
                  <a:rPr lang="ko-KR" altLang="en-US" b="1" dirty="0"/>
                  <a:t> </a:t>
                </a:r>
                <a:r>
                  <a:rPr lang="en-US" altLang="ko-KR" b="1" dirty="0"/>
                  <a:t>Export</a:t>
                </a:r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𝑐𝑎𝑛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en-US" altLang="ko-KR" b="1" dirty="0"/>
                  <a:t>Strategy 1 : In-Circuit Bit Aggregation</a:t>
                </a:r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l-GR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l-GR" altLang="ko-K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Ρ</m:t>
                            </m:r>
                          </m:sub>
                        </m:sSub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128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ko-KR" altLang="en-US" sz="1400" dirty="0">
                    <a:latin typeface="+mj-lt"/>
                  </a:rPr>
                  <a:t>이때</a:t>
                </a:r>
                <a:r>
                  <a:rPr lang="en-US" altLang="ko-KR" sz="14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126</m:t>
                        </m:r>
                      </m:sup>
                    </m:sSup>
                  </m:oMath>
                </a14:m>
                <a:endParaRPr lang="en-US" altLang="ko-KR" sz="1400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𝑎𝑔𝑔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dirty="0"/>
              </a:p>
              <a:p>
                <a:r>
                  <a:rPr lang="en-US" altLang="ko-KR" sz="1400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altLang="ko-KR" sz="1400" dirty="0"/>
                  <a:t> : 254-bit </a:t>
                </a:r>
                <a:r>
                  <a:rPr lang="ko-KR" altLang="en-US" sz="1400" dirty="0"/>
                  <a:t>크기</a:t>
                </a:r>
                <a:endParaRPr lang="en-US" altLang="ko-KR" sz="1400" dirty="0"/>
              </a:p>
              <a:p>
                <a:r>
                  <a:rPr lang="en-US" altLang="ko-KR" sz="1400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altLang="ko-KR" sz="1400" dirty="0"/>
                  <a:t> : 256-bit </a:t>
                </a:r>
                <a:r>
                  <a:rPr lang="ko-KR" altLang="en-US" sz="1400" dirty="0"/>
                  <a:t>크기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6AE4C5-FEFD-6FC9-1A4C-9C0D84F8C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24" y="1657815"/>
                <a:ext cx="6030053" cy="3323602"/>
              </a:xfrm>
              <a:prstGeom prst="rect">
                <a:avLst/>
              </a:prstGeom>
              <a:blipFill>
                <a:blip r:embed="rId3"/>
                <a:stretch>
                  <a:fillRect l="-910" t="-1101" b="-9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DE904C1-1700-7743-96D0-F894AF60E1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1855"/>
          <a:stretch>
            <a:fillRect/>
          </a:stretch>
        </p:blipFill>
        <p:spPr>
          <a:xfrm>
            <a:off x="6721031" y="1256274"/>
            <a:ext cx="5122607" cy="260197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D97678-0E02-1B40-F523-10E59DA2D7A5}"/>
              </a:ext>
            </a:extLst>
          </p:cNvPr>
          <p:cNvSpPr txBox="1"/>
          <p:nvPr/>
        </p:nvSpPr>
        <p:spPr>
          <a:xfrm>
            <a:off x="8736488" y="3858244"/>
            <a:ext cx="1847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ZK-rollup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5466EA-3B1D-C112-D3DB-7F032710BFB3}"/>
              </a:ext>
            </a:extLst>
          </p:cNvPr>
          <p:cNvSpPr txBox="1"/>
          <p:nvPr/>
        </p:nvSpPr>
        <p:spPr>
          <a:xfrm>
            <a:off x="1966797" y="5533600"/>
            <a:ext cx="12310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Strategy 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5E83F5-3927-57A8-72EC-FCD6F9C3BA27}"/>
              </a:ext>
            </a:extLst>
          </p:cNvPr>
          <p:cNvSpPr/>
          <p:nvPr/>
        </p:nvSpPr>
        <p:spPr>
          <a:xfrm>
            <a:off x="3376353" y="4977888"/>
            <a:ext cx="883704" cy="14792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8F5732-5902-EF42-A746-E48CA6595BD2}"/>
              </a:ext>
            </a:extLst>
          </p:cNvPr>
          <p:cNvSpPr/>
          <p:nvPr/>
        </p:nvSpPr>
        <p:spPr>
          <a:xfrm>
            <a:off x="3439544" y="5055966"/>
            <a:ext cx="768474" cy="3677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Rate[0]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997D8A-4E7E-A94B-5C3E-97F8A805D381}"/>
              </a:ext>
            </a:extLst>
          </p:cNvPr>
          <p:cNvSpPr/>
          <p:nvPr/>
        </p:nvSpPr>
        <p:spPr>
          <a:xfrm>
            <a:off x="3433968" y="5533600"/>
            <a:ext cx="768474" cy="3677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Rate[1]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EAFC52-0FE7-4E14-0C94-4CA7629FF55C}"/>
              </a:ext>
            </a:extLst>
          </p:cNvPr>
          <p:cNvSpPr/>
          <p:nvPr/>
        </p:nvSpPr>
        <p:spPr>
          <a:xfrm>
            <a:off x="3443260" y="6011234"/>
            <a:ext cx="768474" cy="3677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Capacity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CD93BD0-1763-AB4C-5452-FEDA2B739FDC}"/>
              </a:ext>
            </a:extLst>
          </p:cNvPr>
          <p:cNvCxnSpPr/>
          <p:nvPr/>
        </p:nvCxnSpPr>
        <p:spPr>
          <a:xfrm>
            <a:off x="4211734" y="5239855"/>
            <a:ext cx="628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A6E4E41-E277-05C7-DDF9-7465E9AA47A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202442" y="5717490"/>
            <a:ext cx="6374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7DFEAA6-1867-631D-0028-90440D247F8A}"/>
              </a:ext>
            </a:extLst>
          </p:cNvPr>
          <p:cNvSpPr txBox="1"/>
          <p:nvPr/>
        </p:nvSpPr>
        <p:spPr>
          <a:xfrm>
            <a:off x="5623577" y="4600572"/>
            <a:ext cx="67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254-bit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2ECFD9-D9DA-B662-5F35-805303856789}"/>
              </a:ext>
            </a:extLst>
          </p:cNvPr>
          <p:cNvSpPr/>
          <p:nvPr/>
        </p:nvSpPr>
        <p:spPr>
          <a:xfrm>
            <a:off x="6577175" y="5602139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4" name="오른쪽 중괄호 23">
            <a:extLst>
              <a:ext uri="{FF2B5EF4-FFF2-40B4-BE49-F238E27FC236}">
                <a16:creationId xmlns:a16="http://schemas.microsoft.com/office/drawing/2014/main" id="{432505D3-8769-6108-06E6-03D114BF0651}"/>
              </a:ext>
            </a:extLst>
          </p:cNvPr>
          <p:cNvSpPr/>
          <p:nvPr/>
        </p:nvSpPr>
        <p:spPr>
          <a:xfrm rot="16200000">
            <a:off x="5893432" y="3903494"/>
            <a:ext cx="138088" cy="21261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1875C5-36A0-EB1E-A430-007030ADAC13}"/>
              </a:ext>
            </a:extLst>
          </p:cNvPr>
          <p:cNvSpPr txBox="1"/>
          <p:nvPr/>
        </p:nvSpPr>
        <p:spPr>
          <a:xfrm>
            <a:off x="3780755" y="4628049"/>
            <a:ext cx="1480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Bit Decomposition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14E5E6-AE5B-39F9-91AD-0CB2E3D99CBE}"/>
              </a:ext>
            </a:extLst>
          </p:cNvPr>
          <p:cNvSpPr/>
          <p:nvPr/>
        </p:nvSpPr>
        <p:spPr>
          <a:xfrm>
            <a:off x="7708204" y="5100776"/>
            <a:ext cx="792000" cy="277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126-bit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92A3048-237C-A193-7BD5-D89D4236FD5B}"/>
              </a:ext>
            </a:extLst>
          </p:cNvPr>
          <p:cNvSpPr/>
          <p:nvPr/>
        </p:nvSpPr>
        <p:spPr>
          <a:xfrm>
            <a:off x="8500164" y="5100776"/>
            <a:ext cx="900000" cy="277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128-bit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916B1F-09C1-67FF-2130-736C891679D6}"/>
              </a:ext>
            </a:extLst>
          </p:cNvPr>
          <p:cNvSpPr txBox="1"/>
          <p:nvPr/>
        </p:nvSpPr>
        <p:spPr>
          <a:xfrm>
            <a:off x="8241888" y="4597780"/>
            <a:ext cx="67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254-bit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666A866-2379-4BD4-2D0C-7607D5CA7D2D}"/>
              </a:ext>
            </a:extLst>
          </p:cNvPr>
          <p:cNvSpPr/>
          <p:nvPr/>
        </p:nvSpPr>
        <p:spPr>
          <a:xfrm>
            <a:off x="7708204" y="5601726"/>
            <a:ext cx="792000" cy="277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126-bit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DA8933F-0A2D-4A70-28B4-5ED8D24582FB}"/>
              </a:ext>
            </a:extLst>
          </p:cNvPr>
          <p:cNvSpPr/>
          <p:nvPr/>
        </p:nvSpPr>
        <p:spPr>
          <a:xfrm>
            <a:off x="8500164" y="5601726"/>
            <a:ext cx="900000" cy="277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128-bit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오른쪽 중괄호 30">
            <a:extLst>
              <a:ext uri="{FF2B5EF4-FFF2-40B4-BE49-F238E27FC236}">
                <a16:creationId xmlns:a16="http://schemas.microsoft.com/office/drawing/2014/main" id="{99B525D3-CE73-F786-2047-7263156F23BF}"/>
              </a:ext>
            </a:extLst>
          </p:cNvPr>
          <p:cNvSpPr/>
          <p:nvPr/>
        </p:nvSpPr>
        <p:spPr>
          <a:xfrm rot="16200000">
            <a:off x="8447342" y="4157982"/>
            <a:ext cx="155640" cy="163391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D6D4870-26CD-FDBB-72C7-D0872B0EF7E7}"/>
              </a:ext>
            </a:extLst>
          </p:cNvPr>
          <p:cNvCxnSpPr/>
          <p:nvPr/>
        </p:nvCxnSpPr>
        <p:spPr>
          <a:xfrm>
            <a:off x="7034851" y="5239855"/>
            <a:ext cx="628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AAFBD5D-6BA1-2377-317E-64846F429D3A}"/>
              </a:ext>
            </a:extLst>
          </p:cNvPr>
          <p:cNvCxnSpPr>
            <a:cxnSpLocks/>
          </p:cNvCxnSpPr>
          <p:nvPr/>
        </p:nvCxnSpPr>
        <p:spPr>
          <a:xfrm>
            <a:off x="7025559" y="5717490"/>
            <a:ext cx="63747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0D3045D-5CC9-2BA1-F6B9-1A2A7D3BFF7E}"/>
              </a:ext>
            </a:extLst>
          </p:cNvPr>
          <p:cNvSpPr/>
          <p:nvPr/>
        </p:nvSpPr>
        <p:spPr>
          <a:xfrm>
            <a:off x="6577175" y="5110797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85E8234-810E-FD4A-E290-2F4DBE158F20}"/>
              </a:ext>
            </a:extLst>
          </p:cNvPr>
          <p:cNvSpPr/>
          <p:nvPr/>
        </p:nvSpPr>
        <p:spPr>
          <a:xfrm>
            <a:off x="6120141" y="5602139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87E8384-2657-83B5-EA43-13F6FEE45081}"/>
              </a:ext>
            </a:extLst>
          </p:cNvPr>
          <p:cNvSpPr/>
          <p:nvPr/>
        </p:nvSpPr>
        <p:spPr>
          <a:xfrm>
            <a:off x="6120141" y="5110797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884FD16-AA65-DEF9-6802-64054E59013D}"/>
              </a:ext>
            </a:extLst>
          </p:cNvPr>
          <p:cNvSpPr/>
          <p:nvPr/>
        </p:nvSpPr>
        <p:spPr>
          <a:xfrm>
            <a:off x="5350541" y="5602139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EA72B82-3C86-11D0-4D88-0A94B645B6BE}"/>
              </a:ext>
            </a:extLst>
          </p:cNvPr>
          <p:cNvSpPr/>
          <p:nvPr/>
        </p:nvSpPr>
        <p:spPr>
          <a:xfrm>
            <a:off x="5350541" y="5110797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42F03CF-92A5-D019-90FB-725F8AD62130}"/>
              </a:ext>
            </a:extLst>
          </p:cNvPr>
          <p:cNvSpPr/>
          <p:nvPr/>
        </p:nvSpPr>
        <p:spPr>
          <a:xfrm>
            <a:off x="4893507" y="5602139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B279C29-3146-ED72-9956-A314254D7B0A}"/>
              </a:ext>
            </a:extLst>
          </p:cNvPr>
          <p:cNvSpPr/>
          <p:nvPr/>
        </p:nvSpPr>
        <p:spPr>
          <a:xfrm>
            <a:off x="4893507" y="5110797"/>
            <a:ext cx="455818" cy="277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1-bit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38A2CB-1E1C-2D0C-1DAB-B4AA550E10B5}"/>
              </a:ext>
            </a:extLst>
          </p:cNvPr>
          <p:cNvSpPr txBox="1"/>
          <p:nvPr/>
        </p:nvSpPr>
        <p:spPr>
          <a:xfrm>
            <a:off x="5773233" y="5087740"/>
            <a:ext cx="366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C60962-4EC4-6853-10D9-05E490A17F89}"/>
              </a:ext>
            </a:extLst>
          </p:cNvPr>
          <p:cNvSpPr txBox="1"/>
          <p:nvPr/>
        </p:nvSpPr>
        <p:spPr>
          <a:xfrm>
            <a:off x="5779858" y="5578989"/>
            <a:ext cx="366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…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50ED0B-7304-57AF-D710-22765FC846D1}"/>
              </a:ext>
            </a:extLst>
          </p:cNvPr>
          <p:cNvSpPr txBox="1"/>
          <p:nvPr/>
        </p:nvSpPr>
        <p:spPr>
          <a:xfrm>
            <a:off x="9456075" y="4675123"/>
            <a:ext cx="67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Export</a:t>
            </a:r>
          </a:p>
        </p:txBody>
      </p:sp>
      <p:cxnSp>
        <p:nvCxnSpPr>
          <p:cNvPr id="45" name="연결선: 구부러짐 44">
            <a:extLst>
              <a:ext uri="{FF2B5EF4-FFF2-40B4-BE49-F238E27FC236}">
                <a16:creationId xmlns:a16="http://schemas.microsoft.com/office/drawing/2014/main" id="{D324211F-8933-B98C-0812-61CAE7196ADF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9400164" y="5239442"/>
            <a:ext cx="668187" cy="18430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2CB7072-972E-D1C3-269C-0FF672A44712}"/>
              </a:ext>
            </a:extLst>
          </p:cNvPr>
          <p:cNvSpPr/>
          <p:nvPr/>
        </p:nvSpPr>
        <p:spPr>
          <a:xfrm>
            <a:off x="11028411" y="5310426"/>
            <a:ext cx="900000" cy="277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128-bit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44A1CDCD-A2B8-63F3-D3A6-80BDD573C2DF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9400164" y="5443676"/>
            <a:ext cx="668187" cy="29671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B25548A-326F-AA6E-E283-B13052AF9C82}"/>
              </a:ext>
            </a:extLst>
          </p:cNvPr>
          <p:cNvSpPr/>
          <p:nvPr/>
        </p:nvSpPr>
        <p:spPr>
          <a:xfrm>
            <a:off x="10133873" y="5310426"/>
            <a:ext cx="900000" cy="277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128-bit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오른쪽 대괄호 51">
            <a:extLst>
              <a:ext uri="{FF2B5EF4-FFF2-40B4-BE49-F238E27FC236}">
                <a16:creationId xmlns:a16="http://schemas.microsoft.com/office/drawing/2014/main" id="{F38939F7-7438-FD13-F5AB-74E0C599644F}"/>
              </a:ext>
            </a:extLst>
          </p:cNvPr>
          <p:cNvSpPr/>
          <p:nvPr/>
        </p:nvSpPr>
        <p:spPr>
          <a:xfrm rot="5400000">
            <a:off x="6317707" y="3532524"/>
            <a:ext cx="69038" cy="5979787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22A29EA-0773-D31C-794A-742D8E8AA37F}"/>
              </a:ext>
            </a:extLst>
          </p:cNvPr>
          <p:cNvSpPr txBox="1"/>
          <p:nvPr/>
        </p:nvSpPr>
        <p:spPr>
          <a:xfrm>
            <a:off x="5963250" y="6563407"/>
            <a:ext cx="13822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Prime</a:t>
            </a:r>
            <a:r>
              <a:rPr lang="ko-KR" altLang="en-US" sz="1200" dirty="0"/>
              <a:t> </a:t>
            </a:r>
            <a:r>
              <a:rPr lang="en-US" altLang="ko-KR" sz="1200" dirty="0"/>
              <a:t>Field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8153CC-D99C-3934-3561-AC31CBCD5096}"/>
              </a:ext>
            </a:extLst>
          </p:cNvPr>
          <p:cNvSpPr txBox="1"/>
          <p:nvPr/>
        </p:nvSpPr>
        <p:spPr>
          <a:xfrm>
            <a:off x="10835640" y="6558163"/>
            <a:ext cx="734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Bytes32</a:t>
            </a:r>
          </a:p>
        </p:txBody>
      </p:sp>
      <p:sp>
        <p:nvSpPr>
          <p:cNvPr id="55" name="오른쪽 대괄호 54">
            <a:extLst>
              <a:ext uri="{FF2B5EF4-FFF2-40B4-BE49-F238E27FC236}">
                <a16:creationId xmlns:a16="http://schemas.microsoft.com/office/drawing/2014/main" id="{92EC72BA-CA02-1B4D-5385-E8DEC50C7913}"/>
              </a:ext>
            </a:extLst>
          </p:cNvPr>
          <p:cNvSpPr/>
          <p:nvPr/>
        </p:nvSpPr>
        <p:spPr>
          <a:xfrm rot="5400000">
            <a:off x="10636085" y="5289183"/>
            <a:ext cx="152301" cy="238321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C66369-B23F-F6ED-7AC2-9CA8BD6BA1E4}"/>
              </a:ext>
            </a:extLst>
          </p:cNvPr>
          <p:cNvSpPr txBox="1"/>
          <p:nvPr/>
        </p:nvSpPr>
        <p:spPr>
          <a:xfrm>
            <a:off x="6984020" y="4644131"/>
            <a:ext cx="9323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Bit-Slicing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0543DB-9A4F-4967-C76A-9570B8B64A64}"/>
              </a:ext>
            </a:extLst>
          </p:cNvPr>
          <p:cNvSpPr txBox="1"/>
          <p:nvPr/>
        </p:nvSpPr>
        <p:spPr>
          <a:xfrm>
            <a:off x="10443199" y="4671566"/>
            <a:ext cx="1230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Concatenation</a:t>
            </a:r>
          </a:p>
        </p:txBody>
      </p:sp>
      <p:cxnSp>
        <p:nvCxnSpPr>
          <p:cNvPr id="7" name="연결선: 구부러짐 6">
            <a:extLst>
              <a:ext uri="{FF2B5EF4-FFF2-40B4-BE49-F238E27FC236}">
                <a16:creationId xmlns:a16="http://schemas.microsoft.com/office/drawing/2014/main" id="{81341E2E-1D85-09D3-E69E-20A10AFDAA34}"/>
              </a:ext>
            </a:extLst>
          </p:cNvPr>
          <p:cNvCxnSpPr>
            <a:endCxn id="10" idx="0"/>
          </p:cNvCxnSpPr>
          <p:nvPr/>
        </p:nvCxnSpPr>
        <p:spPr>
          <a:xfrm rot="10800000" flipV="1">
            <a:off x="3818206" y="1920240"/>
            <a:ext cx="3436035" cy="3057648"/>
          </a:xfrm>
          <a:prstGeom prst="curved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604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AFAA-4B61-627A-6567-FE641E73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98A7B950-71B2-422E-B2D0-E04F4B7F4A82}"/>
              </a:ext>
            </a:extLst>
          </p:cNvPr>
          <p:cNvSpPr/>
          <p:nvPr/>
        </p:nvSpPr>
        <p:spPr>
          <a:xfrm>
            <a:off x="9569273" y="4460022"/>
            <a:ext cx="1855783" cy="10451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022266-561A-08EE-CDAD-45BE0A50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Strategy 2 &amp;</a:t>
            </a:r>
            <a:r>
              <a:rPr lang="ko-KR" altLang="en-US" sz="4000" dirty="0"/>
              <a:t> </a:t>
            </a:r>
            <a:r>
              <a:rPr lang="en-US" altLang="ko-KR" sz="4000" dirty="0"/>
              <a:t>Strategy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B9CC2D-926B-2A4E-12C4-42FDE180D181}"/>
                  </a:ext>
                </a:extLst>
              </p:cNvPr>
              <p:cNvSpPr txBox="1"/>
              <p:nvPr/>
            </p:nvSpPr>
            <p:spPr>
              <a:xfrm>
                <a:off x="280491" y="1460384"/>
                <a:ext cx="535068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Strategy 2 : Re-Hashing Outside the Circuit</a:t>
                </a:r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𝑐𝑎𝑛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𝐾𝐸𝐶𝐶𝐴𝐾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256(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altLang="ko-KR" sz="1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FB9CC2D-926B-2A4E-12C4-42FDE180D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91" y="1460384"/>
                <a:ext cx="5350689" cy="1077218"/>
              </a:xfrm>
              <a:prstGeom prst="rect">
                <a:avLst/>
              </a:prstGeom>
              <a:blipFill>
                <a:blip r:embed="rId3"/>
                <a:stretch>
                  <a:fillRect l="-911" t="-3409" b="-3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그룹 3">
            <a:extLst>
              <a:ext uri="{FF2B5EF4-FFF2-40B4-BE49-F238E27FC236}">
                <a16:creationId xmlns:a16="http://schemas.microsoft.com/office/drawing/2014/main" id="{6E5F8663-B3FF-9407-2561-FD5D6E8B250F}"/>
              </a:ext>
            </a:extLst>
          </p:cNvPr>
          <p:cNvGrpSpPr/>
          <p:nvPr/>
        </p:nvGrpSpPr>
        <p:grpSpPr>
          <a:xfrm>
            <a:off x="3148510" y="3602488"/>
            <a:ext cx="5122607" cy="2878969"/>
            <a:chOff x="6721031" y="1256274"/>
            <a:chExt cx="5122607" cy="287896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79FCCF7-7735-1FDC-7223-76746B9DA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1855"/>
            <a:stretch>
              <a:fillRect/>
            </a:stretch>
          </p:blipFill>
          <p:spPr>
            <a:xfrm>
              <a:off x="6721031" y="1256274"/>
              <a:ext cx="5122607" cy="2601970"/>
            </a:xfrm>
            <a:prstGeom prst="rect">
              <a:avLst/>
            </a:prstGeom>
            <a:noFill/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82253C0-A25A-FEEE-46D8-3B4DA910BDDF}"/>
                </a:ext>
              </a:extLst>
            </p:cNvPr>
            <p:cNvSpPr txBox="1"/>
            <p:nvPr/>
          </p:nvSpPr>
          <p:spPr>
            <a:xfrm>
              <a:off x="8736488" y="3858244"/>
              <a:ext cx="18473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ZK-rollup system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66D713-A26A-598E-A0AA-3E5ECA332D6F}"/>
                  </a:ext>
                </a:extLst>
              </p:cNvPr>
              <p:cNvSpPr txBox="1"/>
              <p:nvPr/>
            </p:nvSpPr>
            <p:spPr>
              <a:xfrm>
                <a:off x="6928943" y="1352853"/>
                <a:ext cx="528066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b="1" dirty="0"/>
                  <a:t>Strategy 3 : Domain-Separated Re-Hashing</a:t>
                </a:r>
              </a:p>
              <a:p>
                <a:pPr marL="342900" indent="-342900">
                  <a:buAutoNum type="arabicPeriod"/>
                </a:pPr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𝑐𝑎𝑛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𝑐𝑜𝑛𝑐𝑎𝑡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𝐷𝑆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′)</m:t>
                    </m:r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altLang="ko-KR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𝐾𝐸𝐶𝐶𝐴𝐾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256(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400" i="1" dirty="0">
                  <a:latin typeface="Cambria Math" panose="02040503050406030204" pitchFamily="18" charset="0"/>
                </a:endParaRPr>
              </a:p>
              <a:p>
                <a:r>
                  <a:rPr lang="en-US" altLang="ko-KR" sz="1200" i="1" dirty="0">
                    <a:latin typeface="Cambria Math" panose="02040503050406030204" pitchFamily="18" charset="0"/>
                  </a:rPr>
                  <a:t>*</a:t>
                </a:r>
                <a:r>
                  <a:rPr kumimoji="1" lang="en-US" altLang="ko-KR" sz="1200" dirty="0"/>
                  <a:t> DS(Domain </a:t>
                </a:r>
                <a:r>
                  <a:rPr kumimoji="1" lang="en-US" altLang="ko-KR" sz="1200" dirty="0" err="1"/>
                  <a:t>Seperator</a:t>
                </a:r>
                <a:r>
                  <a:rPr kumimoji="1" lang="en-US" altLang="ko-KR" sz="1200" dirty="0"/>
                  <a:t>) : identifier</a:t>
                </a:r>
                <a:r>
                  <a:rPr kumimoji="1" lang="ko-KR" altLang="en-US" sz="1200" dirty="0"/>
                  <a:t>가 특정 </a:t>
                </a:r>
                <a:r>
                  <a:rPr kumimoji="1" lang="en-US" altLang="ko-KR" sz="1200" dirty="0"/>
                  <a:t>protocol, chain, contract, purpose</a:t>
                </a:r>
                <a:r>
                  <a:rPr kumimoji="1" lang="ko-KR" altLang="en-US" sz="1200" dirty="0"/>
                  <a:t>에 속하는지에 대한 정보 </a:t>
                </a:r>
                <a:r>
                  <a:rPr kumimoji="1" lang="en-US" altLang="ko-KR" sz="1200" dirty="0"/>
                  <a:t>(</a:t>
                </a:r>
                <a:r>
                  <a:rPr kumimoji="1" lang="ko-KR" altLang="en-US" sz="1200" dirty="0"/>
                  <a:t>크기 </a:t>
                </a:r>
                <a:r>
                  <a:rPr kumimoji="1" lang="en-US" altLang="ko-KR" sz="1200" dirty="0"/>
                  <a:t>: 1-byte, 4-byte, 16-byte, 32-byte </a:t>
                </a:r>
                <a:r>
                  <a:rPr kumimoji="1" lang="ko-KR" altLang="en-US" sz="1200" dirty="0"/>
                  <a:t>등</a:t>
                </a:r>
                <a:r>
                  <a:rPr kumimoji="1" lang="en-US" altLang="ko-KR" sz="1200" dirty="0"/>
                  <a:t> 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E66D713-A26A-598E-A0AA-3E5ECA332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943" y="1352853"/>
                <a:ext cx="5280660" cy="1815882"/>
              </a:xfrm>
              <a:prstGeom prst="rect">
                <a:avLst/>
              </a:prstGeom>
              <a:blipFill>
                <a:blip r:embed="rId5"/>
                <a:stretch>
                  <a:fillRect l="-1039" t="-2013" r="-693" b="-13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17C678B8-5A4D-EDC3-B910-C4A5AF2F91FF}"/>
              </a:ext>
            </a:extLst>
          </p:cNvPr>
          <p:cNvCxnSpPr>
            <a:cxnSpLocks/>
          </p:cNvCxnSpPr>
          <p:nvPr/>
        </p:nvCxnSpPr>
        <p:spPr>
          <a:xfrm rot="10800000">
            <a:off x="2865117" y="2202181"/>
            <a:ext cx="3070864" cy="2385061"/>
          </a:xfrm>
          <a:prstGeom prst="bentConnector3">
            <a:avLst>
              <a:gd name="adj1" fmla="val -12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64371493-8E1C-D07A-57AC-78165945D08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166360" y="2979422"/>
            <a:ext cx="2385063" cy="830583"/>
          </a:xfrm>
          <a:prstGeom prst="bentConnector3">
            <a:avLst>
              <a:gd name="adj1" fmla="val 9997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B6AC7F31-B372-FA3C-F570-100579382176}"/>
                  </a:ext>
                </a:extLst>
              </p:cNvPr>
              <p:cNvSpPr/>
              <p:nvPr/>
            </p:nvSpPr>
            <p:spPr>
              <a:xfrm>
                <a:off x="10594209" y="4802335"/>
                <a:ext cx="759642" cy="62253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256-bit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B6AC7F31-B372-FA3C-F570-1005793821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209" y="4802335"/>
                <a:ext cx="759642" cy="6225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직사각형 71">
            <a:extLst>
              <a:ext uri="{FF2B5EF4-FFF2-40B4-BE49-F238E27FC236}">
                <a16:creationId xmlns:a16="http://schemas.microsoft.com/office/drawing/2014/main" id="{007A022F-5501-4926-4627-00ED6B9290FE}"/>
              </a:ext>
            </a:extLst>
          </p:cNvPr>
          <p:cNvSpPr/>
          <p:nvPr/>
        </p:nvSpPr>
        <p:spPr>
          <a:xfrm>
            <a:off x="9631731" y="4802335"/>
            <a:ext cx="962478" cy="62253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Domain </a:t>
            </a:r>
            <a:r>
              <a:rPr lang="en-US" altLang="ko-KR" sz="1400" dirty="0" err="1">
                <a:solidFill>
                  <a:schemeClr val="tx1"/>
                </a:solidFill>
              </a:rPr>
              <a:t>Seperator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108BD0B-0CD0-F2D6-68A4-4851C5AFAD0F}"/>
              </a:ext>
            </a:extLst>
          </p:cNvPr>
          <p:cNvSpPr txBox="1"/>
          <p:nvPr/>
        </p:nvSpPr>
        <p:spPr>
          <a:xfrm>
            <a:off x="9954947" y="4499739"/>
            <a:ext cx="108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KECCAK256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B37A125-74E9-AD2D-43B5-218F362A9B73}"/>
                  </a:ext>
                </a:extLst>
              </p:cNvPr>
              <p:cNvSpPr txBox="1"/>
              <p:nvPr/>
            </p:nvSpPr>
            <p:spPr>
              <a:xfrm>
                <a:off x="10182640" y="3297413"/>
                <a:ext cx="613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B37A125-74E9-AD2D-43B5-218F362A9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2640" y="3297413"/>
                <a:ext cx="61380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A33C22E-55DF-6F76-5832-0C8CEEB254EF}"/>
                  </a:ext>
                </a:extLst>
              </p:cNvPr>
              <p:cNvSpPr txBox="1"/>
              <p:nvPr/>
            </p:nvSpPr>
            <p:spPr>
              <a:xfrm>
                <a:off x="10190261" y="5847460"/>
                <a:ext cx="613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EA33C22E-55DF-6F76-5832-0C8CEEB25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0261" y="5847460"/>
                <a:ext cx="613803" cy="307777"/>
              </a:xfrm>
              <a:prstGeom prst="rect">
                <a:avLst/>
              </a:prstGeom>
              <a:blipFill>
                <a:blip r:embed="rId8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07798B23-8BCF-E28E-CB14-32FCC7DEA193}"/>
              </a:ext>
            </a:extLst>
          </p:cNvPr>
          <p:cNvCxnSpPr>
            <a:cxnSpLocks/>
            <a:stCxn id="73" idx="2"/>
            <a:endCxn id="80" idx="0"/>
          </p:cNvCxnSpPr>
          <p:nvPr/>
        </p:nvCxnSpPr>
        <p:spPr>
          <a:xfrm flipH="1">
            <a:off x="10497163" y="5505147"/>
            <a:ext cx="2" cy="3423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A3D9DA2-36C6-789C-DD5E-308D1F11117B}"/>
                  </a:ext>
                </a:extLst>
              </p:cNvPr>
              <p:cNvSpPr/>
              <p:nvPr/>
            </p:nvSpPr>
            <p:spPr>
              <a:xfrm>
                <a:off x="10097730" y="3808837"/>
                <a:ext cx="792000" cy="277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𝑐𝑎𝑛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A3D9DA2-36C6-789C-DD5E-308D1F1111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730" y="3808837"/>
                <a:ext cx="792000" cy="277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B492D187-3E8B-9FD1-C126-4E11A7F091F5}"/>
              </a:ext>
            </a:extLst>
          </p:cNvPr>
          <p:cNvCxnSpPr>
            <a:cxnSpLocks/>
            <a:stCxn id="76" idx="2"/>
            <a:endCxn id="87" idx="0"/>
          </p:cNvCxnSpPr>
          <p:nvPr/>
        </p:nvCxnSpPr>
        <p:spPr>
          <a:xfrm>
            <a:off x="10489542" y="3605190"/>
            <a:ext cx="4188" cy="2036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F8E55D59-1466-2E68-CB9A-E62D4EA03D2F}"/>
              </a:ext>
            </a:extLst>
          </p:cNvPr>
          <p:cNvCxnSpPr>
            <a:cxnSpLocks/>
            <a:stCxn id="87" idx="2"/>
            <a:endCxn id="73" idx="0"/>
          </p:cNvCxnSpPr>
          <p:nvPr/>
        </p:nvCxnSpPr>
        <p:spPr>
          <a:xfrm>
            <a:off x="10493730" y="4086169"/>
            <a:ext cx="3435" cy="3738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A409B84-955E-7C2B-12AF-F46EB899CFBB}"/>
                  </a:ext>
                </a:extLst>
              </p:cNvPr>
              <p:cNvSpPr txBox="1"/>
              <p:nvPr/>
            </p:nvSpPr>
            <p:spPr>
              <a:xfrm>
                <a:off x="10360227" y="4111684"/>
                <a:ext cx="613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A409B84-955E-7C2B-12AF-F46EB899CF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0227" y="4111684"/>
                <a:ext cx="613803" cy="307777"/>
              </a:xfrm>
              <a:prstGeom prst="rect">
                <a:avLst/>
              </a:prstGeom>
              <a:blipFill>
                <a:blip r:embed="rId10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3523AB12-DC01-5A0F-276F-7595E47B60B9}"/>
              </a:ext>
            </a:extLst>
          </p:cNvPr>
          <p:cNvSpPr txBox="1"/>
          <p:nvPr/>
        </p:nvSpPr>
        <p:spPr>
          <a:xfrm>
            <a:off x="9956241" y="6204458"/>
            <a:ext cx="108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Strategy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3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BDBB840-4D4D-6B60-9834-30143AAAAFEF}"/>
              </a:ext>
            </a:extLst>
          </p:cNvPr>
          <p:cNvSpPr/>
          <p:nvPr/>
        </p:nvSpPr>
        <p:spPr>
          <a:xfrm>
            <a:off x="613333" y="4460022"/>
            <a:ext cx="1855783" cy="10451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32CC26F1-AA12-6229-3EAA-F36C3E535335}"/>
                  </a:ext>
                </a:extLst>
              </p:cNvPr>
              <p:cNvSpPr/>
              <p:nvPr/>
            </p:nvSpPr>
            <p:spPr>
              <a:xfrm>
                <a:off x="698810" y="4802335"/>
                <a:ext cx="1699101" cy="62253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256-bit </a:t>
                </a:r>
                <a14:m>
                  <m:oMath xmlns:m="http://schemas.openxmlformats.org/officeDocument/2006/math"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32CC26F1-AA12-6229-3EAA-F36C3E535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10" y="4802335"/>
                <a:ext cx="1699101" cy="6225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TextBox 101">
            <a:extLst>
              <a:ext uri="{FF2B5EF4-FFF2-40B4-BE49-F238E27FC236}">
                <a16:creationId xmlns:a16="http://schemas.microsoft.com/office/drawing/2014/main" id="{D5DA956D-B7BE-E4AB-04B0-CCBD67DAD40C}"/>
              </a:ext>
            </a:extLst>
          </p:cNvPr>
          <p:cNvSpPr txBox="1"/>
          <p:nvPr/>
        </p:nvSpPr>
        <p:spPr>
          <a:xfrm>
            <a:off x="999007" y="4499739"/>
            <a:ext cx="108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KECCAK256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9394864-7D23-267E-E89D-719FF4892A45}"/>
                  </a:ext>
                </a:extLst>
              </p:cNvPr>
              <p:cNvSpPr txBox="1"/>
              <p:nvPr/>
            </p:nvSpPr>
            <p:spPr>
              <a:xfrm>
                <a:off x="1226700" y="3297413"/>
                <a:ext cx="613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9394864-7D23-267E-E89D-719FF489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700" y="3297413"/>
                <a:ext cx="613803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4D8B5F7-5435-B918-4834-C2C357F5C378}"/>
                  </a:ext>
                </a:extLst>
              </p:cNvPr>
              <p:cNvSpPr txBox="1"/>
              <p:nvPr/>
            </p:nvSpPr>
            <p:spPr>
              <a:xfrm>
                <a:off x="1234321" y="5847460"/>
                <a:ext cx="613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4D8B5F7-5435-B918-4834-C2C357F5C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321" y="5847460"/>
                <a:ext cx="613803" cy="307777"/>
              </a:xfrm>
              <a:prstGeom prst="rect">
                <a:avLst/>
              </a:prstGeom>
              <a:blipFill>
                <a:blip r:embed="rId12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3F7AADC-55BC-A7C0-6D58-04A22D6A90D2}"/>
              </a:ext>
            </a:extLst>
          </p:cNvPr>
          <p:cNvCxnSpPr>
            <a:cxnSpLocks/>
            <a:stCxn id="99" idx="2"/>
            <a:endCxn id="104" idx="0"/>
          </p:cNvCxnSpPr>
          <p:nvPr/>
        </p:nvCxnSpPr>
        <p:spPr>
          <a:xfrm flipH="1">
            <a:off x="1541223" y="5505147"/>
            <a:ext cx="2" cy="3423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A9CCBB3F-BC95-B794-1E5F-E0C4FA597387}"/>
                  </a:ext>
                </a:extLst>
              </p:cNvPr>
              <p:cNvSpPr/>
              <p:nvPr/>
            </p:nvSpPr>
            <p:spPr>
              <a:xfrm>
                <a:off x="1141790" y="3808837"/>
                <a:ext cx="792000" cy="27733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𝑐𝑎𝑛</m:t>
                          </m:r>
                        </m:sub>
                      </m:sSub>
                    </m:oMath>
                  </m:oMathPara>
                </a14:m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A9CCBB3F-BC95-B794-1E5F-E0C4FA5973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790" y="3808837"/>
                <a:ext cx="792000" cy="277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E6C17E4A-21BE-07DA-C197-C80D91BBFEA7}"/>
              </a:ext>
            </a:extLst>
          </p:cNvPr>
          <p:cNvCxnSpPr>
            <a:cxnSpLocks/>
            <a:stCxn id="103" idx="2"/>
            <a:endCxn id="106" idx="0"/>
          </p:cNvCxnSpPr>
          <p:nvPr/>
        </p:nvCxnSpPr>
        <p:spPr>
          <a:xfrm>
            <a:off x="1533602" y="3605190"/>
            <a:ext cx="4188" cy="2036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19C98031-B2BE-18D4-6399-7C02E1240118}"/>
              </a:ext>
            </a:extLst>
          </p:cNvPr>
          <p:cNvCxnSpPr>
            <a:cxnSpLocks/>
            <a:stCxn id="106" idx="2"/>
            <a:endCxn id="99" idx="0"/>
          </p:cNvCxnSpPr>
          <p:nvPr/>
        </p:nvCxnSpPr>
        <p:spPr>
          <a:xfrm>
            <a:off x="1537790" y="4086169"/>
            <a:ext cx="3435" cy="3738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440B966-586B-56D0-B946-029AD3E141D4}"/>
                  </a:ext>
                </a:extLst>
              </p:cNvPr>
              <p:cNvSpPr txBox="1"/>
              <p:nvPr/>
            </p:nvSpPr>
            <p:spPr>
              <a:xfrm>
                <a:off x="1404287" y="4111684"/>
                <a:ext cx="6138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altLang="ko-KR" sz="1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2440B966-586B-56D0-B946-029AD3E14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87" y="4111684"/>
                <a:ext cx="613803" cy="307777"/>
              </a:xfrm>
              <a:prstGeom prst="rect">
                <a:avLst/>
              </a:prstGeom>
              <a:blipFill>
                <a:blip r:embed="rId14"/>
                <a:stretch>
                  <a:fillRect b="-9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8BFEE9DE-BD52-2FE2-7803-9FB6F40D2648}"/>
              </a:ext>
            </a:extLst>
          </p:cNvPr>
          <p:cNvSpPr txBox="1"/>
          <p:nvPr/>
        </p:nvSpPr>
        <p:spPr>
          <a:xfrm>
            <a:off x="1000301" y="6204458"/>
            <a:ext cx="108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Strategy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2</a:t>
            </a: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35896880-902F-C71B-2856-5695C90C22C8}"/>
              </a:ext>
            </a:extLst>
          </p:cNvPr>
          <p:cNvCxnSpPr>
            <a:cxnSpLocks/>
          </p:cNvCxnSpPr>
          <p:nvPr/>
        </p:nvCxnSpPr>
        <p:spPr>
          <a:xfrm>
            <a:off x="2865116" y="2891883"/>
            <a:ext cx="0" cy="37988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F769EED5-FDD0-6295-3FE0-228B3E8D9B06}"/>
              </a:ext>
            </a:extLst>
          </p:cNvPr>
          <p:cNvCxnSpPr>
            <a:cxnSpLocks/>
          </p:cNvCxnSpPr>
          <p:nvPr/>
        </p:nvCxnSpPr>
        <p:spPr>
          <a:xfrm>
            <a:off x="8860755" y="3297413"/>
            <a:ext cx="0" cy="339331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0C8F6AD0-7414-9A13-8DC4-6C4CB200CC77}"/>
              </a:ext>
            </a:extLst>
          </p:cNvPr>
          <p:cNvCxnSpPr>
            <a:cxnSpLocks/>
          </p:cNvCxnSpPr>
          <p:nvPr/>
        </p:nvCxnSpPr>
        <p:spPr>
          <a:xfrm>
            <a:off x="2809360" y="2889212"/>
            <a:ext cx="0" cy="379884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C690B535-E323-DCA8-2E9E-A110FE7CD36F}"/>
              </a:ext>
            </a:extLst>
          </p:cNvPr>
          <p:cNvCxnSpPr>
            <a:cxnSpLocks/>
          </p:cNvCxnSpPr>
          <p:nvPr/>
        </p:nvCxnSpPr>
        <p:spPr>
          <a:xfrm>
            <a:off x="8913142" y="3297413"/>
            <a:ext cx="0" cy="339331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117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C1E09-0FEE-3662-DCC1-2028342C8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D8D17-D0E6-09EB-D7CF-2D73A017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Component</a:t>
            </a:r>
            <a:r>
              <a:rPr lang="ko-KR" altLang="en-US" sz="4000" dirty="0"/>
              <a:t>별 </a:t>
            </a:r>
            <a:r>
              <a:rPr lang="en-US" altLang="ko-KR" sz="4000" dirty="0"/>
              <a:t>Latency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5BFD44A-C5E0-C47D-1988-B47C98103C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558912"/>
                  </p:ext>
                </p:extLst>
              </p:nvPr>
            </p:nvGraphicFramePr>
            <p:xfrm>
              <a:off x="624839" y="1582521"/>
              <a:ext cx="11037634" cy="1732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499">
                      <a:extLst>
                        <a:ext uri="{9D8B030D-6E8A-4147-A177-3AD203B41FA5}">
                          <a16:colId xmlns:a16="http://schemas.microsoft.com/office/drawing/2014/main" val="2045834010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3333628536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3806781465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580941460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2146666011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3280439832"/>
                        </a:ext>
                      </a:extLst>
                    </a:gridCol>
                  </a:tblGrid>
                  <a:tr h="13208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Poseidon(2)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/>
                            <a:t>PseidonEx</a:t>
                          </a:r>
                          <a:r>
                            <a:rPr lang="en-US" altLang="ko-KR" dirty="0"/>
                            <a:t>(2,2)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Num2Bits(254)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Bit-Slicing(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i="1" smtClean="0">
                                      <a:latin typeface="Cambria Math" panose="02040503050406030204" pitchFamily="18" charset="0"/>
                                    </a:rPr>
                                    <m:t>𝝆</m:t>
                                  </m:r>
                                </m:e>
                                <m:sub>
                                  <m:r>
                                    <a:rPr lang="en-US" altLang="ko-KR" b="1" i="1" smtClean="0">
                                      <a:latin typeface="Cambria Math" panose="02040503050406030204" pitchFamily="18" charset="0"/>
                                    </a:rPr>
                                    <m:t>𝟏𝟐𝟖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altLang="ko-KR" b="1" i="1" smtClean="0">
                                        <a:latin typeface="Cambria Math" panose="02040503050406030204" pitchFamily="18" charset="0"/>
                                      </a:rPr>
                                      <m:t>𝒂𝒈𝒈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6380727"/>
                      </a:ext>
                    </a:extLst>
                  </a:tr>
                  <a:tr h="1320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Latency(ns)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1974025"/>
                      </a:ext>
                    </a:extLst>
                  </a:tr>
                  <a:tr h="132080"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607810"/>
                      </a:ext>
                    </a:extLst>
                  </a:tr>
                  <a:tr h="132080"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4753510"/>
                      </a:ext>
                    </a:extLst>
                  </a:tr>
                  <a:tr h="132080"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459298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85BFD44A-C5E0-C47D-1988-B47C98103C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75558912"/>
                  </p:ext>
                </p:extLst>
              </p:nvPr>
            </p:nvGraphicFramePr>
            <p:xfrm>
              <a:off x="624839" y="1582521"/>
              <a:ext cx="11037634" cy="17329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5499">
                      <a:extLst>
                        <a:ext uri="{9D8B030D-6E8A-4147-A177-3AD203B41FA5}">
                          <a16:colId xmlns:a16="http://schemas.microsoft.com/office/drawing/2014/main" val="2045834010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3333628536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3806781465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580941460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2146666011"/>
                        </a:ext>
                      </a:extLst>
                    </a:gridCol>
                    <a:gridCol w="1936427">
                      <a:extLst>
                        <a:ext uri="{9D8B030D-6E8A-4147-A177-3AD203B41FA5}">
                          <a16:colId xmlns:a16="http://schemas.microsoft.com/office/drawing/2014/main" val="3280439832"/>
                        </a:ext>
                      </a:extLst>
                    </a:gridCol>
                  </a:tblGrid>
                  <a:tr h="391795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Poseidon(2)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err="1"/>
                            <a:t>PseidonEx</a:t>
                          </a:r>
                          <a:r>
                            <a:rPr lang="en-US" altLang="ko-KR" dirty="0"/>
                            <a:t>(2,2)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Num2Bits(254)</a:t>
                          </a:r>
                          <a:endParaRPr lang="ko-KR" altLang="en-US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2C6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0126" t="-4688" r="-100629" b="-348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70126" t="-4688" r="-629" b="-3484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638072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Latency(ns)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197402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586078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475351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 latinLnBrk="1"/>
                          <a:endParaRPr lang="en-US" altLang="ko-KR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459298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5211111A-C117-E226-6BAE-5580EEE7A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177" y="3002280"/>
            <a:ext cx="4681945" cy="385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16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CC81-3CAF-9149-421D-9976A35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35350-8162-B7CB-B13A-75D6A3BAC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Evaluation</a:t>
            </a:r>
            <a:r>
              <a:rPr lang="ko-KR" altLang="en-US" sz="4000" dirty="0"/>
              <a:t> 정리</a:t>
            </a:r>
            <a:endParaRPr lang="en-US" altLang="ko-KR" sz="4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9B6AB9A-1910-31B2-997D-1BE4B5E7889F}"/>
              </a:ext>
            </a:extLst>
          </p:cNvPr>
          <p:cNvGraphicFramePr>
            <a:graphicFrameLocks noGrp="1"/>
          </p:cNvGraphicFramePr>
          <p:nvPr/>
        </p:nvGraphicFramePr>
        <p:xfrm>
          <a:off x="624840" y="1582521"/>
          <a:ext cx="1113282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470">
                  <a:extLst>
                    <a:ext uri="{9D8B030D-6E8A-4147-A177-3AD203B41FA5}">
                      <a16:colId xmlns:a16="http://schemas.microsoft.com/office/drawing/2014/main" val="2045834010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3333628536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3806781465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580941460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2146666011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328043983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Canonical Export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Strategy 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Strategy 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Strategy 3 </a:t>
                      </a:r>
                    </a:p>
                    <a:p>
                      <a:pPr algn="ctr" latinLnBrk="1"/>
                      <a:r>
                        <a:rPr lang="en-US" altLang="ko-KR" dirty="0"/>
                        <a:t>(DS : 1-byte)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Strategy 3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(DS : 32-byte)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80727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R1CS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8,287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74025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Export 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238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343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2,201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2,292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2,384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0781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Proof </a:t>
                      </a:r>
                      <a:r>
                        <a:rPr lang="ko-KR" altLang="en-US" sz="1600" dirty="0"/>
                        <a:t>생성 </a:t>
                      </a:r>
                      <a:r>
                        <a:rPr lang="en-US" altLang="ko-KR" sz="1600" dirty="0"/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67.30 </a:t>
                      </a:r>
                      <a:r>
                        <a:rPr lang="en-US" altLang="ko-KR" sz="1600" dirty="0" err="1"/>
                        <a:t>ms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68.12 </a:t>
                      </a:r>
                      <a:r>
                        <a:rPr lang="en-US" altLang="ko-KR" sz="1600" dirty="0" err="1"/>
                        <a:t>ms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75351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Verifier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49,884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50,064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50,019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50,165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50,310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59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576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F4FEE92-542C-9081-9A87-ED61CCBE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224E6-451A-7EE9-6573-B1685D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Evaluation</a:t>
            </a:r>
            <a:r>
              <a:rPr lang="ko-KR" altLang="en-US" sz="4000" dirty="0"/>
              <a:t> 정리</a:t>
            </a:r>
            <a:endParaRPr lang="en-US" altLang="ko-KR" sz="40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504846C-1DCE-9C45-3CBA-F0E1E095C52E}"/>
              </a:ext>
            </a:extLst>
          </p:cNvPr>
          <p:cNvGraphicFramePr>
            <a:graphicFrameLocks noGrp="1"/>
          </p:cNvGraphicFramePr>
          <p:nvPr/>
        </p:nvGraphicFramePr>
        <p:xfrm>
          <a:off x="624840" y="1582521"/>
          <a:ext cx="11132820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470">
                  <a:extLst>
                    <a:ext uri="{9D8B030D-6E8A-4147-A177-3AD203B41FA5}">
                      <a16:colId xmlns:a16="http://schemas.microsoft.com/office/drawing/2014/main" val="2045834010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3333628536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3806781465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580941460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2146666011"/>
                    </a:ext>
                  </a:extLst>
                </a:gridCol>
                <a:gridCol w="1855470">
                  <a:extLst>
                    <a:ext uri="{9D8B030D-6E8A-4147-A177-3AD203B41FA5}">
                      <a16:colId xmlns:a16="http://schemas.microsoft.com/office/drawing/2014/main" val="3280439832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Canonical Export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Strategy 1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Strategy 2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Strategy 3 </a:t>
                      </a:r>
                    </a:p>
                    <a:p>
                      <a:pPr algn="ctr" latinLnBrk="1"/>
                      <a:r>
                        <a:rPr lang="en-US" altLang="ko-KR" dirty="0"/>
                        <a:t>(DS : 1-byte)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Strategy 3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(DS : 32-byte)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80727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R1CS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8,287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74025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Export 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238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343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2,201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2,292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2,384 ns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0781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Proof </a:t>
                      </a:r>
                      <a:r>
                        <a:rPr lang="ko-KR" altLang="en-US" sz="1600" dirty="0"/>
                        <a:t>생성 </a:t>
                      </a:r>
                      <a:r>
                        <a:rPr lang="en-US" altLang="ko-KR" sz="1600" dirty="0"/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67.30 </a:t>
                      </a:r>
                      <a:r>
                        <a:rPr lang="en-US" altLang="ko-KR" sz="1600" dirty="0" err="1"/>
                        <a:t>ms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68.12 </a:t>
                      </a:r>
                      <a:r>
                        <a:rPr lang="en-US" altLang="ko-KR" sz="1600" dirty="0" err="1"/>
                        <a:t>ms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753510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Verifier Gas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49,884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50,064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50,019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50,165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50,310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59298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BCA0A7-DE53-A41F-2CD8-8C80A2EF0113}"/>
              </a:ext>
            </a:extLst>
          </p:cNvPr>
          <p:cNvSpPr txBox="1"/>
          <p:nvPr/>
        </p:nvSpPr>
        <p:spPr>
          <a:xfrm>
            <a:off x="802888" y="3880790"/>
            <a:ext cx="105862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/>
              <a:t>Strategy 1: </a:t>
            </a:r>
            <a:r>
              <a:rPr lang="ko-KR" altLang="en-US" sz="1600" dirty="0"/>
              <a:t>회로 내부 비용 증가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R1CS: +511 </a:t>
            </a:r>
            <a:r>
              <a:rPr lang="ko-KR" altLang="en-US" sz="1600" dirty="0"/>
              <a:t>증가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Proof </a:t>
            </a:r>
            <a:r>
              <a:rPr lang="ko-KR" altLang="en-US" sz="1600" dirty="0"/>
              <a:t>생성 시간</a:t>
            </a:r>
            <a:r>
              <a:rPr lang="en-US" altLang="ko-KR" sz="1600" dirty="0"/>
              <a:t>: +0.82 </a:t>
            </a:r>
            <a:r>
              <a:rPr lang="en-US" altLang="ko-KR" sz="1600" dirty="0" err="1"/>
              <a:t>ms</a:t>
            </a:r>
            <a:r>
              <a:rPr lang="en-US" altLang="ko-KR" sz="1600" dirty="0"/>
              <a:t> </a:t>
            </a:r>
            <a:r>
              <a:rPr lang="ko-KR" altLang="en-US" sz="1600" dirty="0"/>
              <a:t>증가 </a:t>
            </a:r>
            <a:r>
              <a:rPr lang="en-US" altLang="ko-KR" sz="1600" dirty="0"/>
              <a:t>(+1.2%)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Export latency: +105 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Verifier gas: +180 gas</a:t>
            </a:r>
          </a:p>
          <a:p>
            <a:pPr marL="342900" indent="-342900">
              <a:buAutoNum type="arabicPeriod"/>
            </a:pP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Strategy 2/3 : </a:t>
            </a:r>
            <a:r>
              <a:rPr lang="ko-KR" altLang="en-US" sz="1600" dirty="0"/>
              <a:t>외부 </a:t>
            </a:r>
            <a:r>
              <a:rPr lang="en-US" altLang="ko-KR" sz="1600" dirty="0"/>
              <a:t>hashing </a:t>
            </a:r>
            <a:r>
              <a:rPr lang="ko-KR" altLang="en-US" sz="1600" dirty="0"/>
              <a:t>비용만 추가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R1CS </a:t>
            </a:r>
            <a:r>
              <a:rPr lang="ko-KR" altLang="en-US" sz="1600" dirty="0"/>
              <a:t>증가</a:t>
            </a:r>
            <a:r>
              <a:rPr lang="en-US" altLang="ko-KR" sz="1600" dirty="0"/>
              <a:t>: 0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Proof </a:t>
            </a:r>
            <a:r>
              <a:rPr lang="ko-KR" altLang="en-US" sz="1600" dirty="0"/>
              <a:t>생성 시간 </a:t>
            </a:r>
            <a:r>
              <a:rPr lang="en-US" altLang="ko-KR" sz="1600" dirty="0"/>
              <a:t>: canonical</a:t>
            </a:r>
            <a:r>
              <a:rPr lang="ko-KR" altLang="en-US" sz="1600" dirty="0"/>
              <a:t>과 동일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Export latency : 2,201ns</a:t>
            </a:r>
            <a:r>
              <a:rPr lang="ko-KR" altLang="en-US" sz="1600" dirty="0"/>
              <a:t> </a:t>
            </a:r>
            <a:r>
              <a:rPr lang="en-US" altLang="ko-KR" sz="1600" dirty="0"/>
              <a:t>~</a:t>
            </a:r>
            <a:r>
              <a:rPr lang="ko-KR" altLang="en-US" sz="1600" dirty="0"/>
              <a:t> </a:t>
            </a:r>
            <a:r>
              <a:rPr lang="en-US" altLang="ko-KR" sz="1600" dirty="0"/>
              <a:t>2,384ns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Verifier gas </a:t>
            </a:r>
            <a:r>
              <a:rPr lang="ko-KR" altLang="en-US" sz="1600" dirty="0"/>
              <a:t>증가 </a:t>
            </a:r>
            <a:r>
              <a:rPr lang="en-US" altLang="ko-KR" sz="1600" dirty="0"/>
              <a:t>: </a:t>
            </a:r>
            <a:r>
              <a:rPr lang="ko-KR" altLang="en-US" sz="1600" dirty="0"/>
              <a:t>최대 </a:t>
            </a:r>
            <a:r>
              <a:rPr lang="en-US" altLang="ko-KR" sz="1600" dirty="0"/>
              <a:t>426 gas </a:t>
            </a:r>
            <a:r>
              <a:rPr lang="ko-KR" altLang="en-US" sz="1600" dirty="0"/>
              <a:t>증가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91113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E86409-25E1-C4C9-09BA-048E4D2CD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DDA09-09E1-1546-D9EC-6D5084F2D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EVM</a:t>
            </a:r>
            <a:r>
              <a:rPr lang="ko-KR" altLang="en-US" sz="4000" dirty="0"/>
              <a:t> </a:t>
            </a:r>
            <a:r>
              <a:rPr lang="en-US" altLang="ko-KR" sz="4000" dirty="0"/>
              <a:t>Gas</a:t>
            </a:r>
            <a:r>
              <a:rPr lang="ko-KR" altLang="en-US" sz="4000" dirty="0"/>
              <a:t> </a:t>
            </a:r>
            <a:r>
              <a:rPr lang="en-US" altLang="ko-KR" sz="4000" dirty="0"/>
              <a:t>Fee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C2A59-071C-F003-D00F-8B5964AE05C8}"/>
              </a:ext>
            </a:extLst>
          </p:cNvPr>
          <p:cNvSpPr txBox="1"/>
          <p:nvPr/>
        </p:nvSpPr>
        <p:spPr>
          <a:xfrm>
            <a:off x="580232" y="1204393"/>
            <a:ext cx="1058622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EVM(Ethereum Virtual Machine) Gas Fee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On-Chain Verifier</a:t>
            </a:r>
            <a:r>
              <a:rPr lang="ko-KR" altLang="en-US" sz="1400" dirty="0"/>
              <a:t>가 </a:t>
            </a:r>
            <a:r>
              <a:rPr lang="en-US" altLang="ko-KR" sz="1400" dirty="0"/>
              <a:t>Export </a:t>
            </a:r>
            <a:r>
              <a:rPr lang="ko-KR" altLang="en-US" sz="1400" dirty="0"/>
              <a:t>검증 시 소비하는 </a:t>
            </a:r>
            <a:r>
              <a:rPr lang="en-US" altLang="ko-KR" sz="1400" dirty="0"/>
              <a:t>EVM Gas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Measurement Framework : Foundry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측정 방법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Inline : Operation Cost</a:t>
            </a:r>
            <a:r>
              <a:rPr lang="ko-KR" altLang="en-US" sz="1400" dirty="0"/>
              <a:t>만 </a:t>
            </a:r>
            <a:r>
              <a:rPr lang="ko-KR" altLang="en-US" sz="1400" dirty="0" err="1"/>
              <a:t>즉청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Pure : Solidity Function Dispatch </a:t>
            </a:r>
            <a:r>
              <a:rPr lang="ko-KR" altLang="en-US" sz="1400" dirty="0"/>
              <a:t>포함</a:t>
            </a:r>
            <a:endParaRPr lang="en-US" altLang="ko-KR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External : </a:t>
            </a:r>
            <a:r>
              <a:rPr lang="ko-KR" altLang="en-US" sz="1400" dirty="0"/>
              <a:t>실제 운영 환경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 + SSTORE)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F747F3F-7385-FC41-E3D8-3D0A4A39F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286128"/>
              </p:ext>
            </p:extLst>
          </p:nvPr>
        </p:nvGraphicFramePr>
        <p:xfrm>
          <a:off x="302217" y="3812251"/>
          <a:ext cx="11724467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112">
                  <a:extLst>
                    <a:ext uri="{9D8B030D-6E8A-4147-A177-3AD203B41FA5}">
                      <a16:colId xmlns:a16="http://schemas.microsoft.com/office/drawing/2014/main" val="3662117001"/>
                    </a:ext>
                  </a:extLst>
                </a:gridCol>
                <a:gridCol w="1230770">
                  <a:extLst>
                    <a:ext uri="{9D8B030D-6E8A-4147-A177-3AD203B41FA5}">
                      <a16:colId xmlns:a16="http://schemas.microsoft.com/office/drawing/2014/main" val="2045834010"/>
                    </a:ext>
                  </a:extLst>
                </a:gridCol>
                <a:gridCol w="1846117">
                  <a:extLst>
                    <a:ext uri="{9D8B030D-6E8A-4147-A177-3AD203B41FA5}">
                      <a16:colId xmlns:a16="http://schemas.microsoft.com/office/drawing/2014/main" val="3333628536"/>
                    </a:ext>
                  </a:extLst>
                </a:gridCol>
                <a:gridCol w="1846117">
                  <a:extLst>
                    <a:ext uri="{9D8B030D-6E8A-4147-A177-3AD203B41FA5}">
                      <a16:colId xmlns:a16="http://schemas.microsoft.com/office/drawing/2014/main" val="3806781465"/>
                    </a:ext>
                  </a:extLst>
                </a:gridCol>
                <a:gridCol w="1846117">
                  <a:extLst>
                    <a:ext uri="{9D8B030D-6E8A-4147-A177-3AD203B41FA5}">
                      <a16:colId xmlns:a16="http://schemas.microsoft.com/office/drawing/2014/main" val="580941460"/>
                    </a:ext>
                  </a:extLst>
                </a:gridCol>
                <a:gridCol w="1846117">
                  <a:extLst>
                    <a:ext uri="{9D8B030D-6E8A-4147-A177-3AD203B41FA5}">
                      <a16:colId xmlns:a16="http://schemas.microsoft.com/office/drawing/2014/main" val="2146666011"/>
                    </a:ext>
                  </a:extLst>
                </a:gridCol>
                <a:gridCol w="1846117">
                  <a:extLst>
                    <a:ext uri="{9D8B030D-6E8A-4147-A177-3AD203B41FA5}">
                      <a16:colId xmlns:a16="http://schemas.microsoft.com/office/drawing/2014/main" val="3280439832"/>
                    </a:ext>
                  </a:extLst>
                </a:gridCol>
              </a:tblGrid>
              <a:tr h="132080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Canonical Export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2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3 – min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3 - prod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80727"/>
                  </a:ext>
                </a:extLst>
              </a:tr>
              <a:tr h="13208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EVM Gas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Inline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175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199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191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74025"/>
                  </a:ext>
                </a:extLst>
              </a:tr>
              <a:tr h="1320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Pure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377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373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515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552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07810"/>
                  </a:ext>
                </a:extLst>
              </a:tr>
              <a:tr h="13208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49,884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50,064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50,019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50,165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50,310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75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679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67FA5A-F8DE-A000-E797-48336A84A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420A8-CE0E-92AF-4832-C771333D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R1CS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FFD44-EDAF-EFD2-7DB4-FA9C169895FE}"/>
              </a:ext>
            </a:extLst>
          </p:cNvPr>
          <p:cNvSpPr txBox="1"/>
          <p:nvPr/>
        </p:nvSpPr>
        <p:spPr>
          <a:xfrm>
            <a:off x="557561" y="1657815"/>
            <a:ext cx="116344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R1CS(Rank-1 Constraint System)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ZK-SNARK </a:t>
            </a:r>
            <a:r>
              <a:rPr lang="ko-KR" altLang="en-US" sz="1400" dirty="0"/>
              <a:t>회로를 표현하는 표준 형식으로</a:t>
            </a:r>
            <a:r>
              <a:rPr lang="en-US" altLang="ko-KR" sz="1400" dirty="0"/>
              <a:t>, </a:t>
            </a:r>
            <a:r>
              <a:rPr lang="ko-KR" altLang="en-US" sz="1400" dirty="0"/>
              <a:t>모든 산술 연산을 </a:t>
            </a:r>
            <a:r>
              <a:rPr lang="en-US" altLang="ko-KR" dirty="0"/>
              <a:t>(A · w) ∘ (B · w) = (C · w)</a:t>
            </a:r>
            <a:r>
              <a:rPr lang="ko-KR" altLang="en-US" sz="1400" dirty="0"/>
              <a:t> 형태의 </a:t>
            </a:r>
            <a:r>
              <a:rPr lang="en-US" altLang="ko-KR" sz="1400" dirty="0"/>
              <a:t>rank-1 quadratic equation</a:t>
            </a:r>
            <a:r>
              <a:rPr lang="ko-KR" altLang="en-US" sz="1400" dirty="0"/>
              <a:t>으로 변환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ZK-SNARK prover</a:t>
            </a:r>
            <a:r>
              <a:rPr lang="ko-KR" altLang="en-US" sz="1400" dirty="0"/>
              <a:t>는 이 </a:t>
            </a:r>
            <a:r>
              <a:rPr lang="en-US" altLang="ko-KR" sz="1400" dirty="0"/>
              <a:t>constraint</a:t>
            </a:r>
            <a:r>
              <a:rPr lang="ko-KR" altLang="en-US" sz="1400" dirty="0"/>
              <a:t>들을 만족하는 </a:t>
            </a:r>
            <a:r>
              <a:rPr lang="en-US" altLang="ko-KR" sz="1400" dirty="0"/>
              <a:t>witness </a:t>
            </a:r>
            <a:r>
              <a:rPr lang="ko-KR" altLang="en-US" sz="1400" dirty="0"/>
              <a:t>벡터 </a:t>
            </a:r>
            <a:r>
              <a:rPr lang="en-US" altLang="ko-KR" sz="1400" dirty="0"/>
              <a:t>w</a:t>
            </a:r>
            <a:r>
              <a:rPr lang="ko-KR" altLang="en-US" sz="1400" dirty="0"/>
              <a:t>의 존재 증명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회로 복잡도의 표준 척도 </a:t>
            </a:r>
            <a:r>
              <a:rPr lang="en-US" altLang="ko-KR" sz="1400" dirty="0"/>
              <a:t>(paper Sec V-B</a:t>
            </a:r>
            <a:r>
              <a:rPr lang="ko-KR" altLang="en-US" sz="1400" dirty="0"/>
              <a:t>의 </a:t>
            </a:r>
            <a:r>
              <a:rPr lang="en-US" altLang="ko-KR" sz="1400" i="1" dirty="0"/>
              <a:t>"prover complexity"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Groth16 prover</a:t>
            </a:r>
            <a:r>
              <a:rPr lang="ko-KR" altLang="en-US" sz="1400" dirty="0"/>
              <a:t>의 </a:t>
            </a:r>
            <a:r>
              <a:rPr lang="en-US" altLang="ko-KR" sz="1400" dirty="0"/>
              <a:t>FFT/MSM </a:t>
            </a:r>
            <a:r>
              <a:rPr lang="ko-KR" altLang="en-US" sz="1400" dirty="0"/>
              <a:t>크기 결정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다른 </a:t>
            </a:r>
            <a:r>
              <a:rPr lang="en-US" altLang="ko-KR" sz="1400" dirty="0"/>
              <a:t>ZK </a:t>
            </a:r>
            <a:r>
              <a:rPr lang="ko-KR" altLang="en-US" sz="1400" dirty="0"/>
              <a:t>시스템</a:t>
            </a:r>
            <a:r>
              <a:rPr lang="en-US" altLang="ko-KR" sz="1400" dirty="0"/>
              <a:t>(Plonk, FFLONK) </a:t>
            </a:r>
            <a:r>
              <a:rPr lang="ko-KR" altLang="en-US" sz="1400" dirty="0"/>
              <a:t>환산 가능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EF3F611-B2FF-89E1-FE8A-9D5124772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04897"/>
              </p:ext>
            </p:extLst>
          </p:nvPr>
        </p:nvGraphicFramePr>
        <p:xfrm>
          <a:off x="746315" y="4434817"/>
          <a:ext cx="829285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570">
                  <a:extLst>
                    <a:ext uri="{9D8B030D-6E8A-4147-A177-3AD203B41FA5}">
                      <a16:colId xmlns:a16="http://schemas.microsoft.com/office/drawing/2014/main" val="2045834010"/>
                    </a:ext>
                  </a:extLst>
                </a:gridCol>
                <a:gridCol w="1658570">
                  <a:extLst>
                    <a:ext uri="{9D8B030D-6E8A-4147-A177-3AD203B41FA5}">
                      <a16:colId xmlns:a16="http://schemas.microsoft.com/office/drawing/2014/main" val="3333628536"/>
                    </a:ext>
                  </a:extLst>
                </a:gridCol>
                <a:gridCol w="1658570">
                  <a:extLst>
                    <a:ext uri="{9D8B030D-6E8A-4147-A177-3AD203B41FA5}">
                      <a16:colId xmlns:a16="http://schemas.microsoft.com/office/drawing/2014/main" val="3806781465"/>
                    </a:ext>
                  </a:extLst>
                </a:gridCol>
                <a:gridCol w="1658570">
                  <a:extLst>
                    <a:ext uri="{9D8B030D-6E8A-4147-A177-3AD203B41FA5}">
                      <a16:colId xmlns:a16="http://schemas.microsoft.com/office/drawing/2014/main" val="580941460"/>
                    </a:ext>
                  </a:extLst>
                </a:gridCol>
                <a:gridCol w="1658570">
                  <a:extLst>
                    <a:ext uri="{9D8B030D-6E8A-4147-A177-3AD203B41FA5}">
                      <a16:colId xmlns:a16="http://schemas.microsoft.com/office/drawing/2014/main" val="2146666011"/>
                    </a:ext>
                  </a:extLst>
                </a:gridCol>
              </a:tblGrid>
              <a:tr h="13208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Canonical Export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1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2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Strategy 3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380727"/>
                  </a:ext>
                </a:extLst>
              </a:tr>
              <a:tr h="132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R1CS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8,287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7,776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974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30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63980E-56CB-EAC7-A3C1-4666546E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52225-4774-A802-D713-A392A007A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Off-Chain Latency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1A759-5310-31B1-54F4-CDCF2A16BB0E}"/>
              </a:ext>
            </a:extLst>
          </p:cNvPr>
          <p:cNvSpPr txBox="1"/>
          <p:nvPr/>
        </p:nvSpPr>
        <p:spPr>
          <a:xfrm>
            <a:off x="567086" y="1300738"/>
            <a:ext cx="1058622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Off-Chain Latency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Merkle Root </a:t>
            </a:r>
            <a:r>
              <a:rPr lang="ko-KR" altLang="en-US" sz="1400" dirty="0"/>
              <a:t>생성 </a:t>
            </a:r>
            <a:r>
              <a:rPr lang="en-US" altLang="ko-KR" sz="1400" dirty="0"/>
              <a:t>+ Poseidon Hashing + ZK Proof </a:t>
            </a:r>
            <a:r>
              <a:rPr lang="ko-KR" altLang="en-US" sz="1400" dirty="0"/>
              <a:t>생성 시간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Native Poseidon Hashing : Rust</a:t>
            </a:r>
            <a:r>
              <a:rPr lang="ko-KR" altLang="en-US" sz="1400" dirty="0"/>
              <a:t>의 </a:t>
            </a:r>
            <a:r>
              <a:rPr lang="en-US" altLang="ko-KR" sz="1400" dirty="0"/>
              <a:t>light-Poseidon </a:t>
            </a:r>
            <a:r>
              <a:rPr lang="ko-KR" altLang="en-US" sz="1400" dirty="0"/>
              <a:t>라이브러리와 </a:t>
            </a:r>
            <a:r>
              <a:rPr lang="en-US" altLang="ko-KR" sz="1400" dirty="0"/>
              <a:t>Criterion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ZK Circuit Witness </a:t>
            </a:r>
            <a:r>
              <a:rPr lang="ko-KR" altLang="en-US" sz="1400" dirty="0"/>
              <a:t>생성 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snarkjs</a:t>
            </a:r>
            <a:r>
              <a:rPr lang="en-US" altLang="ko-KR" sz="1400" dirty="0"/>
              <a:t> Node.js API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ZK Proof </a:t>
            </a:r>
            <a:r>
              <a:rPr lang="ko-KR" altLang="en-US" sz="1400" dirty="0"/>
              <a:t>생성 </a:t>
            </a:r>
            <a:r>
              <a:rPr lang="en-US" altLang="ko-KR" sz="1400" dirty="0"/>
              <a:t>: </a:t>
            </a:r>
            <a:r>
              <a:rPr lang="en-US" altLang="ko-KR" sz="1400" dirty="0" err="1"/>
              <a:t>rapidnsark</a:t>
            </a:r>
            <a:r>
              <a:rPr lang="en-US" altLang="ko-KR" sz="1400" dirty="0"/>
              <a:t> </a:t>
            </a:r>
            <a:r>
              <a:rPr lang="ko-KR" altLang="en-US" sz="1400" dirty="0"/>
              <a:t>사용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E5B4B7C-2315-0699-D505-F65DF4AF2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884" y="3069341"/>
            <a:ext cx="2837484" cy="32323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EF2C58B-C921-94ED-3864-7E845965D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806" y="3069340"/>
            <a:ext cx="2837484" cy="32658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561570-726F-D3BB-801E-0AF97141253D}"/>
              </a:ext>
            </a:extLst>
          </p:cNvPr>
          <p:cNvSpPr txBox="1"/>
          <p:nvPr/>
        </p:nvSpPr>
        <p:spPr>
          <a:xfrm>
            <a:off x="1542586" y="6346756"/>
            <a:ext cx="7772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Grassi, Lorenzo, et al. "Reinforced concrete: A fast hash function for verifiable computation." </a:t>
            </a:r>
            <a:r>
              <a:rPr lang="en-US" altLang="ko-KR" sz="11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Proceedings of the 2022 ACM SIGSAC Conference on Computer and Communications Security</a:t>
            </a:r>
            <a:r>
              <a:rPr lang="en-US" altLang="ko-KR" sz="11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2022.</a:t>
            </a:r>
            <a:endParaRPr kumimoji="1"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432585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A5F063-7C1A-5E4F-91B8-7639FEA91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6A1DE-7BBB-5519-3A99-722D007A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Off-Chain Latency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0EBAD7-D2FA-B628-6C6D-0EC47D094A6B}"/>
              </a:ext>
            </a:extLst>
          </p:cNvPr>
          <p:cNvSpPr txBox="1"/>
          <p:nvPr/>
        </p:nvSpPr>
        <p:spPr>
          <a:xfrm>
            <a:off x="272832" y="1697092"/>
            <a:ext cx="48173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Latency</a:t>
            </a:r>
          </a:p>
          <a:p>
            <a:endParaRPr lang="en-US" altLang="ko-KR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12D1AF3-DDFC-199D-E43F-B7C4636E8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029901"/>
              </p:ext>
            </p:extLst>
          </p:nvPr>
        </p:nvGraphicFramePr>
        <p:xfrm>
          <a:off x="105798" y="2167459"/>
          <a:ext cx="11932540" cy="244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660">
                  <a:extLst>
                    <a:ext uri="{9D8B030D-6E8A-4147-A177-3AD203B41FA5}">
                      <a16:colId xmlns:a16="http://schemas.microsoft.com/office/drawing/2014/main" val="72249451"/>
                    </a:ext>
                  </a:extLst>
                </a:gridCol>
                <a:gridCol w="2030800">
                  <a:extLst>
                    <a:ext uri="{9D8B030D-6E8A-4147-A177-3AD203B41FA5}">
                      <a16:colId xmlns:a16="http://schemas.microsoft.com/office/drawing/2014/main" val="787765658"/>
                    </a:ext>
                  </a:extLst>
                </a:gridCol>
                <a:gridCol w="2056020">
                  <a:extLst>
                    <a:ext uri="{9D8B030D-6E8A-4147-A177-3AD203B41FA5}">
                      <a16:colId xmlns:a16="http://schemas.microsoft.com/office/drawing/2014/main" val="2799311589"/>
                    </a:ext>
                  </a:extLst>
                </a:gridCol>
                <a:gridCol w="2056020">
                  <a:extLst>
                    <a:ext uri="{9D8B030D-6E8A-4147-A177-3AD203B41FA5}">
                      <a16:colId xmlns:a16="http://schemas.microsoft.com/office/drawing/2014/main" val="59567205"/>
                    </a:ext>
                  </a:extLst>
                </a:gridCol>
                <a:gridCol w="2056020">
                  <a:extLst>
                    <a:ext uri="{9D8B030D-6E8A-4147-A177-3AD203B41FA5}">
                      <a16:colId xmlns:a16="http://schemas.microsoft.com/office/drawing/2014/main" val="1985558478"/>
                    </a:ext>
                  </a:extLst>
                </a:gridCol>
                <a:gridCol w="2056020">
                  <a:extLst>
                    <a:ext uri="{9D8B030D-6E8A-4147-A177-3AD203B41FA5}">
                      <a16:colId xmlns:a16="http://schemas.microsoft.com/office/drawing/2014/main" val="1644068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Canonical Export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Strategy 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Strategy 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Strategy 3 - min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Strategy 3 - prod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43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Export Latency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238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343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2,201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2,292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2,384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565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Witness </a:t>
                      </a:r>
                      <a:r>
                        <a:rPr lang="ko-KR" altLang="en-US" sz="1400" dirty="0"/>
                        <a:t>생성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ms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26.36 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27.33 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0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Proof </a:t>
                      </a:r>
                      <a:r>
                        <a:rPr lang="ko-KR" altLang="en-US" sz="1400" dirty="0"/>
                        <a:t>생성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ms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68.96 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68.25 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813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Proof </a:t>
                      </a:r>
                      <a:r>
                        <a:rPr lang="ko-KR" altLang="en-US" sz="1400" dirty="0"/>
                        <a:t>생성 </a:t>
                      </a:r>
                      <a:r>
                        <a:rPr lang="en-US" altLang="ko-KR" sz="1400" dirty="0"/>
                        <a:t>– </a:t>
                      </a:r>
                      <a:r>
                        <a:rPr lang="ko-KR" altLang="en-US" sz="1400" dirty="0"/>
                        <a:t>기타 오버헤드 포함 </a:t>
                      </a:r>
                      <a:r>
                        <a:rPr lang="en-US" altLang="ko-KR" sz="1400" dirty="0"/>
                        <a:t>(</a:t>
                      </a:r>
                      <a:r>
                        <a:rPr lang="en-US" altLang="ko-KR" sz="1400" dirty="0" err="1"/>
                        <a:t>ms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108.68 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108.02 </a:t>
                      </a:r>
                      <a:r>
                        <a:rPr lang="en-US" altLang="ko-KR" sz="1400" dirty="0" err="1"/>
                        <a:t>ms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Canonical Export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와 </a:t>
                      </a:r>
                      <a:endParaRPr kumimoji="0" lang="en-US" altLang="ko-KR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cs typeface="+mn-cs"/>
                        </a:rPr>
                        <a:t>동일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923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42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0B27CB-3AFC-F0EF-EB9E-51C7A7E9B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603B2-4A7E-3E2F-8EC0-F84039B0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레퍼런스 </a:t>
            </a:r>
            <a:r>
              <a:rPr lang="en-US" altLang="ko-KR" sz="4000" dirty="0"/>
              <a:t>– R1CS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906D6-7133-8FBE-156B-EB01A2B2D4CB}"/>
              </a:ext>
            </a:extLst>
          </p:cNvPr>
          <p:cNvSpPr txBox="1"/>
          <p:nvPr/>
        </p:nvSpPr>
        <p:spPr>
          <a:xfrm>
            <a:off x="669538" y="1462528"/>
            <a:ext cx="949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R1CS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26120B-DCD8-DC64-DCDC-5FA02D49A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72" y="2067030"/>
            <a:ext cx="5339478" cy="24243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3FDEBC-DBCC-7E29-8C31-973CA6389AED}"/>
              </a:ext>
            </a:extLst>
          </p:cNvPr>
          <p:cNvSpPr txBox="1"/>
          <p:nvPr/>
        </p:nvSpPr>
        <p:spPr>
          <a:xfrm>
            <a:off x="1993513" y="4503393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Poseidon</a:t>
            </a:r>
            <a:r>
              <a:rPr lang="ko-KR" altLang="en-US" sz="1600" dirty="0"/>
              <a:t> 논문</a:t>
            </a:r>
            <a:endParaRPr lang="en-US" altLang="ko-KR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C679374-5533-329D-7589-98492C3DB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236" y="2003530"/>
            <a:ext cx="5070716" cy="24998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89FD21-D35F-DC01-032A-6437A0334164}"/>
              </a:ext>
            </a:extLst>
          </p:cNvPr>
          <p:cNvSpPr txBox="1"/>
          <p:nvPr/>
        </p:nvSpPr>
        <p:spPr>
          <a:xfrm>
            <a:off x="7438288" y="4672670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Anemoi</a:t>
            </a:r>
            <a:r>
              <a:rPr lang="ko-KR" altLang="en-US" sz="1600" dirty="0"/>
              <a:t> 논문</a:t>
            </a:r>
            <a:endParaRPr lang="en-US" altLang="ko-KR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FEA4BC4-FE9D-B306-865D-2CF39BE818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11439" y="2003530"/>
            <a:ext cx="4842962" cy="304507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F5DBDD6-8B1F-C165-DD68-99C132F1B94B}"/>
              </a:ext>
            </a:extLst>
          </p:cNvPr>
          <p:cNvSpPr txBox="1"/>
          <p:nvPr/>
        </p:nvSpPr>
        <p:spPr>
          <a:xfrm>
            <a:off x="12543688" y="5236550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Arion </a:t>
            </a:r>
            <a:r>
              <a:rPr lang="ko-KR" altLang="en-US" sz="1600" dirty="0"/>
              <a:t>논문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22008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009CB0-2E25-110C-BA65-5B2F5466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6505E-C091-828E-F7E9-420DFD95E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레퍼런스 </a:t>
            </a:r>
            <a:r>
              <a:rPr lang="en-US" altLang="ko-KR" sz="4000" dirty="0"/>
              <a:t>– Latency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E5C3AD-E351-4E90-014A-CE7CA9B1B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011" y="2067030"/>
            <a:ext cx="3529238" cy="24872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CF947C-9B47-B37F-C7ED-B17FF8AF8F63}"/>
              </a:ext>
            </a:extLst>
          </p:cNvPr>
          <p:cNvSpPr txBox="1"/>
          <p:nvPr/>
        </p:nvSpPr>
        <p:spPr>
          <a:xfrm>
            <a:off x="6013062" y="1462528"/>
            <a:ext cx="3607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증명 생성 시간 </a:t>
            </a:r>
            <a:r>
              <a:rPr lang="en-US" altLang="ko-KR" sz="1600" b="1" dirty="0"/>
              <a:t>/ </a:t>
            </a:r>
            <a:r>
              <a:rPr lang="ko-KR" altLang="en-US" sz="1600" b="1" dirty="0"/>
              <a:t>검증 시간</a:t>
            </a:r>
            <a:endParaRPr lang="en-US" altLang="ko-KR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054193-C4AE-E63B-8FED-A1EE4F1637D3}"/>
              </a:ext>
            </a:extLst>
          </p:cNvPr>
          <p:cNvSpPr txBox="1"/>
          <p:nvPr/>
        </p:nvSpPr>
        <p:spPr>
          <a:xfrm>
            <a:off x="6594088" y="4503393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Poseidon</a:t>
            </a:r>
            <a:r>
              <a:rPr lang="ko-KR" altLang="en-US" sz="1600" dirty="0"/>
              <a:t> 논문</a:t>
            </a:r>
            <a:endParaRPr lang="en-US" altLang="ko-KR" sz="16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3923D9-5886-4527-410C-54C80A653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1544" y="2152650"/>
            <a:ext cx="2945533" cy="32579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4DB11F-2B5E-2BDC-FF01-634C5FD7E695}"/>
              </a:ext>
            </a:extLst>
          </p:cNvPr>
          <p:cNvSpPr txBox="1"/>
          <p:nvPr/>
        </p:nvSpPr>
        <p:spPr>
          <a:xfrm>
            <a:off x="9931544" y="1467319"/>
            <a:ext cx="36071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Plain performance in Rust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0271C16-65D2-9121-11A7-4F22C6B5B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9387" y="2152650"/>
            <a:ext cx="2945533" cy="331021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7CB61B-E486-CE04-A48A-1884A579A6F3}"/>
              </a:ext>
            </a:extLst>
          </p:cNvPr>
          <p:cNvSpPr txBox="1"/>
          <p:nvPr/>
        </p:nvSpPr>
        <p:spPr>
          <a:xfrm>
            <a:off x="10137377" y="5588088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RC</a:t>
            </a:r>
            <a:r>
              <a:rPr lang="ko-KR" altLang="en-US" sz="1600" dirty="0"/>
              <a:t> 논문 </a:t>
            </a:r>
            <a:r>
              <a:rPr lang="en-US" altLang="ko-KR" sz="1600" dirty="0"/>
              <a:t>– </a:t>
            </a:r>
            <a:r>
              <a:rPr lang="ko-KR" altLang="en-US" sz="1600" dirty="0"/>
              <a:t>단일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해싱</a:t>
            </a:r>
            <a:endParaRPr lang="en-US" altLang="ko-KR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2843DF-702E-FEEA-4EF3-275DAC70F9A6}"/>
              </a:ext>
            </a:extLst>
          </p:cNvPr>
          <p:cNvSpPr txBox="1"/>
          <p:nvPr/>
        </p:nvSpPr>
        <p:spPr>
          <a:xfrm>
            <a:off x="13209958" y="5640368"/>
            <a:ext cx="28649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RC</a:t>
            </a:r>
            <a:r>
              <a:rPr lang="ko-KR" altLang="en-US" sz="1600" dirty="0"/>
              <a:t> 논문 </a:t>
            </a:r>
            <a:r>
              <a:rPr lang="en-US" altLang="ko-KR" sz="1600" dirty="0"/>
              <a:t>– 2^20 </a:t>
            </a:r>
            <a:r>
              <a:rPr lang="en-US" altLang="ko-KR" sz="1600" dirty="0" err="1"/>
              <a:t>merkle</a:t>
            </a:r>
            <a:r>
              <a:rPr lang="en-US" altLang="ko-KR" sz="1600" dirty="0"/>
              <a:t> tree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4CCF3-51FF-7514-A429-73C98B0160AA}"/>
              </a:ext>
            </a:extLst>
          </p:cNvPr>
          <p:cNvSpPr txBox="1"/>
          <p:nvPr/>
        </p:nvSpPr>
        <p:spPr>
          <a:xfrm>
            <a:off x="334522" y="2734858"/>
            <a:ext cx="5678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Yi et al., "Benchmarking ZK-Friendly Hash Functions and SNARK Proving Systems for EVM-compatible Blockchains"</a:t>
            </a:r>
            <a:r>
              <a:rPr lang="en-US" altLang="ko-KR" sz="1200" dirty="0"/>
              <a:t> (arXiv:2409.01976)</a:t>
            </a:r>
            <a:endParaRPr lang="ko-KR" altLang="en-US" sz="12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7965CF4-9572-1B71-4E99-A275C05DC6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828" y="1273532"/>
            <a:ext cx="5770234" cy="139944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A5ADF61-C68C-B2E8-9EBD-2380DC2A30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3062" y="5564168"/>
            <a:ext cx="3529238" cy="190851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3FD0A98-1BA1-4BA9-FB34-3C4F69E1DB0F}"/>
              </a:ext>
            </a:extLst>
          </p:cNvPr>
          <p:cNvSpPr txBox="1"/>
          <p:nvPr/>
        </p:nvSpPr>
        <p:spPr>
          <a:xfrm>
            <a:off x="6467088" y="7733141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Poseidon2</a:t>
            </a:r>
            <a:r>
              <a:rPr lang="ko-KR" altLang="en-US" sz="1600" dirty="0"/>
              <a:t> 논문</a:t>
            </a:r>
            <a:endParaRPr lang="en-US" altLang="ko-KR" sz="16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5E7EE30-C5CB-059A-A74E-4199AA13AA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023" y="3459978"/>
            <a:ext cx="5842080" cy="26277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23690B8-72E7-ACE7-7526-5F1AC4252FD2}"/>
              </a:ext>
            </a:extLst>
          </p:cNvPr>
          <p:cNvSpPr txBox="1"/>
          <p:nvPr/>
        </p:nvSpPr>
        <p:spPr>
          <a:xfrm>
            <a:off x="242828" y="6163902"/>
            <a:ext cx="56785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Anemoi </a:t>
            </a:r>
            <a:r>
              <a:rPr lang="ko-KR" altLang="en-US" sz="1200" dirty="0"/>
              <a:t>논문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414B8334-7BA7-7454-D9DE-F8E501F211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7121520" y="1414926"/>
            <a:ext cx="7144747" cy="379147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52FC176-50C5-EE43-C2D3-E68601449B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8760" y="8482549"/>
            <a:ext cx="5428617" cy="599439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D780765-00BA-4EAA-5DBB-7BF1C37F8E45}"/>
              </a:ext>
            </a:extLst>
          </p:cNvPr>
          <p:cNvSpPr txBox="1"/>
          <p:nvPr/>
        </p:nvSpPr>
        <p:spPr>
          <a:xfrm>
            <a:off x="6750375" y="14579094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Griffin </a:t>
            </a:r>
            <a:r>
              <a:rPr lang="ko-KR" altLang="en-US" sz="1600" dirty="0"/>
              <a:t>논문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31391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21F598-54C7-8BEB-E146-6E6A5C833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5B723-93C7-0504-F258-368982CCB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레퍼런스 </a:t>
            </a:r>
            <a:r>
              <a:rPr lang="en-US" altLang="ko-KR" sz="4000" dirty="0"/>
              <a:t>– Gas Fee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7F11D-B1CC-0C1B-E89F-4DC3B78907EF}"/>
              </a:ext>
            </a:extLst>
          </p:cNvPr>
          <p:cNvSpPr txBox="1"/>
          <p:nvPr/>
        </p:nvSpPr>
        <p:spPr>
          <a:xfrm>
            <a:off x="669537" y="1462528"/>
            <a:ext cx="1492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Gas Fee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B26BB-D778-9B7E-31F8-B3CDD54FE305}"/>
              </a:ext>
            </a:extLst>
          </p:cNvPr>
          <p:cNvSpPr txBox="1"/>
          <p:nvPr/>
        </p:nvSpPr>
        <p:spPr>
          <a:xfrm>
            <a:off x="764787" y="3152001"/>
            <a:ext cx="4925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https://hackmd.io/@Orbiter-Research/S1nat__m0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251248-9B1A-E737-A0B8-E09062CCB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37" y="1952546"/>
            <a:ext cx="4925112" cy="1124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0D4414-4271-E1F9-137B-ECE45D6B88F0}"/>
              </a:ext>
            </a:extLst>
          </p:cNvPr>
          <p:cNvSpPr txBox="1"/>
          <p:nvPr/>
        </p:nvSpPr>
        <p:spPr>
          <a:xfrm>
            <a:off x="5723478" y="5717397"/>
            <a:ext cx="30007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https://medium.com/horizen-labs/how-much-does-it-cost-to-verify-a-zero-knowledge-proof-on-chain-and-what-does-it-mean-exactly-2cefd68cf204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38C7ECB-EF50-9453-5653-CD0E9A6EA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034" y="2024871"/>
            <a:ext cx="2936225" cy="36925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55AE80-A8CE-6241-6B90-EF1F050F399E}"/>
              </a:ext>
            </a:extLst>
          </p:cNvPr>
          <p:cNvSpPr txBox="1"/>
          <p:nvPr/>
        </p:nvSpPr>
        <p:spPr>
          <a:xfrm>
            <a:off x="9215285" y="5813571"/>
            <a:ext cx="29767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Yi et al., "Benchmarking ZK-Friendly Hash Functions and SNARK Proving Systems for EVM-compatible Blockchains"</a:t>
            </a:r>
            <a:r>
              <a:rPr lang="en-US" altLang="ko-KR" sz="1200" dirty="0"/>
              <a:t> (arXiv:2409.01976)</a:t>
            </a:r>
            <a:endParaRPr lang="ko-KR" altLang="en-US" sz="12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A2C91C4-1DB0-EB29-CE1A-C0DFBB28A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7644" y="2029558"/>
            <a:ext cx="5770234" cy="139944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1C45A67-88FB-466D-B433-DED63A651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2" y="3611665"/>
            <a:ext cx="5102910" cy="289050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C71C4CE-C6E9-BE9E-EEB4-AEED28C02571}"/>
              </a:ext>
            </a:extLst>
          </p:cNvPr>
          <p:cNvSpPr txBox="1"/>
          <p:nvPr/>
        </p:nvSpPr>
        <p:spPr>
          <a:xfrm>
            <a:off x="976794" y="6479241"/>
            <a:ext cx="3000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Flashproofs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82444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E922ED4-F8F1-235E-AC92-9CB00BB9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D323A-9B2C-2878-C573-F897F86C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레퍼런스 </a:t>
            </a:r>
            <a:r>
              <a:rPr lang="en-US" altLang="ko-KR" sz="4000" dirty="0"/>
              <a:t>– </a:t>
            </a:r>
            <a:r>
              <a:rPr lang="ko-KR" altLang="en-US" sz="4000" dirty="0"/>
              <a:t>기타</a:t>
            </a:r>
            <a:endParaRPr lang="en-US" altLang="ko-KR" sz="4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D17BDE-27BE-C754-399D-7BFDF4A6E7A4}"/>
              </a:ext>
            </a:extLst>
          </p:cNvPr>
          <p:cNvSpPr txBox="1"/>
          <p:nvPr/>
        </p:nvSpPr>
        <p:spPr>
          <a:xfrm>
            <a:off x="2848935" y="4608324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Grifiin</a:t>
            </a:r>
            <a:r>
              <a:rPr lang="en-US" altLang="ko-KR" sz="1600" dirty="0"/>
              <a:t> </a:t>
            </a:r>
            <a:r>
              <a:rPr lang="ko-KR" altLang="en-US" sz="1600" dirty="0"/>
              <a:t>논문</a:t>
            </a:r>
            <a:endParaRPr lang="en-US" altLang="ko-KR" sz="16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9DD7552-6F61-2CC3-0459-67ADA75A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28" y="1371600"/>
            <a:ext cx="4321310" cy="323672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8861A0-E274-0B8D-E888-2881B9BCD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0" y="2407083"/>
            <a:ext cx="7078063" cy="2495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160D13-16AF-D6ED-52AB-54CA5B1D0E71}"/>
              </a:ext>
            </a:extLst>
          </p:cNvPr>
          <p:cNvSpPr txBox="1"/>
          <p:nvPr/>
        </p:nvSpPr>
        <p:spPr>
          <a:xfrm>
            <a:off x="7506960" y="5028201"/>
            <a:ext cx="20546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Arion </a:t>
            </a:r>
            <a:r>
              <a:rPr lang="ko-KR" altLang="en-US" sz="1600" dirty="0"/>
              <a:t>논문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6AE7BA-4A3D-3290-FA4C-2E8F5E209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-1134116"/>
            <a:ext cx="5361036" cy="347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65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24172</TotalTime>
  <Words>1599</Words>
  <Application>Microsoft Office PowerPoint</Application>
  <PresentationFormat>와이드스크린</PresentationFormat>
  <Paragraphs>397</Paragraphs>
  <Slides>15</Slides>
  <Notes>15</Notes>
  <HiddenSlides>9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Cambria Math</vt:lpstr>
      <vt:lpstr>Office 테마</vt:lpstr>
      <vt:lpstr>Poseidon Evaluation</vt:lpstr>
      <vt:lpstr>Measurement Scenario</vt:lpstr>
      <vt:lpstr>Canonical Export &amp; Strategy 1</vt:lpstr>
      <vt:lpstr>Strategy 2 &amp; Strategy 3</vt:lpstr>
      <vt:lpstr>Component별 Latency</vt:lpstr>
      <vt:lpstr>Evaluation 정리</vt:lpstr>
      <vt:lpstr>Evaluation 정리</vt:lpstr>
      <vt:lpstr>EVM Gas Fee</vt:lpstr>
      <vt:lpstr>R1CS</vt:lpstr>
      <vt:lpstr>Off-Chain Latency</vt:lpstr>
      <vt:lpstr>Off-Chain Latency</vt:lpstr>
      <vt:lpstr>레퍼런스 – R1CS</vt:lpstr>
      <vt:lpstr>레퍼런스 – Latency</vt:lpstr>
      <vt:lpstr>레퍼런스 – Gas Fee</vt:lpstr>
      <vt:lpstr>레퍼런스 – 기타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2831</cp:revision>
  <dcterms:created xsi:type="dcterms:W3CDTF">2023-03-06T16:32:37Z</dcterms:created>
  <dcterms:modified xsi:type="dcterms:W3CDTF">2026-05-27T12:02:28Z</dcterms:modified>
</cp:coreProperties>
</file>