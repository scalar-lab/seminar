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3"/>
  </p:notesMasterIdLst>
  <p:sldIdLst>
    <p:sldId id="256" r:id="rId2"/>
    <p:sldId id="301" r:id="rId3"/>
    <p:sldId id="302" r:id="rId4"/>
    <p:sldId id="303" r:id="rId5"/>
    <p:sldId id="304" r:id="rId6"/>
    <p:sldId id="305" r:id="rId7"/>
    <p:sldId id="308" r:id="rId8"/>
    <p:sldId id="306" r:id="rId9"/>
    <p:sldId id="307" r:id="rId10"/>
    <p:sldId id="309" r:id="rId11"/>
    <p:sldId id="310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2C62"/>
    <a:srgbClr val="DD802B"/>
    <a:srgbClr val="CC99FF"/>
    <a:srgbClr val="F4B183"/>
    <a:srgbClr val="2E75B6"/>
    <a:srgbClr val="336699"/>
    <a:srgbClr val="0066CC"/>
    <a:srgbClr val="FFFF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29" autoAdjust="0"/>
    <p:restoredTop sz="85080" autoAdjust="0"/>
  </p:normalViewPr>
  <p:slideViewPr>
    <p:cSldViewPr snapToGrid="0">
      <p:cViewPr varScale="1">
        <p:scale>
          <a:sx n="136" d="100"/>
          <a:sy n="136" d="100"/>
        </p:scale>
        <p:origin x="1524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5D3D0-FE31-077C-59B9-CBDEC597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FD872C-C0A9-BFB5-65C0-FCBE782B3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788384-DC60-9316-F200-CC00A31D8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84D277-44D3-A93F-E5F2-DA5FD35D5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562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87376-CC05-8999-24C2-201DB7FD9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8C58C7-FDF9-E019-342A-B8FEA2DD5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84FBF5-BC39-A5F7-A7DF-10EA11748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97AE44-D875-1093-57CD-A555D2052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860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752B1-2879-B5EC-8D21-3EF010C0B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B7D544-8A2B-8941-D14B-941D2453A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CA3C7F-6C76-C401-6DC6-A7F4AA47F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추구하는 보안 레벨보다 실제 보안 레벨이 더 </a:t>
            </a:r>
            <a:r>
              <a:rPr lang="ko-KR" altLang="en-US" dirty="0" err="1"/>
              <a:t>커야하기</a:t>
            </a:r>
            <a:r>
              <a:rPr lang="ko-KR" altLang="en-US" dirty="0"/>
              <a:t> 때문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DD5844-06C7-0F6F-4031-D180593A93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77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437F3-96E3-5DE1-6A9A-284E57462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6EFA71-5BAC-B08F-0EC7-E3DB2F5A3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EAEAF-B0B9-B670-6831-5A70B2B36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추구하는 보안 레벨보다 실제 보안 레벨이 더 </a:t>
            </a:r>
            <a:r>
              <a:rPr lang="ko-KR" altLang="en-US" dirty="0" err="1"/>
              <a:t>커야하기</a:t>
            </a:r>
            <a:r>
              <a:rPr lang="ko-KR" altLang="en-US" dirty="0"/>
              <a:t> 때문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3E7FA-5F51-EA53-3D0C-2D11750F6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580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9DFC8-BD77-6F43-0AB8-0838E93D3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1C602C-90BA-9BC4-F150-1E8CFB9B5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C6294-DE16-FA8D-D527-023C0C174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3C32C7-50CD-7C0F-3DFE-F9ED2F53D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4780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3872A-D817-DF0E-711C-E47E4F454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3AA176-E578-5BA6-10B8-BD640C7AA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E1EFA5-303E-0D5A-EDFC-EE6A982AA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ED7662-5BE0-0788-7AA9-86C1301FA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633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173D1-5404-C9BE-0D35-4D6DD156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3A41AA-4599-DBA7-CBCB-ABAC7C40B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15979C-57B8-A587-07FE-02CB353BD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Groth16, PLONK </a:t>
            </a:r>
            <a:r>
              <a:rPr lang="ko-KR" altLang="en-US" dirty="0"/>
              <a:t>시스템에 대해서 직접 측정을 진행해볼 예정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E3C2A2-88BA-DECC-5585-23EB44B70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600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AD4A5-E02E-8538-6F02-910340AF1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4B437A-6543-9C2C-C101-F88BF5FB2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3C5E6E-873F-C6F8-CB2E-490EDC07A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6953A4-AC20-3817-8793-B202727D3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2323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39DF8-00DB-A8FB-9F40-C923FF0F6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74F140-9230-E5B0-9BFB-655F9C7A0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EA97CA-1A7B-CC18-14E9-40260C41F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A43686-4167-82BE-ED65-AACE1E57C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530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73E0D-F022-7EAB-86DE-BC5D6CC5D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123BC7-F80B-830B-FDB1-2DC003FDC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D8ABB8-D31C-0E3B-06FD-C1FD380BA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6C8CBF-AFD4-3E93-7357-9022C7230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785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 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내용 보충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03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06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5247-679E-DB70-58EF-37D55D27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20608-5D4D-7C48-E43D-1732607F7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03663A-587E-CCA0-AC66-6084388DD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7FD510-AE79-706B-49CE-ED332FA30688}"/>
              </a:ext>
            </a:extLst>
          </p:cNvPr>
          <p:cNvSpPr txBox="1"/>
          <p:nvPr/>
        </p:nvSpPr>
        <p:spPr>
          <a:xfrm>
            <a:off x="1436023" y="2345212"/>
            <a:ext cx="568712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Security Level </a:t>
            </a:r>
            <a:r>
              <a:rPr lang="ko-KR" altLang="en-US" sz="1400" dirty="0"/>
              <a:t>수식 레퍼런스</a:t>
            </a:r>
            <a:endParaRPr lang="en-US" altLang="ko-KR" sz="1400" dirty="0"/>
          </a:p>
          <a:p>
            <a:pPr marL="342900" indent="-342900">
              <a:buFont typeface="+mj-lt"/>
              <a:buAutoNum type="arabicPeriod"/>
            </a:pPr>
            <a:endParaRPr lang="en-US" altLang="ko-KR" sz="14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/>
              <a:t>영지식</a:t>
            </a:r>
            <a:r>
              <a:rPr lang="ko-KR" altLang="en-US" sz="1400" dirty="0"/>
              <a:t> 증명 환경 내에서의 소모 자원 측정</a:t>
            </a:r>
            <a:endParaRPr lang="en-US" altLang="ko-KR" sz="1400" dirty="0"/>
          </a:p>
          <a:p>
            <a:pPr marL="342900" indent="-342900">
              <a:buFont typeface="+mj-lt"/>
              <a:buAutoNum type="arabicPeriod"/>
            </a:pPr>
            <a:endParaRPr lang="en-US" altLang="ko-KR" sz="14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/>
              <a:t>비교 분석 지표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947633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97C0B-DEDE-86CE-6C86-FCE0BD85D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658801-C247-A9BD-3F2F-0772E4C65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Security Level </a:t>
            </a:r>
            <a:r>
              <a:rPr lang="ko-KR" altLang="en-US" dirty="0"/>
              <a:t>수식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666013-EA61-DCD1-D9C4-F19711BF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189073-4E01-A418-731A-DA7703CC35AA}"/>
              </a:ext>
            </a:extLst>
          </p:cNvPr>
          <p:cNvSpPr txBox="1"/>
          <p:nvPr/>
        </p:nvSpPr>
        <p:spPr>
          <a:xfrm>
            <a:off x="3798277" y="2558179"/>
            <a:ext cx="719562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Sponge </a:t>
            </a:r>
            <a:r>
              <a:rPr lang="ko-KR" altLang="en-US" sz="1400" dirty="0"/>
              <a:t>구조를 처음 주장한 </a:t>
            </a:r>
            <a:r>
              <a:rPr lang="en-US" altLang="ko-KR" sz="1400" dirty="0"/>
              <a:t>Keccak Team</a:t>
            </a:r>
            <a:r>
              <a:rPr lang="ko-KR" altLang="en-US" sz="1400" dirty="0"/>
              <a:t>의 보안성 설명에 따라 유도</a:t>
            </a:r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모든 공격</a:t>
            </a:r>
            <a:r>
              <a:rPr lang="en-US" altLang="ko-KR" sz="1400" dirty="0"/>
              <a:t>(</a:t>
            </a:r>
            <a:r>
              <a:rPr lang="ko-KR" altLang="en-US" sz="1400" dirty="0"/>
              <a:t>충돌</a:t>
            </a:r>
            <a:r>
              <a:rPr lang="en-US" altLang="ko-KR" sz="1400" dirty="0"/>
              <a:t>, </a:t>
            </a:r>
            <a:r>
              <a:rPr lang="ko-KR" altLang="en-US" sz="1400" dirty="0"/>
              <a:t>역상 등</a:t>
            </a:r>
            <a:r>
              <a:rPr lang="en-US" altLang="ko-KR" sz="1400" dirty="0"/>
              <a:t>)</a:t>
            </a:r>
            <a:r>
              <a:rPr lang="ko-KR" altLang="en-US" sz="1400" dirty="0"/>
              <a:t>에 대한 저항력은 </a:t>
            </a:r>
            <a:r>
              <a:rPr lang="en-US" altLang="ko-KR" sz="1400" dirty="0"/>
              <a:t>Capacity</a:t>
            </a:r>
            <a:r>
              <a:rPr lang="ko-KR" altLang="en-US" sz="1400" dirty="0"/>
              <a:t>에 의해 결정되기 때문에 </a:t>
            </a:r>
            <a:r>
              <a:rPr lang="en-US" altLang="ko-KR" sz="1400" dirty="0"/>
              <a:t>Capacity </a:t>
            </a:r>
            <a:r>
              <a:rPr lang="ko-KR" altLang="en-US" sz="1400" dirty="0"/>
              <a:t>설정이 보안성에 중요한 역할</a:t>
            </a:r>
            <a:endParaRPr lang="en-US" altLang="ko-KR" sz="1400" dirty="0"/>
          </a:p>
        </p:txBody>
      </p:sp>
      <p:pic>
        <p:nvPicPr>
          <p:cNvPr id="5" name="그림 4" descr="텍스트, 폰트, 화이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43E13F-B4B8-0F76-C95A-4D27120E3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66" y="2496367"/>
            <a:ext cx="251460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580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A73B6-BCD2-2BDC-3BC1-A3DD3B3CA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8D3B8-3357-D195-A67C-0A5BA2397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Security Level </a:t>
            </a:r>
            <a:r>
              <a:rPr lang="ko-KR" altLang="en-US" dirty="0"/>
              <a:t>수식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3E5672-A72B-2B89-1646-90CF106D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CFDE18-3E58-50F1-BC8D-3755C53726B8}"/>
                  </a:ext>
                </a:extLst>
              </p:cNvPr>
              <p:cNvSpPr txBox="1"/>
              <p:nvPr/>
            </p:nvSpPr>
            <p:spPr>
              <a:xfrm>
                <a:off x="1435784" y="1783645"/>
                <a:ext cx="7247792" cy="32907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공격자가 해시함수를 깨기 위해 필요한 연산 복잡도 </a:t>
                </a:r>
                <a:r>
                  <a:rPr lang="en-US" altLang="ko-KR" sz="140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𝑐𝑎𝑝𝑎𝑐𝑖𝑡𝑦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𝑏𝑖𝑡𝑠</m:t>
                            </m:r>
                          </m:num>
                          <m:den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ko-KR" altLang="en-US" sz="1400" dirty="0"/>
                  <a:t>목표 보안 레벨에 따른 공격자의 필요 연산 수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rPr lang="en-US" altLang="ko-KR" sz="1400" dirty="0"/>
                  <a:t> (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ko-KR" altLang="en-US" sz="1400" dirty="0"/>
                  <a:t> </a:t>
                </a:r>
                <a:r>
                  <a:rPr lang="en-US" altLang="ko-KR" sz="1400" dirty="0"/>
                  <a:t>:</a:t>
                </a:r>
                <a:r>
                  <a:rPr lang="ko-KR" altLang="en-US" sz="1400" dirty="0"/>
                  <a:t> 목표</a:t>
                </a:r>
                <a:r>
                  <a:rPr lang="en-US" altLang="ko-KR" sz="1400" dirty="0"/>
                  <a:t> </a:t>
                </a:r>
                <a:r>
                  <a:rPr lang="ko-KR" altLang="en-US" sz="1400" dirty="0"/>
                  <a:t>보안 레벨</a:t>
                </a:r>
                <a:r>
                  <a:rPr lang="en-US" altLang="ko-KR" sz="1400" dirty="0"/>
                  <a:t>) </a:t>
                </a:r>
              </a:p>
              <a:p>
                <a:endParaRPr lang="en-US" altLang="ko-K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𝑐𝑎𝑝𝑎𝑐𝑖𝑡𝑦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𝑏𝑖𝑡𝑠</m:t>
                              </m:r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𝜆</m:t>
                          </m:r>
                        </m:sup>
                      </m:sSup>
                    </m:oMath>
                  </m:oMathPara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ko-KR" altLang="en-US" sz="1400" dirty="0"/>
                  <a:t>따라서</a:t>
                </a:r>
                <a:r>
                  <a:rPr lang="en-US" altLang="ko-KR" sz="1400" dirty="0"/>
                  <a:t>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𝑐𝑎𝑝𝑎𝑐𝑖𝑡𝑦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𝑏𝑖𝑡𝑠</m:t>
                          </m:r>
                        </m:num>
                        <m:den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𝑐𝑎𝑝𝑎𝑐𝑖𝑡𝑦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𝑏𝑖𝑡𝑠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 ≥2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ko-KR" altLang="en-US" sz="1400" dirty="0"/>
                  <a:t>이 때</a:t>
                </a:r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𝑐𝑎𝑝𝑎𝑐𝑖𝑡𝑦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𝑏𝑖𝑡𝑠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𝑐𝑎𝑝𝑎𝑐𝑖𝑡𝑦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𝑠𝑡𝑎𝑡𝑒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수,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𝐹𝑖𝑒𝑙𝑑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크기)</m:t>
                    </m:r>
                  </m:oMath>
                </a14:m>
                <a:r>
                  <a:rPr lang="en-US" altLang="ko-KR" sz="1400" dirty="0"/>
                  <a:t>  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CFDE18-3E58-50F1-BC8D-3755C5372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84" y="1783645"/>
                <a:ext cx="7247792" cy="3290709"/>
              </a:xfrm>
              <a:prstGeom prst="rect">
                <a:avLst/>
              </a:prstGeom>
              <a:blipFill>
                <a:blip r:embed="rId3"/>
                <a:stretch>
                  <a:fillRect l="-253" b="-11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1399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C5B4B-1DA7-F350-ACE1-90EF4776A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21137-ED06-9433-87FD-72C749125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Sol2</a:t>
            </a:r>
            <a:r>
              <a:rPr lang="ko-KR" altLang="en-US" dirty="0"/>
              <a:t>의 추가 비용 계산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3DC9C5-F3BD-C217-C7D4-7A3778FDC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44C63E-6B67-56E3-5867-0C53E7A7A8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93"/>
          <a:stretch>
            <a:fillRect/>
          </a:stretch>
        </p:blipFill>
        <p:spPr>
          <a:xfrm>
            <a:off x="447992" y="1761057"/>
            <a:ext cx="7312936" cy="36978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49BD25-0AF6-721C-5015-35EE3CB1E182}"/>
                  </a:ext>
                </a:extLst>
              </p:cNvPr>
              <p:cNvSpPr txBox="1"/>
              <p:nvPr/>
            </p:nvSpPr>
            <p:spPr>
              <a:xfrm>
                <a:off x="7851500" y="1761057"/>
                <a:ext cx="4206240" cy="1604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sz="1400" dirty="0"/>
                  <a:t>서 각각 </a:t>
                </a:r>
                <a:r>
                  <a:rPr lang="en-US" altLang="ko-KR" sz="1400" dirty="0"/>
                  <a:t>128-bit</a:t>
                </a:r>
                <a:r>
                  <a:rPr lang="ko-KR" altLang="en-US" sz="1400" dirty="0"/>
                  <a:t>씩 추출하고 연결한다고 가정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ko-KR" altLang="en-US" sz="1400" dirty="0"/>
                  <a:t>아래와 같은 과정이 필요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pPr marL="342900" indent="-342900">
                  <a:buAutoNum type="arabicPeriod"/>
                </a:pPr>
                <a:r>
                  <a:rPr lang="ko-KR" altLang="en-US" sz="1400" dirty="0"/>
                  <a:t>비트 분해</a:t>
                </a:r>
                <a:endParaRPr lang="en-US" altLang="ko-KR" sz="1400" dirty="0"/>
              </a:p>
              <a:p>
                <a:pPr marL="342900" indent="-342900">
                  <a:buAutoNum type="arabicPeriod"/>
                </a:pPr>
                <a:r>
                  <a:rPr lang="ko-KR" altLang="en-US" sz="1400" dirty="0"/>
                  <a:t>범위 증명 </a:t>
                </a:r>
                <a:r>
                  <a:rPr lang="en-US" altLang="ko-KR" sz="1400" dirty="0"/>
                  <a:t>(0</a:t>
                </a:r>
                <a:r>
                  <a:rPr lang="ko-KR" altLang="en-US" sz="1400" dirty="0"/>
                  <a:t>과 </a:t>
                </a:r>
                <a:r>
                  <a:rPr lang="en-US" altLang="ko-KR" sz="1400" dirty="0"/>
                  <a:t>1</a:t>
                </a:r>
                <a:r>
                  <a:rPr lang="ko-KR" altLang="en-US" sz="1400" dirty="0"/>
                  <a:t>에 속하는지 증명</a:t>
                </a:r>
                <a:r>
                  <a:rPr lang="en-US" altLang="ko-KR" sz="1400" dirty="0"/>
                  <a:t>)</a:t>
                </a:r>
              </a:p>
              <a:p>
                <a:pPr marL="342900" indent="-342900">
                  <a:buAutoNum type="arabicPeriod"/>
                </a:pPr>
                <a:r>
                  <a:rPr lang="en-US" altLang="ko-KR" sz="1400" dirty="0"/>
                  <a:t>256-bit </a:t>
                </a:r>
                <a:r>
                  <a:rPr lang="ko-KR" altLang="en-US" sz="1400" dirty="0"/>
                  <a:t>표현</a:t>
                </a:r>
                <a:endParaRPr lang="en-US" altLang="ko-KR" sz="1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49BD25-0AF6-721C-5015-35EE3CB1E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1500" y="1761057"/>
                <a:ext cx="4206240" cy="1604478"/>
              </a:xfrm>
              <a:prstGeom prst="rect">
                <a:avLst/>
              </a:prstGeom>
              <a:blipFill>
                <a:blip r:embed="rId4"/>
                <a:stretch>
                  <a:fillRect l="-435" t="-760" b="-30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249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F41CC-A9D4-EA90-C1B1-09C021B37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E271A-3788-D6E1-6334-9A005BDF0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Sol2</a:t>
            </a:r>
            <a:r>
              <a:rPr lang="ko-KR" altLang="en-US" dirty="0"/>
              <a:t>의 추가 비용 계산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B4A5B2-AB82-EB56-1993-8BBE4FC97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ECF855-F3BF-DABB-CB8D-54B61749DDD1}"/>
                  </a:ext>
                </a:extLst>
              </p:cNvPr>
              <p:cNvSpPr txBox="1"/>
              <p:nvPr/>
            </p:nvSpPr>
            <p:spPr>
              <a:xfrm>
                <a:off x="863960" y="2173148"/>
                <a:ext cx="9904858" cy="2071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ko-KR" altLang="en-US" sz="1400" dirty="0"/>
                  <a:t>비트 분해</a:t>
                </a:r>
                <a:endParaRPr lang="en-US" altLang="ko-KR" sz="1400" dirty="0"/>
              </a:p>
              <a:p>
                <a:pPr marL="342900" indent="-342900">
                  <a:buAutoNum type="arabicPeriod"/>
                </a:pPr>
                <a:endParaRPr lang="en-US" altLang="ko-KR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p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253</m:t>
                        </m:r>
                      </m:sup>
                      <m:e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p>
                          <m:sSup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e>
                    </m:nary>
                  </m:oMath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r1,r2</a:t>
                </a:r>
                <a:r>
                  <a:rPr lang="ko-KR" altLang="en-US" sz="1400" dirty="0"/>
                  <a:t>의 값을 </a:t>
                </a:r>
                <a:r>
                  <a:rPr lang="en-US" altLang="ko-KR" sz="1400" dirty="0"/>
                  <a:t>254-bit</a:t>
                </a:r>
                <a:r>
                  <a:rPr lang="ko-KR" altLang="en-US" sz="1400" dirty="0"/>
                  <a:t>의 값으로 표현한 후</a:t>
                </a:r>
                <a:r>
                  <a:rPr lang="en-US" altLang="ko-KR" sz="1400" dirty="0"/>
                  <a:t>, </a:t>
                </a:r>
                <a:r>
                  <a:rPr lang="en-US" altLang="ko-KR" sz="1400" dirty="0" err="1"/>
                  <a:t>i</a:t>
                </a:r>
                <a:r>
                  <a:rPr lang="en-US" altLang="ko-KR" sz="1400" dirty="0"/>
                  <a:t>, j = 0 ~ 127</a:t>
                </a:r>
                <a:r>
                  <a:rPr lang="ko-KR" altLang="en-US" sz="1400" dirty="0"/>
                  <a:t>까지 따로 저장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2</a:t>
                </a:r>
                <a:r>
                  <a:rPr lang="ko-KR" altLang="en-US" sz="1400" dirty="0"/>
                  <a:t>개의 </a:t>
                </a:r>
                <a:r>
                  <a:rPr lang="en-US" altLang="ko-KR" sz="1400" dirty="0"/>
                  <a:t>R1CS constraints </a:t>
                </a:r>
                <a:r>
                  <a:rPr lang="ko-KR" altLang="en-US" sz="1400" dirty="0"/>
                  <a:t>발생</a:t>
                </a:r>
                <a:endParaRPr lang="en-US" altLang="ko-KR" sz="1400" dirty="0"/>
              </a:p>
              <a:p>
                <a:pPr marL="342900" indent="-342900">
                  <a:buAutoNum type="arabicPeriod"/>
                </a:pPr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en-US" altLang="ko-KR" sz="1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ECF855-F3BF-DABB-CB8D-54B61749D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960" y="2173148"/>
                <a:ext cx="9904858" cy="2071721"/>
              </a:xfrm>
              <a:prstGeom prst="rect">
                <a:avLst/>
              </a:prstGeom>
              <a:blipFill>
                <a:blip r:embed="rId3"/>
                <a:stretch>
                  <a:fillRect l="-123" t="-5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7527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9605A-F010-5CA6-C96E-0B88DFAD8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A98F95-8710-C628-FE43-3C5812B65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Sol2</a:t>
            </a:r>
            <a:r>
              <a:rPr lang="ko-KR" altLang="en-US" dirty="0"/>
              <a:t>의 추가 비용 계산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344F7-4602-A7AD-8996-3684692EF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54E698-DF15-8FB0-5052-8DE7283B18F3}"/>
                  </a:ext>
                </a:extLst>
              </p:cNvPr>
              <p:cNvSpPr txBox="1"/>
              <p:nvPr/>
            </p:nvSpPr>
            <p:spPr>
              <a:xfrm>
                <a:off x="863960" y="1849590"/>
                <a:ext cx="9904858" cy="2462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ko-KR" sz="1400" dirty="0"/>
              </a:p>
              <a:p>
                <a:r>
                  <a:rPr lang="en-US" altLang="ko-KR" sz="1400" dirty="0"/>
                  <a:t>2. </a:t>
                </a:r>
                <a:r>
                  <a:rPr lang="ko-KR" altLang="en-US" sz="1400" dirty="0"/>
                  <a:t>범위 증명 </a:t>
                </a:r>
                <a:r>
                  <a:rPr lang="en-US" altLang="ko-KR" sz="1400" dirty="0"/>
                  <a:t>(0</a:t>
                </a:r>
                <a:r>
                  <a:rPr lang="ko-KR" altLang="en-US" sz="1400" dirty="0"/>
                  <a:t>과 </a:t>
                </a:r>
                <a:r>
                  <a:rPr lang="en-US" altLang="ko-KR" sz="1400" dirty="0"/>
                  <a:t>1</a:t>
                </a:r>
                <a:r>
                  <a:rPr lang="ko-KR" altLang="en-US" sz="1400" dirty="0"/>
                  <a:t>에 속하는지 증명</a:t>
                </a:r>
                <a:r>
                  <a:rPr lang="en-US" altLang="ko-KR" sz="1400" dirty="0"/>
                  <a:t>)</a:t>
                </a:r>
              </a:p>
              <a:p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추출한 </a:t>
                </a:r>
                <a:r>
                  <a:rPr lang="en-US" altLang="ko-KR" sz="1400" dirty="0"/>
                  <a:t>128</a:t>
                </a:r>
                <a:r>
                  <a:rPr lang="ko-KR" altLang="en-US" sz="1400" dirty="0"/>
                  <a:t>개의 비트가 </a:t>
                </a:r>
                <a:r>
                  <a:rPr lang="en-US" altLang="ko-KR" sz="1400" dirty="0"/>
                  <a:t>0 </a:t>
                </a:r>
                <a:r>
                  <a:rPr lang="ko-KR" altLang="en-US" sz="1400" dirty="0"/>
                  <a:t>또는 </a:t>
                </a:r>
                <a:r>
                  <a:rPr lang="en-US" altLang="ko-KR" sz="1400" dirty="0"/>
                  <a:t>1</a:t>
                </a:r>
                <a:r>
                  <a:rPr lang="ko-KR" altLang="en-US" sz="1400" dirty="0"/>
                  <a:t>인지 증명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비트를 추출하여 값을 만들면</a:t>
                </a:r>
                <a:r>
                  <a:rPr lang="en-US" altLang="ko-KR" sz="1400" dirty="0"/>
                  <a:t>, prover</a:t>
                </a:r>
                <a:r>
                  <a:rPr lang="ko-KR" altLang="en-US" sz="1400" dirty="0"/>
                  <a:t>가 직접 비트 값을 증명에 활용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 (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𝑓𝑜𝑟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…, 127</m:t>
                        </m:r>
                      </m:e>
                    </m:d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256</a:t>
                </a:r>
                <a:r>
                  <a:rPr lang="ko-KR" altLang="en-US" sz="1400" dirty="0"/>
                  <a:t>개의 </a:t>
                </a:r>
                <a:r>
                  <a:rPr lang="en-US" altLang="ko-KR" sz="1400" dirty="0"/>
                  <a:t>R1CS Constraints </a:t>
                </a:r>
                <a:r>
                  <a:rPr lang="ko-KR" altLang="en-US" sz="1400" dirty="0"/>
                  <a:t>발생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en-US" altLang="ko-KR" sz="1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54E698-DF15-8FB0-5052-8DE7283B1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960" y="1849590"/>
                <a:ext cx="9904858" cy="2462213"/>
              </a:xfrm>
              <a:prstGeom prst="rect">
                <a:avLst/>
              </a:prstGeom>
              <a:blipFill>
                <a:blip r:embed="rId3"/>
                <a:stretch>
                  <a:fillRect l="-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7966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DD7F-5EFB-68AA-CD18-799FCB7C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432E5D-A891-936F-4ACF-791C4442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Sol2</a:t>
            </a:r>
            <a:r>
              <a:rPr lang="ko-KR" altLang="en-US" dirty="0"/>
              <a:t>의 추가 비용 계산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A1421B-00D1-AE47-21F1-F8A2F7AA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45C919-C4FD-085E-5287-5670BA8F2D78}"/>
                  </a:ext>
                </a:extLst>
              </p:cNvPr>
              <p:cNvSpPr txBox="1"/>
              <p:nvPr/>
            </p:nvSpPr>
            <p:spPr>
              <a:xfrm>
                <a:off x="863960" y="1849590"/>
                <a:ext cx="4206240" cy="1559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3. 256-bit</a:t>
                </a:r>
                <a:r>
                  <a:rPr lang="ko-KR" altLang="en-US" sz="1400" dirty="0"/>
                  <a:t> 표현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𝑂𝑢𝑡𝑝𝑢𝑡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𝑙𝑜𝑤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:</m:t>
                      </m:r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127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h𝑖𝑔h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:</m:t>
                      </m:r>
                      <m:nary>
                        <m:naryPr>
                          <m:chr m:val="∑"/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127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nary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en-US" altLang="ko-KR" sz="1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45C919-C4FD-085E-5287-5670BA8F2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960" y="1849590"/>
                <a:ext cx="4206240" cy="1559979"/>
              </a:xfrm>
              <a:prstGeom prst="rect">
                <a:avLst/>
              </a:prstGeom>
              <a:blipFill>
                <a:blip r:embed="rId3"/>
                <a:stretch>
                  <a:fillRect l="-435" t="-7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4A0E130-12A5-D09F-0495-FA043AA6E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786007"/>
              </p:ext>
            </p:extLst>
          </p:nvPr>
        </p:nvGraphicFramePr>
        <p:xfrm>
          <a:off x="976502" y="3758625"/>
          <a:ext cx="7883768" cy="1111548"/>
        </p:xfrm>
        <a:graphic>
          <a:graphicData uri="http://schemas.openxmlformats.org/drawingml/2006/table">
            <a:tbl>
              <a:tblPr/>
              <a:tblGrid>
                <a:gridCol w="1970942">
                  <a:extLst>
                    <a:ext uri="{9D8B030D-6E8A-4147-A177-3AD203B41FA5}">
                      <a16:colId xmlns:a16="http://schemas.microsoft.com/office/drawing/2014/main" val="193284927"/>
                    </a:ext>
                  </a:extLst>
                </a:gridCol>
                <a:gridCol w="1970942">
                  <a:extLst>
                    <a:ext uri="{9D8B030D-6E8A-4147-A177-3AD203B41FA5}">
                      <a16:colId xmlns:a16="http://schemas.microsoft.com/office/drawing/2014/main" val="3668034724"/>
                    </a:ext>
                  </a:extLst>
                </a:gridCol>
                <a:gridCol w="1970942">
                  <a:extLst>
                    <a:ext uri="{9D8B030D-6E8A-4147-A177-3AD203B41FA5}">
                      <a16:colId xmlns:a16="http://schemas.microsoft.com/office/drawing/2014/main" val="4012605287"/>
                    </a:ext>
                  </a:extLst>
                </a:gridCol>
                <a:gridCol w="1970942">
                  <a:extLst>
                    <a:ext uri="{9D8B030D-6E8A-4147-A177-3AD203B41FA5}">
                      <a16:colId xmlns:a16="http://schemas.microsoft.com/office/drawing/2014/main" val="3822389013"/>
                    </a:ext>
                  </a:extLst>
                </a:gridCol>
              </a:tblGrid>
              <a:tr h="164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1" dirty="0">
                          <a:latin typeface="+mj-lt"/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1" dirty="0">
                          <a:latin typeface="+mj-lt"/>
                        </a:rPr>
                        <a:t>Groth16 (R1CS)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1" dirty="0">
                          <a:latin typeface="+mj-lt"/>
                        </a:rPr>
                        <a:t>Plonk (Standard)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1" dirty="0">
                          <a:latin typeface="+mj-lt"/>
                        </a:rPr>
                        <a:t>Plonk (w/ Lookup)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387676"/>
                  </a:ext>
                </a:extLst>
              </a:tr>
              <a:tr h="164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1">
                          <a:latin typeface="+mj-lt"/>
                        </a:rPr>
                        <a:t>r1 128-bit </a:t>
                      </a:r>
                      <a:r>
                        <a:rPr lang="ko-KR" altLang="en-US" sz="1200" b="0" i="1">
                          <a:latin typeface="+mj-lt"/>
                        </a:rPr>
                        <a:t>추출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1" dirty="0">
                          <a:latin typeface="+mj-lt"/>
                        </a:rPr>
                        <a:t>129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1" dirty="0">
                          <a:latin typeface="+mj-lt"/>
                        </a:rPr>
                        <a:t>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1" dirty="0">
                          <a:latin typeface="+mj-lt"/>
                        </a:rPr>
                        <a:t>8~16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763264"/>
                  </a:ext>
                </a:extLst>
              </a:tr>
              <a:tr h="164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1">
                          <a:latin typeface="+mj-lt"/>
                        </a:rPr>
                        <a:t>r2 128-bit </a:t>
                      </a:r>
                      <a:r>
                        <a:rPr lang="ko-KR" altLang="en-US" sz="1200" b="0" i="1">
                          <a:latin typeface="+mj-lt"/>
                        </a:rPr>
                        <a:t>추출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1">
                          <a:latin typeface="+mj-lt"/>
                        </a:rPr>
                        <a:t>129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1" dirty="0">
                          <a:latin typeface="+mj-lt"/>
                        </a:rPr>
                        <a:t>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1" dirty="0">
                          <a:latin typeface="+mj-lt"/>
                        </a:rPr>
                        <a:t>8~16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3012"/>
                  </a:ext>
                </a:extLst>
              </a:tr>
              <a:tr h="28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1" dirty="0">
                          <a:latin typeface="+mj-lt"/>
                        </a:rPr>
                        <a:t>합계 </a:t>
                      </a:r>
                      <a:r>
                        <a:rPr lang="en-US" altLang="ko-KR" sz="1200" b="0" i="1" dirty="0">
                          <a:latin typeface="+mj-lt"/>
                        </a:rPr>
                        <a:t>(</a:t>
                      </a:r>
                      <a:r>
                        <a:rPr lang="en-US" sz="1200" b="0" i="1" dirty="0">
                          <a:latin typeface="+mj-lt"/>
                        </a:rPr>
                        <a:t>Constraints/Gates)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1" dirty="0">
                          <a:latin typeface="+mj-lt"/>
                        </a:rPr>
                        <a:t>258</a:t>
                      </a:r>
                      <a:endParaRPr lang="ko-KR" altLang="en-US" sz="1200" b="0" i="1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1" dirty="0">
                          <a:latin typeface="+mj-lt"/>
                        </a:rPr>
                        <a:t>512</a:t>
                      </a:r>
                      <a:endParaRPr lang="ko-KR" altLang="en-US" sz="1200" b="0" i="1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1" dirty="0">
                          <a:latin typeface="+mj-lt"/>
                        </a:rPr>
                        <a:t>16~32</a:t>
                      </a:r>
                      <a:endParaRPr lang="ko-KR" altLang="en-US" sz="1200" b="0" i="1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6312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1A64E04-E072-5CBD-6826-1F26DC0201D0}"/>
              </a:ext>
            </a:extLst>
          </p:cNvPr>
          <p:cNvSpPr txBox="1"/>
          <p:nvPr/>
        </p:nvSpPr>
        <p:spPr>
          <a:xfrm>
            <a:off x="4414425" y="4957619"/>
            <a:ext cx="1007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예상 비용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394075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A6E76-9E39-179D-53DD-CAD14A1CB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396EC-B6BE-45ED-7363-489725ED5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 분석 지표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7D9E66-F0E1-1300-F8FD-A70D42050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 dirty="0"/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556A9ED0-783A-ED40-3CBE-93AFAD904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018966"/>
              </p:ext>
            </p:extLst>
          </p:nvPr>
        </p:nvGraphicFramePr>
        <p:xfrm>
          <a:off x="345828" y="2615626"/>
          <a:ext cx="5464128" cy="14630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366032">
                  <a:extLst>
                    <a:ext uri="{9D8B030D-6E8A-4147-A177-3AD203B41FA5}">
                      <a16:colId xmlns:a16="http://schemas.microsoft.com/office/drawing/2014/main" val="1571646736"/>
                    </a:ext>
                  </a:extLst>
                </a:gridCol>
                <a:gridCol w="1366032">
                  <a:extLst>
                    <a:ext uri="{9D8B030D-6E8A-4147-A177-3AD203B41FA5}">
                      <a16:colId xmlns:a16="http://schemas.microsoft.com/office/drawing/2014/main" val="4142770251"/>
                    </a:ext>
                  </a:extLst>
                </a:gridCol>
                <a:gridCol w="1366032">
                  <a:extLst>
                    <a:ext uri="{9D8B030D-6E8A-4147-A177-3AD203B41FA5}">
                      <a16:colId xmlns:a16="http://schemas.microsoft.com/office/drawing/2014/main" val="3484974673"/>
                    </a:ext>
                  </a:extLst>
                </a:gridCol>
                <a:gridCol w="1366032">
                  <a:extLst>
                    <a:ext uri="{9D8B030D-6E8A-4147-A177-3AD203B41FA5}">
                      <a16:colId xmlns:a16="http://schemas.microsoft.com/office/drawing/2014/main" val="1878197633"/>
                    </a:ext>
                  </a:extLst>
                </a:gridCol>
              </a:tblGrid>
              <a:tr h="250598">
                <a:tc>
                  <a:txBody>
                    <a:bodyPr/>
                    <a:lstStyle/>
                    <a:p>
                      <a:r>
                        <a:rPr lang="en-US" sz="1100" dirty="0"/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Sol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Sol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Sol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568172"/>
                  </a:ext>
                </a:extLst>
              </a:tr>
              <a:tr h="250598">
                <a:tc>
                  <a:txBody>
                    <a:bodyPr/>
                    <a:lstStyle/>
                    <a:p>
                      <a:r>
                        <a:rPr lang="en-US" sz="1100"/>
                        <a:t>Security preserved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1381193"/>
                  </a:ext>
                </a:extLst>
              </a:tr>
              <a:tr h="250598">
                <a:tc>
                  <a:txBody>
                    <a:bodyPr/>
                    <a:lstStyle/>
                    <a:p>
                      <a:r>
                        <a:rPr lang="en-US" sz="1100"/>
                        <a:t>Binary utilization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7634985"/>
                  </a:ext>
                </a:extLst>
              </a:tr>
              <a:tr h="250598">
                <a:tc>
                  <a:txBody>
                    <a:bodyPr/>
                    <a:lstStyle/>
                    <a:p>
                      <a:r>
                        <a:rPr lang="en-US" sz="1100"/>
                        <a:t>Compatibility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8660700"/>
                  </a:ext>
                </a:extLst>
              </a:tr>
              <a:tr h="250598">
                <a:tc>
                  <a:txBody>
                    <a:bodyPr/>
                    <a:lstStyle/>
                    <a:p>
                      <a:r>
                        <a:rPr lang="en-US" sz="1100"/>
                        <a:t>Implementation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0576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D46883-2686-B9F8-87C1-927D0C80C162}"/>
              </a:ext>
            </a:extLst>
          </p:cNvPr>
          <p:cNvSpPr txBox="1"/>
          <p:nvPr/>
        </p:nvSpPr>
        <p:spPr>
          <a:xfrm>
            <a:off x="6096000" y="2478228"/>
            <a:ext cx="577599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/>
              <a:t>Security Preserved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Binary Utilization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Compatibility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Implementation Cost</a:t>
            </a:r>
          </a:p>
        </p:txBody>
      </p:sp>
    </p:spTree>
    <p:extLst>
      <p:ext uri="{BB962C8B-B14F-4D97-AF65-F5344CB8AC3E}">
        <p14:creationId xmlns:p14="http://schemas.microsoft.com/office/powerpoint/2010/main" val="1956878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992B6-08F6-8DF6-7185-46B27C9D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44DEB-09AB-71FE-06AF-1782CE707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 분석 지표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91FB6D-EF13-CC6E-BFB1-1FF11384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0A605B-2D5A-3978-5C01-9EDE34198504}"/>
                  </a:ext>
                </a:extLst>
              </p:cNvPr>
              <p:cNvSpPr txBox="1"/>
              <p:nvPr/>
            </p:nvSpPr>
            <p:spPr>
              <a:xfrm>
                <a:off x="883920" y="1486456"/>
                <a:ext cx="5775991" cy="404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ko-KR" sz="1600" b="1" dirty="0"/>
                  <a:t>Security Preserved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목표 보안 레벨을 수학적으로 얼마나 충족하는지 측정</a:t>
                </a: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Sponge Generic Security Bound </a:t>
                </a:r>
                <a:r>
                  <a:rPr lang="ko-KR" altLang="en-US" sz="1400" dirty="0"/>
                  <a:t>공식 적용</a:t>
                </a: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Security Level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∙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,  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𝑂𝑢𝑡𝑝𝑢𝑡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𝐵𝑖𝑡𝑠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sz="1600" b="1" dirty="0"/>
                  <a:t>2.    Binary</a:t>
                </a:r>
                <a:r>
                  <a:rPr lang="ko-KR" altLang="en-US" sz="1600" b="1" dirty="0"/>
                  <a:t> </a:t>
                </a:r>
                <a:r>
                  <a:rPr lang="en-US" altLang="ko-KR" sz="1600" b="1" dirty="0"/>
                  <a:t>Utilization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출력된 </a:t>
                </a:r>
                <a:r>
                  <a:rPr lang="en-US" altLang="ko-KR" sz="1400" dirty="0"/>
                  <a:t>256-bit </a:t>
                </a:r>
                <a:r>
                  <a:rPr lang="ko-KR" altLang="en-US" sz="1400" dirty="0"/>
                  <a:t>데이터 중 실제 해시 결과값이 차지하는 비율</a:t>
                </a: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Entropy Density Ratio </a:t>
                </a:r>
                <a:r>
                  <a:rPr lang="ko-KR" altLang="en-US" sz="1400" dirty="0"/>
                  <a:t>계산법 적용</a:t>
                </a: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Utilization =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 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𝑉𝑎𝑟𝑖𝑎𝑏𝑙𝑒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𝐵𝑖𝑡𝑠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𝑒𝑛𝑡𝑟𝑜𝑝𝑦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𝑇𝑜𝑇𝑎𝑙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𝑂𝑢𝑡𝑝𝑢𝑡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𝐵𝑖𝑡𝑠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(256)</m:t>
                        </m:r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)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</m:oMath>
                </a14:m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고정 비트는 정보량 </a:t>
                </a:r>
                <a:r>
                  <a:rPr lang="en-US" altLang="ko-KR" sz="1400" dirty="0"/>
                  <a:t>0</a:t>
                </a:r>
                <a:r>
                  <a:rPr lang="ko-KR" altLang="en-US" sz="1400" dirty="0"/>
                  <a:t>으로 제외</a:t>
                </a: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NIST SP 800-22 Test Suite </a:t>
                </a:r>
                <a:r>
                  <a:rPr lang="ko-KR" altLang="en-US" sz="1400" dirty="0"/>
                  <a:t>활용으로 측정 가능</a:t>
                </a:r>
                <a:endParaRPr lang="en-US" altLang="ko-KR" sz="1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0A605B-2D5A-3978-5C01-9EDE34198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" y="1486456"/>
                <a:ext cx="5775991" cy="4042966"/>
              </a:xfrm>
              <a:prstGeom prst="rect">
                <a:avLst/>
              </a:prstGeom>
              <a:blipFill>
                <a:blip r:embed="rId3"/>
                <a:stretch>
                  <a:fillRect l="-527" t="-452" b="-6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7404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3AAE0-C02A-9625-FAC8-A3E08A063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5467CE-51DF-1311-01C5-68CE52668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 분석 지표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0B3EE4-2BA7-10C1-F2E3-BC80910BE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DDD21-85F0-CE30-7565-477AF613E4FC}"/>
              </a:ext>
            </a:extLst>
          </p:cNvPr>
          <p:cNvSpPr txBox="1"/>
          <p:nvPr/>
        </p:nvSpPr>
        <p:spPr>
          <a:xfrm>
            <a:off x="883920" y="1486456"/>
            <a:ext cx="916041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3.   Compatibility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400" dirty="0"/>
              <a:t>실제 활용 시 표준 규격에 일치하는지</a:t>
            </a:r>
            <a:r>
              <a:rPr lang="en-US" altLang="ko-KR" sz="1400" dirty="0"/>
              <a:t>, </a:t>
            </a:r>
            <a:r>
              <a:rPr lang="ko-KR" altLang="en-US" sz="1400" dirty="0"/>
              <a:t>추가 코드를 실행하지 않는지 여부</a:t>
            </a: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Solidity Contract </a:t>
            </a:r>
            <a:r>
              <a:rPr lang="ko-KR" altLang="en-US" sz="1400" dirty="0"/>
              <a:t>결과값 처리 시 발생하는 </a:t>
            </a:r>
            <a:r>
              <a:rPr lang="en-US" altLang="ko-KR" sz="1400" dirty="0"/>
              <a:t>Gas </a:t>
            </a:r>
            <a:r>
              <a:rPr lang="ko-KR" altLang="en-US" sz="1400" dirty="0"/>
              <a:t>측정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600" b="1" dirty="0"/>
              <a:t>4.    Implementation Cost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ZK</a:t>
            </a:r>
            <a:r>
              <a:rPr lang="ko-KR" altLang="en-US" sz="1400" dirty="0"/>
              <a:t> 회로 생성 시 소모되는 자원의 양 측정</a:t>
            </a: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R1CS Constraints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PLONK Gates/Rows</a:t>
            </a:r>
          </a:p>
        </p:txBody>
      </p:sp>
    </p:spTree>
    <p:extLst>
      <p:ext uri="{BB962C8B-B14F-4D97-AF65-F5344CB8AC3E}">
        <p14:creationId xmlns:p14="http://schemas.microsoft.com/office/powerpoint/2010/main" val="2650225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43715</TotalTime>
  <Words>508</Words>
  <Application>Microsoft Office PowerPoint</Application>
  <PresentationFormat>와이드스크린</PresentationFormat>
  <Paragraphs>159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Cambria Math</vt:lpstr>
      <vt:lpstr>Office 테마</vt:lpstr>
      <vt:lpstr>Poseidon 내용 보충</vt:lpstr>
      <vt:lpstr>목차</vt:lpstr>
      <vt:lpstr>Security Level 수식</vt:lpstr>
      <vt:lpstr>Security Level 수식</vt:lpstr>
      <vt:lpstr>Sol2의 추가 비용 계산 </vt:lpstr>
      <vt:lpstr>Sol2의 추가 비용 계산 </vt:lpstr>
      <vt:lpstr>Sol2의 추가 비용 계산 </vt:lpstr>
      <vt:lpstr>Sol2의 추가 비용 계산 </vt:lpstr>
      <vt:lpstr>비교 분석 지표</vt:lpstr>
      <vt:lpstr>비교 분석 지표</vt:lpstr>
      <vt:lpstr>비교 분석 지표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2095</cp:revision>
  <dcterms:created xsi:type="dcterms:W3CDTF">2023-03-06T16:32:37Z</dcterms:created>
  <dcterms:modified xsi:type="dcterms:W3CDTF">2026-03-06T08:11:54Z</dcterms:modified>
</cp:coreProperties>
</file>