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83" r:id="rId4"/>
    <p:sldId id="294" r:id="rId5"/>
    <p:sldId id="297" r:id="rId6"/>
    <p:sldId id="289" r:id="rId7"/>
    <p:sldId id="287" r:id="rId8"/>
    <p:sldId id="286" r:id="rId9"/>
    <p:sldId id="290" r:id="rId10"/>
    <p:sldId id="291" r:id="rId11"/>
    <p:sldId id="293" r:id="rId12"/>
    <p:sldId id="292" r:id="rId13"/>
    <p:sldId id="296" r:id="rId14"/>
    <p:sldId id="295" r:id="rId15"/>
    <p:sldId id="29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2C62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47" autoAdjust="0"/>
    <p:restoredTop sz="83709" autoAdjust="0"/>
  </p:normalViewPr>
  <p:slideViewPr>
    <p:cSldViewPr snapToGrid="0">
      <p:cViewPr varScale="1">
        <p:scale>
          <a:sx n="95" d="100"/>
          <a:sy n="95" d="100"/>
        </p:scale>
        <p:origin x="85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572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72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C1F0-F292-4285-A95F-A15DE7C15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C59FB0-B0C5-D787-DC4E-1F0A56A5C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4C69EA-D81C-D4E4-C6A7-2F25A8BC5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818B6E-E98E-11DB-78AE-6AB4F563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744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55FC-2701-E021-2769-9049FA79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4CEED4-80D0-ADE1-B72F-6E8E74FEE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7A78FE-46D2-9BF9-811F-FF6E1C99A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35D635-4AC7-FEBF-59C4-BABDE38D2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232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244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8939-E811-BAA3-D8E1-C6AF074D5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F6CB4A-C803-8756-F7D9-CBA3D7A2C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D35A58-FF9C-B813-5072-67FD837AD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9DD421-993F-D04A-3C9A-CE7B8CA08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84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37914-4781-B11F-1C35-D6B2365D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358E46-5F20-87FA-FBAE-615971920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2EFF28-2E4C-500F-1020-7AF754691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B2A519-F73C-94DB-0D55-B2E989F68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99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1071-4E91-E6D0-B731-DEF135A6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494EB5-3F7C-CF06-7B93-C7E63EBCA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F064E3-0145-48CB-75C9-5F277C947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CFF1FD-1FE0-BD93-AEB5-A71769C36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957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AAE4-952D-DA7D-B9E6-08361F89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28C88E-C5DD-E616-5F21-54821F5D9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55CA11-F323-89E6-BF73-672323CAE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28ACA4-FDBF-42C3-4428-C5334F8A1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268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5C7BF-C8B9-7FE3-31E4-4A0DFF506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6B1338-0803-E87A-DAD1-3B6D6D4BE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8B9CD1-C4D6-2704-E6B6-2E06221FC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64C29B-5A50-619E-2BBD-03EB87E83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294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00AD4-5FD7-0771-DF8C-0011C10C1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612ADA-02DD-55D7-C061-55605305F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5DD181-DBC6-7710-1C73-3897975C2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DF46B5-EB1B-438E-34E7-29218F060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746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626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2026. 5. 6.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Suhyeon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EoMT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Apple Neural Engine (9)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71364" y="1666695"/>
            <a:ext cx="2023092" cy="4279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solidFill>
                  <a:srgbClr val="002C62"/>
                </a:solidFill>
              </a:rPr>
              <a:t>  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5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6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01D89-421D-20CC-6D5F-47FC8C6A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40BEB-8E46-868C-99E7-95D8BC5B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2E4903-A5AB-F7E3-2412-5136BFF4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DA4B2-EC6E-F008-6710-245906C12FE5}"/>
              </a:ext>
            </a:extLst>
          </p:cNvPr>
          <p:cNvSpPr txBox="1"/>
          <p:nvPr/>
        </p:nvSpPr>
        <p:spPr>
          <a:xfrm>
            <a:off x="898782" y="1550792"/>
            <a:ext cx="9666514" cy="40113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ko-KR" sz="1600" dirty="0"/>
          </a:p>
          <a:p>
            <a:r>
              <a:rPr lang="ko-KR" altLang="en-US" sz="2000" b="1" dirty="0"/>
              <a:t>목표 </a:t>
            </a:r>
            <a:r>
              <a:rPr lang="en-US" altLang="ko-KR" sz="2000" b="1" dirty="0"/>
              <a:t>(</a:t>
            </a:r>
            <a:r>
              <a:rPr lang="en-US" altLang="ko-KR" b="1" dirty="0"/>
              <a:t>~6월)</a:t>
            </a:r>
            <a:endParaRPr lang="ko-KR" altLang="en-US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dirty="0"/>
              <a:t>iOS </a:t>
            </a:r>
            <a:r>
              <a:rPr lang="ko-KR" altLang="en-US" dirty="0"/>
              <a:t>환경에서 </a:t>
            </a:r>
            <a:r>
              <a:rPr lang="en-US" altLang="ko-KR" dirty="0"/>
              <a:t>panoptic segmentation</a:t>
            </a:r>
            <a:r>
              <a:rPr lang="ko-KR" altLang="en-US" dirty="0"/>
              <a:t>이 가능한 </a:t>
            </a:r>
            <a:r>
              <a:rPr lang="en-US" altLang="ko-KR" dirty="0" err="1"/>
              <a:t>EoMT</a:t>
            </a:r>
            <a:r>
              <a:rPr lang="en-US" altLang="ko-KR" dirty="0"/>
              <a:t> </a:t>
            </a:r>
            <a:r>
              <a:rPr lang="ko-KR" altLang="en-US" dirty="0"/>
              <a:t>모델 최적화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dirty="0"/>
              <a:t>ANE</a:t>
            </a:r>
            <a:r>
              <a:rPr lang="ko-KR" dirty="0"/>
              <a:t>(Apple </a:t>
            </a:r>
            <a:r>
              <a:rPr lang="ko-KR" dirty="0" err="1"/>
              <a:t>Neural</a:t>
            </a:r>
            <a:r>
              <a:rPr lang="ko-KR" dirty="0"/>
              <a:t> </a:t>
            </a:r>
            <a:r>
              <a:rPr lang="ko-KR" dirty="0" err="1"/>
              <a:t>Engine</a:t>
            </a:r>
            <a:r>
              <a:rPr lang="ko-KR" dirty="0"/>
              <a:t>)</a:t>
            </a:r>
            <a:r>
              <a:rPr lang="ko-KR" altLang="en-US" dirty="0"/>
              <a:t> </a:t>
            </a:r>
            <a:r>
              <a:rPr lang="ko-KR" altLang="en-US" dirty="0" err="1"/>
              <a:t>friendly</a:t>
            </a:r>
            <a:r>
              <a:rPr lang="ko-KR" altLang="en-US" dirty="0"/>
              <a:t> </a:t>
            </a:r>
            <a:r>
              <a:rPr lang="ko-KR" altLang="en-US" dirty="0" err="1"/>
              <a:t>transformer</a:t>
            </a:r>
            <a:endParaRPr lang="en-US" altLang="ko-KR" dirty="0" err="1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/>
              <a:t>Panoptic segmentation:</a:t>
            </a:r>
            <a:r>
              <a:rPr lang="ko-KR" altLang="en-US" sz="1400" dirty="0"/>
              <a:t> 어떤 사물인지</a:t>
            </a:r>
            <a:r>
              <a:rPr lang="en-US" altLang="ko-KR" sz="1400" dirty="0"/>
              <a:t>, </a:t>
            </a:r>
            <a:r>
              <a:rPr lang="ko-KR" altLang="en-US" sz="1400" dirty="0"/>
              <a:t>개별 객체인지를 동시에 구분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400" b="1" dirty="0"/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진행사항</a:t>
            </a:r>
            <a:endParaRPr lang="en-US" altLang="ko-KR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cs typeface="Arial"/>
              </a:rPr>
              <a:t>ViT</a:t>
            </a:r>
            <a:r>
              <a:rPr lang="en-US" altLang="ko-KR" dirty="0">
                <a:cs typeface="Arial"/>
              </a:rPr>
              <a:t> base, large </a:t>
            </a:r>
            <a:r>
              <a:rPr lang="ko-KR" altLang="en-US" dirty="0">
                <a:cs typeface="Arial"/>
              </a:rPr>
              <a:t>크기별 </a:t>
            </a:r>
            <a:r>
              <a:rPr lang="en-US" altLang="ko-KR" dirty="0">
                <a:cs typeface="Arial"/>
              </a:rPr>
              <a:t>prediction time</a:t>
            </a:r>
            <a:r>
              <a:rPr lang="ko-KR" altLang="en-US" dirty="0">
                <a:cs typeface="Arial"/>
              </a:rPr>
              <a:t> 비교 </a:t>
            </a:r>
            <a:endParaRPr lang="en-US" altLang="ko-KR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Input size:</a:t>
            </a:r>
            <a:r>
              <a:rPr lang="ko-KR" altLang="en-US" dirty="0">
                <a:cs typeface="Arial"/>
              </a:rPr>
              <a:t> </a:t>
            </a:r>
            <a:r>
              <a:rPr lang="en-US" altLang="ko-KR" dirty="0">
                <a:cs typeface="Arial"/>
              </a:rPr>
              <a:t>512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cs typeface="Arial"/>
              </a:rPr>
              <a:t>model: </a:t>
            </a:r>
            <a:r>
              <a:rPr lang="en" altLang="ko-KR" dirty="0"/>
              <a:t>vit_patch16_siglip_512</a:t>
            </a:r>
            <a:endParaRPr lang="en-US" altLang="ko-KR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367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A358-86C2-C65C-130A-37B42C55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CA901E-0722-66D4-1063-4C1A9721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ANE transformers – </a:t>
            </a:r>
            <a:r>
              <a:rPr lang="ko-KR" altLang="en-US" dirty="0"/>
              <a:t>원리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A921F-E2D1-2908-5D59-30C686B3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F446F-E08D-B3A3-A1DC-CE08A8A549E3}"/>
              </a:ext>
            </a:extLst>
          </p:cNvPr>
          <p:cNvSpPr txBox="1"/>
          <p:nvPr/>
        </p:nvSpPr>
        <p:spPr>
          <a:xfrm>
            <a:off x="1083543" y="1268760"/>
            <a:ext cx="7464210" cy="5771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1. Picking the Right Data format </a:t>
            </a:r>
            <a:endParaRPr lang="en-US" altLang="ko-KR" sz="1200" dirty="0">
              <a:solidFill>
                <a:srgbClr val="474747"/>
              </a:solidFill>
              <a:highlight>
                <a:srgbClr val="FFFFFF"/>
              </a:highlight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altLang="ko-KR" sz="1600" dirty="0"/>
              <a:t>Linear</a:t>
            </a:r>
            <a:r>
              <a:rPr lang="ko-KR" altLang="en-US" sz="1400" dirty="0"/>
              <a:t> 레이어를 모두 </a:t>
            </a:r>
            <a:r>
              <a:rPr lang="en-US" altLang="ko-KR" sz="1600" dirty="0"/>
              <a:t>Conv2d</a:t>
            </a:r>
            <a:r>
              <a:rPr lang="ko-KR" altLang="en-US" sz="1400" dirty="0"/>
              <a:t> 레이어로 교체</a:t>
            </a:r>
            <a:endParaRPr lang="en-US" altLang="ko-KR" sz="1400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(B, S, C) → (B, C, 1, S) 	</a:t>
            </a:r>
            <a:endParaRPr lang="en-US" altLang="ko-KR" sz="1400" b="1" dirty="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cs typeface="Arial"/>
              </a:rPr>
              <a:t>2. Chunking Large Intermediate Tensors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Multi Head Attention</a:t>
            </a:r>
            <a:r>
              <a:rPr lang="ko-KR" altLang="en-US" sz="1400" dirty="0">
                <a:cs typeface="Arial"/>
              </a:rPr>
              <a:t>에서 </a:t>
            </a:r>
            <a:r>
              <a:rPr lang="en-US" sz="1400" dirty="0">
                <a:cs typeface="Arial"/>
              </a:rPr>
              <a:t>query, key, value</a:t>
            </a:r>
            <a:r>
              <a:rPr lang="en-US" altLang="ko-KR" sz="1400" dirty="0">
                <a:cs typeface="Arial"/>
              </a:rPr>
              <a:t> </a:t>
            </a:r>
            <a:r>
              <a:rPr lang="ko-KR" altLang="en-US" sz="1400" b="1" dirty="0" err="1">
                <a:cs typeface="Arial"/>
              </a:rPr>
              <a:t>텐서를</a:t>
            </a:r>
            <a:r>
              <a:rPr lang="ko-KR" altLang="en-US" sz="1400" b="1" dirty="0">
                <a:cs typeface="Arial"/>
              </a:rPr>
              <a:t> </a:t>
            </a:r>
            <a:r>
              <a:rPr lang="en-US" sz="1400" b="1" dirty="0">
                <a:cs typeface="Arial"/>
              </a:rPr>
              <a:t>head</a:t>
            </a:r>
            <a:r>
              <a:rPr lang="ko-KR" altLang="en-US" sz="1400" b="1" dirty="0">
                <a:cs typeface="Arial"/>
              </a:rPr>
              <a:t> 단위로 분리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altLang="en-US" sz="1400" b="1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ko-KR" b="1" dirty="0">
                <a:cs typeface="Arial"/>
              </a:rPr>
              <a:t>3. </a:t>
            </a:r>
            <a:r>
              <a:rPr lang="ko-KR" b="1" dirty="0" err="1">
                <a:cs typeface="Arial"/>
              </a:rPr>
              <a:t>Minimizing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Memory</a:t>
            </a:r>
            <a:r>
              <a:rPr lang="ko-KR" b="1" dirty="0">
                <a:cs typeface="Arial"/>
              </a:rPr>
              <a:t> </a:t>
            </a:r>
            <a:r>
              <a:rPr lang="ko-KR" b="1" dirty="0" err="1">
                <a:cs typeface="Arial"/>
              </a:rPr>
              <a:t>Copies</a:t>
            </a:r>
            <a:endParaRPr lang="ko-KR" b="1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dirty="0">
                <a:cs typeface="Arial"/>
              </a:rPr>
              <a:t>Reshape</a:t>
            </a:r>
            <a:r>
              <a:rPr lang="ko-KR" altLang="en-US" sz="1400" dirty="0">
                <a:cs typeface="Arial"/>
              </a:rPr>
              <a:t>과</a:t>
            </a:r>
            <a:r>
              <a:rPr lang="en-US" sz="1400" dirty="0">
                <a:cs typeface="Arial"/>
              </a:rPr>
              <a:t> transpose </a:t>
            </a:r>
            <a:r>
              <a:rPr lang="ko-KR" altLang="en-US" sz="1400" dirty="0">
                <a:cs typeface="Arial"/>
              </a:rPr>
              <a:t>연산</a:t>
            </a:r>
            <a:r>
              <a:rPr lang="en-US" sz="1400" dirty="0">
                <a:cs typeface="Arial"/>
              </a:rPr>
              <a:t> </a:t>
            </a:r>
            <a:r>
              <a:rPr lang="ko-KR" altLang="en-US" sz="1400" dirty="0">
                <a:cs typeface="Arial"/>
              </a:rPr>
              <a:t>최소화</a:t>
            </a:r>
            <a:r>
              <a:rPr lang="en-US" sz="1400" dirty="0">
                <a:cs typeface="Arial"/>
              </a:rPr>
              <a:t> - </a:t>
            </a:r>
            <a:r>
              <a:rPr lang="en-US" sz="1400" b="1" dirty="0" err="1">
                <a:cs typeface="Arial"/>
              </a:rPr>
              <a:t>einsum</a:t>
            </a:r>
            <a:r>
              <a:rPr lang="en-US" sz="1400" b="1" dirty="0">
                <a:cs typeface="Arial"/>
              </a:rPr>
              <a:t> </a:t>
            </a:r>
            <a:r>
              <a:rPr lang="ko-KR" sz="1400" b="1" dirty="0">
                <a:cs typeface="Arial"/>
              </a:rPr>
              <a:t>공식</a:t>
            </a:r>
            <a:r>
              <a:rPr lang="ko-KR" sz="1400" dirty="0">
                <a:cs typeface="Arial"/>
              </a:rPr>
              <a:t> 활용</a:t>
            </a:r>
            <a:endParaRPr lang="en-US" sz="1400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ko-KR" sz="1400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cs typeface="Arial"/>
              </a:rPr>
              <a:t>4.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Handling</a:t>
            </a:r>
            <a:r>
              <a:rPr lang="ko-KR" altLang="en-US" b="1" dirty="0">
                <a:cs typeface="Arial"/>
              </a:rPr>
              <a:t> </a:t>
            </a:r>
            <a:r>
              <a:rPr lang="en-US" altLang="ko-KR" b="1" dirty="0">
                <a:cs typeface="Arial"/>
              </a:rPr>
              <a:t>Bandwidth-Boundness</a:t>
            </a:r>
            <a:endParaRPr lang="ko-KR" dirty="0"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ko-KR" altLang="en-US" sz="1200" dirty="0">
                <a:cs typeface="Arial"/>
              </a:rPr>
              <a:t>배치 크기 증가</a:t>
            </a:r>
            <a:r>
              <a:rPr lang="en-US" sz="1200" dirty="0">
                <a:cs typeface="Arial"/>
              </a:rPr>
              <a:t> </a:t>
            </a:r>
            <a:r>
              <a:rPr lang="en-US" altLang="ko-KR" sz="1200" dirty="0">
                <a:cs typeface="Arial"/>
              </a:rPr>
              <a:t>or </a:t>
            </a:r>
            <a:r>
              <a:rPr lang="ko-KR" altLang="en-US" sz="1200" dirty="0">
                <a:cs typeface="Arial"/>
              </a:rPr>
              <a:t>파라미터 </a:t>
            </a:r>
            <a:r>
              <a:rPr lang="ko-KR" altLang="en-US" sz="1200" dirty="0" err="1">
                <a:cs typeface="Arial"/>
              </a:rPr>
              <a:t>텐서</a:t>
            </a:r>
            <a:r>
              <a:rPr lang="ko-KR" altLang="en-US" sz="1200" dirty="0">
                <a:cs typeface="Arial"/>
              </a:rPr>
              <a:t> 크기 감소</a:t>
            </a:r>
            <a:endParaRPr lang="en-US" sz="12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ko-KR" altLang="en-US" sz="1600" dirty="0">
              <a:cs typeface="Arial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343DF-F19A-4250-F9F6-BE52CDB35130}"/>
              </a:ext>
            </a:extLst>
          </p:cNvPr>
          <p:cNvSpPr txBox="1"/>
          <p:nvPr/>
        </p:nvSpPr>
        <p:spPr>
          <a:xfrm>
            <a:off x="1083543" y="6400297"/>
            <a:ext cx="70532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Apple ML Research, "Deploying Transformers on the ANE", 2022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3792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94F54-C4E5-BA06-68E6-9795E8968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E5F45-159E-10DB-2D30-FDDCFFA5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Input 224/384/512 </a:t>
            </a:r>
            <a:r>
              <a:rPr lang="ko-KR" altLang="en-US" dirty="0" err="1"/>
              <a:t>모델별</a:t>
            </a:r>
            <a:r>
              <a:rPr lang="ko-KR" altLang="en-US" dirty="0"/>
              <a:t>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4DC105-CBEF-0193-754B-7FB8C908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A7B62EE-F204-653B-A2D6-3FE3FE5B7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52" y="1428125"/>
            <a:ext cx="10511495" cy="464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0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7BA2D61-F74C-3C5E-BBB8-A3D556ED1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Input 224/384/512 </a:t>
            </a:r>
            <a:r>
              <a:rPr lang="ko-KR" altLang="en-US" dirty="0" err="1"/>
              <a:t>모델별</a:t>
            </a:r>
            <a:r>
              <a:rPr lang="ko-KR" altLang="en-US" dirty="0"/>
              <a:t> 비교 해석</a:t>
            </a:r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A699ED-7167-84FC-13DF-327865C45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8736E57-F90E-408A-B1D8-FC5493EAAE16}" type="slidenum">
              <a:rPr lang="ko-KR" altLang="en-US" smtClean="0"/>
              <a:pPr>
                <a:spcAft>
                  <a:spcPts val="600"/>
                </a:spcAft>
              </a:pPr>
              <a:t>5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950DEA2-83FF-556A-BAF8-8CD7AE9E4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514361"/>
              </p:ext>
            </p:extLst>
          </p:nvPr>
        </p:nvGraphicFramePr>
        <p:xfrm>
          <a:off x="923469" y="4675167"/>
          <a:ext cx="8344264" cy="1249680"/>
        </p:xfrm>
        <a:graphic>
          <a:graphicData uri="http://schemas.openxmlformats.org/drawingml/2006/table">
            <a:tbl>
              <a:tblPr/>
              <a:tblGrid>
                <a:gridCol w="2086066">
                  <a:extLst>
                    <a:ext uri="{9D8B030D-6E8A-4147-A177-3AD203B41FA5}">
                      <a16:colId xmlns:a16="http://schemas.microsoft.com/office/drawing/2014/main" val="2887777641"/>
                    </a:ext>
                  </a:extLst>
                </a:gridCol>
                <a:gridCol w="2086066">
                  <a:extLst>
                    <a:ext uri="{9D8B030D-6E8A-4147-A177-3AD203B41FA5}">
                      <a16:colId xmlns:a16="http://schemas.microsoft.com/office/drawing/2014/main" val="2319621010"/>
                    </a:ext>
                  </a:extLst>
                </a:gridCol>
                <a:gridCol w="2086066">
                  <a:extLst>
                    <a:ext uri="{9D8B030D-6E8A-4147-A177-3AD203B41FA5}">
                      <a16:colId xmlns:a16="http://schemas.microsoft.com/office/drawing/2014/main" val="250800669"/>
                    </a:ext>
                  </a:extLst>
                </a:gridCol>
                <a:gridCol w="2086066">
                  <a:extLst>
                    <a:ext uri="{9D8B030D-6E8A-4147-A177-3AD203B41FA5}">
                      <a16:colId xmlns:a16="http://schemas.microsoft.com/office/drawing/2014/main" val="25172906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Input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small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base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large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103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</a:rPr>
                        <a:t>224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ANE </a:t>
                      </a:r>
                      <a:r>
                        <a:rPr lang="en" b="1">
                          <a:effectLst/>
                        </a:rPr>
                        <a:t>72%</a:t>
                      </a:r>
                      <a:r>
                        <a:rPr lang="en">
                          <a:effectLst/>
                        </a:rPr>
                        <a:t> </a:t>
                      </a:r>
                      <a:r>
                        <a:rPr lang="ko-KR" altLang="en-US">
                          <a:effectLst/>
                        </a:rPr>
                        <a:t>빠름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ANE </a:t>
                      </a:r>
                      <a:r>
                        <a:rPr lang="en" b="1">
                          <a:effectLst/>
                        </a:rPr>
                        <a:t>77%</a:t>
                      </a:r>
                      <a:r>
                        <a:rPr lang="en">
                          <a:effectLst/>
                        </a:rPr>
                        <a:t> </a:t>
                      </a:r>
                      <a:r>
                        <a:rPr lang="ko-KR" altLang="en-US">
                          <a:effectLst/>
                        </a:rPr>
                        <a:t>빠름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ANE </a:t>
                      </a:r>
                      <a:r>
                        <a:rPr lang="en" b="1">
                          <a:effectLst/>
                        </a:rPr>
                        <a:t>82%</a:t>
                      </a:r>
                      <a:r>
                        <a:rPr lang="en">
                          <a:effectLst/>
                        </a:rPr>
                        <a:t> </a:t>
                      </a:r>
                      <a:r>
                        <a:rPr lang="ko-KR" altLang="en-US">
                          <a:effectLst/>
                        </a:rPr>
                        <a:t>빠름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844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</a:rPr>
                        <a:t>384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ANE </a:t>
                      </a:r>
                      <a:r>
                        <a:rPr lang="en" b="1">
                          <a:effectLst/>
                        </a:rPr>
                        <a:t>61%</a:t>
                      </a:r>
                      <a:r>
                        <a:rPr lang="en">
                          <a:effectLst/>
                        </a:rPr>
                        <a:t> </a:t>
                      </a:r>
                      <a:r>
                        <a:rPr lang="ko-KR" altLang="en-US">
                          <a:effectLst/>
                        </a:rPr>
                        <a:t>빠름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ANE </a:t>
                      </a:r>
                      <a:r>
                        <a:rPr lang="en" b="1">
                          <a:effectLst/>
                        </a:rPr>
                        <a:t>60%</a:t>
                      </a:r>
                      <a:r>
                        <a:rPr lang="en">
                          <a:effectLst/>
                        </a:rPr>
                        <a:t> </a:t>
                      </a:r>
                      <a:r>
                        <a:rPr lang="ko-KR" altLang="en-US">
                          <a:effectLst/>
                        </a:rPr>
                        <a:t>빠름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>
                          <a:effectLst/>
                        </a:rPr>
                        <a:t>ANE </a:t>
                      </a:r>
                      <a:r>
                        <a:rPr lang="en" b="1" dirty="0">
                          <a:effectLst/>
                        </a:rPr>
                        <a:t>60%</a:t>
                      </a:r>
                      <a:r>
                        <a:rPr lang="en" dirty="0">
                          <a:effectLst/>
                        </a:rPr>
                        <a:t> </a:t>
                      </a:r>
                      <a:r>
                        <a:rPr lang="ko-KR" altLang="en-US" dirty="0">
                          <a:effectLst/>
                        </a:rPr>
                        <a:t>빠름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4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</a:rPr>
                        <a:t>512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</a:rPr>
                        <a:t>—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ANE </a:t>
                      </a:r>
                      <a:r>
                        <a:rPr lang="en" b="1">
                          <a:effectLst/>
                        </a:rPr>
                        <a:t>26%</a:t>
                      </a:r>
                      <a:r>
                        <a:rPr lang="en">
                          <a:effectLst/>
                        </a:rPr>
                        <a:t> </a:t>
                      </a:r>
                      <a:r>
                        <a:rPr lang="ko-KR" altLang="en-US">
                          <a:effectLst/>
                        </a:rPr>
                        <a:t>빠름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>
                          <a:effectLst/>
                        </a:rPr>
                        <a:t>ANE </a:t>
                      </a:r>
                      <a:r>
                        <a:rPr lang="en" b="1" dirty="0">
                          <a:effectLst/>
                        </a:rPr>
                        <a:t>27%</a:t>
                      </a:r>
                      <a:r>
                        <a:rPr lang="en" dirty="0">
                          <a:effectLst/>
                        </a:rPr>
                        <a:t> </a:t>
                      </a:r>
                      <a:r>
                        <a:rPr lang="ko-KR" altLang="en-US" dirty="0">
                          <a:effectLst/>
                        </a:rPr>
                        <a:t>빠름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606462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679312A-07F5-06C5-F9EB-024B4AE22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476146"/>
              </p:ext>
            </p:extLst>
          </p:nvPr>
        </p:nvGraphicFramePr>
        <p:xfrm>
          <a:off x="923470" y="1905000"/>
          <a:ext cx="8412480" cy="15240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2809671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42833752"/>
                    </a:ext>
                  </a:extLst>
                </a:gridCol>
                <a:gridCol w="1911170">
                  <a:extLst>
                    <a:ext uri="{9D8B030D-6E8A-4147-A177-3AD203B41FA5}">
                      <a16:colId xmlns:a16="http://schemas.microsoft.com/office/drawing/2014/main" val="1858365067"/>
                    </a:ext>
                  </a:extLst>
                </a:gridCol>
                <a:gridCol w="2295070">
                  <a:extLst>
                    <a:ext uri="{9D8B030D-6E8A-4147-A177-3AD203B41FA5}">
                      <a16:colId xmlns:a16="http://schemas.microsoft.com/office/drawing/2014/main" val="42224886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Input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small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>
                          <a:effectLst/>
                        </a:rPr>
                        <a:t>base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>
                          <a:effectLst/>
                        </a:rPr>
                        <a:t>large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301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</a:rPr>
                        <a:t>224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</a:rPr>
                        <a:t>+0.6%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</a:rPr>
                        <a:t>+0.2%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>
                          <a:effectLst/>
                        </a:rPr>
                        <a:t>-14.5%</a:t>
                      </a:r>
                      <a:r>
                        <a:rPr lang="ko-KR" altLang="en-US" dirty="0">
                          <a:effectLst/>
                        </a:rPr>
                        <a:t> </a:t>
                      </a:r>
                      <a:br>
                        <a:rPr lang="en-US" altLang="ko-KR" dirty="0">
                          <a:effectLst/>
                        </a:rPr>
                      </a:br>
                      <a:r>
                        <a:rPr lang="en-US" altLang="ko-KR" dirty="0">
                          <a:effectLst/>
                        </a:rPr>
                        <a:t>(</a:t>
                      </a:r>
                      <a:r>
                        <a:rPr lang="ko-KR" altLang="en-US" dirty="0">
                          <a:effectLst/>
                        </a:rPr>
                        <a:t>오히려 느려짐</a:t>
                      </a:r>
                      <a:r>
                        <a:rPr lang="en-US" altLang="ko-KR" dirty="0">
                          <a:effectLst/>
                        </a:rPr>
                        <a:t>)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303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</a:rPr>
                        <a:t>384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>
                          <a:effectLst/>
                        </a:rPr>
                        <a:t>+33.2%</a:t>
                      </a:r>
                      <a:endParaRPr lang="ko-KR" altLang="en-US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>
                          <a:effectLst/>
                        </a:rPr>
                        <a:t>+21.7%</a:t>
                      </a:r>
                      <a:endParaRPr lang="ko-KR" altLang="en-US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>
                          <a:effectLst/>
                        </a:rPr>
                        <a:t>+15.8%</a:t>
                      </a:r>
                      <a:endParaRPr lang="ko-KR" altLang="en-US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435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>
                          <a:effectLst/>
                        </a:rPr>
                        <a:t>512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dirty="0">
                          <a:effectLst/>
                        </a:rPr>
                        <a:t>—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>
                          <a:effectLst/>
                        </a:rPr>
                        <a:t>+18.6%</a:t>
                      </a:r>
                      <a:endParaRPr lang="ko-KR" altLang="en-US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1" dirty="0">
                          <a:effectLst/>
                        </a:rPr>
                        <a:t>+14.9%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373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8E50904-9D61-1358-DB55-134DAE8792BC}"/>
              </a:ext>
            </a:extLst>
          </p:cNvPr>
          <p:cNvSpPr txBox="1"/>
          <p:nvPr/>
        </p:nvSpPr>
        <p:spPr>
          <a:xfrm>
            <a:off x="923469" y="1473497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P1P2P3 </a:t>
            </a:r>
            <a:r>
              <a:rPr lang="ko-KR" altLang="en-US" b="1" dirty="0"/>
              <a:t>효과 </a:t>
            </a:r>
            <a:r>
              <a:rPr lang="en-US" altLang="ko-KR" b="1" dirty="0"/>
              <a:t>(</a:t>
            </a:r>
            <a:r>
              <a:rPr lang="en" altLang="ko-KR" b="1" dirty="0"/>
              <a:t>ANE </a:t>
            </a:r>
            <a:r>
              <a:rPr lang="ko-KR" altLang="en-US" b="1" dirty="0"/>
              <a:t>내</a:t>
            </a:r>
            <a:r>
              <a:rPr lang="en-US" altLang="ko-KR" b="1" dirty="0"/>
              <a:t>, </a:t>
            </a:r>
            <a:r>
              <a:rPr lang="en" altLang="ko-KR" b="1" dirty="0"/>
              <a:t>none → p1p2p3)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BF018A-107E-1C3C-7B3A-0819A52A4B09}"/>
              </a:ext>
            </a:extLst>
          </p:cNvPr>
          <p:cNvSpPr txBox="1"/>
          <p:nvPr/>
        </p:nvSpPr>
        <p:spPr>
          <a:xfrm>
            <a:off x="923469" y="4243664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ANE vs GPU (p1p2p3 </a:t>
            </a:r>
            <a:r>
              <a:rPr lang="ko-KR" altLang="en-US" b="1" dirty="0"/>
              <a:t>기준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603F59-B621-BB36-8E5E-E7E3E0125ECE}"/>
              </a:ext>
            </a:extLst>
          </p:cNvPr>
          <p:cNvSpPr txBox="1"/>
          <p:nvPr/>
        </p:nvSpPr>
        <p:spPr>
          <a:xfrm>
            <a:off x="923469" y="3491171"/>
            <a:ext cx="970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→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224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에서는 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P1P2P3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효과가 거의 없거나 역효과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 384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부터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명확한 효과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F107AC-79F0-C609-356A-1935FA1FCDC1}"/>
              </a:ext>
            </a:extLst>
          </p:cNvPr>
          <p:cNvSpPr txBox="1"/>
          <p:nvPr/>
        </p:nvSpPr>
        <p:spPr>
          <a:xfrm>
            <a:off x="923469" y="5996756"/>
            <a:ext cx="10089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→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이미지가 커질수록 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ANE 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우위가 줄어드는 경향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 </a:t>
            </a:r>
            <a:b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</a:b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     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512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에서도 여전히 </a:t>
            </a:r>
            <a:r>
              <a:rPr lang="en" altLang="ko-KR" b="0" i="0" dirty="0">
                <a:solidFill>
                  <a:srgbClr val="616161"/>
                </a:solidFill>
                <a:effectLst/>
                <a:latin typeface="-apple-system"/>
              </a:rPr>
              <a:t>ANE</a:t>
            </a:r>
            <a:r>
              <a:rPr lang="ko-KR" altLang="en-US" b="0" i="0" dirty="0">
                <a:solidFill>
                  <a:srgbClr val="616161"/>
                </a:solidFill>
                <a:effectLst/>
                <a:latin typeface="-apple-system"/>
              </a:rPr>
              <a:t>가 빠르긴 하지만 격차가 크게 </a:t>
            </a:r>
            <a:r>
              <a:rPr lang="ko-KR" altLang="en-US" b="0" i="0" dirty="0" err="1">
                <a:solidFill>
                  <a:srgbClr val="616161"/>
                </a:solidFill>
                <a:effectLst/>
                <a:latin typeface="-apple-system"/>
              </a:rPr>
              <a:t>좁혀짐</a:t>
            </a:r>
            <a:r>
              <a:rPr lang="en-US" altLang="ko-KR" b="0" i="0" dirty="0">
                <a:solidFill>
                  <a:srgbClr val="616161"/>
                </a:solidFill>
                <a:effectLst/>
                <a:latin typeface="-apple-system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2660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44A58-CD74-BFEB-9E9A-0364255F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Sequence length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25F0EC-6AD9-F0FC-580A-A499D333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F2E0522-E29C-4F43-C5E7-C7538A08C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1810"/>
              </p:ext>
            </p:extLst>
          </p:nvPr>
        </p:nvGraphicFramePr>
        <p:xfrm>
          <a:off x="1949762" y="2672717"/>
          <a:ext cx="8292475" cy="1874520"/>
        </p:xfrm>
        <a:graphic>
          <a:graphicData uri="http://schemas.openxmlformats.org/drawingml/2006/table">
            <a:tbl>
              <a:tblPr/>
              <a:tblGrid>
                <a:gridCol w="2670933">
                  <a:extLst>
                    <a:ext uri="{9D8B030D-6E8A-4147-A177-3AD203B41FA5}">
                      <a16:colId xmlns:a16="http://schemas.microsoft.com/office/drawing/2014/main" val="3421669817"/>
                    </a:ext>
                  </a:extLst>
                </a:gridCol>
                <a:gridCol w="2052644">
                  <a:extLst>
                    <a:ext uri="{9D8B030D-6E8A-4147-A177-3AD203B41FA5}">
                      <a16:colId xmlns:a16="http://schemas.microsoft.com/office/drawing/2014/main" val="2428270288"/>
                    </a:ext>
                  </a:extLst>
                </a:gridCol>
                <a:gridCol w="3568898">
                  <a:extLst>
                    <a:ext uri="{9D8B030D-6E8A-4147-A177-3AD203B41FA5}">
                      <a16:colId xmlns:a16="http://schemas.microsoft.com/office/drawing/2014/main" val="28952940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</a:rPr>
                        <a:t>모델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effectLst/>
                        </a:rPr>
                        <a:t>Sequence Length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>
                          <a:effectLst/>
                        </a:rPr>
                        <a:t>Head당</a:t>
                      </a:r>
                      <a:r>
                        <a:rPr lang="en" dirty="0">
                          <a:effectLst/>
                        </a:rPr>
                        <a:t> Attention </a:t>
                      </a:r>
                      <a:r>
                        <a:rPr lang="en" dirty="0" err="1">
                          <a:effectLst/>
                        </a:rPr>
                        <a:t>행렬</a:t>
                      </a:r>
                      <a:r>
                        <a:rPr lang="en" dirty="0">
                          <a:effectLst/>
                        </a:rPr>
                        <a:t> </a:t>
                      </a:r>
                      <a:r>
                        <a:rPr lang="en" dirty="0" err="1">
                          <a:effectLst/>
                        </a:rPr>
                        <a:t>크기</a:t>
                      </a:r>
                      <a:endParaRPr lang="en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524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>
                          <a:effectLst/>
                        </a:rPr>
                        <a:t>DistilBERT</a:t>
                      </a:r>
                      <a:endParaRPr lang="en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 dirty="0">
                          <a:effectLst/>
                        </a:rPr>
                        <a:t>512</a:t>
                      </a:r>
                      <a:r>
                        <a:rPr lang="en" dirty="0">
                          <a:effectLst/>
                        </a:rPr>
                        <a:t> 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512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512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 2 bytes ≈ 5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KB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174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</a:rPr>
                        <a:t>ViT-224 (patch16)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</a:rPr>
                        <a:t>197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197 × 197 × 2 bytes ≈ 7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KB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0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>
                          <a:effectLst/>
                        </a:rPr>
                        <a:t>ViT</a:t>
                      </a:r>
                      <a:r>
                        <a:rPr lang="en" dirty="0">
                          <a:effectLst/>
                        </a:rPr>
                        <a:t>-</a:t>
                      </a:r>
                      <a:r>
                        <a:rPr lang="en-US" altLang="ko-KR" dirty="0">
                          <a:effectLst/>
                        </a:rPr>
                        <a:t>384</a:t>
                      </a:r>
                      <a:r>
                        <a:rPr lang="en" dirty="0">
                          <a:effectLst/>
                        </a:rPr>
                        <a:t> (patch16)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</a:rPr>
                        <a:t>577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>
                          <a:effectLst/>
                        </a:rPr>
                        <a:t>577 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577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× 2 bytes ≈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665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KB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53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dirty="0" err="1">
                          <a:effectLst/>
                        </a:rPr>
                        <a:t>ViT</a:t>
                      </a:r>
                      <a:r>
                        <a:rPr lang="en" altLang="ko-KR" dirty="0">
                          <a:effectLst/>
                        </a:rPr>
                        <a:t>-</a:t>
                      </a:r>
                      <a:r>
                        <a:rPr lang="en-US" altLang="ko-KR" dirty="0">
                          <a:effectLst/>
                        </a:rPr>
                        <a:t>512</a:t>
                      </a:r>
                      <a:r>
                        <a:rPr lang="en" altLang="ko-KR" dirty="0">
                          <a:effectLst/>
                        </a:rPr>
                        <a:t> (patch16)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</a:rPr>
                        <a:t>1024</a:t>
                      </a:r>
                      <a:endParaRPr lang="ko-KR" altLang="en-US" b="1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>
                          <a:effectLst/>
                        </a:rPr>
                        <a:t>1024</a:t>
                      </a:r>
                      <a:r>
                        <a:rPr lang="ko-KR" altLang="en-US" dirty="0">
                          <a:effectLst/>
                        </a:rPr>
                        <a:t> 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</a:t>
                      </a:r>
                      <a:r>
                        <a:rPr lang="ko-KR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2 bytes </a:t>
                      </a:r>
                      <a:r>
                        <a:rPr lang="ko-KR" altLang="en-US" dirty="0">
                          <a:effectLst/>
                        </a:rPr>
                        <a:t> </a:t>
                      </a: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≈ 2.1 MB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173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effectLst/>
                        </a:rPr>
                        <a:t>EoMT-640</a:t>
                      </a: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</a:rPr>
                        <a:t>1805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altLang="ko-KR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1805 × 1805 × 2 bytes ≈ 6.5 MB</a:t>
                      </a:r>
                      <a:endParaRPr lang="ko-KR" altLang="en-US" dirty="0">
                        <a:effectLst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266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11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D2EA7-98EF-332A-9095-B4723442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E2AC3-0806-62A3-D8E5-C25659FD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ViT-224 </a:t>
            </a:r>
            <a:r>
              <a:rPr lang="ko-KR" altLang="en-US" dirty="0"/>
              <a:t>모델 크기별 비교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929668-C915-5326-463D-B49F8490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6380EC-5D70-279B-3B26-C259B13EAD0A}"/>
              </a:ext>
            </a:extLst>
          </p:cNvPr>
          <p:cNvGrpSpPr/>
          <p:nvPr/>
        </p:nvGrpSpPr>
        <p:grpSpPr>
          <a:xfrm>
            <a:off x="2209800" y="1259044"/>
            <a:ext cx="7772400" cy="5130490"/>
            <a:chOff x="2209800" y="1225860"/>
            <a:chExt cx="7772400" cy="513049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E7ACB6F-E037-7E16-25F8-300100DC3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2081"/>
            <a:stretch>
              <a:fillRect/>
            </a:stretch>
          </p:blipFill>
          <p:spPr>
            <a:xfrm>
              <a:off x="2209800" y="1225860"/>
              <a:ext cx="7772400" cy="5130490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9430981-B6FA-1212-47DD-A71AFE9E93CB}"/>
                </a:ext>
              </a:extLst>
            </p:cNvPr>
            <p:cNvGrpSpPr/>
            <p:nvPr/>
          </p:nvGrpSpPr>
          <p:grpSpPr>
            <a:xfrm>
              <a:off x="2278865" y="1859689"/>
              <a:ext cx="7632000" cy="3979390"/>
              <a:chOff x="2278865" y="1883753"/>
              <a:chExt cx="7613332" cy="3979390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3661826-0258-053B-379D-4B613A30C0B9}"/>
                  </a:ext>
                </a:extLst>
              </p:cNvPr>
              <p:cNvSpPr/>
              <p:nvPr/>
            </p:nvSpPr>
            <p:spPr>
              <a:xfrm>
                <a:off x="2279753" y="1883753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BBDE4732-0389-26D5-E85D-508440BEB238}"/>
                  </a:ext>
                </a:extLst>
              </p:cNvPr>
              <p:cNvSpPr/>
              <p:nvPr/>
            </p:nvSpPr>
            <p:spPr>
              <a:xfrm>
                <a:off x="2278865" y="4534464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1FDED07F-E286-BE29-B630-0DBB2DCA1DFC}"/>
                  </a:ext>
                </a:extLst>
              </p:cNvPr>
              <p:cNvSpPr/>
              <p:nvPr/>
            </p:nvSpPr>
            <p:spPr>
              <a:xfrm>
                <a:off x="2281992" y="3208469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D572F09-34E5-127D-62C4-4E7BCA7339D8}"/>
              </a:ext>
            </a:extLst>
          </p:cNvPr>
          <p:cNvSpPr txBox="1"/>
          <p:nvPr/>
        </p:nvSpPr>
        <p:spPr>
          <a:xfrm>
            <a:off x="2278865" y="1117499"/>
            <a:ext cx="6124072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ko-KR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Model: </a:t>
            </a:r>
            <a:r>
              <a:rPr lang="en" altLang="ko-KR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vit_patch16_224</a:t>
            </a:r>
          </a:p>
        </p:txBody>
      </p:sp>
    </p:spTree>
    <p:extLst>
      <p:ext uri="{BB962C8B-B14F-4D97-AF65-F5344CB8AC3E}">
        <p14:creationId xmlns:p14="http://schemas.microsoft.com/office/powerpoint/2010/main" val="2283817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26781-4380-477C-B8CB-3BC542E1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48D3F-6A63-D91C-C203-6BD9F93E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ViT-224 </a:t>
            </a:r>
            <a:r>
              <a:rPr lang="ko-KR" altLang="en-US" dirty="0"/>
              <a:t>모델 크기별 비교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84D9B4-61A3-E4D3-BEF4-0297842D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C1BC71D-9DED-A31E-025E-B51E4A7C84CC}"/>
              </a:ext>
            </a:extLst>
          </p:cNvPr>
          <p:cNvGrpSpPr/>
          <p:nvPr/>
        </p:nvGrpSpPr>
        <p:grpSpPr>
          <a:xfrm>
            <a:off x="1973656" y="1227099"/>
            <a:ext cx="9227745" cy="5129251"/>
            <a:chOff x="1973656" y="1227099"/>
            <a:chExt cx="9227745" cy="512925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DCF20CA-9B1E-65DD-8D72-F8D2DEF33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3656" y="1227099"/>
              <a:ext cx="9227745" cy="5129251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514EFB4-8061-3A36-C47F-73E61CD14806}"/>
                </a:ext>
              </a:extLst>
            </p:cNvPr>
            <p:cNvSpPr/>
            <p:nvPr/>
          </p:nvSpPr>
          <p:spPr>
            <a:xfrm>
              <a:off x="2490895" y="1631436"/>
              <a:ext cx="2189389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CC95AB7-3BD5-33A5-DC71-551155A4F32A}"/>
                </a:ext>
              </a:extLst>
            </p:cNvPr>
            <p:cNvSpPr/>
            <p:nvPr/>
          </p:nvSpPr>
          <p:spPr>
            <a:xfrm>
              <a:off x="4680823" y="1631436"/>
              <a:ext cx="2189389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757CBE9-233F-1B38-5BAB-F269E006E471}"/>
                </a:ext>
              </a:extLst>
            </p:cNvPr>
            <p:cNvSpPr/>
            <p:nvPr/>
          </p:nvSpPr>
          <p:spPr>
            <a:xfrm>
              <a:off x="6870212" y="1631436"/>
              <a:ext cx="2160000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3674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BF954-0E8D-035D-E766-112AF7A70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70C20-37FA-EEC7-50D7-A25515E2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ViT-384 </a:t>
            </a:r>
            <a:r>
              <a:rPr lang="ko-KR" altLang="en-US" dirty="0"/>
              <a:t>모델 크기별 비교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B897A2-90A3-A19B-84C1-FE20D3BB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4F1018-76AC-53E9-0BED-1E3478A18640}"/>
              </a:ext>
            </a:extLst>
          </p:cNvPr>
          <p:cNvSpPr txBox="1"/>
          <p:nvPr/>
        </p:nvSpPr>
        <p:spPr>
          <a:xfrm>
            <a:off x="2278865" y="1117499"/>
            <a:ext cx="6124072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ko-KR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Model: </a:t>
            </a:r>
            <a:r>
              <a:rPr lang="en" altLang="ko-KR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vit_patch16_</a:t>
            </a:r>
            <a:r>
              <a:rPr lang="en-US" altLang="ko-KR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384</a:t>
            </a:r>
            <a:endParaRPr lang="en" altLang="ko-KR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92A8E99-850F-33ED-3FF1-C873E3315918}"/>
              </a:ext>
            </a:extLst>
          </p:cNvPr>
          <p:cNvGrpSpPr/>
          <p:nvPr/>
        </p:nvGrpSpPr>
        <p:grpSpPr>
          <a:xfrm>
            <a:off x="2206240" y="1431806"/>
            <a:ext cx="7772400" cy="4972122"/>
            <a:chOff x="2206240" y="1431806"/>
            <a:chExt cx="7772400" cy="497212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F48DC05-B749-1E5D-D148-AC717CA79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4798"/>
            <a:stretch>
              <a:fillRect/>
            </a:stretch>
          </p:blipFill>
          <p:spPr>
            <a:xfrm>
              <a:off x="2206240" y="1431806"/>
              <a:ext cx="7772400" cy="4972122"/>
            </a:xfrm>
            <a:prstGeom prst="rect">
              <a:avLst/>
            </a:prstGeom>
          </p:spPr>
        </p:pic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26A751EA-A8B4-5F44-06FE-98056388FB08}"/>
                </a:ext>
              </a:extLst>
            </p:cNvPr>
            <p:cNvGrpSpPr/>
            <p:nvPr/>
          </p:nvGrpSpPr>
          <p:grpSpPr>
            <a:xfrm>
              <a:off x="2278008" y="1928812"/>
              <a:ext cx="7632000" cy="3979390"/>
              <a:chOff x="2278865" y="1883753"/>
              <a:chExt cx="7613332" cy="3979390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5949E9B6-77C3-1528-D5D3-3CC5535422F2}"/>
                  </a:ext>
                </a:extLst>
              </p:cNvPr>
              <p:cNvSpPr/>
              <p:nvPr/>
            </p:nvSpPr>
            <p:spPr>
              <a:xfrm>
                <a:off x="2279753" y="1883753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02762FE5-1012-74D0-C040-74A2AD429C1A}"/>
                  </a:ext>
                </a:extLst>
              </p:cNvPr>
              <p:cNvSpPr/>
              <p:nvPr/>
            </p:nvSpPr>
            <p:spPr>
              <a:xfrm>
                <a:off x="2278865" y="4534464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422D750A-C34F-D617-3EE4-3C2944E46409}"/>
                  </a:ext>
                </a:extLst>
              </p:cNvPr>
              <p:cNvSpPr/>
              <p:nvPr/>
            </p:nvSpPr>
            <p:spPr>
              <a:xfrm>
                <a:off x="2281992" y="3208469"/>
                <a:ext cx="7610205" cy="1328679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88580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0C278-8976-6979-A96A-7CE8B845A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A07FCC1-0CAB-0EA6-FBDF-7B7DE3303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911" y="1244468"/>
            <a:ext cx="9276465" cy="515633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46E35D-3FF8-16BB-A4AD-CF1CB0AD6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ViT-384 </a:t>
            </a:r>
            <a:r>
              <a:rPr lang="ko-KR" altLang="en-US" dirty="0"/>
              <a:t>모델 크기별 비교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0BECA1-8B32-1621-4FBE-D6867EED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C3ACDC8-8AEC-2EE4-76EB-A9CCCDE081B6}"/>
              </a:ext>
            </a:extLst>
          </p:cNvPr>
          <p:cNvGrpSpPr/>
          <p:nvPr/>
        </p:nvGrpSpPr>
        <p:grpSpPr>
          <a:xfrm>
            <a:off x="2490895" y="1631436"/>
            <a:ext cx="6539317" cy="4300132"/>
            <a:chOff x="2490895" y="1631436"/>
            <a:chExt cx="6539317" cy="4300132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072298F-40D1-6403-BE59-40E234FEB802}"/>
                </a:ext>
              </a:extLst>
            </p:cNvPr>
            <p:cNvSpPr/>
            <p:nvPr/>
          </p:nvSpPr>
          <p:spPr>
            <a:xfrm>
              <a:off x="2490895" y="1631436"/>
              <a:ext cx="2189389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F789A01-DB96-3CE3-D9DE-8F36ADC85FDC}"/>
                </a:ext>
              </a:extLst>
            </p:cNvPr>
            <p:cNvSpPr/>
            <p:nvPr/>
          </p:nvSpPr>
          <p:spPr>
            <a:xfrm>
              <a:off x="4680823" y="1631436"/>
              <a:ext cx="2189389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0C50FFA-CFA3-50FB-8C6E-13F87DD5AFBE}"/>
                </a:ext>
              </a:extLst>
            </p:cNvPr>
            <p:cNvSpPr/>
            <p:nvPr/>
          </p:nvSpPr>
          <p:spPr>
            <a:xfrm>
              <a:off x="6870212" y="1631436"/>
              <a:ext cx="2160000" cy="4300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43598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35E1D-2065-77BD-7101-7B51A4C2E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80F80-C951-D1A6-8CD0-E1FB928B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ViT-512-siglip </a:t>
            </a:r>
            <a:r>
              <a:rPr lang="ko-KR" altLang="en-US" dirty="0"/>
              <a:t>모델 크기별 비교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FAC8A3-FA99-7B52-C9EC-33A82D08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EB89D7-2878-CF6C-24A4-3B126BA5C682}"/>
              </a:ext>
            </a:extLst>
          </p:cNvPr>
          <p:cNvSpPr txBox="1"/>
          <p:nvPr/>
        </p:nvSpPr>
        <p:spPr>
          <a:xfrm>
            <a:off x="2278865" y="1117499"/>
            <a:ext cx="6124072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ko-KR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Model: </a:t>
            </a:r>
            <a:r>
              <a:rPr lang="en" altLang="ko-KR" dirty="0"/>
              <a:t>vit_patch16_siglip_512</a:t>
            </a:r>
            <a:endParaRPr lang="en" altLang="ko-KR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73DEC50-6EF6-3499-92BD-B379E7E57A04}"/>
              </a:ext>
            </a:extLst>
          </p:cNvPr>
          <p:cNvGrpSpPr/>
          <p:nvPr/>
        </p:nvGrpSpPr>
        <p:grpSpPr>
          <a:xfrm>
            <a:off x="1342111" y="1533111"/>
            <a:ext cx="9507778" cy="4507612"/>
            <a:chOff x="1342111" y="1533111"/>
            <a:chExt cx="9507778" cy="450761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9161039-3D57-840B-00F6-750F4E327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2111" y="1533111"/>
              <a:ext cx="9507778" cy="450761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7564AA0-117D-8E80-558C-C5E556BA5922}"/>
                </a:ext>
              </a:extLst>
            </p:cNvPr>
            <p:cNvSpPr/>
            <p:nvPr/>
          </p:nvSpPr>
          <p:spPr>
            <a:xfrm>
              <a:off x="1774426" y="3956454"/>
              <a:ext cx="8482757" cy="1609459"/>
            </a:xfrm>
            <a:prstGeom prst="rect">
              <a:avLst/>
            </a:prstGeom>
            <a:no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9580263-D036-A4E1-917F-9F4F084C95E0}"/>
                </a:ext>
              </a:extLst>
            </p:cNvPr>
            <p:cNvSpPr/>
            <p:nvPr/>
          </p:nvSpPr>
          <p:spPr>
            <a:xfrm>
              <a:off x="1774425" y="2346995"/>
              <a:ext cx="8482757" cy="1609459"/>
            </a:xfrm>
            <a:prstGeom prst="rect">
              <a:avLst/>
            </a:prstGeom>
            <a:no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4782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4E2A2-09AE-3F45-2BBB-C5A725449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8D86A-51EC-1CB4-E15C-3FEC35B9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ViT-512-siglip </a:t>
            </a:r>
            <a:r>
              <a:rPr lang="ko-KR" altLang="en-US" dirty="0"/>
              <a:t>모델 크기별 비교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8890BD-B31F-E0C9-8437-442EFE87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3FA4834-4D7A-3A49-551A-3B33F0FC7D61}"/>
              </a:ext>
            </a:extLst>
          </p:cNvPr>
          <p:cNvGrpSpPr/>
          <p:nvPr/>
        </p:nvGrpSpPr>
        <p:grpSpPr>
          <a:xfrm>
            <a:off x="1997771" y="1283232"/>
            <a:ext cx="8824209" cy="4907762"/>
            <a:chOff x="1997771" y="1283232"/>
            <a:chExt cx="8824209" cy="490776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BB693BD-F85D-92CC-0557-07E719B1E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7771" y="1283232"/>
              <a:ext cx="8824209" cy="4907762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5F73E34-26FE-05B3-4C5E-44DFA8DAA09E}"/>
                </a:ext>
              </a:extLst>
            </p:cNvPr>
            <p:cNvSpPr/>
            <p:nvPr/>
          </p:nvSpPr>
          <p:spPr>
            <a:xfrm>
              <a:off x="2501341" y="1653208"/>
              <a:ext cx="3104329" cy="41379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FE18755-A3E9-B66D-CAD9-87C03659A722}"/>
                </a:ext>
              </a:extLst>
            </p:cNvPr>
            <p:cNvSpPr/>
            <p:nvPr/>
          </p:nvSpPr>
          <p:spPr>
            <a:xfrm>
              <a:off x="5605670" y="1653207"/>
              <a:ext cx="3104329" cy="413799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88369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44A58-CD74-BFEB-9E9A-0364255F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EoMT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모델 크기별 비교</a:t>
            </a:r>
            <a:r>
              <a:rPr kumimoji="1" lang="en-US" altLang="ko-KR" dirty="0"/>
              <a:t>(1)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25F0EC-6AD9-F0FC-580A-A499D333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0EA6585-07D6-658F-36A7-4080D74F87C3}"/>
              </a:ext>
            </a:extLst>
          </p:cNvPr>
          <p:cNvGrpSpPr/>
          <p:nvPr/>
        </p:nvGrpSpPr>
        <p:grpSpPr>
          <a:xfrm>
            <a:off x="2420455" y="1287569"/>
            <a:ext cx="8396117" cy="4964278"/>
            <a:chOff x="1897941" y="1392072"/>
            <a:chExt cx="8396117" cy="4964278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F6058E3-B11C-E764-D6E4-6BC439FF4D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4798" b="6454"/>
            <a:stretch>
              <a:fillRect/>
            </a:stretch>
          </p:blipFill>
          <p:spPr>
            <a:xfrm>
              <a:off x="1897941" y="1392072"/>
              <a:ext cx="8396117" cy="496427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DF4076E-1950-4CE0-BF20-83CCDC3588D6}"/>
                </a:ext>
              </a:extLst>
            </p:cNvPr>
            <p:cNvSpPr/>
            <p:nvPr/>
          </p:nvSpPr>
          <p:spPr>
            <a:xfrm>
              <a:off x="1972491" y="1936228"/>
              <a:ext cx="8269315" cy="21263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0D75ACF-ED25-0AA7-DDF5-351D9355136C}"/>
                </a:ext>
              </a:extLst>
            </p:cNvPr>
            <p:cNvSpPr/>
            <p:nvPr/>
          </p:nvSpPr>
          <p:spPr>
            <a:xfrm>
              <a:off x="1972491" y="4062549"/>
              <a:ext cx="8269315" cy="212632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7FB32DF3-ECD7-3B52-DBA6-24AFD06BFA2A}"/>
              </a:ext>
            </a:extLst>
          </p:cNvPr>
          <p:cNvSpPr txBox="1"/>
          <p:nvPr/>
        </p:nvSpPr>
        <p:spPr>
          <a:xfrm>
            <a:off x="548641" y="1354671"/>
            <a:ext cx="1410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Model size</a:t>
            </a:r>
            <a:br>
              <a:rPr kumimoji="1" lang="en-US" altLang="ko-KR" sz="1400" dirty="0"/>
            </a:br>
            <a:r>
              <a:rPr kumimoji="1" lang="en-US" altLang="ko-KR" sz="1400" dirty="0"/>
              <a:t>small – 24M </a:t>
            </a:r>
          </a:p>
          <a:p>
            <a:r>
              <a:rPr kumimoji="1" lang="en-US" altLang="ko-KR" sz="1400" dirty="0"/>
              <a:t>base – 93M</a:t>
            </a:r>
          </a:p>
          <a:p>
            <a:r>
              <a:rPr kumimoji="1" lang="en-US" altLang="ko-KR" sz="1400" dirty="0"/>
              <a:t>large – 316M</a:t>
            </a:r>
          </a:p>
        </p:txBody>
      </p:sp>
    </p:spTree>
    <p:extLst>
      <p:ext uri="{BB962C8B-B14F-4D97-AF65-F5344CB8AC3E}">
        <p14:creationId xmlns:p14="http://schemas.microsoft.com/office/powerpoint/2010/main" val="4096163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68DA-67B3-B656-14D4-C313D2AC1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C2EC7-ABA5-26C9-3A44-65070F61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 err="1"/>
              <a:t>EoMT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모델 크기별 비교</a:t>
            </a:r>
            <a:r>
              <a:rPr kumimoji="1" lang="en-US" altLang="ko-KR" dirty="0"/>
              <a:t>(2)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712648-3A04-D6EA-B7A1-869F938E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55E936-0F59-5690-BB75-7044CFD407BD}"/>
              </a:ext>
            </a:extLst>
          </p:cNvPr>
          <p:cNvSpPr txBox="1"/>
          <p:nvPr/>
        </p:nvSpPr>
        <p:spPr>
          <a:xfrm>
            <a:off x="548641" y="1354671"/>
            <a:ext cx="14107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Model size</a:t>
            </a:r>
            <a:br>
              <a:rPr kumimoji="1" lang="en-US" altLang="ko-KR" sz="1400" dirty="0"/>
            </a:br>
            <a:r>
              <a:rPr kumimoji="1" lang="en-US" altLang="ko-KR" sz="1400" dirty="0"/>
              <a:t>small – 24M </a:t>
            </a:r>
          </a:p>
          <a:p>
            <a:r>
              <a:rPr kumimoji="1" lang="en-US" altLang="ko-KR" sz="1400" dirty="0"/>
              <a:t>base – 93M</a:t>
            </a:r>
          </a:p>
          <a:p>
            <a:r>
              <a:rPr kumimoji="1" lang="en-US" altLang="ko-KR" sz="1400" dirty="0"/>
              <a:t>large – 316M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AD372A7-B09B-B68F-4CF2-1EF04C535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754" y="1354671"/>
            <a:ext cx="8105864" cy="437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08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48F4E-1E16-31A6-3350-19C5B7B51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2570CC-EF7A-F6E9-B2CE-EE4421776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398716-386E-CB56-573B-CD99A7F24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52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8627</TotalTime>
  <Words>511</Words>
  <Application>Microsoft Macintosh PowerPoint</Application>
  <PresentationFormat>와이드스크린</PresentationFormat>
  <Paragraphs>131</Paragraphs>
  <Slides>15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-apple-system</vt:lpstr>
      <vt:lpstr>맑은 고딕</vt:lpstr>
      <vt:lpstr>Arial,Sans-Serif</vt:lpstr>
      <vt:lpstr>Arial</vt:lpstr>
      <vt:lpstr>Office 테마</vt:lpstr>
      <vt:lpstr>EoMT Apple Neural Engine (9)</vt:lpstr>
      <vt:lpstr>목표 및 진행사항</vt:lpstr>
      <vt:lpstr>ANE transformers – 원리 </vt:lpstr>
      <vt:lpstr>Input 224/384/512 모델별 비교</vt:lpstr>
      <vt:lpstr>Input 224/384/512 모델별 비교 해석</vt:lpstr>
      <vt:lpstr>Sequence length</vt:lpstr>
      <vt:lpstr>ViT-224 모델 크기별 비교(1)</vt:lpstr>
      <vt:lpstr>ViT-224 모델 크기별 비교(2)</vt:lpstr>
      <vt:lpstr>ViT-384 모델 크기별 비교(1)</vt:lpstr>
      <vt:lpstr>ViT-384 모델 크기별 비교(2)</vt:lpstr>
      <vt:lpstr>ViT-512-siglip 모델 크기별 비교(1)</vt:lpstr>
      <vt:lpstr>ViT-512-siglip 모델 크기별 비교(2)</vt:lpstr>
      <vt:lpstr>EoMT 모델 크기별 비교(1)</vt:lpstr>
      <vt:lpstr>EoMT 모델 크기별 비교(2)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이수현</cp:lastModifiedBy>
  <cp:revision>1854</cp:revision>
  <dcterms:created xsi:type="dcterms:W3CDTF">2023-03-06T16:32:37Z</dcterms:created>
  <dcterms:modified xsi:type="dcterms:W3CDTF">2026-05-06T12:52:11Z</dcterms:modified>
</cp:coreProperties>
</file>