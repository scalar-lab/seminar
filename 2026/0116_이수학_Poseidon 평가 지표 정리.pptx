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352" r:id="rId3"/>
    <p:sldId id="353" r:id="rId4"/>
    <p:sldId id="354" r:id="rId5"/>
    <p:sldId id="35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2C62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75" d="100"/>
          <a:sy n="75" d="100"/>
        </p:scale>
        <p:origin x="945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3CE6-E154-A395-96F2-A02A03E7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537F6E-1F12-20E6-8768-C1499CAD5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D49EF9-C3E6-E60A-2FEE-65A487DA0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D160C6-07A3-713E-CD82-432E67B59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170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*Poseidon</a:t>
            </a:r>
            <a:r>
              <a:rPr lang="ko-KR" altLang="en-US" dirty="0"/>
              <a:t>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libsnark</a:t>
            </a:r>
            <a:r>
              <a:rPr lang="en-US" altLang="ko-KR" dirty="0"/>
              <a:t>(C++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환경에서 회로를 구성하여 제약 조건 수를 </a:t>
            </a:r>
            <a:r>
              <a:rPr lang="ko-KR" altLang="en-US" dirty="0" err="1"/>
              <a:t>카운팅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1985-989A-CA45-095F-DCFB7D5F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151CB2-F488-EE72-2170-8AFDFDF63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0DFCFD-93BE-5F77-CB82-8931E117C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8AD3A9-3F32-7B45-8174-CEA9EC432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65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0870-BAA9-A522-1355-FD3E3CC89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E3FF3F-63F7-8002-D206-C23287DBF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9CB2E6-9809-E71B-4776-EFDBFD467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Monolith </a:t>
            </a:r>
            <a:r>
              <a:rPr lang="ko-KR" altLang="en-US" dirty="0"/>
              <a:t>논문 </a:t>
            </a:r>
            <a:r>
              <a:rPr lang="en-US" altLang="ko-KR" dirty="0"/>
              <a:t>– </a:t>
            </a:r>
            <a:r>
              <a:rPr lang="en-US" altLang="ko-KR" dirty="0" err="1"/>
              <a:t>pJ</a:t>
            </a:r>
            <a:r>
              <a:rPr lang="en-US" altLang="ko-KR" dirty="0"/>
              <a:t>/Hash (1pJ </a:t>
            </a:r>
            <a:r>
              <a:rPr lang="ko-KR" altLang="en-US" dirty="0"/>
              <a:t>당 처리할 수 있는 데이터 비트 수</a:t>
            </a:r>
            <a:r>
              <a:rPr lang="en-US" altLang="ko-KR" dirty="0"/>
              <a:t>) -&gt; </a:t>
            </a:r>
            <a:r>
              <a:rPr lang="ko-KR" altLang="en-US" dirty="0"/>
              <a:t>에너지 효율</a:t>
            </a:r>
            <a:endParaRPr lang="en-US" altLang="ko-KR" dirty="0"/>
          </a:p>
          <a:p>
            <a:r>
              <a:rPr lang="en-US" altLang="ko-KR" dirty="0"/>
              <a:t>Griffin </a:t>
            </a:r>
            <a:r>
              <a:rPr lang="ko-KR" altLang="en-US" dirty="0"/>
              <a:t>논문 </a:t>
            </a:r>
            <a:r>
              <a:rPr lang="en-US" altLang="ko-KR" dirty="0"/>
              <a:t>: R1CS </a:t>
            </a:r>
            <a:r>
              <a:rPr lang="ko-KR" altLang="en-US" dirty="0"/>
              <a:t>제약조건</a:t>
            </a:r>
            <a:r>
              <a:rPr lang="en-US" altLang="ko-KR" dirty="0"/>
              <a:t>, Field Operation </a:t>
            </a:r>
            <a:r>
              <a:rPr lang="ko-KR" altLang="en-US" dirty="0"/>
              <a:t>수 측정</a:t>
            </a:r>
            <a:endParaRPr lang="en-US" altLang="ko-KR" dirty="0"/>
          </a:p>
          <a:p>
            <a:r>
              <a:rPr lang="en-US" altLang="ko-KR" dirty="0"/>
              <a:t>Anemoi : R1CS </a:t>
            </a:r>
            <a:r>
              <a:rPr lang="ko-KR" altLang="en-US" dirty="0"/>
              <a:t>제약조건</a:t>
            </a:r>
            <a:r>
              <a:rPr lang="en-US" altLang="ko-KR" dirty="0"/>
              <a:t>, LUT </a:t>
            </a:r>
            <a:r>
              <a:rPr lang="ko-KR" altLang="en-US" dirty="0"/>
              <a:t>크기</a:t>
            </a:r>
            <a:r>
              <a:rPr lang="en-US" altLang="ko-KR" dirty="0"/>
              <a:t>, </a:t>
            </a:r>
            <a:r>
              <a:rPr lang="ko-KR" altLang="en-US" dirty="0" err="1"/>
              <a:t>데이터워드</a:t>
            </a:r>
            <a:r>
              <a:rPr lang="ko-KR" altLang="en-US" dirty="0"/>
              <a:t> 하나 처리 하는데 걸리는 </a:t>
            </a:r>
            <a:r>
              <a:rPr lang="en-US" altLang="ko-KR" dirty="0" err="1"/>
              <a:t>clk</a:t>
            </a:r>
            <a:r>
              <a:rPr lang="en-US" altLang="ko-KR" dirty="0"/>
              <a:t> cycle </a:t>
            </a:r>
            <a:r>
              <a:rPr lang="ko-KR" altLang="en-US" dirty="0"/>
              <a:t>수</a:t>
            </a:r>
            <a:r>
              <a:rPr lang="en-US" altLang="ko-KR" dirty="0"/>
              <a:t>, </a:t>
            </a:r>
            <a:r>
              <a:rPr lang="ko-KR" altLang="en-US" dirty="0"/>
              <a:t>증명 생성 시간 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1312B8-3425-DC47-BA4A-0A23A9462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연구 평가 지표 정리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813E-E198-D387-EAD3-3D74049B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5F836-F99E-E392-A4E5-D1A715DB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EC3D2E-AE9A-BB8A-0E2D-384E7989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09E47-1171-C1D5-D18B-0C380304B503}"/>
              </a:ext>
            </a:extLst>
          </p:cNvPr>
          <p:cNvSpPr txBox="1"/>
          <p:nvPr/>
        </p:nvSpPr>
        <p:spPr>
          <a:xfrm>
            <a:off x="714102" y="1461341"/>
            <a:ext cx="1076379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비교 분석 </a:t>
            </a:r>
            <a:endParaRPr lang="en-US" altLang="ko-KR" b="1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하드웨어 관련 지표 </a:t>
            </a:r>
            <a:r>
              <a:rPr lang="en-US" altLang="ko-KR" sz="1600" dirty="0"/>
              <a:t>: Area, Resource Utilization(LUT, FF, DSP), Timing(Frequency, Latency), Power, DSPs</a:t>
            </a:r>
            <a:r>
              <a:rPr lang="ko-KR" altLang="en-US" sz="1600" dirty="0"/>
              <a:t>수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EDA(Electronic Design Automation)</a:t>
            </a:r>
            <a:r>
              <a:rPr lang="ko-KR" altLang="en-US" sz="1400" dirty="0"/>
              <a:t> 툴을 사용하여 측정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Verilog</a:t>
            </a:r>
            <a:r>
              <a:rPr lang="ko-KR" altLang="en-US" sz="1400" dirty="0"/>
              <a:t>로 짠 코드를 </a:t>
            </a:r>
            <a:r>
              <a:rPr lang="en-US" altLang="ko-KR" sz="1400" dirty="0"/>
              <a:t>Xilinx </a:t>
            </a:r>
            <a:r>
              <a:rPr lang="en-US" altLang="ko-KR" sz="1400" dirty="0" err="1"/>
              <a:t>Vivado</a:t>
            </a:r>
            <a:r>
              <a:rPr lang="ko-KR" altLang="en-US" sz="1400" dirty="0"/>
              <a:t>에 넣고 돌림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LUT </a:t>
            </a:r>
            <a:r>
              <a:rPr lang="ko-KR" altLang="en-US" sz="1400" dirty="0"/>
              <a:t>몇 개</a:t>
            </a:r>
            <a:r>
              <a:rPr lang="en-US" altLang="ko-KR" sz="1400" dirty="0"/>
              <a:t>, </a:t>
            </a:r>
            <a:r>
              <a:rPr lang="ko-KR" altLang="en-US" sz="1400" dirty="0"/>
              <a:t>최대 몇 </a:t>
            </a:r>
            <a:r>
              <a:rPr lang="en-US" altLang="ko-KR" sz="1400" dirty="0"/>
              <a:t>MHz</a:t>
            </a:r>
            <a:r>
              <a:rPr lang="ko-KR" altLang="en-US" sz="1400" dirty="0"/>
              <a:t>까지 돌아가는지 리포트 자동 생성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Power – </a:t>
            </a:r>
            <a:r>
              <a:rPr lang="ko-KR" altLang="en-US" sz="1400" dirty="0"/>
              <a:t>실제 연산 시나리오</a:t>
            </a:r>
            <a:r>
              <a:rPr lang="en-US" altLang="ko-KR" sz="1400" dirty="0"/>
              <a:t>(.</a:t>
            </a:r>
            <a:r>
              <a:rPr lang="en-US" altLang="ko-KR" sz="1400" dirty="0" err="1"/>
              <a:t>vcd</a:t>
            </a:r>
            <a:r>
              <a:rPr lang="en-US" altLang="ko-KR" sz="1400" dirty="0"/>
              <a:t> </a:t>
            </a:r>
            <a:r>
              <a:rPr lang="ko-KR" altLang="en-US" sz="1400" dirty="0"/>
              <a:t>파일 등</a:t>
            </a:r>
            <a:r>
              <a:rPr lang="en-US" altLang="ko-KR" sz="1400" dirty="0"/>
              <a:t>) </a:t>
            </a:r>
            <a:r>
              <a:rPr lang="ko-KR" altLang="en-US" sz="1400" dirty="0"/>
              <a:t>전력 분석 툴에 입력하여 동적 전력을 시뮬레이션으로 확인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영지식증명 관련 지표 </a:t>
            </a:r>
            <a:r>
              <a:rPr lang="en-US" altLang="ko-KR" sz="1600" dirty="0"/>
              <a:t>: Gas, R1CS,</a:t>
            </a:r>
            <a:r>
              <a:rPr lang="ko-KR" altLang="en-US" sz="1600" dirty="0"/>
              <a:t> 증명 생성 시간</a:t>
            </a:r>
            <a:r>
              <a:rPr lang="en-US" altLang="ko-KR" sz="1600" dirty="0"/>
              <a:t>, </a:t>
            </a:r>
            <a:r>
              <a:rPr lang="ko-KR" altLang="en-US" sz="1600" dirty="0"/>
              <a:t>검증 시간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Gas, R1CS :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증명에서 비용으로 나타낼 수 있는 지표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Proving/Verification Time : Rust</a:t>
            </a:r>
            <a:r>
              <a:rPr lang="ko-KR" altLang="en-US" sz="1400" dirty="0"/>
              <a:t>나 </a:t>
            </a:r>
            <a:r>
              <a:rPr lang="en-US" altLang="ko-KR" sz="1400" dirty="0"/>
              <a:t>C++</a:t>
            </a:r>
            <a:r>
              <a:rPr lang="ko-KR" altLang="en-US" sz="1400" dirty="0"/>
              <a:t>로 구현된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</a:t>
            </a:r>
            <a:r>
              <a:rPr lang="en-US" altLang="ko-KR" sz="1400" dirty="0"/>
              <a:t>(plonky2,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, halo2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 상에서 해시 함수를 회로에 올린 뒤 </a:t>
            </a:r>
            <a:r>
              <a:rPr lang="en-US" altLang="ko-KR" sz="1400" dirty="0" err="1"/>
              <a:t>porve</a:t>
            </a:r>
            <a:r>
              <a:rPr lang="en-US" altLang="ko-KR" sz="1400" dirty="0"/>
              <a:t>()</a:t>
            </a:r>
            <a:r>
              <a:rPr lang="ko-KR" altLang="en-US" sz="1400" dirty="0"/>
              <a:t>와 </a:t>
            </a:r>
            <a:r>
              <a:rPr lang="en-US" altLang="ko-KR" sz="1400" dirty="0"/>
              <a:t>verify() </a:t>
            </a:r>
            <a:r>
              <a:rPr lang="ko-KR" altLang="en-US" sz="1400" dirty="0"/>
              <a:t>함수가 실행되는 시간을 </a:t>
            </a:r>
            <a:r>
              <a:rPr lang="en-US" altLang="ko-KR" sz="1400" dirty="0"/>
              <a:t>std::time </a:t>
            </a:r>
            <a:r>
              <a:rPr lang="ko-KR" altLang="en-US" sz="1400" dirty="0"/>
              <a:t>라이브러리 등으로 측정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성능 지표 </a:t>
            </a:r>
            <a:r>
              <a:rPr lang="en-US" altLang="ko-KR" sz="1600" dirty="0"/>
              <a:t>: Hash Rate(Hash/s)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Hash</a:t>
            </a:r>
            <a:r>
              <a:rPr lang="ko-KR" altLang="en-US" sz="1400" dirty="0"/>
              <a:t> </a:t>
            </a:r>
            <a:r>
              <a:rPr lang="en-US" altLang="ko-KR" sz="1400" dirty="0"/>
              <a:t>Rate(Hash/s) = Frequency(MHz) / Latency(Cycles)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31561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6EC7-7124-098A-B1B1-2DEAC078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86" y="3740150"/>
            <a:ext cx="3487928" cy="2222798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180B7-F32E-73FE-B296-487CF1CE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759" y="3429000"/>
            <a:ext cx="3050028" cy="2741805"/>
          </a:xfrm>
          <a:prstGeom prst="rect">
            <a:avLst/>
          </a:prstGeom>
        </p:spPr>
      </p:pic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5D00B-0272-DD48-33C6-B069734AD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53" y="3740150"/>
            <a:ext cx="1616559" cy="230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830979-DB19-359F-73D2-CA61B7715E8C}"/>
              </a:ext>
            </a:extLst>
          </p:cNvPr>
          <p:cNvSpPr txBox="1"/>
          <p:nvPr/>
        </p:nvSpPr>
        <p:spPr>
          <a:xfrm>
            <a:off x="1309453" y="614362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C710A-9B19-6058-B8C7-865BAD017813}"/>
              </a:ext>
            </a:extLst>
          </p:cNvPr>
          <p:cNvSpPr txBox="1"/>
          <p:nvPr/>
        </p:nvSpPr>
        <p:spPr>
          <a:xfrm>
            <a:off x="4567003" y="6110287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D24A-2401-9E63-7EA8-13A4DD800DFD}"/>
              </a:ext>
            </a:extLst>
          </p:cNvPr>
          <p:cNvSpPr txBox="1"/>
          <p:nvPr/>
        </p:nvSpPr>
        <p:spPr>
          <a:xfrm>
            <a:off x="8719903" y="627687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48DFB-FAD8-5ADE-4AA0-66D7148B6810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Poseidon: A New Hash Function for Zero-Knowledge Proof Systems (USENIX Security 2021)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측정 지표 </a:t>
            </a:r>
            <a:r>
              <a:rPr lang="en-US" altLang="ko-KR" sz="1400" dirty="0"/>
              <a:t>: R1CS Constraints, Permutation 1</a:t>
            </a:r>
            <a:r>
              <a:rPr lang="ko-KR" altLang="en-US" sz="1400" dirty="0"/>
              <a:t>번 실행 시간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영지식</a:t>
            </a:r>
            <a:r>
              <a:rPr lang="ko-KR" altLang="en-US" sz="1400" dirty="0"/>
              <a:t> 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R1CS </a:t>
            </a:r>
            <a:r>
              <a:rPr lang="ko-KR" altLang="en-US" sz="1400" dirty="0"/>
              <a:t>측정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(R1CS </a:t>
            </a:r>
            <a:r>
              <a:rPr lang="ko-KR" altLang="en-US" sz="1400" dirty="0"/>
              <a:t>기반</a:t>
            </a:r>
            <a:r>
              <a:rPr lang="en-US" altLang="ko-KR" sz="1400" dirty="0"/>
              <a:t>) ZK</a:t>
            </a:r>
            <a:r>
              <a:rPr lang="ko-KR" altLang="en-US" sz="1400" dirty="0"/>
              <a:t> 프레임워크 사용하여 해시함수 코딩 후 분석 도구를 통해 추출 가능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Permutation 1</a:t>
            </a:r>
            <a:r>
              <a:rPr lang="ko-KR" altLang="en-US" sz="1400" dirty="0"/>
              <a:t>번 실행 시간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: Rust </a:t>
            </a:r>
            <a:r>
              <a:rPr lang="ko-KR" altLang="en-US" sz="1400" dirty="0"/>
              <a:t>기반의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 상에서 해시 함수 구현 후 시간 측정 라이브러리 사용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</a:t>
            </a:r>
            <a:r>
              <a:rPr lang="en-US" altLang="ko-KR" sz="1400" dirty="0"/>
              <a:t>: Rust </a:t>
            </a:r>
            <a:r>
              <a:rPr lang="ko-KR" altLang="en-US" sz="1400" dirty="0"/>
              <a:t>기반의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 상에서 해시 함수 구현 후 시간 측정 라이브러리 사용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2879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697D-FC79-6000-7A2C-22C17C31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5F098-38E9-9A9A-0645-7C7351ECA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CCF9D-ABE2-834C-4E0D-8D6F1D1D8D04}"/>
              </a:ext>
            </a:extLst>
          </p:cNvPr>
          <p:cNvSpPr txBox="1"/>
          <p:nvPr/>
        </p:nvSpPr>
        <p:spPr>
          <a:xfrm>
            <a:off x="714102" y="1461341"/>
            <a:ext cx="1076379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Benchmarking ZK-Friendly Hash Functions and SNARK Proving Systems (</a:t>
            </a:r>
            <a:r>
              <a:rPr lang="en-US" altLang="ko-KR" b="1" dirty="0" err="1"/>
              <a:t>arXiv</a:t>
            </a:r>
            <a:r>
              <a:rPr lang="en-US" altLang="ko-KR" b="1" dirty="0"/>
              <a:t> 2024)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측정 지표 </a:t>
            </a:r>
            <a:r>
              <a:rPr lang="en-US" altLang="ko-KR" sz="1400" dirty="0"/>
              <a:t>: Gas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Gas : </a:t>
            </a:r>
            <a:r>
              <a:rPr lang="ko-KR" altLang="en-US" sz="1400" dirty="0" err="1"/>
              <a:t>이더리움과</a:t>
            </a:r>
            <a:r>
              <a:rPr lang="ko-KR" altLang="en-US" sz="1400" dirty="0"/>
              <a:t> 같은 </a:t>
            </a:r>
            <a:r>
              <a:rPr lang="en-US" altLang="ko-KR" sz="1400" dirty="0"/>
              <a:t>EVM(Ethereum Virtual Machine) </a:t>
            </a:r>
            <a:r>
              <a:rPr lang="ko-KR" altLang="en-US" sz="1400" dirty="0"/>
              <a:t>기반 블록체인에서 네트워크 자원</a:t>
            </a:r>
            <a:r>
              <a:rPr lang="en-US" altLang="ko-KR" sz="1400" dirty="0"/>
              <a:t>(</a:t>
            </a:r>
            <a:r>
              <a:rPr lang="ko-KR" altLang="en-US" sz="1400" dirty="0"/>
              <a:t>연산</a:t>
            </a:r>
            <a:r>
              <a:rPr lang="en-US" altLang="ko-KR" sz="1400" dirty="0"/>
              <a:t>, </a:t>
            </a:r>
            <a:r>
              <a:rPr lang="ko-KR" altLang="en-US" sz="1400" dirty="0"/>
              <a:t>저장 공간 등</a:t>
            </a:r>
            <a:r>
              <a:rPr lang="en-US" altLang="ko-KR" sz="1400" dirty="0"/>
              <a:t>)</a:t>
            </a:r>
            <a:r>
              <a:rPr lang="ko-KR" altLang="en-US" sz="1400" dirty="0"/>
              <a:t>을 사용한 대가로 지불하는 수수료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어떤 증명 시스템이 가장 저렴한지 확인할 때 사용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방법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circom</a:t>
            </a:r>
            <a:r>
              <a:rPr lang="ko-KR" altLang="en-US" sz="1400" dirty="0"/>
              <a:t>으로 설계한 해시 회로를 </a:t>
            </a:r>
            <a:r>
              <a:rPr lang="en-US" altLang="ko-KR" sz="1400" dirty="0" err="1"/>
              <a:t>snarkjs</a:t>
            </a:r>
            <a:r>
              <a:rPr lang="en-US" altLang="ko-KR" sz="1400" dirty="0"/>
              <a:t> </a:t>
            </a:r>
            <a:r>
              <a:rPr lang="ko-KR" altLang="en-US" sz="1400" dirty="0"/>
              <a:t>도구를 활용하여 </a:t>
            </a:r>
            <a:r>
              <a:rPr lang="en-US" altLang="ko-KR" sz="1400" dirty="0"/>
              <a:t>solidity </a:t>
            </a:r>
            <a:r>
              <a:rPr lang="ko-KR" altLang="en-US" sz="1400" dirty="0"/>
              <a:t>검증 </a:t>
            </a:r>
            <a:r>
              <a:rPr lang="ko-KR" altLang="en-US" sz="1400" dirty="0" err="1"/>
              <a:t>컨트랙트로</a:t>
            </a:r>
            <a:r>
              <a:rPr lang="ko-KR" altLang="en-US" sz="1400" dirty="0"/>
              <a:t> 변환 → 실제 </a:t>
            </a:r>
            <a:r>
              <a:rPr lang="ko-KR" altLang="en-US" sz="1400" dirty="0" err="1"/>
              <a:t>이더리움</a:t>
            </a:r>
            <a:r>
              <a:rPr lang="ko-KR" altLang="en-US" sz="1400" dirty="0"/>
              <a:t> 테스트넷에 배포하여 </a:t>
            </a:r>
            <a:r>
              <a:rPr lang="en-US" altLang="ko-KR" sz="1400" dirty="0"/>
              <a:t>Gas</a:t>
            </a:r>
            <a:r>
              <a:rPr lang="ko-KR" altLang="en-US" sz="1400" dirty="0"/>
              <a:t>량 추출</a:t>
            </a:r>
            <a:endParaRPr lang="en-US" altLang="ko-KR" sz="1400" dirty="0"/>
          </a:p>
        </p:txBody>
      </p:sp>
      <p:pic>
        <p:nvPicPr>
          <p:cNvPr id="19" name="그림 18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6FE70C-640D-3B62-E203-5656B331C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845" y="4808409"/>
            <a:ext cx="8070850" cy="136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15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7528-DFF1-59DD-258C-60E8177E3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08AA6-6BF0-F876-F0D0-65787D06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851D95-04F5-F939-50BC-2DC414DB916E}"/>
              </a:ext>
            </a:extLst>
          </p:cNvPr>
          <p:cNvSpPr txBox="1"/>
          <p:nvPr/>
        </p:nvSpPr>
        <p:spPr>
          <a:xfrm>
            <a:off x="714102" y="1461341"/>
            <a:ext cx="1076379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Gotta Hash 'Em All! Accelerating Hash Functions for Zero-Knowledge Proof Applications (2025)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 err="1"/>
              <a:t>영지식</a:t>
            </a:r>
            <a:r>
              <a:rPr lang="ko-KR" altLang="en-US" sz="1400" dirty="0"/>
              <a:t> 증명의 병목 현상인 해시 연산을 하드웨어</a:t>
            </a:r>
            <a:r>
              <a:rPr lang="en-US" altLang="ko-KR" sz="1400" dirty="0"/>
              <a:t>(FPGA/ASIC)</a:t>
            </a:r>
            <a:r>
              <a:rPr lang="ko-KR" altLang="en-US" sz="1400" dirty="0"/>
              <a:t>로 가속할 때의 표준 가이드라인을 제시하는 논문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일반적으로는 </a:t>
            </a:r>
            <a:r>
              <a:rPr lang="en-US" altLang="ko-KR" sz="1400" dirty="0"/>
              <a:t>SW </a:t>
            </a:r>
            <a:r>
              <a:rPr lang="ko-KR" altLang="en-US" sz="1400" dirty="0"/>
              <a:t>회로 최적화에만 치중되어 있어서 하드웨어 구현 시 면적 대비 성능 위주로 </a:t>
            </a:r>
            <a:r>
              <a:rPr lang="en-US" altLang="ko-KR" sz="1400" dirty="0"/>
              <a:t>report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사용한 측정 지표 </a:t>
            </a:r>
            <a:r>
              <a:rPr lang="en-US" altLang="ko-KR" sz="1400" dirty="0"/>
              <a:t>: LUTs,</a:t>
            </a:r>
            <a:r>
              <a:rPr lang="ko-KR" altLang="en-US" sz="1400" dirty="0"/>
              <a:t> </a:t>
            </a:r>
            <a:r>
              <a:rPr lang="en-US" altLang="ko-KR" sz="1400" dirty="0"/>
              <a:t>FFs,</a:t>
            </a:r>
            <a:r>
              <a:rPr lang="ko-KR" altLang="en-US" sz="1400" dirty="0"/>
              <a:t> </a:t>
            </a:r>
            <a:r>
              <a:rPr lang="en-US" altLang="ko-KR" sz="1400" dirty="0"/>
              <a:t>DSPs,</a:t>
            </a:r>
            <a:r>
              <a:rPr lang="ko-KR" altLang="en-US" sz="1400" dirty="0"/>
              <a:t> </a:t>
            </a:r>
            <a:r>
              <a:rPr lang="en-US" altLang="ko-KR" sz="1400" dirty="0"/>
              <a:t>Frequency, Latency, Throughput, Power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Xilinx </a:t>
            </a:r>
            <a:r>
              <a:rPr lang="en-US" altLang="ko-KR" sz="1400" dirty="0" err="1"/>
              <a:t>Virtex</a:t>
            </a:r>
            <a:r>
              <a:rPr lang="en-US" altLang="ko-KR" sz="1400" dirty="0"/>
              <a:t> </a:t>
            </a:r>
            <a:r>
              <a:rPr lang="en-US" altLang="ko-KR" sz="1400" dirty="0" err="1"/>
              <a:t>UltraScale</a:t>
            </a:r>
            <a:r>
              <a:rPr lang="en-US" altLang="ko-KR" sz="1400" dirty="0"/>
              <a:t>+ xcu250, </a:t>
            </a:r>
            <a:r>
              <a:rPr lang="en-US" altLang="ko-KR" sz="1400" dirty="0" err="1"/>
              <a:t>Vidado</a:t>
            </a:r>
            <a:r>
              <a:rPr lang="en-US" altLang="ko-KR" sz="1400" dirty="0"/>
              <a:t> 2024.2 </a:t>
            </a:r>
            <a:r>
              <a:rPr lang="ko-KR" altLang="en-US" sz="1400" dirty="0"/>
              <a:t>기준으로 측정</a:t>
            </a:r>
            <a:endParaRPr lang="en-US" altLang="ko-KR" sz="1400" dirty="0"/>
          </a:p>
        </p:txBody>
      </p: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36FC64-63BC-7F8F-02B8-D79A30BA6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52" y="4270206"/>
            <a:ext cx="10469436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88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20940</TotalTime>
  <Words>522</Words>
  <Application>Microsoft Office PowerPoint</Application>
  <PresentationFormat>와이드스크린</PresentationFormat>
  <Paragraphs>63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Poseidon 연구 평가 지표 정리</vt:lpstr>
      <vt:lpstr>비교 분석</vt:lpstr>
      <vt:lpstr>비교 분석</vt:lpstr>
      <vt:lpstr>비교 분석</vt:lpstr>
      <vt:lpstr>비교 분석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1983</cp:revision>
  <dcterms:created xsi:type="dcterms:W3CDTF">2023-03-06T16:32:37Z</dcterms:created>
  <dcterms:modified xsi:type="dcterms:W3CDTF">2026-01-16T03:50:18Z</dcterms:modified>
</cp:coreProperties>
</file>