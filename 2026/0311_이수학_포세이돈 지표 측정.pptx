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5"/>
  </p:notesMasterIdLst>
  <p:sldIdLst>
    <p:sldId id="256" r:id="rId2"/>
    <p:sldId id="307" r:id="rId3"/>
    <p:sldId id="315" r:id="rId4"/>
    <p:sldId id="262" r:id="rId5"/>
    <p:sldId id="311" r:id="rId6"/>
    <p:sldId id="302" r:id="rId7"/>
    <p:sldId id="271" r:id="rId8"/>
    <p:sldId id="303" r:id="rId9"/>
    <p:sldId id="309" r:id="rId10"/>
    <p:sldId id="310" r:id="rId11"/>
    <p:sldId id="312" r:id="rId12"/>
    <p:sldId id="313" r:id="rId13"/>
    <p:sldId id="30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5080" autoAdjust="0"/>
  </p:normalViewPr>
  <p:slideViewPr>
    <p:cSldViewPr snapToGrid="0">
      <p:cViewPr varScale="1">
        <p:scale>
          <a:sx n="84" d="100"/>
          <a:sy n="84" d="100"/>
        </p:scale>
        <p:origin x="120" y="12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D4A5-E02E-8538-6F02-910340AF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B437A-6543-9C2C-C101-F88BF5FB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3C5E6E-873F-C6F8-CB2E-490EDC07A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6953A4-AC20-3817-8793-B202727D3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232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07E3-3D67-7F6A-AA06-F72781BD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CCF982-86F0-5DE9-3AD0-7945573E5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1D00B9-9ECA-C983-290B-05AD6D3BF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47D96-ED02-E976-02DD-413C94A52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099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B727-3378-F3C0-5428-EEF6E739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194E23-FE3F-6869-9785-A2209CDDC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7FB408-79D5-619F-F9F7-E3D85C11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3C8201-BAB1-9251-37CF-6CF99BF71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98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7376-CC05-8999-24C2-201DB7FD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8C58C7-FDF9-E019-342A-B8FEA2DD5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84FBF5-BC39-A5F7-A7DF-10EA11748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97AE44-D875-1093-57CD-A555D2052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860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52B1-2879-B5EC-8D21-3EF010C0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7D544-8A2B-8941-D14B-941D2453A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CA3C7F-6C76-C401-6DC6-A7F4AA47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D5844-06C7-0F6F-4031-D180593A9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77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9DF8-00DB-A8FB-9F40-C923FF0F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74F140-9230-E5B0-9BFB-655F9C7A0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EA97CA-1A7B-CC18-14E9-40260C41F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A43686-4167-82BE-ED65-AACE1E57C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530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3E0D-F022-7EAB-86DE-BC5D6CC5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23BC7-F80B-830B-FDB1-2DC003FDC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ABB8-D31C-0E3B-06FD-C1FD380BA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Computing </a:t>
            </a:r>
            <a:r>
              <a:rPr lang="ko-KR" altLang="en-US" dirty="0"/>
              <a:t>자원 소모량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Python </a:t>
            </a:r>
            <a:r>
              <a:rPr lang="ko-KR" altLang="en-US" dirty="0"/>
              <a:t>코드에서 </a:t>
            </a:r>
            <a:r>
              <a:rPr lang="en-US" altLang="ko-KR" dirty="0"/>
              <a:t>EVM opcode </a:t>
            </a:r>
            <a:r>
              <a:rPr lang="ko-KR" altLang="en-US" dirty="0"/>
              <a:t>비용을 수식으로 계산한 </a:t>
            </a:r>
            <a:r>
              <a:rPr lang="ko-KR" altLang="en-US" b="1" dirty="0"/>
              <a:t>이론적 </a:t>
            </a:r>
            <a:r>
              <a:rPr lang="ko-KR" altLang="en-US" b="1" dirty="0" err="1"/>
              <a:t>추정값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Python 3</a:t>
            </a:r>
            <a:r>
              <a:rPr lang="ko-KR" altLang="en-US" b="1" dirty="0"/>
              <a:t>에서 </a:t>
            </a:r>
            <a:r>
              <a:rPr lang="en-US" altLang="ko-KR" b="1" dirty="0"/>
              <a:t>EVM opcode </a:t>
            </a:r>
            <a:r>
              <a:rPr lang="ko-KR" altLang="en-US" b="1" dirty="0"/>
              <a:t>단가표를 수식에 대입해서 정적으로 분석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EIP-2929, Yellow Paper</a:t>
            </a:r>
            <a:r>
              <a:rPr lang="ko-KR" altLang="en-US" b="1" dirty="0"/>
              <a:t>를 레퍼런스 삼아 분석 </a:t>
            </a:r>
            <a:r>
              <a:rPr lang="en-US" altLang="ko-KR" b="1" dirty="0"/>
              <a:t>-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Ethereum Execution Layer Specs (EELS)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활용하는 것으로 변경할 예정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6C8CBF-AFD4-3E93-7357-9022C72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785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6E492-CAD2-2F28-35D3-D6116C18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8F9477-56F8-FAA4-285C-84248FCF8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CB1C27-05A2-0871-06D8-98EB97E9F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B7CE0-28CB-E364-BBD6-30A228D4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178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B23CB-8009-2083-6A5F-1B27055A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33D4A9-2334-CF4C-1B38-722C13FE8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F06B72-107C-1E72-C9E1-AC2FFE7BA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07135-C06A-B53D-738D-AD66FAD16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624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73D1-5404-C9BE-0D35-4D6DD156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3A41AA-4599-DBA7-CBCB-ABAC7C40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5979C-57B8-A587-07FE-02CB353B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3C2A2-88BA-DECC-5585-23EB44B70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60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평가 지표 측정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6E76-9E39-179D-53DD-CAD14A1C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96EC-B6BE-45ED-7363-489725ED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지난 피드백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7D9E66-F0E1-1300-F8FD-A70D4205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46883-2686-B9F8-87C1-927D0C80C162}"/>
              </a:ext>
            </a:extLst>
          </p:cNvPr>
          <p:cNvSpPr txBox="1"/>
          <p:nvPr/>
        </p:nvSpPr>
        <p:spPr>
          <a:xfrm>
            <a:off x="1009650" y="2009539"/>
            <a:ext cx="766572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보안 강도</a:t>
            </a:r>
            <a:r>
              <a:rPr lang="en-US" altLang="ko-KR" sz="1400" dirty="0"/>
              <a:t>(Security Level)</a:t>
            </a:r>
            <a:r>
              <a:rPr lang="ko-KR" altLang="en-US" sz="1400" dirty="0"/>
              <a:t>와 </a:t>
            </a:r>
            <a:r>
              <a:rPr lang="en-US" altLang="ko-KR" sz="1400" dirty="0"/>
              <a:t>Capacity </a:t>
            </a:r>
            <a:r>
              <a:rPr lang="ko-KR" altLang="en-US" sz="1400" dirty="0"/>
              <a:t>간의 이론적 상관관계 및 수식 검토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시스템 보안 요구 사양</a:t>
            </a:r>
            <a:r>
              <a:rPr lang="en-US" altLang="ko-KR" sz="1400" dirty="0"/>
              <a:t>(Security Requirements) </a:t>
            </a:r>
            <a:r>
              <a:rPr lang="ko-KR" altLang="en-US" sz="1400" dirty="0"/>
              <a:t>충족 조건 검증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 err="1"/>
              <a:t>영지식</a:t>
            </a:r>
            <a:r>
              <a:rPr lang="ko-KR" altLang="en-US" sz="1400" dirty="0"/>
              <a:t> 회로</a:t>
            </a:r>
            <a:r>
              <a:rPr lang="en-US" altLang="ko-KR" sz="1400" dirty="0"/>
              <a:t>(ZK Circuit) </a:t>
            </a:r>
            <a:r>
              <a:rPr lang="ko-KR" altLang="en-US" sz="1400" dirty="0"/>
              <a:t>내 제안 기법</a:t>
            </a:r>
            <a:r>
              <a:rPr lang="en-US" altLang="ko-KR" sz="1400" dirty="0"/>
              <a:t>(Sol)</a:t>
            </a:r>
            <a:r>
              <a:rPr lang="ko-KR" altLang="en-US" sz="1400" dirty="0"/>
              <a:t>의 오버헤드 측정 및 비교 분석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정량적 평가를 위한 비교 분석 지표</a:t>
            </a:r>
            <a:r>
              <a:rPr lang="en-US" altLang="ko-KR" sz="1400" dirty="0"/>
              <a:t>(Evaluation Metrics) </a:t>
            </a:r>
            <a:r>
              <a:rPr lang="ko-KR" altLang="en-US" sz="1400" dirty="0"/>
              <a:t>수립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5687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FF6E-4797-8A2C-AE64-407D4196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C679E-43A4-C49C-ABCE-10813134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3857DF-6617-973D-DCBB-F062A3C7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6296A8B4-F26F-3FF2-5551-DD010AE70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18725"/>
              </p:ext>
            </p:extLst>
          </p:nvPr>
        </p:nvGraphicFramePr>
        <p:xfrm>
          <a:off x="345828" y="2615626"/>
          <a:ext cx="5952104" cy="12954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88026">
                  <a:extLst>
                    <a:ext uri="{9D8B030D-6E8A-4147-A177-3AD203B41FA5}">
                      <a16:colId xmlns:a16="http://schemas.microsoft.com/office/drawing/2014/main" val="1571646736"/>
                    </a:ext>
                  </a:extLst>
                </a:gridCol>
                <a:gridCol w="1488026">
                  <a:extLst>
                    <a:ext uri="{9D8B030D-6E8A-4147-A177-3AD203B41FA5}">
                      <a16:colId xmlns:a16="http://schemas.microsoft.com/office/drawing/2014/main" val="4142770251"/>
                    </a:ext>
                  </a:extLst>
                </a:gridCol>
                <a:gridCol w="1488026">
                  <a:extLst>
                    <a:ext uri="{9D8B030D-6E8A-4147-A177-3AD203B41FA5}">
                      <a16:colId xmlns:a16="http://schemas.microsoft.com/office/drawing/2014/main" val="3484974673"/>
                    </a:ext>
                  </a:extLst>
                </a:gridCol>
                <a:gridCol w="1488026">
                  <a:extLst>
                    <a:ext uri="{9D8B030D-6E8A-4147-A177-3AD203B41FA5}">
                      <a16:colId xmlns:a16="http://schemas.microsoft.com/office/drawing/2014/main" val="1878197633"/>
                    </a:ext>
                  </a:extLst>
                </a:gridCol>
              </a:tblGrid>
              <a:tr h="250598">
                <a:tc>
                  <a:txBody>
                    <a:bodyPr/>
                    <a:lstStyle/>
                    <a:p>
                      <a:r>
                        <a:rPr lang="en-US" sz="1100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Sol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568172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Security 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381193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Binary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634985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660700"/>
                  </a:ext>
                </a:extLst>
              </a:tr>
              <a:tr h="250598">
                <a:tc>
                  <a:txBody>
                    <a:bodyPr/>
                    <a:lstStyle/>
                    <a:p>
                      <a:r>
                        <a:rPr lang="en-US" sz="1100"/>
                        <a:t>Implementation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0576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F8C916-BC78-EF68-86A6-FA273AF114B6}"/>
              </a:ext>
            </a:extLst>
          </p:cNvPr>
          <p:cNvSpPr txBox="1"/>
          <p:nvPr/>
        </p:nvSpPr>
        <p:spPr>
          <a:xfrm>
            <a:off x="6701791" y="2478228"/>
            <a:ext cx="397383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Security Preserved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Binary Utilization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Compatibility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Implementation Cost</a:t>
            </a:r>
          </a:p>
        </p:txBody>
      </p:sp>
    </p:spTree>
    <p:extLst>
      <p:ext uri="{BB962C8B-B14F-4D97-AF65-F5344CB8AC3E}">
        <p14:creationId xmlns:p14="http://schemas.microsoft.com/office/powerpoint/2010/main" val="266508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D890-95D1-C0C8-AFDB-B84481408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F30F-A621-B809-066D-2A199282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55" name="Table 4">
            <a:extLst>
              <a:ext uri="{FF2B5EF4-FFF2-40B4-BE49-F238E27FC236}">
                <a16:creationId xmlns:a16="http://schemas.microsoft.com/office/drawing/2014/main" id="{32B870F3-C5EE-045A-B294-91F927354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376521"/>
              </p:ext>
            </p:extLst>
          </p:nvPr>
        </p:nvGraphicFramePr>
        <p:xfrm>
          <a:off x="245533" y="1295398"/>
          <a:ext cx="11523132" cy="490814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20411">
                  <a:extLst>
                    <a:ext uri="{9D8B030D-6E8A-4147-A177-3AD203B41FA5}">
                      <a16:colId xmlns:a16="http://schemas.microsoft.com/office/drawing/2014/main" val="3994763417"/>
                    </a:ext>
                  </a:extLst>
                </a:gridCol>
                <a:gridCol w="3700130">
                  <a:extLst>
                    <a:ext uri="{9D8B030D-6E8A-4147-A177-3AD203B41FA5}">
                      <a16:colId xmlns:a16="http://schemas.microsoft.com/office/drawing/2014/main" val="3123798838"/>
                    </a:ext>
                  </a:extLst>
                </a:gridCol>
                <a:gridCol w="4102591">
                  <a:extLst>
                    <a:ext uri="{9D8B030D-6E8A-4147-A177-3AD203B41FA5}">
                      <a16:colId xmlns:a16="http://schemas.microsoft.com/office/drawing/2014/main" val="1927810006"/>
                    </a:ext>
                  </a:extLst>
                </a:gridCol>
              </a:tblGrid>
              <a:tr h="10635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Capacity-Safe Canonical Export</a:t>
                      </a:r>
                    </a:p>
                    <a:p>
                      <a:pPr algn="ctr"/>
                      <a:r>
                        <a:rPr lang="en-US" dirty="0"/>
                        <a:t>(Sol1)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In-Circuit Cross-Lane Entropy </a:t>
                      </a:r>
                    </a:p>
                    <a:p>
                      <a:pPr algn="ctr"/>
                      <a:r>
                        <a:rPr lang="en-US" dirty="0"/>
                        <a:t>Repacking(Sol2)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Byte-Native Poseidon </a:t>
                      </a:r>
                    </a:p>
                    <a:p>
                      <a:pPr algn="ctr"/>
                      <a:r>
                        <a:rPr lang="en-US" dirty="0"/>
                        <a:t>Configuration(Sol3)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679736"/>
                  </a:ext>
                </a:extLst>
              </a:tr>
              <a:tr h="384457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798745"/>
                  </a:ext>
                </a:extLst>
              </a:tr>
            </a:tbl>
          </a:graphicData>
        </a:graphic>
      </p:graphicFrame>
      <p:grpSp>
        <p:nvGrpSpPr>
          <p:cNvPr id="56" name="Group 5">
            <a:extLst>
              <a:ext uri="{FF2B5EF4-FFF2-40B4-BE49-F238E27FC236}">
                <a16:creationId xmlns:a16="http://schemas.microsoft.com/office/drawing/2014/main" id="{94236361-40C8-934C-6D5A-A36CF92BA004}"/>
              </a:ext>
            </a:extLst>
          </p:cNvPr>
          <p:cNvGrpSpPr/>
          <p:nvPr/>
        </p:nvGrpSpPr>
        <p:grpSpPr>
          <a:xfrm>
            <a:off x="1447509" y="3011384"/>
            <a:ext cx="1353426" cy="418300"/>
            <a:chOff x="3739859" y="5115350"/>
            <a:chExt cx="1353426" cy="418300"/>
          </a:xfrm>
        </p:grpSpPr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6510E9F4-DC5C-CE31-7C71-5ECDF4B14021}"/>
                </a:ext>
              </a:extLst>
            </p:cNvPr>
            <p:cNvSpPr/>
            <p:nvPr/>
          </p:nvSpPr>
          <p:spPr>
            <a:xfrm>
              <a:off x="3739859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B1C05A58-1B81-FB1A-C66C-1838CC58BB57}"/>
                </a:ext>
              </a:extLst>
            </p:cNvPr>
            <p:cNvSpPr/>
            <p:nvPr/>
          </p:nvSpPr>
          <p:spPr>
            <a:xfrm>
              <a:off x="4191001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2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CACCE955-0495-74C1-2AED-80F3F63B281D}"/>
                </a:ext>
              </a:extLst>
            </p:cNvPr>
            <p:cNvSpPr/>
            <p:nvPr/>
          </p:nvSpPr>
          <p:spPr>
            <a:xfrm>
              <a:off x="4642143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c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0" name="Straight Arrow Connector 9">
            <a:extLst>
              <a:ext uri="{FF2B5EF4-FFF2-40B4-BE49-F238E27FC236}">
                <a16:creationId xmlns:a16="http://schemas.microsoft.com/office/drawing/2014/main" id="{0958639C-8E5D-0FE0-A812-CB4FE257CA21}"/>
              </a:ext>
            </a:extLst>
          </p:cNvPr>
          <p:cNvCxnSpPr>
            <a:cxnSpLocks/>
          </p:cNvCxnSpPr>
          <p:nvPr/>
        </p:nvCxnSpPr>
        <p:spPr>
          <a:xfrm>
            <a:off x="1659467" y="3429684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894DF96-6D88-60C9-3E4F-B4C891CFC567}"/>
              </a:ext>
            </a:extLst>
          </p:cNvPr>
          <p:cNvSpPr txBox="1"/>
          <p:nvPr/>
        </p:nvSpPr>
        <p:spPr>
          <a:xfrm>
            <a:off x="579967" y="4687900"/>
            <a:ext cx="232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[ </a:t>
            </a:r>
            <a:r>
              <a:rPr lang="en-US" dirty="0">
                <a:solidFill>
                  <a:srgbClr val="FF0000"/>
                </a:solidFill>
              </a:rPr>
              <a:t>zero padding</a:t>
            </a:r>
            <a:r>
              <a:rPr lang="en-US" dirty="0"/>
              <a:t> | r</a:t>
            </a:r>
            <a:r>
              <a:rPr lang="en-US" baseline="-25000" dirty="0"/>
              <a:t>1 </a:t>
            </a:r>
            <a:r>
              <a:rPr lang="en-US" dirty="0"/>
              <a:t>]</a:t>
            </a:r>
          </a:p>
        </p:txBody>
      </p:sp>
      <p:sp>
        <p:nvSpPr>
          <p:cNvPr id="62" name="Right Brace 14">
            <a:extLst>
              <a:ext uri="{FF2B5EF4-FFF2-40B4-BE49-F238E27FC236}">
                <a16:creationId xmlns:a16="http://schemas.microsoft.com/office/drawing/2014/main" id="{9EC1B79C-FD4D-83A1-F13F-155EA73690BA}"/>
              </a:ext>
            </a:extLst>
          </p:cNvPr>
          <p:cNvSpPr/>
          <p:nvPr/>
        </p:nvSpPr>
        <p:spPr>
          <a:xfrm rot="5400000">
            <a:off x="1555750" y="4349750"/>
            <a:ext cx="342900" cy="1879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B18827-107B-91BB-DE12-4E7FA3A62F9E}"/>
              </a:ext>
            </a:extLst>
          </p:cNvPr>
          <p:cNvSpPr txBox="1"/>
          <p:nvPr/>
        </p:nvSpPr>
        <p:spPr>
          <a:xfrm>
            <a:off x="774700" y="5458367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byte-aligned (e.g., 256b)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CBC4C4-24D1-9CFA-1BEB-AFA2FC3A4330}"/>
              </a:ext>
            </a:extLst>
          </p:cNvPr>
          <p:cNvSpPr txBox="1"/>
          <p:nvPr/>
        </p:nvSpPr>
        <p:spPr>
          <a:xfrm>
            <a:off x="1350439" y="2757502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~255b</a:t>
            </a:r>
          </a:p>
        </p:txBody>
      </p:sp>
      <p:grpSp>
        <p:nvGrpSpPr>
          <p:cNvPr id="65" name="Group 67">
            <a:extLst>
              <a:ext uri="{FF2B5EF4-FFF2-40B4-BE49-F238E27FC236}">
                <a16:creationId xmlns:a16="http://schemas.microsoft.com/office/drawing/2014/main" id="{E0720864-D628-013B-D68C-85E9551A3252}"/>
              </a:ext>
            </a:extLst>
          </p:cNvPr>
          <p:cNvGrpSpPr/>
          <p:nvPr/>
        </p:nvGrpSpPr>
        <p:grpSpPr>
          <a:xfrm>
            <a:off x="4527692" y="2756818"/>
            <a:ext cx="2906038" cy="3070197"/>
            <a:chOff x="4527692" y="2756818"/>
            <a:chExt cx="2906038" cy="3070197"/>
          </a:xfrm>
        </p:grpSpPr>
        <p:grpSp>
          <p:nvGrpSpPr>
            <p:cNvPr id="66" name="Group 19">
              <a:extLst>
                <a:ext uri="{FF2B5EF4-FFF2-40B4-BE49-F238E27FC236}">
                  <a16:creationId xmlns:a16="http://schemas.microsoft.com/office/drawing/2014/main" id="{F0926EEC-71A4-6FC9-F5E4-F98E58B2F037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73" name="Rectangle 20">
                <a:extLst>
                  <a:ext uri="{FF2B5EF4-FFF2-40B4-BE49-F238E27FC236}">
                    <a16:creationId xmlns:a16="http://schemas.microsoft.com/office/drawing/2014/main" id="{6F263A3E-F9EA-602C-2B61-F09CB7C40378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21">
                <a:extLst>
                  <a:ext uri="{FF2B5EF4-FFF2-40B4-BE49-F238E27FC236}">
                    <a16:creationId xmlns:a16="http://schemas.microsoft.com/office/drawing/2014/main" id="{DCADE190-FBCB-02FD-F640-89678917043E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22">
                <a:extLst>
                  <a:ext uri="{FF2B5EF4-FFF2-40B4-BE49-F238E27FC236}">
                    <a16:creationId xmlns:a16="http://schemas.microsoft.com/office/drawing/2014/main" id="{652406A9-FFC9-C85C-BB6B-7EFF517109DC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7" name="Straight Arrow Connector 23">
              <a:extLst>
                <a:ext uri="{FF2B5EF4-FFF2-40B4-BE49-F238E27FC236}">
                  <a16:creationId xmlns:a16="http://schemas.microsoft.com/office/drawing/2014/main" id="{64210D04-74EA-FD82-F844-A309810529F9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1AD59EF-749C-C230-D8F0-93CC0AA33E9A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69" name="Right Brace 25">
              <a:extLst>
                <a:ext uri="{FF2B5EF4-FFF2-40B4-BE49-F238E27FC236}">
                  <a16:creationId xmlns:a16="http://schemas.microsoft.com/office/drawing/2014/main" id="{C37EA85E-6D87-41A0-B12A-BB8B45DD9307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788192D-AC44-6757-3263-3A50D7D6C996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4FA4397-F498-DB22-C864-3027FE5F4243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72" name="Straight Arrow Connector 28">
              <a:extLst>
                <a:ext uri="{FF2B5EF4-FFF2-40B4-BE49-F238E27FC236}">
                  <a16:creationId xmlns:a16="http://schemas.microsoft.com/office/drawing/2014/main" id="{FF9F0EF1-F85F-434C-E08E-96EE8C06F84E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ight Brace 42">
            <a:extLst>
              <a:ext uri="{FF2B5EF4-FFF2-40B4-BE49-F238E27FC236}">
                <a16:creationId xmlns:a16="http://schemas.microsoft.com/office/drawing/2014/main" id="{67645E2D-7B54-E9C8-455A-E397CA3A8BA2}"/>
              </a:ext>
            </a:extLst>
          </p:cNvPr>
          <p:cNvSpPr/>
          <p:nvPr/>
        </p:nvSpPr>
        <p:spPr>
          <a:xfrm rot="5400000">
            <a:off x="8297859" y="4539230"/>
            <a:ext cx="342900" cy="141317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629CE3-3B65-C2ED-23F0-68892A2CF6DE}"/>
              </a:ext>
            </a:extLst>
          </p:cNvPr>
          <p:cNvSpPr txBox="1"/>
          <p:nvPr/>
        </p:nvSpPr>
        <p:spPr>
          <a:xfrm>
            <a:off x="7791897" y="5451050"/>
            <a:ext cx="290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byte-aligned (e.g., 256b)</a:t>
            </a:r>
          </a:p>
        </p:txBody>
      </p:sp>
      <p:grpSp>
        <p:nvGrpSpPr>
          <p:cNvPr id="78" name="Group 59">
            <a:extLst>
              <a:ext uri="{FF2B5EF4-FFF2-40B4-BE49-F238E27FC236}">
                <a16:creationId xmlns:a16="http://schemas.microsoft.com/office/drawing/2014/main" id="{6FADE709-71A1-DA78-BB88-1F1A43406D03}"/>
              </a:ext>
            </a:extLst>
          </p:cNvPr>
          <p:cNvGrpSpPr/>
          <p:nvPr/>
        </p:nvGrpSpPr>
        <p:grpSpPr>
          <a:xfrm>
            <a:off x="7781602" y="3006661"/>
            <a:ext cx="3891460" cy="419931"/>
            <a:chOff x="7834765" y="3009069"/>
            <a:chExt cx="3891460" cy="419931"/>
          </a:xfrm>
        </p:grpSpPr>
        <p:grpSp>
          <p:nvGrpSpPr>
            <p:cNvPr id="79" name="Group 36">
              <a:extLst>
                <a:ext uri="{FF2B5EF4-FFF2-40B4-BE49-F238E27FC236}">
                  <a16:creationId xmlns:a16="http://schemas.microsoft.com/office/drawing/2014/main" id="{D4297447-182B-C958-2BB9-9405D72DCC19}"/>
                </a:ext>
              </a:extLst>
            </p:cNvPr>
            <p:cNvGrpSpPr/>
            <p:nvPr/>
          </p:nvGrpSpPr>
          <p:grpSpPr>
            <a:xfrm>
              <a:off x="7834765" y="3010700"/>
              <a:ext cx="972865" cy="418300"/>
              <a:chOff x="3739857" y="5115350"/>
              <a:chExt cx="1353428" cy="418300"/>
            </a:xfrm>
          </p:grpSpPr>
          <p:sp>
            <p:nvSpPr>
              <p:cNvPr id="92" name="Rectangle 37">
                <a:extLst>
                  <a:ext uri="{FF2B5EF4-FFF2-40B4-BE49-F238E27FC236}">
                    <a16:creationId xmlns:a16="http://schemas.microsoft.com/office/drawing/2014/main" id="{3138506C-B836-CB89-5D62-EA1DE500EB3E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1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38">
                <a:extLst>
                  <a:ext uri="{FF2B5EF4-FFF2-40B4-BE49-F238E27FC236}">
                    <a16:creationId xmlns:a16="http://schemas.microsoft.com/office/drawing/2014/main" id="{766ED84F-3140-9CF5-FFA4-BD0B37277FC4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2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39">
                <a:extLst>
                  <a:ext uri="{FF2B5EF4-FFF2-40B4-BE49-F238E27FC236}">
                    <a16:creationId xmlns:a16="http://schemas.microsoft.com/office/drawing/2014/main" id="{0226BC68-B3E2-9ED8-B90E-628EE8A35381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3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46">
              <a:extLst>
                <a:ext uri="{FF2B5EF4-FFF2-40B4-BE49-F238E27FC236}">
                  <a16:creationId xmlns:a16="http://schemas.microsoft.com/office/drawing/2014/main" id="{0332291E-7121-10B2-954C-2A33CB236421}"/>
                </a:ext>
              </a:extLst>
            </p:cNvPr>
            <p:cNvGrpSpPr/>
            <p:nvPr/>
          </p:nvGrpSpPr>
          <p:grpSpPr>
            <a:xfrm>
              <a:off x="8807630" y="3010700"/>
              <a:ext cx="972865" cy="418300"/>
              <a:chOff x="3739857" y="5115350"/>
              <a:chExt cx="1353428" cy="418300"/>
            </a:xfrm>
          </p:grpSpPr>
          <p:sp>
            <p:nvSpPr>
              <p:cNvPr id="89" name="Rectangle 47">
                <a:extLst>
                  <a:ext uri="{FF2B5EF4-FFF2-40B4-BE49-F238E27FC236}">
                    <a16:creationId xmlns:a16="http://schemas.microsoft.com/office/drawing/2014/main" id="{0BD6BDB3-06CF-A236-2566-812ABE2300D9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4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48">
                <a:extLst>
                  <a:ext uri="{FF2B5EF4-FFF2-40B4-BE49-F238E27FC236}">
                    <a16:creationId xmlns:a16="http://schemas.microsoft.com/office/drawing/2014/main" id="{E10A09E3-4080-11C4-257E-8CED80984C2C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5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49">
                <a:extLst>
                  <a:ext uri="{FF2B5EF4-FFF2-40B4-BE49-F238E27FC236}">
                    <a16:creationId xmlns:a16="http://schemas.microsoft.com/office/drawing/2014/main" id="{FE3EA027-54BA-5E7A-B231-14973B7D653B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6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1" name="Group 51">
              <a:extLst>
                <a:ext uri="{FF2B5EF4-FFF2-40B4-BE49-F238E27FC236}">
                  <a16:creationId xmlns:a16="http://schemas.microsoft.com/office/drawing/2014/main" id="{43B2E656-9478-CD90-94EC-A2108F74775E}"/>
                </a:ext>
              </a:extLst>
            </p:cNvPr>
            <p:cNvGrpSpPr/>
            <p:nvPr/>
          </p:nvGrpSpPr>
          <p:grpSpPr>
            <a:xfrm>
              <a:off x="9780495" y="3009069"/>
              <a:ext cx="972865" cy="418300"/>
              <a:chOff x="3739857" y="5115350"/>
              <a:chExt cx="1353428" cy="418300"/>
            </a:xfrm>
          </p:grpSpPr>
          <p:sp>
            <p:nvSpPr>
              <p:cNvPr id="86" name="Rectangle 52">
                <a:extLst>
                  <a:ext uri="{FF2B5EF4-FFF2-40B4-BE49-F238E27FC236}">
                    <a16:creationId xmlns:a16="http://schemas.microsoft.com/office/drawing/2014/main" id="{394E6A9D-C5A4-C6A7-B85A-8B8B62FAEFCE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7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53">
                <a:extLst>
                  <a:ext uri="{FF2B5EF4-FFF2-40B4-BE49-F238E27FC236}">
                    <a16:creationId xmlns:a16="http://schemas.microsoft.com/office/drawing/2014/main" id="{C4755AB9-CF57-E2EF-348D-FE6758976270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8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54">
                <a:extLst>
                  <a:ext uri="{FF2B5EF4-FFF2-40B4-BE49-F238E27FC236}">
                    <a16:creationId xmlns:a16="http://schemas.microsoft.com/office/drawing/2014/main" id="{BBED35F1-2A6F-2164-6257-CF02964F9B01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1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2" name="Group 55">
              <a:extLst>
                <a:ext uri="{FF2B5EF4-FFF2-40B4-BE49-F238E27FC236}">
                  <a16:creationId xmlns:a16="http://schemas.microsoft.com/office/drawing/2014/main" id="{6A2C4422-1F59-5F26-43F6-7D6E5865DB32}"/>
                </a:ext>
              </a:extLst>
            </p:cNvPr>
            <p:cNvGrpSpPr/>
            <p:nvPr/>
          </p:nvGrpSpPr>
          <p:grpSpPr>
            <a:xfrm>
              <a:off x="10753360" y="3009069"/>
              <a:ext cx="972865" cy="418300"/>
              <a:chOff x="3739857" y="5115350"/>
              <a:chExt cx="1353428" cy="418300"/>
            </a:xfrm>
          </p:grpSpPr>
          <p:sp>
            <p:nvSpPr>
              <p:cNvPr id="83" name="Rectangle 56">
                <a:extLst>
                  <a:ext uri="{FF2B5EF4-FFF2-40B4-BE49-F238E27FC236}">
                    <a16:creationId xmlns:a16="http://schemas.microsoft.com/office/drawing/2014/main" id="{1DC5AB6E-63CC-976C-95A2-C028517461C7}"/>
                  </a:ext>
                </a:extLst>
              </p:cNvPr>
              <p:cNvSpPr/>
              <p:nvPr/>
            </p:nvSpPr>
            <p:spPr>
              <a:xfrm>
                <a:off x="3739857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2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57">
                <a:extLst>
                  <a:ext uri="{FF2B5EF4-FFF2-40B4-BE49-F238E27FC236}">
                    <a16:creationId xmlns:a16="http://schemas.microsoft.com/office/drawing/2014/main" id="{2FC0225C-2220-25CA-E7EB-217B7FE75307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 dirty="0">
                    <a:solidFill>
                      <a:schemeClr val="tx1"/>
                    </a:solidFill>
                  </a:rPr>
                  <a:t>3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58">
                <a:extLst>
                  <a:ext uri="{FF2B5EF4-FFF2-40B4-BE49-F238E27FC236}">
                    <a16:creationId xmlns:a16="http://schemas.microsoft.com/office/drawing/2014/main" id="{D384F47D-4724-1CEB-29BB-D290B77F7954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1200" baseline="-25000">
                    <a:solidFill>
                      <a:schemeClr val="tx1"/>
                    </a:solidFill>
                  </a:rPr>
                  <a:t>4</a:t>
                </a:r>
                <a:endParaRPr lang="en-US" sz="1200" baseline="-250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B5C55331-FF26-4344-FA4C-EFEAB615FFAD}"/>
              </a:ext>
            </a:extLst>
          </p:cNvPr>
          <p:cNvSpPr txBox="1"/>
          <p:nvPr/>
        </p:nvSpPr>
        <p:spPr>
          <a:xfrm>
            <a:off x="7724966" y="2757961"/>
            <a:ext cx="673100" cy="28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64b</a:t>
            </a:r>
          </a:p>
        </p:txBody>
      </p:sp>
      <p:cxnSp>
        <p:nvCxnSpPr>
          <p:cNvPr id="96" name="Straight Arrow Connector 62">
            <a:extLst>
              <a:ext uri="{FF2B5EF4-FFF2-40B4-BE49-F238E27FC236}">
                <a16:creationId xmlns:a16="http://schemas.microsoft.com/office/drawing/2014/main" id="{CB69980C-2B0A-BC1B-962A-B9A8DD749B4E}"/>
              </a:ext>
            </a:extLst>
          </p:cNvPr>
          <p:cNvCxnSpPr>
            <a:cxnSpLocks/>
          </p:cNvCxnSpPr>
          <p:nvPr/>
        </p:nvCxnSpPr>
        <p:spPr>
          <a:xfrm>
            <a:off x="7943746" y="3429000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63">
            <a:extLst>
              <a:ext uri="{FF2B5EF4-FFF2-40B4-BE49-F238E27FC236}">
                <a16:creationId xmlns:a16="http://schemas.microsoft.com/office/drawing/2014/main" id="{6D9A7247-4284-1342-2F2C-D63C5083CF4A}"/>
              </a:ext>
            </a:extLst>
          </p:cNvPr>
          <p:cNvCxnSpPr>
            <a:cxnSpLocks/>
          </p:cNvCxnSpPr>
          <p:nvPr/>
        </p:nvCxnSpPr>
        <p:spPr>
          <a:xfrm>
            <a:off x="8272367" y="3424961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64">
            <a:extLst>
              <a:ext uri="{FF2B5EF4-FFF2-40B4-BE49-F238E27FC236}">
                <a16:creationId xmlns:a16="http://schemas.microsoft.com/office/drawing/2014/main" id="{DA6458A3-CB2B-A022-5D3D-B5B28F3BE248}"/>
              </a:ext>
            </a:extLst>
          </p:cNvPr>
          <p:cNvCxnSpPr>
            <a:cxnSpLocks/>
          </p:cNvCxnSpPr>
          <p:nvPr/>
        </p:nvCxnSpPr>
        <p:spPr>
          <a:xfrm>
            <a:off x="8587990" y="3429000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65">
            <a:extLst>
              <a:ext uri="{FF2B5EF4-FFF2-40B4-BE49-F238E27FC236}">
                <a16:creationId xmlns:a16="http://schemas.microsoft.com/office/drawing/2014/main" id="{47A047EB-219A-974B-6484-C16A19433AFF}"/>
              </a:ext>
            </a:extLst>
          </p:cNvPr>
          <p:cNvCxnSpPr>
            <a:cxnSpLocks/>
          </p:cNvCxnSpPr>
          <p:nvPr/>
        </p:nvCxnSpPr>
        <p:spPr>
          <a:xfrm>
            <a:off x="8916611" y="3424961"/>
            <a:ext cx="0" cy="12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B7DD60C-9478-A470-507B-4854C2724A1E}"/>
              </a:ext>
            </a:extLst>
          </p:cNvPr>
          <p:cNvSpPr txBox="1"/>
          <p:nvPr/>
        </p:nvSpPr>
        <p:spPr>
          <a:xfrm>
            <a:off x="7318220" y="4649924"/>
            <a:ext cx="232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[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| r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</a:t>
            </a:r>
            <a:r>
              <a:rPr lang="en-US" dirty="0">
                <a:solidFill>
                  <a:srgbClr val="FF0000"/>
                </a:solidFill>
              </a:rPr>
              <a:t>| r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| r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baseline="-25000" dirty="0"/>
              <a:t> 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6410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0F56-3DC9-80CB-BEBB-AB1D42E83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E3DA0-42C0-839F-CCB2-142F0889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Preserved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DD1232-8EC1-CDCF-2238-21A2ABD9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AD1983-C2A6-C9D3-3CDD-1F0BC62C6CFD}"/>
                  </a:ext>
                </a:extLst>
              </p:cNvPr>
              <p:cNvSpPr txBox="1"/>
              <p:nvPr/>
            </p:nvSpPr>
            <p:spPr>
              <a:xfrm>
                <a:off x="552450" y="2057956"/>
                <a:ext cx="8534400" cy="2599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sz="1600" b="1" dirty="0"/>
                  <a:t>Security Preserved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목표 보안 강도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400" dirty="0"/>
                  <a:t>)</a:t>
                </a:r>
                <a:r>
                  <a:rPr lang="ko-KR" altLang="en-US" sz="1400" dirty="0"/>
                  <a:t>에 대한 이론적 충족 조건 검증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Sponge Generic Security Bound </a:t>
                </a:r>
                <a:r>
                  <a:rPr lang="ko-KR" altLang="en-US" sz="1400" dirty="0"/>
                  <a:t>공식 적용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Security Level(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400" dirty="0"/>
                  <a:t>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𝑐𝑎𝑝𝑎𝑐𝑖𝑡𝑦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𝑏𝑖𝑡𝑠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 ,  </m:t>
                            </m:r>
                            <m:f>
                              <m:f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𝑂𝑢𝑡𝑝𝑢𝑡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𝐵𝑖𝑡𝑠</m:t>
                                </m:r>
                              </m:num>
                              <m:den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, 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c : capacity element </a:t>
                </a:r>
                <a:r>
                  <a:rPr lang="ko-KR" altLang="en-US" sz="1400" dirty="0"/>
                  <a:t>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altLang="ko-KR" sz="1400" b="0" dirty="0">
                    <a:ea typeface="Cambria Math" panose="02040503050406030204" pitchFamily="18" charset="0"/>
                  </a:rPr>
                  <a:t>Field Element Size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254 ~ 255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사이의 값</a:t>
                </a:r>
                <a:r>
                  <a:rPr lang="en-US" altLang="ko-KR" sz="1400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AD1983-C2A6-C9D3-3CDD-1F0BC62C6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2057956"/>
                <a:ext cx="8534400" cy="2599943"/>
              </a:xfrm>
              <a:prstGeom prst="rect">
                <a:avLst/>
              </a:prstGeom>
              <a:blipFill>
                <a:blip r:embed="rId3"/>
                <a:stretch>
                  <a:fillRect l="-286" t="-704" b="-1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DF53F2-0732-8B48-8AFC-824D831213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54" b="82205"/>
          <a:stretch>
            <a:fillRect/>
          </a:stretch>
        </p:blipFill>
        <p:spPr>
          <a:xfrm>
            <a:off x="924560" y="4822256"/>
            <a:ext cx="3807460" cy="45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7C0B-DEDE-86CE-6C86-FCE0BD85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58801-C247-A9BD-3F2F-0772E4C6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Preserved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666013-EA61-DCD1-D9C4-F19711BF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89073-4E01-A418-731A-DA7703CC35AA}"/>
              </a:ext>
            </a:extLst>
          </p:cNvPr>
          <p:cNvSpPr txBox="1"/>
          <p:nvPr/>
        </p:nvSpPr>
        <p:spPr>
          <a:xfrm>
            <a:off x="3798277" y="2558179"/>
            <a:ext cx="6122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Keccak </a:t>
            </a:r>
            <a:r>
              <a:rPr lang="ko-KR" altLang="en-US" sz="1400" dirty="0"/>
              <a:t>설계팀</a:t>
            </a:r>
            <a:r>
              <a:rPr lang="en-US" altLang="ko-KR" sz="1400" dirty="0"/>
              <a:t>(Guido Bertoni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이 제시한 스펀지 구조의 안전성 정리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모든 공격</a:t>
            </a:r>
            <a:r>
              <a:rPr lang="en-US" altLang="ko-KR" sz="1400" dirty="0"/>
              <a:t>(</a:t>
            </a:r>
            <a:r>
              <a:rPr lang="ko-KR" altLang="en-US" sz="1400" dirty="0"/>
              <a:t>충돌</a:t>
            </a:r>
            <a:r>
              <a:rPr lang="en-US" altLang="ko-KR" sz="1400" dirty="0"/>
              <a:t>, </a:t>
            </a:r>
            <a:r>
              <a:rPr lang="ko-KR" altLang="en-US" sz="1400" dirty="0"/>
              <a:t>역상 등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저항력은 </a:t>
            </a:r>
            <a:r>
              <a:rPr lang="en-US" altLang="ko-KR" sz="1400" dirty="0"/>
              <a:t>Capacity </a:t>
            </a:r>
            <a:r>
              <a:rPr lang="ko-KR" altLang="en-US" sz="1400" dirty="0"/>
              <a:t>크기에 의해 결정되기 때문에 </a:t>
            </a:r>
            <a:r>
              <a:rPr lang="en-US" altLang="ko-KR" sz="1400" dirty="0"/>
              <a:t>Capacity </a:t>
            </a:r>
            <a:r>
              <a:rPr lang="ko-KR" altLang="en-US" sz="1400" dirty="0"/>
              <a:t>설정이 보안성에 중요한 역할</a:t>
            </a:r>
            <a:endParaRPr lang="en-US" altLang="ko-KR" sz="1400" dirty="0"/>
          </a:p>
        </p:txBody>
      </p:sp>
      <p:pic>
        <p:nvPicPr>
          <p:cNvPr id="5" name="그림 4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3E13F-B4B8-0F76-C95A-4D27120E3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66" y="2496367"/>
            <a:ext cx="25146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8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7443-396D-F433-4DA6-B78CF24A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Preserved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6B37F-4E2C-228E-0361-04577387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9" name="그림 18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B88C82-EC77-7945-1F08-B99C0C83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42"/>
          <a:stretch>
            <a:fillRect/>
          </a:stretch>
        </p:blipFill>
        <p:spPr>
          <a:xfrm>
            <a:off x="147399" y="2422327"/>
            <a:ext cx="7385240" cy="2362172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51C0EDF4-987A-6BCB-C335-CBC31C34F647}"/>
              </a:ext>
            </a:extLst>
          </p:cNvPr>
          <p:cNvGrpSpPr/>
          <p:nvPr/>
        </p:nvGrpSpPr>
        <p:grpSpPr>
          <a:xfrm>
            <a:off x="6994839" y="2422327"/>
            <a:ext cx="4639401" cy="2263367"/>
            <a:chOff x="7292609" y="2626759"/>
            <a:chExt cx="4639401" cy="226336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200384-522B-E181-3F83-61358BC00A1E}"/>
                </a:ext>
              </a:extLst>
            </p:cNvPr>
            <p:cNvSpPr txBox="1"/>
            <p:nvPr/>
          </p:nvSpPr>
          <p:spPr>
            <a:xfrm>
              <a:off x="7292609" y="2626759"/>
              <a:ext cx="4639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Collision</a:t>
              </a:r>
              <a:r>
                <a:rPr lang="ko-KR" altLang="en-US" sz="1400" dirty="0"/>
                <a:t>을 일으키려면 내부 </a:t>
              </a:r>
              <a:r>
                <a:rPr lang="en-US" altLang="ko-KR" sz="1400" dirty="0"/>
                <a:t>State </a:t>
              </a:r>
              <a:r>
                <a:rPr lang="ko-KR" altLang="en-US" sz="1400" dirty="0"/>
                <a:t>전체를 일치 </a:t>
              </a:r>
              <a:r>
                <a:rPr lang="ko-KR" altLang="en-US" sz="1400" dirty="0" err="1"/>
                <a:t>시켜야함</a:t>
              </a:r>
              <a:endParaRPr lang="en-US" altLang="ko-KR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81A1AB-4A46-D49D-3F2D-39F830715D2B}"/>
                </a:ext>
              </a:extLst>
            </p:cNvPr>
            <p:cNvSpPr txBox="1"/>
            <p:nvPr/>
          </p:nvSpPr>
          <p:spPr>
            <a:xfrm>
              <a:off x="7292609" y="3598309"/>
              <a:ext cx="4639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무작위 호출을 통해 우연한 일치를 기대</a:t>
              </a:r>
              <a:endParaRPr lang="en-US" altLang="ko-KR" sz="1400" dirty="0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673D7CAA-F1C1-094E-6CF7-5DEDDAAA91E6}"/>
                </a:ext>
              </a:extLst>
            </p:cNvPr>
            <p:cNvCxnSpPr>
              <a:stCxn id="24" idx="2"/>
              <a:endCxn id="26" idx="0"/>
            </p:cNvCxnSpPr>
            <p:nvPr/>
          </p:nvCxnSpPr>
          <p:spPr>
            <a:xfrm>
              <a:off x="9612310" y="2934536"/>
              <a:ext cx="0" cy="6637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D54A81D-64A2-BFB2-93AB-9F5124D50EF5}"/>
                    </a:ext>
                  </a:extLst>
                </p:cNvPr>
                <p:cNvSpPr txBox="1"/>
                <p:nvPr/>
              </p:nvSpPr>
              <p:spPr>
                <a:xfrm>
                  <a:off x="7292609" y="4491555"/>
                  <a:ext cx="4639401" cy="3985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400" dirty="0"/>
                    <a:t>Birthday Attack(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𝑐𝑎𝑝𝑎𝑐𝑖𝑡𝑦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a14:m>
                  <a:r>
                    <a:rPr lang="en-US" altLang="ko-KR" sz="1400" dirty="0"/>
                    <a:t> )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D54A81D-64A2-BFB2-93AB-9F5124D50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609" y="4491555"/>
                  <a:ext cx="4639401" cy="398571"/>
                </a:xfrm>
                <a:prstGeom prst="rect">
                  <a:avLst/>
                </a:prstGeom>
                <a:blipFill>
                  <a:blip r:embed="rId3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5B97756-CF18-C718-8659-54EB84D26B1D}"/>
                </a:ext>
              </a:extLst>
            </p:cNvPr>
            <p:cNvCxnSpPr>
              <a:cxnSpLocks/>
              <a:stCxn id="26" idx="2"/>
              <a:endCxn id="31" idx="0"/>
            </p:cNvCxnSpPr>
            <p:nvPr/>
          </p:nvCxnSpPr>
          <p:spPr>
            <a:xfrm>
              <a:off x="9612310" y="3906086"/>
              <a:ext cx="0" cy="5854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77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73B6-BCD2-2BDC-3BC1-A3DD3B3C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8D3B8-3357-D195-A67C-0A5BA239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Security Preserved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E5672-A72B-2B89-1646-90CF106D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CFDE18-3E58-50F1-BC8D-3755C53726B8}"/>
                  </a:ext>
                </a:extLst>
              </p:cNvPr>
              <p:cNvSpPr txBox="1"/>
              <p:nvPr/>
            </p:nvSpPr>
            <p:spPr>
              <a:xfrm>
                <a:off x="1435784" y="1783645"/>
                <a:ext cx="7247792" cy="393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해시 함수 무력화</a:t>
                </a:r>
                <a:r>
                  <a:rPr lang="en-US" altLang="ko-KR" sz="1400" dirty="0"/>
                  <a:t>(Collision Attack </a:t>
                </a:r>
                <a:r>
                  <a:rPr lang="ko-KR" altLang="en-US" sz="1400" dirty="0"/>
                  <a:t>등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에 요구되는 계산 복잡도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𝑐𝑎𝑝𝑎𝑐𝑖𝑡𝑦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𝑏𝑖𝑡𝑠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목표 보안 레벨에 따른 공격자의 필요 연산 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:</a:t>
                </a:r>
                <a:r>
                  <a:rPr lang="ko-KR" altLang="en-US" sz="1400" dirty="0"/>
                  <a:t> 목표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보안 레벨</a:t>
                </a:r>
                <a:r>
                  <a:rPr lang="en-US" altLang="ko-KR" sz="1400" dirty="0"/>
                  <a:t>) </a:t>
                </a:r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𝑐𝑎𝑝𝑎𝑐𝑖𝑡𝑦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𝑐𝑎𝑝𝑎𝑐𝑖𝑡𝑦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𝑐𝑎𝑝𝑎𝑐𝑖𝑡𝑦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 ≥2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이 때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𝑐𝑎𝑝𝑎𝑐𝑖𝑡𝑦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𝑐𝑎𝑝𝑎𝑐𝑖𝑡𝑦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𝑒𝑙𝑒𝑚𝑒𝑛𝑡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수,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𝐹𝑖𝑒𝑙𝑑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크기)</m:t>
                    </m:r>
                  </m:oMath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)≥2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CFDE18-3E58-50F1-BC8D-3755C5372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84" y="1783645"/>
                <a:ext cx="7247792" cy="3937040"/>
              </a:xfrm>
              <a:prstGeom prst="rect">
                <a:avLst/>
              </a:prstGeom>
              <a:blipFill>
                <a:blip r:embed="rId3"/>
                <a:stretch>
                  <a:fillRect l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9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992B6-08F6-8DF6-7185-46B27C9D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4DEB-09AB-71FE-06AF-1782CE70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Binary Utilization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1FB6D-EF13-CC6E-BFB1-1FF11384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A605B-2D5A-3978-5C01-9EDE34198504}"/>
                  </a:ext>
                </a:extLst>
              </p:cNvPr>
              <p:cNvSpPr txBox="1"/>
              <p:nvPr/>
            </p:nvSpPr>
            <p:spPr>
              <a:xfrm>
                <a:off x="883920" y="2252266"/>
                <a:ext cx="5775991" cy="2189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2.    Binary</a:t>
                </a:r>
                <a:r>
                  <a:rPr lang="ko-KR" altLang="en-US" sz="1600" b="1" dirty="0"/>
                  <a:t> </a:t>
                </a:r>
                <a:r>
                  <a:rPr lang="en-US" altLang="ko-KR" sz="1600" b="1" dirty="0"/>
                  <a:t>Utilization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256-bit </a:t>
                </a:r>
                <a:r>
                  <a:rPr lang="ko-KR" altLang="en-US" sz="1400" dirty="0"/>
                  <a:t>데이터 중 유효 정보량의 비중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Utilization =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 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𝑉𝑎𝑟𝑖𝑎𝑏𝑙𝑒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𝑒𝑛𝑡𝑟𝑜𝑝𝑦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𝑇𝑜𝑇𝑎𝑙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𝑂𝑢𝑡𝑝𝑢𝑡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𝐵𝑖𝑡𝑠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(256)</m:t>
                        </m:r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)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결정론적 비트</a:t>
                </a:r>
                <a:r>
                  <a:rPr lang="en-US" altLang="ko-KR" sz="1400" dirty="0"/>
                  <a:t>(Padding </a:t>
                </a:r>
                <a:r>
                  <a:rPr lang="ko-KR" altLang="en-US" sz="1400" dirty="0"/>
                  <a:t>등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엔트로피 제외</a:t>
                </a: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NIST SP 800-22 </a:t>
                </a:r>
                <a:r>
                  <a:rPr lang="ko-KR" altLang="en-US" sz="1400" dirty="0"/>
                  <a:t>표준 기반 무작위성 검증 가능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A605B-2D5A-3978-5C01-9EDE34198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2252266"/>
                <a:ext cx="5775991" cy="2189830"/>
              </a:xfrm>
              <a:prstGeom prst="rect">
                <a:avLst/>
              </a:prstGeom>
              <a:blipFill>
                <a:blip r:embed="rId3"/>
                <a:stretch>
                  <a:fillRect l="-527" t="-833" b="-19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A82DF8-84D3-BD61-CE17-A55467B6B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020" y="1863089"/>
            <a:ext cx="2997020" cy="38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0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AAE0-C02A-9625-FAC8-A3E08A06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467CE-51DF-1311-01C5-68CE5266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Compatibility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B3EE4-2BA7-10C1-F2E3-BC80910B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DDD21-85F0-CE30-7565-477AF613E4FC}"/>
              </a:ext>
            </a:extLst>
          </p:cNvPr>
          <p:cNvSpPr txBox="1"/>
          <p:nvPr/>
        </p:nvSpPr>
        <p:spPr>
          <a:xfrm>
            <a:off x="883920" y="1486456"/>
            <a:ext cx="98602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3.  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/>
              <a:t>블록체인에서 추가 코드를 실행하지 않고 표준 규격에 일치하는가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EVM </a:t>
            </a:r>
            <a:r>
              <a:rPr lang="ko-KR" altLang="en-US" sz="1400" dirty="0"/>
              <a:t>기반 가스 소모량 분석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EVM(Ethereum Virtual Machine) Gas : EVM</a:t>
            </a:r>
            <a:r>
              <a:rPr lang="ko-KR" altLang="en-US" sz="1400" dirty="0"/>
              <a:t>에서 덧셈</a:t>
            </a:r>
            <a:r>
              <a:rPr lang="en-US" altLang="ko-KR" sz="1400" dirty="0"/>
              <a:t>, </a:t>
            </a:r>
            <a:r>
              <a:rPr lang="ko-KR" altLang="en-US" sz="1400" dirty="0"/>
              <a:t>곱셈</a:t>
            </a:r>
            <a:r>
              <a:rPr lang="en-US" altLang="ko-KR" sz="1400" dirty="0"/>
              <a:t> </a:t>
            </a:r>
            <a:r>
              <a:rPr lang="ko-KR" altLang="en-US" sz="1400" dirty="0"/>
              <a:t>등 연산 수행 시 지불해야 하는 </a:t>
            </a:r>
            <a:r>
              <a:rPr lang="en-US" altLang="ko-KR" sz="1400" dirty="0"/>
              <a:t>Fee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10587EB-52D1-22EA-E0E0-7162268B9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827109"/>
              </p:ext>
            </p:extLst>
          </p:nvPr>
        </p:nvGraphicFramePr>
        <p:xfrm>
          <a:off x="718888" y="3547696"/>
          <a:ext cx="9648122" cy="1020108"/>
        </p:xfrm>
        <a:graphic>
          <a:graphicData uri="http://schemas.openxmlformats.org/drawingml/2006/table">
            <a:tbl>
              <a:tblPr/>
              <a:tblGrid>
                <a:gridCol w="2412030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412030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412030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  <a:gridCol w="1206016">
                  <a:extLst>
                    <a:ext uri="{9D8B030D-6E8A-4147-A177-3AD203B41FA5}">
                      <a16:colId xmlns:a16="http://schemas.microsoft.com/office/drawing/2014/main" val="3394583134"/>
                    </a:ext>
                  </a:extLst>
                </a:gridCol>
                <a:gridCol w="1206016">
                  <a:extLst>
                    <a:ext uri="{9D8B030D-6E8A-4147-A177-3AD203B41FA5}">
                      <a16:colId xmlns:a16="http://schemas.microsoft.com/office/drawing/2014/main" val="314576126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Capacity-Safe Canonical Export (Sol1)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In-Circuit Cross-Lane Entropy Repacking(Sol2)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Byte-Native Poseidon Configuration(Sol3)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16490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128-bit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68499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EVM Gas(</a:t>
                      </a:r>
                      <a:r>
                        <a:rPr lang="ko-KR" altLang="en-US" sz="1200" b="0" i="0" dirty="0">
                          <a:latin typeface="+mj-lt"/>
                        </a:rPr>
                        <a:t>이론 추정</a:t>
                      </a:r>
                      <a:r>
                        <a:rPr lang="en-US" altLang="ko-KR" sz="1200" b="0" i="0" dirty="0">
                          <a:latin typeface="+mj-lt"/>
                        </a:rPr>
                        <a:t>)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34832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34912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75368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48344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22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9431-235A-BF3D-78BD-33912DD4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B0C2E-5D12-A348-0E28-C713C8F3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094C6B-0865-E3DF-883B-471041B12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CC344-8C66-7028-CC67-7EDF0B1751DA}"/>
              </a:ext>
            </a:extLst>
          </p:cNvPr>
          <p:cNvSpPr txBox="1"/>
          <p:nvPr/>
        </p:nvSpPr>
        <p:spPr>
          <a:xfrm>
            <a:off x="883920" y="2217976"/>
            <a:ext cx="9160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4.    Implementation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ZK</a:t>
            </a:r>
            <a:r>
              <a:rPr lang="ko-KR" altLang="en-US" sz="1400" dirty="0"/>
              <a:t> 회로 생성 시 소모되는 자원의 양 측정</a:t>
            </a: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 R1CS Constraints, PLONK Gates/Rows </a:t>
            </a:r>
            <a:r>
              <a:rPr lang="ko-KR" altLang="en-US" sz="1400" dirty="0"/>
              <a:t>등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064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27C3-F0EA-4FD3-BB4D-147C5F1E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25E3B-ABBC-24C9-61EC-2CC9A03F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315EB-BA0B-71DB-DCE8-1DDB723B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106C2-0065-18D6-3718-AAF4F990DC00}"/>
              </a:ext>
            </a:extLst>
          </p:cNvPr>
          <p:cNvSpPr txBox="1"/>
          <p:nvPr/>
        </p:nvSpPr>
        <p:spPr>
          <a:xfrm>
            <a:off x="883920" y="1852216"/>
            <a:ext cx="91604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증명 시스템 </a:t>
            </a:r>
            <a:r>
              <a:rPr lang="en-US" altLang="ko-KR" sz="1400" dirty="0"/>
              <a:t>: </a:t>
            </a:r>
            <a:r>
              <a:rPr lang="ko-KR" altLang="en-US" sz="1400" dirty="0"/>
              <a:t>특정 계산 로직을 수학적 연산 체계로 전환하고 증명 생성 및 검증하는 알고리즘 체계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zk</a:t>
            </a:r>
            <a:r>
              <a:rPr lang="en-US" altLang="ko-KR" sz="1400" dirty="0"/>
              <a:t>-SNARK </a:t>
            </a:r>
            <a:r>
              <a:rPr lang="ko-KR" altLang="en-US" sz="1400" dirty="0"/>
              <a:t>내의 세부 모델 </a:t>
            </a:r>
            <a:r>
              <a:rPr lang="en-US" altLang="ko-KR" sz="1400" dirty="0"/>
              <a:t>: Groth16, PLONK, PLONK-LUT </a:t>
            </a:r>
            <a:r>
              <a:rPr lang="ko-KR" altLang="en-US" sz="1400" dirty="0"/>
              <a:t>등</a:t>
            </a:r>
            <a:endParaRPr lang="en-US" altLang="ko-KR" sz="1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DD2802-5FE9-38B8-5181-6C05FC866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782569"/>
              </p:ext>
            </p:extLst>
          </p:nvPr>
        </p:nvGraphicFramePr>
        <p:xfrm>
          <a:off x="1138532" y="3446345"/>
          <a:ext cx="8285428" cy="1428672"/>
        </p:xfrm>
        <a:graphic>
          <a:graphicData uri="http://schemas.openxmlformats.org/drawingml/2006/table">
            <a:tbl>
              <a:tblPr/>
              <a:tblGrid>
                <a:gridCol w="2071357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071357">
                  <a:extLst>
                    <a:ext uri="{9D8B030D-6E8A-4147-A177-3AD203B41FA5}">
                      <a16:colId xmlns:a16="http://schemas.microsoft.com/office/drawing/2014/main" val="3668034724"/>
                    </a:ext>
                  </a:extLst>
                </a:gridCol>
                <a:gridCol w="2071357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071357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</a:tblGrid>
              <a:tr h="1649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Groth16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PLONK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PLONK-LUT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 err="1"/>
                        <a:t>Arithmetization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R1CS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 err="1">
                          <a:latin typeface="+mj-lt"/>
                        </a:rPr>
                        <a:t>Plonkish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 err="1">
                          <a:latin typeface="+mj-lt"/>
                        </a:rPr>
                        <a:t>Plonkish</a:t>
                      </a:r>
                      <a:r>
                        <a:rPr lang="en-US" altLang="ko-KR" sz="1200" b="0" i="0" dirty="0">
                          <a:latin typeface="+mj-lt"/>
                        </a:rPr>
                        <a:t> + LUT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Trusted Setup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Per-circuit (</a:t>
                      </a:r>
                      <a:r>
                        <a:rPr lang="ko-KR" altLang="en-US" sz="1200" b="0" i="0" dirty="0">
                          <a:latin typeface="+mj-lt"/>
                        </a:rPr>
                        <a:t>고정형</a:t>
                      </a:r>
                      <a:r>
                        <a:rPr lang="en-US" altLang="ko-KR" sz="1200" b="0" i="0" dirty="0">
                          <a:latin typeface="+mj-lt"/>
                        </a:rPr>
                        <a:t>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Universal (</a:t>
                      </a:r>
                      <a:r>
                        <a:rPr lang="ko-KR" altLang="en-US" sz="1200" b="0" i="0" dirty="0">
                          <a:latin typeface="+mj-lt"/>
                        </a:rPr>
                        <a:t>범용</a:t>
                      </a:r>
                      <a:r>
                        <a:rPr lang="en-US" altLang="ko-KR" sz="1200" b="0" i="0" dirty="0">
                          <a:latin typeface="+mj-lt"/>
                        </a:rPr>
                        <a:t>/</a:t>
                      </a:r>
                      <a:r>
                        <a:rPr lang="ko-KR" altLang="en-US" sz="1200" b="0" i="0" dirty="0">
                          <a:latin typeface="+mj-lt"/>
                        </a:rPr>
                        <a:t>가변형</a:t>
                      </a:r>
                      <a:r>
                        <a:rPr lang="en-US" altLang="ko-KR" sz="1200" b="0" i="0" dirty="0">
                          <a:latin typeface="+mj-lt"/>
                        </a:rPr>
                        <a:t>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Universal (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범용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가변형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5911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Bitwise </a:t>
                      </a:r>
                      <a:r>
                        <a:rPr lang="ko-KR" altLang="en-US" sz="1200" dirty="0"/>
                        <a:t>연산</a:t>
                      </a: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비용이 가장 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927832"/>
                  </a:ext>
                </a:extLst>
              </a:tr>
              <a:tr h="28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Proof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매우 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3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79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D7F-5EFB-68AA-CD18-799FCB7C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32E5D-A891-936F-4ACF-791C444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1421B-00D1-AE47-21F1-F8A2F7AA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A0E130-12A5-D09F-0495-FA043AA6E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688741"/>
              </p:ext>
            </p:extLst>
          </p:nvPr>
        </p:nvGraphicFramePr>
        <p:xfrm>
          <a:off x="570298" y="3056206"/>
          <a:ext cx="10745402" cy="2002363"/>
        </p:xfrm>
        <a:graphic>
          <a:graphicData uri="http://schemas.openxmlformats.org/drawingml/2006/table">
            <a:tbl>
              <a:tblPr/>
              <a:tblGrid>
                <a:gridCol w="2686350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394583134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145761262"/>
                    </a:ext>
                  </a:extLst>
                </a:gridCol>
              </a:tblGrid>
              <a:tr h="49671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Capacity-Safe Canonical Export (Sol1)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In-Circuit Cross-Lane Entropy Repacking(Sol2)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Byte-Native Poseidon Configuration</a:t>
                      </a:r>
                    </a:p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(Sol3)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29802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128-bit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68499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예상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906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83121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측정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517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1030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1092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1460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763264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PLONK(Rows)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463012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PLONK-LUT(Rows)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172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204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764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364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12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9BA2BA-3D50-110E-BA64-5480F0446BCB}"/>
              </a:ext>
            </a:extLst>
          </p:cNvPr>
          <p:cNvSpPr txBox="1"/>
          <p:nvPr/>
        </p:nvSpPr>
        <p:spPr>
          <a:xfrm>
            <a:off x="678180" y="1847854"/>
            <a:ext cx="9160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예상 </a:t>
            </a:r>
            <a:r>
              <a:rPr lang="en-US" altLang="ko-KR" sz="1400" dirty="0"/>
              <a:t>Groth16(R1CS), PLONK(Rows), PLONK-LUT(Rows) - </a:t>
            </a:r>
            <a:r>
              <a:rPr lang="ko-KR" altLang="en-US" sz="1400" dirty="0"/>
              <a:t>순수 이론 계산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측정 </a:t>
            </a:r>
            <a:r>
              <a:rPr lang="en-US" altLang="ko-KR" sz="1400" dirty="0"/>
              <a:t>Groth16(R1CS) –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 </a:t>
            </a:r>
            <a:r>
              <a:rPr lang="ko-KR" altLang="en-US" sz="1400" dirty="0"/>
              <a:t>컴파일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snarkjs</a:t>
            </a:r>
            <a:r>
              <a:rPr lang="en-US" altLang="ko-KR" sz="1400" dirty="0"/>
              <a:t> R1CS </a:t>
            </a:r>
            <a:r>
              <a:rPr lang="ko-KR" altLang="en-US" sz="1400" dirty="0"/>
              <a:t>파일 측정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9407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44342</TotalTime>
  <Words>733</Words>
  <Application>Microsoft Office PowerPoint</Application>
  <PresentationFormat>와이드스크린</PresentationFormat>
  <Paragraphs>227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Cambria Math</vt:lpstr>
      <vt:lpstr>Office 테마</vt:lpstr>
      <vt:lpstr>Poseidon 평가 지표 측정</vt:lpstr>
      <vt:lpstr>지난 피드백</vt:lpstr>
      <vt:lpstr>비교 분석</vt:lpstr>
      <vt:lpstr>Solutions</vt:lpstr>
      <vt:lpstr>Security Preserved</vt:lpstr>
      <vt:lpstr>Security Preserved</vt:lpstr>
      <vt:lpstr>Security Preserved</vt:lpstr>
      <vt:lpstr>Security Preserved</vt:lpstr>
      <vt:lpstr>Binary Utilization</vt:lpstr>
      <vt:lpstr>Compatibility</vt:lpstr>
      <vt:lpstr>Implementation Cost</vt:lpstr>
      <vt:lpstr>Implementation Cost</vt:lpstr>
      <vt:lpstr>Implementation Cost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2167</cp:revision>
  <dcterms:created xsi:type="dcterms:W3CDTF">2023-03-06T16:32:37Z</dcterms:created>
  <dcterms:modified xsi:type="dcterms:W3CDTF">2026-03-12T05:43:27Z</dcterms:modified>
</cp:coreProperties>
</file>