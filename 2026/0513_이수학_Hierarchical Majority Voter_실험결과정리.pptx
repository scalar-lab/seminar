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23"/>
  </p:notesMasterIdLst>
  <p:sldIdLst>
    <p:sldId id="256" r:id="rId2"/>
    <p:sldId id="350" r:id="rId3"/>
    <p:sldId id="372" r:id="rId4"/>
    <p:sldId id="345" r:id="rId5"/>
    <p:sldId id="363" r:id="rId6"/>
    <p:sldId id="358" r:id="rId7"/>
    <p:sldId id="352" r:id="rId8"/>
    <p:sldId id="356" r:id="rId9"/>
    <p:sldId id="357" r:id="rId10"/>
    <p:sldId id="370" r:id="rId11"/>
    <p:sldId id="334" r:id="rId12"/>
    <p:sldId id="354" r:id="rId13"/>
    <p:sldId id="360" r:id="rId14"/>
    <p:sldId id="361" r:id="rId15"/>
    <p:sldId id="362" r:id="rId16"/>
    <p:sldId id="368" r:id="rId17"/>
    <p:sldId id="364" r:id="rId18"/>
    <p:sldId id="369" r:id="rId19"/>
    <p:sldId id="365" r:id="rId20"/>
    <p:sldId id="367" r:id="rId21"/>
    <p:sldId id="36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80650" autoAdjust="0"/>
  </p:normalViewPr>
  <p:slideViewPr>
    <p:cSldViewPr snapToGrid="0">
      <p:cViewPr varScale="1">
        <p:scale>
          <a:sx n="129" d="100"/>
          <a:sy n="129" d="100"/>
        </p:scale>
        <p:origin x="1542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저는 오늘 </a:t>
            </a:r>
            <a:r>
              <a:rPr kumimoji="1" lang="en-US" altLang="ko-KR" dirty="0"/>
              <a:t>Hierarchical Majority Voter </a:t>
            </a:r>
            <a:r>
              <a:rPr kumimoji="1" lang="ko-KR" altLang="en-US" dirty="0"/>
              <a:t>관련되어 어떤 실험들을 설계하고 진행하고 있는지</a:t>
            </a:r>
            <a:r>
              <a:rPr kumimoji="1" lang="en-US" altLang="ko-KR" dirty="0"/>
              <a:t>, </a:t>
            </a:r>
            <a:r>
              <a:rPr kumimoji="1" lang="ko-KR" altLang="en-US" dirty="0"/>
              <a:t>그리고 그 결과에 대한 공유와 앞으로는 어떤 실험을 통해서 방향성을 잡아갈 것인지에 대해서 말씀드리려고 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64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B146F-243C-DD73-A0C1-386D6D001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4A424A-E404-E007-B932-9DC6180AB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BE99E-A8A8-79EF-5E8D-12FB0DA8F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먼저 실험은 크게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가지 분류로 진행하려고 합니다</a:t>
            </a:r>
            <a:r>
              <a:rPr kumimoji="1" lang="en-US" altLang="ko-KR" dirty="0"/>
              <a:t>.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하나는 </a:t>
            </a:r>
            <a:r>
              <a:rPr kumimoji="1" lang="ko-KR" altLang="en-US" dirty="0" err="1"/>
              <a:t>인퍼런스나</a:t>
            </a:r>
            <a:r>
              <a:rPr kumimoji="1" lang="ko-KR" altLang="en-US" dirty="0"/>
              <a:t> 트레이닝에 </a:t>
            </a:r>
            <a:r>
              <a:rPr kumimoji="1" lang="en-US" altLang="ko-KR" dirty="0"/>
              <a:t>Hierarchical Majority Voter</a:t>
            </a:r>
            <a:r>
              <a:rPr kumimoji="1" lang="ko-KR" altLang="en-US" dirty="0"/>
              <a:t>를 다양한 방법으로 적용하여 그 결과를 확인하는 것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하나는 </a:t>
            </a:r>
            <a:r>
              <a:rPr kumimoji="1" lang="en-US" altLang="ko-KR" dirty="0"/>
              <a:t>Hierarchical Majority Voter</a:t>
            </a:r>
            <a:r>
              <a:rPr kumimoji="1" lang="ko-KR" altLang="en-US" dirty="0"/>
              <a:t>를 어떻게 설계해야 좋은 결과를 뽑아낼 수 있을지 확인하기 위해 분포에 대한 분석을 진행하는 과정으로 구성하였습니다</a:t>
            </a:r>
            <a:r>
              <a:rPr kumimoji="1" lang="en-US" altLang="ko-KR" dirty="0"/>
              <a:t>.</a:t>
            </a: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3CB2A9-9B11-7852-4538-24299D233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072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F947-C155-284B-F1B7-791DE1C44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E9B120-43BB-7172-69B4-287748210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D1F4A-8F54-D6D5-AA03-05386AF10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먼저 실험은 크게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가지 분류로 진행하려고 합니다</a:t>
            </a:r>
            <a:r>
              <a:rPr kumimoji="1" lang="en-US" altLang="ko-KR" dirty="0"/>
              <a:t>.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하나는 </a:t>
            </a:r>
            <a:r>
              <a:rPr kumimoji="1" lang="ko-KR" altLang="en-US" dirty="0" err="1"/>
              <a:t>인퍼런스나</a:t>
            </a:r>
            <a:r>
              <a:rPr kumimoji="1" lang="ko-KR" altLang="en-US" dirty="0"/>
              <a:t> 트레이닝에 </a:t>
            </a:r>
            <a:r>
              <a:rPr kumimoji="1" lang="en-US" altLang="ko-KR" dirty="0"/>
              <a:t>Hierarchical Majority Voter</a:t>
            </a:r>
            <a:r>
              <a:rPr kumimoji="1" lang="ko-KR" altLang="en-US" dirty="0"/>
              <a:t>를 다양한 방법으로 적용하여 그 결과를 확인하는 것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하나는 </a:t>
            </a:r>
            <a:r>
              <a:rPr kumimoji="1" lang="en-US" altLang="ko-KR" dirty="0"/>
              <a:t>Hierarchical Majority Voter</a:t>
            </a:r>
            <a:r>
              <a:rPr kumimoji="1" lang="ko-KR" altLang="en-US" dirty="0"/>
              <a:t>를 어떻게 설계해야 좋은 결과를 뽑아낼 수 있을지 확인하기 위해 분포에 대한 분석을 진행하는 과정으로 구성하였습니다</a:t>
            </a:r>
            <a:r>
              <a:rPr kumimoji="1" lang="en-US" altLang="ko-KR" dirty="0"/>
              <a:t>.</a:t>
            </a:r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7C3EF7-DD54-F5C8-4504-654BFCE69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73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11510-44AD-79EC-A52F-41D93950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236192-BDCF-8B62-DDB6-F04255F6D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1A2E00-0406-BA86-FDA0-B26D991A5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가장 먼저 </a:t>
            </a:r>
            <a:r>
              <a:rPr kumimoji="1" lang="en-US" altLang="ko-KR" dirty="0"/>
              <a:t>Hierarchical Majority Voter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576-bit Majority Voter</a:t>
            </a:r>
            <a:r>
              <a:rPr kumimoji="1" lang="ko-KR" altLang="en-US" dirty="0"/>
              <a:t>의 일치율을 분석해보았습니다</a:t>
            </a:r>
            <a:r>
              <a:rPr kumimoji="1" lang="en-US" altLang="ko-KR" dirty="0"/>
              <a:t>. 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228600" indent="-228600">
              <a:buAutoNum type="arabicPeriod"/>
            </a:pPr>
            <a:r>
              <a:rPr kumimoji="1" lang="en-US" altLang="ko-KR" dirty="0"/>
              <a:t>Random</a:t>
            </a:r>
            <a:r>
              <a:rPr kumimoji="1" lang="ko-KR" altLang="en-US" dirty="0"/>
              <a:t>한 </a:t>
            </a:r>
            <a:r>
              <a:rPr kumimoji="1" lang="en-US" altLang="ko-KR" dirty="0"/>
              <a:t>Input</a:t>
            </a:r>
            <a:r>
              <a:rPr kumimoji="1" lang="ko-KR" altLang="en-US" dirty="0"/>
              <a:t>에 대해서는 </a:t>
            </a:r>
            <a:r>
              <a:rPr kumimoji="1" lang="en-US" altLang="ko-KR" dirty="0"/>
              <a:t>Tie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-1</a:t>
            </a:r>
            <a:r>
              <a:rPr kumimoji="1" lang="ko-KR" altLang="en-US" dirty="0"/>
              <a:t>로 처리하거나 </a:t>
            </a:r>
            <a:r>
              <a:rPr kumimoji="1" lang="en-US" altLang="ko-KR" dirty="0"/>
              <a:t>1</a:t>
            </a:r>
            <a:r>
              <a:rPr kumimoji="1" lang="ko-KR" altLang="en-US" dirty="0"/>
              <a:t>로 처리하는데 있어서 큰 차이를 보이지는 않았습니다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하지만</a:t>
            </a:r>
            <a:r>
              <a:rPr kumimoji="1" lang="en-US" altLang="ko-KR" dirty="0"/>
              <a:t>, </a:t>
            </a:r>
            <a:r>
              <a:rPr kumimoji="1" lang="ko-KR" altLang="en-US" dirty="0"/>
              <a:t>대체적으로 </a:t>
            </a:r>
            <a:r>
              <a:rPr kumimoji="1" lang="en-US" altLang="ko-KR" dirty="0"/>
              <a:t>-1</a:t>
            </a:r>
            <a:r>
              <a:rPr kumimoji="1" lang="ko-KR" altLang="en-US" dirty="0"/>
              <a:t>로 처리하는 것이 일치율이 미세하게 높은 경우가 더 많았습니다</a:t>
            </a:r>
            <a:r>
              <a:rPr kumimoji="1" lang="en-US" altLang="ko-KR" dirty="0"/>
              <a:t>. (</a:t>
            </a:r>
            <a:r>
              <a:rPr kumimoji="1" lang="ko-KR" altLang="en-US" dirty="0"/>
              <a:t>후에 보여드리겠지만</a:t>
            </a:r>
            <a:r>
              <a:rPr kumimoji="1" lang="en-US" altLang="ko-KR" dirty="0"/>
              <a:t>, </a:t>
            </a:r>
            <a:r>
              <a:rPr kumimoji="1" lang="ko-KR" altLang="en-US" dirty="0"/>
              <a:t>학습의 경우에도 그런 경우가 많음</a:t>
            </a:r>
            <a:r>
              <a:rPr kumimoji="1" lang="en-US" altLang="ko-KR" dirty="0"/>
              <a:t>)</a:t>
            </a:r>
          </a:p>
          <a:p>
            <a:pPr marL="228600" indent="-228600">
              <a:buAutoNum type="arabicPeriod"/>
            </a:pPr>
            <a:endParaRPr kumimoji="1" lang="en-US" altLang="ko-KR" dirty="0"/>
          </a:p>
          <a:p>
            <a:pPr marL="228600" indent="-228600">
              <a:buAutoNum type="arabicPeriod"/>
            </a:pPr>
            <a:r>
              <a:rPr kumimoji="1" lang="ko-KR" altLang="en-US" dirty="0"/>
              <a:t>첫번째 계층에서 </a:t>
            </a:r>
            <a:r>
              <a:rPr kumimoji="1" lang="en-US" altLang="ko-KR" dirty="0"/>
              <a:t>Tie</a:t>
            </a:r>
            <a:r>
              <a:rPr kumimoji="1" lang="ko-KR" altLang="en-US" dirty="0"/>
              <a:t>를 발생시키지 않는 </a:t>
            </a:r>
            <a:r>
              <a:rPr kumimoji="1" lang="en-US" altLang="ko-KR" dirty="0"/>
              <a:t>9-bit Majority Voter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576-bit Majority Voter</a:t>
            </a:r>
            <a:r>
              <a:rPr kumimoji="1" lang="ko-KR" altLang="en-US" dirty="0"/>
              <a:t>와 일치율이 가장 높았고</a:t>
            </a:r>
            <a:r>
              <a:rPr kumimoji="1" lang="en-US" altLang="ko-KR" dirty="0"/>
              <a:t>, 1-bit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drop</a:t>
            </a:r>
            <a:r>
              <a:rPr kumimoji="1" lang="ko-KR" altLang="en-US" dirty="0"/>
              <a:t>한 후 </a:t>
            </a:r>
            <a:r>
              <a:rPr kumimoji="1" lang="en-US" altLang="ko-KR" dirty="0"/>
              <a:t>Hierarchical Majority Voter</a:t>
            </a:r>
            <a:r>
              <a:rPr kumimoji="1" lang="ko-KR" altLang="en-US" dirty="0"/>
              <a:t>를 구성한 경우에도 </a:t>
            </a:r>
            <a:r>
              <a:rPr kumimoji="1" lang="en-US" altLang="ko-KR" dirty="0"/>
              <a:t>9-bit Majority Voter</a:t>
            </a:r>
            <a:r>
              <a:rPr kumimoji="1" lang="ko-KR" altLang="en-US" dirty="0"/>
              <a:t>와 유사하게 높은 일치율을 보였음을 확인하였습니다</a:t>
            </a:r>
            <a:r>
              <a:rPr kumimoji="1" lang="en-US" altLang="ko-KR" dirty="0"/>
              <a:t>.</a:t>
            </a:r>
          </a:p>
          <a:p>
            <a:pPr marL="228600" indent="-228600">
              <a:buAutoNum type="arabicPeriod"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그래서 가장 먼저 </a:t>
            </a:r>
            <a:r>
              <a:rPr kumimoji="1" lang="en-US" altLang="ko-KR" dirty="0"/>
              <a:t>Inference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Training</a:t>
            </a:r>
            <a:r>
              <a:rPr kumimoji="1" lang="ko-KR" altLang="en-US" dirty="0"/>
              <a:t>에 </a:t>
            </a:r>
            <a:r>
              <a:rPr kumimoji="1" lang="en-US" altLang="ko-KR" dirty="0"/>
              <a:t>9-bit Majority Voter</a:t>
            </a:r>
            <a:r>
              <a:rPr kumimoji="1" lang="ko-KR" altLang="en-US" dirty="0"/>
              <a:t>를 </a:t>
            </a:r>
            <a:r>
              <a:rPr kumimoji="1" lang="en-US" altLang="ko-KR" dirty="0" err="1"/>
              <a:t>C_in</a:t>
            </a:r>
            <a:r>
              <a:rPr kumimoji="1" lang="en-US" altLang="ko-KR" dirty="0"/>
              <a:t> </a:t>
            </a:r>
            <a:r>
              <a:rPr kumimoji="1" lang="ko-KR" altLang="en-US" dirty="0"/>
              <a:t>개수만큼 적용하고 그 다음에 </a:t>
            </a:r>
            <a:r>
              <a:rPr kumimoji="1" lang="en-US" altLang="ko-KR" dirty="0" err="1"/>
              <a:t>C_in</a:t>
            </a:r>
            <a:r>
              <a:rPr kumimoji="1" lang="en-US" altLang="ko-KR" dirty="0"/>
              <a:t>-bit Majority Voter</a:t>
            </a:r>
            <a:r>
              <a:rPr kumimoji="1" lang="ko-KR" altLang="en-US" dirty="0"/>
              <a:t>를 적용하는 실험을 진행하였습니다</a:t>
            </a:r>
            <a:r>
              <a:rPr kumimoji="1" lang="en-US" altLang="ko-KR" dirty="0"/>
              <a:t>.</a:t>
            </a:r>
          </a:p>
          <a:p>
            <a:pPr marL="228600" indent="-228600">
              <a:buAutoNum type="arabicPeriod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C653FD-5860-A0BB-A377-DA6298A66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174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29846-0F03-C05C-C625-38CDB77BC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25AC86-99E4-FF48-156A-D51D0F155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5DC289-0A6A-E7C2-F682-A77600DA3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6E137C-E035-78EF-7779-272FD5C1D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210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78942-FC55-B65B-1557-44D5B16FB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66F939-6640-9573-BB52-04E992C1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C2712E-D2C1-D548-5BD3-EE402559C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가장 먼저 </a:t>
            </a:r>
            <a:r>
              <a:rPr kumimoji="1" lang="en-US" altLang="ko-KR" dirty="0" err="1"/>
              <a:t>ReActNet</a:t>
            </a:r>
            <a:r>
              <a:rPr kumimoji="1" lang="ko-KR" altLang="en-US" dirty="0"/>
              <a:t>에 </a:t>
            </a:r>
            <a:r>
              <a:rPr kumimoji="1" lang="en-US" altLang="ko-KR" dirty="0" err="1"/>
              <a:t>PopBin</a:t>
            </a:r>
            <a:r>
              <a:rPr kumimoji="1" lang="ko-KR" altLang="en-US" dirty="0"/>
              <a:t>을 적용한 모델에 </a:t>
            </a:r>
            <a:r>
              <a:rPr kumimoji="1" lang="en-US" altLang="ko-KR" dirty="0"/>
              <a:t>Hierarchical Majority Voter</a:t>
            </a:r>
            <a:r>
              <a:rPr kumimoji="1" lang="ko-KR" altLang="en-US" dirty="0"/>
              <a:t>를 적용한 실험입니다</a:t>
            </a:r>
            <a:r>
              <a:rPr kumimoji="1" lang="en-US" altLang="ko-KR" dirty="0"/>
              <a:t>. 9-bit Majority</a:t>
            </a:r>
            <a:r>
              <a:rPr kumimoji="1" lang="ko-KR" altLang="en-US" dirty="0"/>
              <a:t>를 </a:t>
            </a:r>
            <a:r>
              <a:rPr kumimoji="1" lang="en-US" altLang="ko-KR" dirty="0" err="1"/>
              <a:t>C_in</a:t>
            </a:r>
            <a:r>
              <a:rPr kumimoji="1" lang="ko-KR" altLang="en-US" dirty="0"/>
              <a:t>개 적용하고 </a:t>
            </a:r>
            <a:r>
              <a:rPr kumimoji="1" lang="en-US" altLang="ko-KR" dirty="0" err="1"/>
              <a:t>C_in</a:t>
            </a:r>
            <a:r>
              <a:rPr kumimoji="1" lang="en-US" altLang="ko-KR" dirty="0"/>
              <a:t>-bit Majority Voter</a:t>
            </a:r>
            <a:r>
              <a:rPr kumimoji="1" lang="ko-KR" altLang="en-US" dirty="0"/>
              <a:t>를 적용한 실험입니다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94659A-7444-BF5E-0EF8-7D7DD454D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628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4BD14-6E93-3D63-D528-5D04F7970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494264-5A36-9AAD-29B0-1B2EC07C2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A3130E-E605-09E5-F252-BAE756221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pPr marL="228600" indent="-228600">
              <a:buAutoNum type="arabicPeriod"/>
            </a:pPr>
            <a:r>
              <a:rPr kumimoji="1" lang="en-US" altLang="ko-KR" dirty="0" err="1"/>
              <a:t>ReActNet</a:t>
            </a:r>
            <a:r>
              <a:rPr kumimoji="1" lang="ko-KR" altLang="en-US" dirty="0"/>
              <a:t>의 경우 모든 </a:t>
            </a:r>
            <a:r>
              <a:rPr kumimoji="1" lang="en-US" altLang="ko-KR" dirty="0"/>
              <a:t>Layer</a:t>
            </a:r>
            <a:r>
              <a:rPr kumimoji="1" lang="ko-KR" altLang="en-US" dirty="0"/>
              <a:t>에 적용한 경우보다 단일 </a:t>
            </a:r>
            <a:r>
              <a:rPr kumimoji="1" lang="en-US" altLang="ko-KR" dirty="0"/>
              <a:t>Layer</a:t>
            </a:r>
            <a:r>
              <a:rPr kumimoji="1" lang="ko-KR" altLang="en-US" dirty="0"/>
              <a:t>에 적용하여 </a:t>
            </a:r>
            <a:r>
              <a:rPr kumimoji="1" lang="en-US" altLang="ko-KR" dirty="0"/>
              <a:t>Inference</a:t>
            </a:r>
            <a:r>
              <a:rPr kumimoji="1" lang="ko-KR" altLang="en-US" dirty="0"/>
              <a:t>를 한 경우가 높았고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단일 </a:t>
            </a:r>
            <a:r>
              <a:rPr kumimoji="1" lang="en-US" altLang="ko-KR" dirty="0"/>
              <a:t>Layer</a:t>
            </a:r>
            <a:r>
              <a:rPr kumimoji="1" lang="ko-KR" altLang="en-US" dirty="0"/>
              <a:t>에서는 가장 마지막 </a:t>
            </a:r>
            <a:r>
              <a:rPr kumimoji="1" lang="en-US" altLang="ko-KR" dirty="0"/>
              <a:t>Layer</a:t>
            </a:r>
            <a:r>
              <a:rPr kumimoji="1" lang="ko-KR" altLang="en-US" dirty="0"/>
              <a:t>에만 적용한 경우가 </a:t>
            </a:r>
            <a:r>
              <a:rPr kumimoji="1" lang="en-US" altLang="ko-KR" dirty="0"/>
              <a:t>Accuracy</a:t>
            </a:r>
            <a:r>
              <a:rPr kumimoji="1" lang="ko-KR" altLang="en-US" dirty="0"/>
              <a:t>가 가장 높았습니다</a:t>
            </a:r>
            <a:r>
              <a:rPr kumimoji="1"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kumimoji="1" lang="en-US" altLang="ko-KR" dirty="0"/>
              <a:t>Tie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일 경우</a:t>
            </a:r>
            <a:r>
              <a:rPr kumimoji="1" lang="en-US" altLang="ko-KR" dirty="0"/>
              <a:t>, Layer 3</a:t>
            </a:r>
            <a:r>
              <a:rPr kumimoji="1" lang="ko-KR" altLang="en-US" dirty="0"/>
              <a:t>번 </a:t>
            </a:r>
            <a:r>
              <a:rPr kumimoji="1" lang="en-US" altLang="ko-KR" dirty="0"/>
              <a:t>5</a:t>
            </a:r>
            <a:r>
              <a:rPr kumimoji="1" lang="ko-KR" altLang="en-US" dirty="0"/>
              <a:t>번 </a:t>
            </a:r>
            <a:r>
              <a:rPr kumimoji="1" lang="en-US" altLang="ko-KR" dirty="0"/>
              <a:t>7</a:t>
            </a:r>
            <a:r>
              <a:rPr kumimoji="1" lang="ko-KR" altLang="en-US" dirty="0"/>
              <a:t>번에 대해서 다른 경우에 비해 </a:t>
            </a:r>
            <a:r>
              <a:rPr kumimoji="1" lang="en-US" altLang="ko-KR" dirty="0"/>
              <a:t>Accuracy</a:t>
            </a:r>
            <a:r>
              <a:rPr kumimoji="1" lang="ko-KR" altLang="en-US" dirty="0"/>
              <a:t>가 급격하게 감소되는 것을 확인할 수 있는데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이는 </a:t>
            </a:r>
            <a:r>
              <a:rPr kumimoji="1" lang="en-US" altLang="ko-KR" dirty="0" err="1"/>
              <a:t>Downsampling</a:t>
            </a:r>
            <a:r>
              <a:rPr kumimoji="1" lang="ko-KR" altLang="en-US" dirty="0"/>
              <a:t>을 적용한 바로 직후의 </a:t>
            </a:r>
            <a:r>
              <a:rPr kumimoji="1" lang="en-US" altLang="ko-KR" dirty="0"/>
              <a:t>Layer</a:t>
            </a:r>
            <a:r>
              <a:rPr kumimoji="1" lang="ko-KR" altLang="en-US" dirty="0"/>
              <a:t>에 대해서만 적용한 경우이고</a:t>
            </a:r>
            <a:r>
              <a:rPr kumimoji="1" lang="en-US" altLang="ko-KR" dirty="0"/>
              <a:t>, Tie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-1</a:t>
            </a:r>
            <a:r>
              <a:rPr kumimoji="1" lang="ko-KR" altLang="en-US" dirty="0"/>
              <a:t>인 경우에도 다른 </a:t>
            </a:r>
            <a:r>
              <a:rPr kumimoji="1" lang="en-US" altLang="ko-KR" dirty="0"/>
              <a:t>Layer</a:t>
            </a:r>
            <a:r>
              <a:rPr kumimoji="1" lang="ko-KR" altLang="en-US" dirty="0"/>
              <a:t>에 </a:t>
            </a:r>
            <a:r>
              <a:rPr kumimoji="1" lang="en-US" altLang="ko-KR" dirty="0" err="1"/>
              <a:t>Hierchical</a:t>
            </a:r>
            <a:r>
              <a:rPr kumimoji="1" lang="en-US" altLang="ko-KR" dirty="0"/>
              <a:t> Majority Voter</a:t>
            </a:r>
            <a:r>
              <a:rPr kumimoji="1" lang="ko-KR" altLang="en-US" dirty="0"/>
              <a:t>를 적용한 경우보다 </a:t>
            </a:r>
            <a:r>
              <a:rPr kumimoji="1" lang="en-US" altLang="ko-KR" dirty="0"/>
              <a:t>3, 5, 7</a:t>
            </a:r>
            <a:r>
              <a:rPr kumimoji="1" lang="ko-KR" altLang="en-US" dirty="0"/>
              <a:t>번에 대해서 적용했을 때가 약 </a:t>
            </a:r>
            <a:r>
              <a:rPr kumimoji="1" lang="en-US" altLang="ko-KR" dirty="0"/>
              <a:t>2~3%</a:t>
            </a:r>
            <a:r>
              <a:rPr kumimoji="1" lang="ko-KR" altLang="en-US" dirty="0"/>
              <a:t>가 더 낮았음을 확인하였습니다</a:t>
            </a:r>
            <a:r>
              <a:rPr kumimoji="1" lang="en-US" altLang="ko-KR" dirty="0"/>
              <a:t>.</a:t>
            </a:r>
          </a:p>
          <a:p>
            <a:pPr marL="228600" indent="-228600">
              <a:buAutoNum type="arabicPeriod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296A01-CF41-80DC-C70B-E2650FBE8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336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91AB7-4433-3C33-FCB3-502849B0C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923D9-8385-2622-155B-11B0A978C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C255BF-0E83-745D-AFAB-4EDC47065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5E21DD-EBD1-DE74-38B3-3849EC929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479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F3E0-2DA5-1296-1E0D-90935EEF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87B04F-0FB6-9563-931C-6FBB1B6AB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A05449-ED2C-DA6C-5964-94C167D99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r>
              <a:rPr kumimoji="1" lang="en-US" altLang="ko-KR" dirty="0"/>
              <a:t>Bi-Real Net</a:t>
            </a:r>
            <a:r>
              <a:rPr kumimoji="1" lang="ko-KR" altLang="en-US" dirty="0"/>
              <a:t>의 </a:t>
            </a:r>
            <a:r>
              <a:rPr kumimoji="1" lang="en-US" altLang="ko-KR" dirty="0" err="1"/>
              <a:t>Downsampling</a:t>
            </a:r>
            <a:r>
              <a:rPr kumimoji="1" lang="en-US" altLang="ko-KR" dirty="0"/>
              <a:t> Layer :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60F5AA-4A29-9064-6DDA-E9E930A62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746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83DB-7DB5-8BAB-DACC-216D4EC63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11D08B-F3CA-8D46-4D80-A834420A6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578163-6AED-6926-EABC-B9CA1FFB5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500919-3D87-DDCD-CD47-E972180ED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606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8EAD9-781B-C011-93B6-A8B9F12B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A0067F-8248-C124-30C2-6ACA6153A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831FCF-BE0B-F8BB-5BC4-0889A29C4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205439-C7CB-4C17-ABCB-BA0B37B15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427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AD710-AB56-B336-7307-30C3B8BDF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C7CA0E-8A47-4A2C-6C4A-7C46552F9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80EBC5-2886-E564-AC54-880B6D714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841BF-45C1-159D-7774-27C02D75B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321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F79C-C4E2-A97D-D9F9-FF37F8B68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804D36-4880-5076-9D8A-E644F3132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981652-79A4-5A42-8147-A69D0A653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학습된 </a:t>
            </a:r>
            <a:r>
              <a:rPr lang="en-US" altLang="ko-KR" dirty="0"/>
              <a:t>weight</a:t>
            </a:r>
            <a:r>
              <a:rPr lang="ko-KR" altLang="en-US" dirty="0"/>
              <a:t>의 </a:t>
            </a:r>
            <a:r>
              <a:rPr lang="en-US" altLang="ko-KR" dirty="0"/>
              <a:t>spatial bias </a:t>
            </a:r>
            <a:r>
              <a:rPr lang="ko-KR" altLang="en-US" dirty="0"/>
              <a:t>또는 </a:t>
            </a:r>
            <a:r>
              <a:rPr lang="en-US" altLang="ko-KR" dirty="0" err="1"/>
              <a:t>downsample</a:t>
            </a:r>
            <a:r>
              <a:rPr lang="en-US" altLang="ko-KR" dirty="0"/>
              <a:t> </a:t>
            </a:r>
            <a:r>
              <a:rPr lang="ko-KR" altLang="en-US" dirty="0"/>
              <a:t>동작의 비대칭성을 반영할 가능성</a:t>
            </a:r>
            <a:endParaRPr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lang="ko-KR" altLang="en-US" b="1" dirty="0"/>
              <a:t>수평 </a:t>
            </a:r>
            <a:r>
              <a:rPr lang="en-US" altLang="ko-KR" b="1" dirty="0"/>
              <a:t>vs </a:t>
            </a:r>
            <a:r>
              <a:rPr lang="ko-KR" altLang="en-US" b="1" dirty="0"/>
              <a:t>수직 </a:t>
            </a:r>
            <a:r>
              <a:rPr lang="en-US" altLang="ko-KR" b="1" dirty="0"/>
              <a:t>correlation</a:t>
            </a:r>
            <a:r>
              <a:rPr lang="ko-KR" altLang="en-US" b="1" dirty="0"/>
              <a:t>이 </a:t>
            </a:r>
            <a:r>
              <a:rPr lang="en-US" altLang="ko-KR" b="1" dirty="0"/>
              <a:t>layer </a:t>
            </a:r>
            <a:r>
              <a:rPr lang="ko-KR" altLang="en-US" b="1" dirty="0"/>
              <a:t>깊이에 따라 다르게 변함</a:t>
            </a:r>
            <a:r>
              <a:rPr lang="en-US" altLang="ko-KR" dirty="0"/>
              <a:t>. </a:t>
            </a:r>
            <a:r>
              <a:rPr lang="ko-KR" altLang="en-US" dirty="0"/>
              <a:t>이건 </a:t>
            </a:r>
            <a:r>
              <a:rPr lang="en-US" altLang="ko-KR" dirty="0" err="1"/>
              <a:t>ReActNet</a:t>
            </a:r>
            <a:r>
              <a:rPr lang="ko-KR" altLang="en-US" dirty="0"/>
              <a:t>의 </a:t>
            </a:r>
            <a:r>
              <a:rPr lang="en-US" altLang="ko-KR" dirty="0"/>
              <a:t>stride=2 </a:t>
            </a:r>
            <a:r>
              <a:rPr lang="en-US" altLang="ko-KR" dirty="0" err="1"/>
              <a:t>downsample</a:t>
            </a:r>
            <a:r>
              <a:rPr lang="ko-KR" altLang="en-US" dirty="0"/>
              <a:t>이 </a:t>
            </a:r>
            <a:r>
              <a:rPr lang="en-US" altLang="ko-KR" dirty="0"/>
              <a:t>(h, w) </a:t>
            </a:r>
            <a:r>
              <a:rPr lang="ko-KR" altLang="en-US" dirty="0"/>
              <a:t>두 축에 대해 어떻게 작용하는지를 반영하는 것일 가능성이 큽니다</a:t>
            </a:r>
            <a:r>
              <a:rPr lang="en-US" altLang="ko-KR" dirty="0"/>
              <a:t>. </a:t>
            </a:r>
            <a:r>
              <a:rPr lang="ko-KR" altLang="en-US" dirty="0"/>
              <a:t>또는 학습된 </a:t>
            </a:r>
            <a:r>
              <a:rPr lang="en-US" altLang="ko-KR" dirty="0"/>
              <a:t>weight</a:t>
            </a:r>
            <a:r>
              <a:rPr lang="ko-KR" altLang="en-US" dirty="0"/>
              <a:t>의 비대칭성 때문일 수도 있습니다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E5D894-EAE0-259F-C198-66D311381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378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6904C-9FC7-748A-6579-211F8EA6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DE77DC-9AFD-E5D0-6C05-81DD6B260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8CFD12-50E7-C4EE-A863-ACA94FED5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7E3583-05E2-0A4C-E4EE-11553D41D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373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E0612-0D9E-61A1-6F05-53F76331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649BAE-057A-C86A-DAFA-BE93D9E8A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34026-0E54-F0BD-8C2E-2AFC5125C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B2F31-1260-87EE-0428-F30C48DE4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900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4CB78-84EC-E1B0-4E81-325F68CB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C6D285-FC43-06D2-B05A-1535CDAF8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44087E-4596-9338-D29F-26E03F99B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3EC64F-EC10-9CC0-9FAD-DBA550BE2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98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7DF93-C76B-F8A9-C9C2-B219FB657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408ED4-8B9D-A2CF-A034-C1E68EFE5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1D17C9-C101-166F-9689-C139A52DA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짝수 </a:t>
            </a:r>
            <a:r>
              <a:rPr kumimoji="1" lang="en-US" altLang="ko-KR" dirty="0"/>
              <a:t>sum</a:t>
            </a:r>
            <a:r>
              <a:rPr kumimoji="1" lang="ko-KR" altLang="en-US" dirty="0"/>
              <a:t>이 발생하는 이유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943128-3855-56AE-CFBE-1C988B700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0517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CB876-B444-0324-3F76-120CABCC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F465EF-5BB7-936D-C9F0-10706C501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6AC48F-7EC5-58F0-0230-844197BC6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결론 작성용 슬라이드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FC29BA-8176-8FAB-7BBA-797F46850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5884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CBC70-CAC6-E7E8-8959-D340540F6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08B634-1F76-A42A-D3CA-B0C75627B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1A6EDC-EF0F-6C68-D13E-719BC4674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연구 후속 방향 제시용 슬라이드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0F1678-67B1-FFD2-B65E-DB07982D7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9475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82FD6-B52E-C1E8-1732-6F9DB9AF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A204E1-6668-4629-7EE8-873E34812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956183-628E-7F4B-7B82-E7CB58B2F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FC2C2D-ACD4-3E48-5666-AADCAD48A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4755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2A93A-D950-A671-2B95-3E647129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C35973-3C94-F90C-76EB-F62527022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F43F03-74FB-6459-9578-355957FF1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1B07B0-49B5-E39B-1857-1FBCB5BDA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02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655" y="2463266"/>
            <a:ext cx="10453006" cy="1604508"/>
          </a:xfrm>
        </p:spPr>
        <p:txBody>
          <a:bodyPr lIns="90000" anchor="ctr" anchorCtr="0">
            <a:norm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Hierarchical Majority Voter</a:t>
            </a:r>
            <a:r>
              <a:rPr lang="ko-KR" altLang="en-US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실험</a:t>
            </a:r>
            <a:endParaRPr lang="ko-KR" altLang="en-US" sz="2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774195" y="1666695"/>
            <a:ext cx="2120261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05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13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5E83C-107A-869D-95A2-9A3B5A057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F8587-2EA5-62DA-20EC-F9FCFF7F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Background</a:t>
            </a:r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2B8A6C88-A300-E38D-60C6-037E9A5005B7}"/>
              </a:ext>
            </a:extLst>
          </p:cNvPr>
          <p:cNvSpPr/>
          <p:nvPr/>
        </p:nvSpPr>
        <p:spPr>
          <a:xfrm>
            <a:off x="944880" y="1475978"/>
            <a:ext cx="1173852" cy="825939"/>
          </a:xfrm>
          <a:prstGeom prst="rect">
            <a:avLst/>
          </a:prstGeom>
          <a:solidFill>
            <a:srgbClr val="5C66B0"/>
          </a:solidFill>
          <a:ln w="12700">
            <a:solidFill>
              <a:srgbClr val="5C66B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firstconv3x3 (FP32)</a:t>
            </a:r>
            <a:endParaRPr lang="en-US" altLang="ko-KR" sz="1300" dirty="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30A1FB13-D1A6-FE69-8B28-F39FA18FD8C0}"/>
              </a:ext>
            </a:extLst>
          </p:cNvPr>
          <p:cNvSpPr/>
          <p:nvPr/>
        </p:nvSpPr>
        <p:spPr>
          <a:xfrm>
            <a:off x="2208684" y="1475978"/>
            <a:ext cx="1079440" cy="82593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 err="1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BasicBlock</a:t>
            </a:r>
            <a:endParaRPr lang="en-US" altLang="ko-KR" sz="1300" b="1" dirty="0">
              <a:solidFill>
                <a:srgbClr val="FFFFFF"/>
              </a:solidFill>
              <a:ea typeface="맑은 고딕" pitchFamily="34" charset="-122"/>
              <a:cs typeface="맑은 고딕" pitchFamily="34" charset="-120"/>
            </a:endParaRPr>
          </a:p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(Layer 1)</a:t>
            </a:r>
            <a:endParaRPr lang="en-US" altLang="ko-KR" sz="1300" dirty="0"/>
          </a:p>
        </p:txBody>
      </p:sp>
      <p:sp>
        <p:nvSpPr>
          <p:cNvPr id="18" name="Shape 44">
            <a:extLst>
              <a:ext uri="{FF2B5EF4-FFF2-40B4-BE49-F238E27FC236}">
                <a16:creationId xmlns:a16="http://schemas.microsoft.com/office/drawing/2014/main" id="{2D54FAD5-8436-6E98-97E4-A114BB9D27F3}"/>
              </a:ext>
            </a:extLst>
          </p:cNvPr>
          <p:cNvSpPr/>
          <p:nvPr/>
        </p:nvSpPr>
        <p:spPr>
          <a:xfrm>
            <a:off x="7862356" y="1475978"/>
            <a:ext cx="1947003" cy="81464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AdaptiveAvgPool2d(1)</a:t>
            </a:r>
            <a:endParaRPr lang="en-US" altLang="ko-KR" sz="1300" dirty="0"/>
          </a:p>
        </p:txBody>
      </p:sp>
      <p:sp>
        <p:nvSpPr>
          <p:cNvPr id="20" name="Shape 50">
            <a:extLst>
              <a:ext uri="{FF2B5EF4-FFF2-40B4-BE49-F238E27FC236}">
                <a16:creationId xmlns:a16="http://schemas.microsoft.com/office/drawing/2014/main" id="{00E69C56-50ED-16F5-7D09-E1271EAE438B}"/>
              </a:ext>
            </a:extLst>
          </p:cNvPr>
          <p:cNvSpPr/>
          <p:nvPr/>
        </p:nvSpPr>
        <p:spPr>
          <a:xfrm>
            <a:off x="9913438" y="1475978"/>
            <a:ext cx="1166046" cy="80335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Linear</a:t>
            </a:r>
          </a:p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(1024 → 100)</a:t>
            </a:r>
            <a:endParaRPr lang="en-US" altLang="ko-KR" sz="130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BA7813C0-E233-3B17-7180-BDCA51994E46}"/>
              </a:ext>
            </a:extLst>
          </p:cNvPr>
          <p:cNvSpPr/>
          <p:nvPr/>
        </p:nvSpPr>
        <p:spPr>
          <a:xfrm>
            <a:off x="3354284" y="1487270"/>
            <a:ext cx="1079440" cy="82593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 err="1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BasicBlock</a:t>
            </a:r>
            <a:endParaRPr lang="en-US" altLang="ko-KR" sz="1300" b="1" dirty="0">
              <a:solidFill>
                <a:srgbClr val="FFFFFF"/>
              </a:solidFill>
              <a:ea typeface="맑은 고딕" pitchFamily="34" charset="-122"/>
              <a:cs typeface="맑은 고딕" pitchFamily="34" charset="-120"/>
            </a:endParaRPr>
          </a:p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(Layer 2)</a:t>
            </a:r>
            <a:endParaRPr lang="en-US" altLang="ko-KR" sz="1300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35ECC3ED-8413-B0B9-F73B-BFDC7555CA8F}"/>
              </a:ext>
            </a:extLst>
          </p:cNvPr>
          <p:cNvSpPr/>
          <p:nvPr/>
        </p:nvSpPr>
        <p:spPr>
          <a:xfrm>
            <a:off x="6678837" y="1475978"/>
            <a:ext cx="1079440" cy="82593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 err="1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BasicBlock</a:t>
            </a:r>
            <a:endParaRPr lang="en-US" altLang="ko-KR" sz="1300" b="1" dirty="0">
              <a:solidFill>
                <a:srgbClr val="FFFFFF"/>
              </a:solidFill>
              <a:ea typeface="맑은 고딕" pitchFamily="34" charset="-122"/>
              <a:cs typeface="맑은 고딕" pitchFamily="34" charset="-120"/>
            </a:endParaRPr>
          </a:p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(Layer 13)</a:t>
            </a:r>
            <a:endParaRPr lang="en-US" altLang="ko-KR" sz="130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BEE3F924-5FA7-3F97-3D78-69FBCBB14ABA}"/>
              </a:ext>
            </a:extLst>
          </p:cNvPr>
          <p:cNvSpPr/>
          <p:nvPr/>
        </p:nvSpPr>
        <p:spPr>
          <a:xfrm>
            <a:off x="5495318" y="1487270"/>
            <a:ext cx="1079440" cy="82593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 err="1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BasicBlock</a:t>
            </a:r>
            <a:endParaRPr lang="en-US" altLang="ko-KR" sz="1300" b="1" dirty="0">
              <a:solidFill>
                <a:srgbClr val="FFFFFF"/>
              </a:solidFill>
              <a:ea typeface="맑은 고딕" pitchFamily="34" charset="-122"/>
              <a:cs typeface="맑은 고딕" pitchFamily="34" charset="-120"/>
            </a:endParaRPr>
          </a:p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(Layer 12)</a:t>
            </a:r>
            <a:endParaRPr lang="en-US" altLang="ko-KR" sz="13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6FDE78-570E-F9B0-4533-24AA9ED14E53}"/>
              </a:ext>
            </a:extLst>
          </p:cNvPr>
          <p:cNvSpPr txBox="1"/>
          <p:nvPr/>
        </p:nvSpPr>
        <p:spPr>
          <a:xfrm>
            <a:off x="854928" y="1030866"/>
            <a:ext cx="126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endParaRPr lang="en-US" altLang="ko-KR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A657BD-DFA5-2AAD-928A-8AABD6C7274C}"/>
              </a:ext>
            </a:extLst>
          </p:cNvPr>
          <p:cNvSpPr txBox="1"/>
          <p:nvPr/>
        </p:nvSpPr>
        <p:spPr>
          <a:xfrm>
            <a:off x="4786102" y="1639235"/>
            <a:ext cx="425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…</a:t>
            </a: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6B001DB1-BF5A-EF7B-BF7A-ACC1510E680F}"/>
              </a:ext>
            </a:extLst>
          </p:cNvPr>
          <p:cNvSpPr/>
          <p:nvPr/>
        </p:nvSpPr>
        <p:spPr>
          <a:xfrm>
            <a:off x="944880" y="3062689"/>
            <a:ext cx="1173852" cy="825939"/>
          </a:xfrm>
          <a:prstGeom prst="rect">
            <a:avLst/>
          </a:prstGeom>
          <a:solidFill>
            <a:srgbClr val="5C66B0"/>
          </a:solidFill>
          <a:ln w="12700">
            <a:solidFill>
              <a:srgbClr val="5C66B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firstconv3x3 (FP32)</a:t>
            </a:r>
            <a:endParaRPr lang="en-US" altLang="ko-KR" sz="13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2C3F3461-E35E-2BE5-4BC4-91623727AAED}"/>
              </a:ext>
            </a:extLst>
          </p:cNvPr>
          <p:cNvSpPr/>
          <p:nvPr/>
        </p:nvSpPr>
        <p:spPr>
          <a:xfrm>
            <a:off x="2208684" y="3062689"/>
            <a:ext cx="1079440" cy="82593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 err="1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BasicBlock</a:t>
            </a:r>
            <a:endParaRPr lang="en-US" altLang="ko-KR" sz="1300" b="1" dirty="0">
              <a:solidFill>
                <a:srgbClr val="FFFFFF"/>
              </a:solidFill>
              <a:ea typeface="맑은 고딕" pitchFamily="34" charset="-122"/>
              <a:cs typeface="맑은 고딕" pitchFamily="34" charset="-120"/>
            </a:endParaRPr>
          </a:p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(Layer 1)</a:t>
            </a:r>
            <a:endParaRPr lang="en-US" altLang="ko-KR" sz="1300" dirty="0"/>
          </a:p>
        </p:txBody>
      </p:sp>
      <p:sp>
        <p:nvSpPr>
          <p:cNvPr id="34" name="Shape 44">
            <a:extLst>
              <a:ext uri="{FF2B5EF4-FFF2-40B4-BE49-F238E27FC236}">
                <a16:creationId xmlns:a16="http://schemas.microsoft.com/office/drawing/2014/main" id="{A8CF8B9F-437B-67AE-927D-12A7F74F73E3}"/>
              </a:ext>
            </a:extLst>
          </p:cNvPr>
          <p:cNvSpPr/>
          <p:nvPr/>
        </p:nvSpPr>
        <p:spPr>
          <a:xfrm>
            <a:off x="7862356" y="3062689"/>
            <a:ext cx="1947003" cy="81464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AdaptiveAvgPool2d(1)</a:t>
            </a:r>
            <a:endParaRPr lang="en-US" altLang="ko-KR" sz="1300" dirty="0"/>
          </a:p>
        </p:txBody>
      </p:sp>
      <p:sp>
        <p:nvSpPr>
          <p:cNvPr id="35" name="Shape 50">
            <a:extLst>
              <a:ext uri="{FF2B5EF4-FFF2-40B4-BE49-F238E27FC236}">
                <a16:creationId xmlns:a16="http://schemas.microsoft.com/office/drawing/2014/main" id="{A49B9EC8-FDDB-8679-32A4-5F519E797823}"/>
              </a:ext>
            </a:extLst>
          </p:cNvPr>
          <p:cNvSpPr/>
          <p:nvPr/>
        </p:nvSpPr>
        <p:spPr>
          <a:xfrm>
            <a:off x="9913438" y="3062689"/>
            <a:ext cx="1166046" cy="80335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Linear</a:t>
            </a:r>
          </a:p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(1024 → 100)</a:t>
            </a:r>
            <a:endParaRPr lang="en-US" altLang="ko-KR" sz="130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78CF6A1D-371E-AE2A-49D6-1019E7954811}"/>
              </a:ext>
            </a:extLst>
          </p:cNvPr>
          <p:cNvSpPr/>
          <p:nvPr/>
        </p:nvSpPr>
        <p:spPr>
          <a:xfrm>
            <a:off x="3354284" y="3073981"/>
            <a:ext cx="1079440" cy="82593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 err="1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BasicBlock</a:t>
            </a:r>
            <a:endParaRPr lang="en-US" altLang="ko-KR" sz="1300" b="1" dirty="0">
              <a:solidFill>
                <a:srgbClr val="FFFFFF"/>
              </a:solidFill>
              <a:ea typeface="맑은 고딕" pitchFamily="34" charset="-122"/>
              <a:cs typeface="맑은 고딕" pitchFamily="34" charset="-120"/>
            </a:endParaRPr>
          </a:p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(Layer 2)</a:t>
            </a:r>
            <a:endParaRPr lang="en-US" altLang="ko-KR" sz="130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93C2F1C9-7D1D-4AC5-D5A5-AB30B2644F26}"/>
              </a:ext>
            </a:extLst>
          </p:cNvPr>
          <p:cNvSpPr/>
          <p:nvPr/>
        </p:nvSpPr>
        <p:spPr>
          <a:xfrm>
            <a:off x="6678837" y="3062689"/>
            <a:ext cx="1079440" cy="82593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 err="1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BasicBlock</a:t>
            </a:r>
            <a:endParaRPr lang="en-US" altLang="ko-KR" sz="1300" b="1" dirty="0">
              <a:solidFill>
                <a:srgbClr val="FFFFFF"/>
              </a:solidFill>
              <a:ea typeface="맑은 고딕" pitchFamily="34" charset="-122"/>
              <a:cs typeface="맑은 고딕" pitchFamily="34" charset="-120"/>
            </a:endParaRPr>
          </a:p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(Layer 16)</a:t>
            </a:r>
            <a:endParaRPr lang="en-US" altLang="ko-KR" sz="130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502577C0-4E61-80CB-4DAB-29BA73325802}"/>
              </a:ext>
            </a:extLst>
          </p:cNvPr>
          <p:cNvSpPr/>
          <p:nvPr/>
        </p:nvSpPr>
        <p:spPr>
          <a:xfrm>
            <a:off x="5495318" y="3073981"/>
            <a:ext cx="1079440" cy="82593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b="1" dirty="0" err="1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BasicBlock</a:t>
            </a:r>
            <a:endParaRPr lang="en-US" altLang="ko-KR" sz="1300" b="1" dirty="0">
              <a:solidFill>
                <a:srgbClr val="FFFFFF"/>
              </a:solidFill>
              <a:ea typeface="맑은 고딕" pitchFamily="34" charset="-122"/>
              <a:cs typeface="맑은 고딕" pitchFamily="34" charset="-120"/>
            </a:endParaRPr>
          </a:p>
          <a:p>
            <a:pPr algn="ctr"/>
            <a:r>
              <a:rPr lang="en-US" altLang="ko-KR" sz="1300" b="1" dirty="0">
                <a:solidFill>
                  <a:srgbClr val="FFFFFF"/>
                </a:solidFill>
                <a:ea typeface="맑은 고딕" pitchFamily="34" charset="-122"/>
                <a:cs typeface="맑은 고딕" pitchFamily="34" charset="-120"/>
              </a:rPr>
              <a:t>(Layer 15)</a:t>
            </a:r>
            <a:endParaRPr lang="en-US" altLang="ko-KR" sz="13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1E54B8-4914-C482-D4C1-A2E02A19F7C0}"/>
              </a:ext>
            </a:extLst>
          </p:cNvPr>
          <p:cNvSpPr txBox="1"/>
          <p:nvPr/>
        </p:nvSpPr>
        <p:spPr>
          <a:xfrm>
            <a:off x="854928" y="2617577"/>
            <a:ext cx="194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Bi-Real</a:t>
            </a:r>
            <a:r>
              <a:rPr lang="ko-KR" altLang="en-US" b="1" dirty="0"/>
              <a:t> </a:t>
            </a:r>
            <a:r>
              <a:rPr lang="en-US" altLang="ko-KR" b="1" dirty="0"/>
              <a:t>Net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AAC539-F934-DA37-F71A-2002D4E9DABE}"/>
              </a:ext>
            </a:extLst>
          </p:cNvPr>
          <p:cNvSpPr txBox="1"/>
          <p:nvPr/>
        </p:nvSpPr>
        <p:spPr>
          <a:xfrm>
            <a:off x="4786102" y="3225946"/>
            <a:ext cx="425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…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383A3019-8D6E-8089-E611-7A4AFDD80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68" y="4306066"/>
            <a:ext cx="5950817" cy="2488429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6B0A9AD-611D-22E4-EC05-FB05DF7C465B}"/>
              </a:ext>
            </a:extLst>
          </p:cNvPr>
          <p:cNvCxnSpPr/>
          <p:nvPr/>
        </p:nvCxnSpPr>
        <p:spPr>
          <a:xfrm flipH="1">
            <a:off x="735980" y="3888627"/>
            <a:ext cx="1472704" cy="4174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53D1F4C-7CDA-CEA9-E933-EC20AFE75678}"/>
              </a:ext>
            </a:extLst>
          </p:cNvPr>
          <p:cNvCxnSpPr>
            <a:cxnSpLocks/>
          </p:cNvCxnSpPr>
          <p:nvPr/>
        </p:nvCxnSpPr>
        <p:spPr>
          <a:xfrm flipH="1" flipV="1">
            <a:off x="3261359" y="3877335"/>
            <a:ext cx="3124573" cy="5311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6D9E53CB-3327-D979-70A6-16BC45FBB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60" y="5382022"/>
            <a:ext cx="2141248" cy="143596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066B91DF-2E08-DF62-AC59-9A104A6D7E06}"/>
              </a:ext>
            </a:extLst>
          </p:cNvPr>
          <p:cNvSpPr txBox="1"/>
          <p:nvPr/>
        </p:nvSpPr>
        <p:spPr>
          <a:xfrm>
            <a:off x="1886786" y="5642468"/>
            <a:ext cx="1005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PopBin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35041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45349-5241-1834-2087-0C5AF308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35801-3B3C-1521-7832-25D4644A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Background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7B8E3808-74FC-48A3-BFA8-896F748109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44" t="54213" r="20199"/>
          <a:stretch>
            <a:fillRect/>
          </a:stretch>
        </p:blipFill>
        <p:spPr>
          <a:xfrm>
            <a:off x="343417" y="1858838"/>
            <a:ext cx="3847558" cy="1624133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F1994BF-2E42-D282-0115-FF7E8AB4A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60" y="5382022"/>
            <a:ext cx="2141248" cy="143596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02CC3B6-4E90-B8F0-39EB-916188F3ABC2}"/>
              </a:ext>
            </a:extLst>
          </p:cNvPr>
          <p:cNvSpPr/>
          <p:nvPr/>
        </p:nvSpPr>
        <p:spPr>
          <a:xfrm>
            <a:off x="929076" y="1912051"/>
            <a:ext cx="1301168" cy="1204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43FD0E65-B06C-6BC5-9FF4-1F9F2B6E9B7F}"/>
              </a:ext>
            </a:extLst>
          </p:cNvPr>
          <p:cNvCxnSpPr>
            <a:cxnSpLocks/>
            <a:stCxn id="4" idx="0"/>
          </p:cNvCxnSpPr>
          <p:nvPr/>
        </p:nvCxnSpPr>
        <p:spPr>
          <a:xfrm rot="5400000" flipH="1" flipV="1">
            <a:off x="3491541" y="-642350"/>
            <a:ext cx="642520" cy="4466283"/>
          </a:xfrm>
          <a:prstGeom prst="bentConnector2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9289045-1029-4AC5-D483-7D5CEC294456}"/>
              </a:ext>
            </a:extLst>
          </p:cNvPr>
          <p:cNvCxnSpPr>
            <a:cxnSpLocks/>
          </p:cNvCxnSpPr>
          <p:nvPr/>
        </p:nvCxnSpPr>
        <p:spPr>
          <a:xfrm>
            <a:off x="6045942" y="1271239"/>
            <a:ext cx="0" cy="65568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같음 기호 26">
            <a:extLst>
              <a:ext uri="{FF2B5EF4-FFF2-40B4-BE49-F238E27FC236}">
                <a16:creationId xmlns:a16="http://schemas.microsoft.com/office/drawing/2014/main" id="{54A19D05-4F80-5FDC-D1E8-77209CEF5106}"/>
              </a:ext>
            </a:extLst>
          </p:cNvPr>
          <p:cNvSpPr/>
          <p:nvPr/>
        </p:nvSpPr>
        <p:spPr>
          <a:xfrm>
            <a:off x="3516351" y="1376860"/>
            <a:ext cx="349397" cy="282498"/>
          </a:xfrm>
          <a:prstGeom prst="mathEqual">
            <a:avLst>
              <a:gd name="adj1" fmla="val 12994"/>
              <a:gd name="adj2" fmla="val 328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67C09498-68F8-6A79-C6D7-F7D3AA93EFCA}"/>
              </a:ext>
            </a:extLst>
          </p:cNvPr>
          <p:cNvSpPr/>
          <p:nvPr/>
        </p:nvSpPr>
        <p:spPr>
          <a:xfrm>
            <a:off x="7883093" y="2395841"/>
            <a:ext cx="617034" cy="2750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A5269FD-B92E-D568-A984-48296E2DB4DC}"/>
              </a:ext>
            </a:extLst>
          </p:cNvPr>
          <p:cNvSpPr/>
          <p:nvPr/>
        </p:nvSpPr>
        <p:spPr>
          <a:xfrm>
            <a:off x="8683181" y="1908635"/>
            <a:ext cx="3308195" cy="1204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6127352-DEE3-9AE4-7D32-AF5206509B14}"/>
              </a:ext>
            </a:extLst>
          </p:cNvPr>
          <p:cNvSpPr/>
          <p:nvPr/>
        </p:nvSpPr>
        <p:spPr>
          <a:xfrm>
            <a:off x="4391844" y="1908635"/>
            <a:ext cx="3308195" cy="12043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84CA7F-4BBB-3C1F-90E5-7C28229EDE50}"/>
              </a:ext>
            </a:extLst>
          </p:cNvPr>
          <p:cNvSpPr txBox="1"/>
          <p:nvPr/>
        </p:nvSpPr>
        <p:spPr>
          <a:xfrm>
            <a:off x="5153844" y="1950354"/>
            <a:ext cx="1784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Majority Voter</a:t>
            </a:r>
          </a:p>
        </p:txBody>
      </p:sp>
      <p:sp>
        <p:nvSpPr>
          <p:cNvPr id="49" name="이등변 삼각형 48">
            <a:extLst>
              <a:ext uri="{FF2B5EF4-FFF2-40B4-BE49-F238E27FC236}">
                <a16:creationId xmlns:a16="http://schemas.microsoft.com/office/drawing/2014/main" id="{B7A0E066-B272-D292-4CB7-DF0D322269C9}"/>
              </a:ext>
            </a:extLst>
          </p:cNvPr>
          <p:cNvSpPr/>
          <p:nvPr/>
        </p:nvSpPr>
        <p:spPr>
          <a:xfrm rot="5400000">
            <a:off x="5925714" y="1959628"/>
            <a:ext cx="653972" cy="1370676"/>
          </a:xfrm>
          <a:prstGeom prst="triangle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91885A-ABAF-16EB-D164-57B8561FA56A}"/>
              </a:ext>
            </a:extLst>
          </p:cNvPr>
          <p:cNvSpPr txBox="1"/>
          <p:nvPr/>
        </p:nvSpPr>
        <p:spPr>
          <a:xfrm>
            <a:off x="6938038" y="2491930"/>
            <a:ext cx="6170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1-bit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D40D13-9ECD-F27C-0877-ACE4038B2CC3}"/>
              </a:ext>
            </a:extLst>
          </p:cNvPr>
          <p:cNvSpPr txBox="1"/>
          <p:nvPr/>
        </p:nvSpPr>
        <p:spPr>
          <a:xfrm>
            <a:off x="8768623" y="1948647"/>
            <a:ext cx="3137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Hierarchical Majority Voter</a:t>
            </a: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080AF693-F8D7-8C40-EC2A-9D4CF5EF574D}"/>
              </a:ext>
            </a:extLst>
          </p:cNvPr>
          <p:cNvSpPr/>
          <p:nvPr/>
        </p:nvSpPr>
        <p:spPr>
          <a:xfrm rot="5400000">
            <a:off x="9818355" y="2199859"/>
            <a:ext cx="216388" cy="382779"/>
          </a:xfrm>
          <a:prstGeom prst="triangle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DFAFF185-1EE6-5D16-0660-539D0930392A}"/>
              </a:ext>
            </a:extLst>
          </p:cNvPr>
          <p:cNvSpPr/>
          <p:nvPr/>
        </p:nvSpPr>
        <p:spPr>
          <a:xfrm rot="5400000">
            <a:off x="9818355" y="2417580"/>
            <a:ext cx="216388" cy="382779"/>
          </a:xfrm>
          <a:prstGeom prst="triangle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id="{5A85148D-A8F6-DA1E-C991-CFC897A5861C}"/>
              </a:ext>
            </a:extLst>
          </p:cNvPr>
          <p:cNvSpPr/>
          <p:nvPr/>
        </p:nvSpPr>
        <p:spPr>
          <a:xfrm rot="5400000">
            <a:off x="9818355" y="2786913"/>
            <a:ext cx="216388" cy="382779"/>
          </a:xfrm>
          <a:prstGeom prst="triangle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0D1AE-0DBF-9D55-E003-678729927990}"/>
              </a:ext>
            </a:extLst>
          </p:cNvPr>
          <p:cNvSpPr txBox="1"/>
          <p:nvPr/>
        </p:nvSpPr>
        <p:spPr>
          <a:xfrm>
            <a:off x="9577694" y="2695501"/>
            <a:ext cx="461665" cy="2750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/>
              <a:t>..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6AA121D-C27E-CEB8-BDE2-001262D88991}"/>
                  </a:ext>
                </a:extLst>
              </p:cNvPr>
              <p:cNvSpPr txBox="1"/>
              <p:nvPr/>
            </p:nvSpPr>
            <p:spPr>
              <a:xfrm>
                <a:off x="4352312" y="2478164"/>
                <a:ext cx="134458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1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r>
                      <a:rPr lang="en-US" altLang="ko-KR" sz="11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1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ko-KR" sz="11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altLang="ko-KR" sz="11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11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ko-KR" sz="11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sub>
                    </m:sSub>
                  </m:oMath>
                </a14:m>
                <a:r>
                  <a:rPr lang="en-US" altLang="ko-KR" sz="1100" b="1" dirty="0"/>
                  <a:t>-bit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6AA121D-C27E-CEB8-BDE2-001262D88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312" y="2478164"/>
                <a:ext cx="1344586" cy="261610"/>
              </a:xfrm>
              <a:prstGeom prst="rect">
                <a:avLst/>
              </a:prstGeom>
              <a:blipFill>
                <a:blip r:embed="rId5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6F912225-D01E-8990-D32C-A3B144762BB2}"/>
              </a:ext>
            </a:extLst>
          </p:cNvPr>
          <p:cNvSpPr txBox="1"/>
          <p:nvPr/>
        </p:nvSpPr>
        <p:spPr>
          <a:xfrm>
            <a:off x="9302397" y="2252835"/>
            <a:ext cx="4800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n-bit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DE63F9-562B-D8D0-03AD-58CBFC5464AA}"/>
              </a:ext>
            </a:extLst>
          </p:cNvPr>
          <p:cNvSpPr txBox="1"/>
          <p:nvPr/>
        </p:nvSpPr>
        <p:spPr>
          <a:xfrm>
            <a:off x="9302397" y="2470943"/>
            <a:ext cx="4800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n-bit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280133-FD8C-9670-6844-3BB795EC52DF}"/>
              </a:ext>
            </a:extLst>
          </p:cNvPr>
          <p:cNvSpPr txBox="1"/>
          <p:nvPr/>
        </p:nvSpPr>
        <p:spPr>
          <a:xfrm>
            <a:off x="9302397" y="2834175"/>
            <a:ext cx="4800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n-bit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EB66C1-34F0-6DE3-D331-FEC8A78E9AEB}"/>
              </a:ext>
            </a:extLst>
          </p:cNvPr>
          <p:cNvSpPr txBox="1"/>
          <p:nvPr/>
        </p:nvSpPr>
        <p:spPr>
          <a:xfrm>
            <a:off x="10084104" y="2851358"/>
            <a:ext cx="6170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/>
              <a:t>1-bit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C8F709B-38A0-0B4B-F906-E0B8B1D88D32}"/>
              </a:ext>
            </a:extLst>
          </p:cNvPr>
          <p:cNvSpPr txBox="1"/>
          <p:nvPr/>
        </p:nvSpPr>
        <p:spPr>
          <a:xfrm>
            <a:off x="10064303" y="2491930"/>
            <a:ext cx="6170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/>
              <a:t>1-bit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38CE01-1DE9-3745-1001-342BD0C0CA43}"/>
              </a:ext>
            </a:extLst>
          </p:cNvPr>
          <p:cNvSpPr txBox="1"/>
          <p:nvPr/>
        </p:nvSpPr>
        <p:spPr>
          <a:xfrm>
            <a:off x="10064303" y="2271425"/>
            <a:ext cx="6170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/>
              <a:t>1-bit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21E518-59A6-1DF2-F1ED-83BC947A0DB2}"/>
              </a:ext>
            </a:extLst>
          </p:cNvPr>
          <p:cNvSpPr txBox="1"/>
          <p:nvPr/>
        </p:nvSpPr>
        <p:spPr>
          <a:xfrm>
            <a:off x="10157471" y="2692481"/>
            <a:ext cx="461665" cy="2750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68" name="이등변 삼각형 67">
            <a:extLst>
              <a:ext uri="{FF2B5EF4-FFF2-40B4-BE49-F238E27FC236}">
                <a16:creationId xmlns:a16="http://schemas.microsoft.com/office/drawing/2014/main" id="{9987B647-13BD-87D5-8BDA-757829837578}"/>
              </a:ext>
            </a:extLst>
          </p:cNvPr>
          <p:cNvSpPr/>
          <p:nvPr/>
        </p:nvSpPr>
        <p:spPr>
          <a:xfrm rot="5400000">
            <a:off x="10451278" y="2513755"/>
            <a:ext cx="628565" cy="382779"/>
          </a:xfrm>
          <a:prstGeom prst="triangle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34485F-F560-667F-F930-08D5C3536058}"/>
              </a:ext>
            </a:extLst>
          </p:cNvPr>
          <p:cNvSpPr txBox="1"/>
          <p:nvPr/>
        </p:nvSpPr>
        <p:spPr>
          <a:xfrm>
            <a:off x="10937828" y="2568402"/>
            <a:ext cx="6170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/>
              <a:t>1-bit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FEB34F4-FB85-09A7-FDAE-7977B2CB3102}"/>
              </a:ext>
            </a:extLst>
          </p:cNvPr>
          <p:cNvSpPr txBox="1"/>
          <p:nvPr/>
        </p:nvSpPr>
        <p:spPr>
          <a:xfrm>
            <a:off x="1256742" y="3887612"/>
            <a:ext cx="10356137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PTQ</a:t>
            </a:r>
          </a:p>
          <a:p>
            <a:r>
              <a:rPr lang="en-US" altLang="ko-KR" dirty="0"/>
              <a:t>	</a:t>
            </a:r>
            <a:r>
              <a:rPr lang="en-US" altLang="ko-KR" sz="1400" dirty="0"/>
              <a:t>- Majority Voter</a:t>
            </a:r>
            <a:r>
              <a:rPr lang="ko-KR" altLang="en-US" sz="1400" dirty="0"/>
              <a:t>와 </a:t>
            </a:r>
            <a:r>
              <a:rPr lang="en-US" altLang="ko-KR" sz="1400" dirty="0"/>
              <a:t>Hierarchical Majority Voter </a:t>
            </a:r>
            <a:r>
              <a:rPr lang="ko-KR" altLang="en-US" sz="1400" dirty="0" err="1"/>
              <a:t>일치율</a:t>
            </a:r>
            <a:endParaRPr lang="en-US" altLang="ko-KR" sz="1400" dirty="0"/>
          </a:p>
          <a:p>
            <a:r>
              <a:rPr lang="en-US" altLang="ko-KR" sz="1400" dirty="0"/>
              <a:t>	- Accuracy </a:t>
            </a:r>
            <a:r>
              <a:rPr lang="ko-KR" altLang="en-US" sz="1400" dirty="0"/>
              <a:t>측정 </a:t>
            </a:r>
            <a:r>
              <a:rPr lang="en-US" altLang="ko-KR" sz="1400" dirty="0"/>
              <a:t>( Single Layer / All-Layer)</a:t>
            </a:r>
          </a:p>
          <a:p>
            <a:endParaRPr lang="en-US" altLang="ko-KR" b="1" dirty="0"/>
          </a:p>
          <a:p>
            <a:r>
              <a:rPr lang="en-US" altLang="ko-KR" b="1" dirty="0"/>
              <a:t>2. QAT</a:t>
            </a:r>
          </a:p>
          <a:p>
            <a:r>
              <a:rPr lang="en-US" altLang="ko-KR" b="1" dirty="0"/>
              <a:t>	</a:t>
            </a:r>
            <a:r>
              <a:rPr lang="en-US" altLang="ko-KR" sz="1400" dirty="0"/>
              <a:t>- Accuracy </a:t>
            </a:r>
            <a:r>
              <a:rPr lang="ko-KR" altLang="en-US" sz="1400" dirty="0"/>
              <a:t>측정 </a:t>
            </a:r>
            <a:r>
              <a:rPr lang="en-US" altLang="ko-KR" sz="1400" dirty="0"/>
              <a:t>( Single Layer / All-Layer)</a:t>
            </a:r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422540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A3F9-015B-9B6E-280B-DF750D50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3D9F2-2C42-D3B6-98FF-F45A1643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Hierarchical Majority Voter</a:t>
            </a:r>
            <a:r>
              <a:rPr lang="ko-KR" altLang="en-US" sz="4000" dirty="0"/>
              <a:t> 분석</a:t>
            </a:r>
            <a:endParaRPr lang="en-US" altLang="ko-K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F5B37-D71B-EB93-B76F-46A462E0D96B}"/>
              </a:ext>
            </a:extLst>
          </p:cNvPr>
          <p:cNvSpPr txBox="1"/>
          <p:nvPr/>
        </p:nvSpPr>
        <p:spPr>
          <a:xfrm>
            <a:off x="267628" y="1148646"/>
            <a:ext cx="1336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1,000,000</a:t>
            </a:r>
            <a:r>
              <a:rPr lang="ko-KR" altLang="en-US" dirty="0"/>
              <a:t>개의 </a:t>
            </a:r>
            <a:r>
              <a:rPr lang="en-US" altLang="ko-KR" dirty="0"/>
              <a:t>random</a:t>
            </a:r>
            <a:r>
              <a:rPr lang="ko-KR" altLang="en-US" dirty="0"/>
              <a:t> </a:t>
            </a:r>
            <a:r>
              <a:rPr lang="en-US" altLang="ko-KR" dirty="0"/>
              <a:t>576-bit</a:t>
            </a:r>
            <a:r>
              <a:rPr lang="ko-KR" altLang="en-US" dirty="0"/>
              <a:t> </a:t>
            </a:r>
            <a:r>
              <a:rPr lang="en-US" altLang="ko-KR" dirty="0"/>
              <a:t>Input</a:t>
            </a:r>
            <a:r>
              <a:rPr lang="ko-KR" altLang="en-US" dirty="0"/>
              <a:t>에 대한 </a:t>
            </a:r>
            <a:r>
              <a:rPr lang="en-US" altLang="ko-KR" dirty="0"/>
              <a:t>Hierarchical Majority Voter</a:t>
            </a:r>
            <a:r>
              <a:rPr lang="ko-KR" altLang="en-US" dirty="0"/>
              <a:t> 분석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E0109CE-FAC7-0DA3-AE77-902DD4A24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3659"/>
              </p:ext>
            </p:extLst>
          </p:nvPr>
        </p:nvGraphicFramePr>
        <p:xfrm>
          <a:off x="267626" y="1613519"/>
          <a:ext cx="11351946" cy="4520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247">
                  <a:extLst>
                    <a:ext uri="{9D8B030D-6E8A-4147-A177-3AD203B41FA5}">
                      <a16:colId xmlns:a16="http://schemas.microsoft.com/office/drawing/2014/main" val="1432280262"/>
                    </a:ext>
                  </a:extLst>
                </a:gridCol>
                <a:gridCol w="4747349">
                  <a:extLst>
                    <a:ext uri="{9D8B030D-6E8A-4147-A177-3AD203B41FA5}">
                      <a16:colId xmlns:a16="http://schemas.microsoft.com/office/drawing/2014/main" val="3341214399"/>
                    </a:ext>
                  </a:extLst>
                </a:gridCol>
                <a:gridCol w="2373675">
                  <a:extLst>
                    <a:ext uri="{9D8B030D-6E8A-4147-A177-3AD203B41FA5}">
                      <a16:colId xmlns:a16="http://schemas.microsoft.com/office/drawing/2014/main" val="3432600941"/>
                    </a:ext>
                  </a:extLst>
                </a:gridCol>
                <a:gridCol w="2373675">
                  <a:extLst>
                    <a:ext uri="{9D8B030D-6E8A-4147-A177-3AD203B41FA5}">
                      <a16:colId xmlns:a16="http://schemas.microsoft.com/office/drawing/2014/main" val="4149272648"/>
                    </a:ext>
                  </a:extLst>
                </a:gridCol>
              </a:tblGrid>
              <a:tr h="55313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Bit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Hierarchical Majority Voter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576-bit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Majority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Voter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와의 </a:t>
                      </a:r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일치율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7446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Tie = -1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Tie = 1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063101"/>
                  </a:ext>
                </a:extLst>
              </a:tr>
              <a:tr h="453997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576-bit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9-bit majority voter * 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80.72%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80.70%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374040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16-bit majority voter * 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60.16%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59.99%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87650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32-bit majority voter * 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69.77%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69.65%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005388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64-bit majority voter * 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79.46%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79.38%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98904"/>
                  </a:ext>
                </a:extLst>
              </a:tr>
              <a:tr h="453997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575-bit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(1-bit drop)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23-bit majority voter * 25,</a:t>
                      </a:r>
                      <a:r>
                        <a:rPr lang="ko-KR" altLang="en-US" sz="1400" dirty="0"/>
                        <a:t> 앞 </a:t>
                      </a:r>
                      <a:r>
                        <a:rPr lang="en-US" altLang="ko-KR" sz="1400" dirty="0"/>
                        <a:t>1-bit drop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80.31%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80.31%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509899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23-bit majority voter * 25,</a:t>
                      </a:r>
                      <a:r>
                        <a:rPr lang="ko-KR" altLang="en-US" sz="1400" dirty="0"/>
                        <a:t> 뒤 </a:t>
                      </a:r>
                      <a:r>
                        <a:rPr lang="en-US" altLang="ko-KR" sz="1400" dirty="0"/>
                        <a:t>1-bit drop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80.31%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80.31%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269368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25-bit majority voter * 23,</a:t>
                      </a:r>
                      <a:r>
                        <a:rPr lang="ko-KR" altLang="en-US" sz="1400" dirty="0"/>
                        <a:t> 앞 </a:t>
                      </a:r>
                      <a:r>
                        <a:rPr lang="en-US" altLang="ko-KR" sz="1400" dirty="0"/>
                        <a:t>1-bit drop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80.29%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80.30%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977218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25-bit majority voter * 23,</a:t>
                      </a:r>
                      <a:r>
                        <a:rPr lang="ko-KR" altLang="en-US" sz="1400" dirty="0"/>
                        <a:t> 뒤 </a:t>
                      </a:r>
                      <a:r>
                        <a:rPr lang="en-US" altLang="ko-KR" sz="1400" dirty="0"/>
                        <a:t>1-bit drop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80.26%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80.26%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778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3CD31D-8D45-B08E-B44C-E6CDE831C5E5}"/>
              </a:ext>
            </a:extLst>
          </p:cNvPr>
          <p:cNvSpPr txBox="1"/>
          <p:nvPr/>
        </p:nvSpPr>
        <p:spPr>
          <a:xfrm>
            <a:off x="-36801" y="6229453"/>
            <a:ext cx="102558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200" dirty="0"/>
              <a:t>* 23x25</a:t>
            </a:r>
            <a:r>
              <a:rPr lang="ko-KR" altLang="en-US" sz="1200" dirty="0"/>
              <a:t>의 </a:t>
            </a:r>
            <a:r>
              <a:rPr lang="en-US" altLang="ko-KR" sz="1200" dirty="0"/>
              <a:t>tie</a:t>
            </a:r>
            <a:r>
              <a:rPr lang="ko-KR" altLang="en-US" sz="1200" dirty="0"/>
              <a:t>를 </a:t>
            </a:r>
            <a:r>
              <a:rPr lang="en-US" altLang="ko-KR" sz="1200" dirty="0"/>
              <a:t>-1</a:t>
            </a:r>
            <a:r>
              <a:rPr lang="ko-KR" altLang="en-US" sz="1200" dirty="0"/>
              <a:t>으로 취급하는 것과 </a:t>
            </a:r>
            <a:r>
              <a:rPr lang="en-US" altLang="ko-KR" sz="1200" dirty="0"/>
              <a:t>1</a:t>
            </a:r>
            <a:r>
              <a:rPr lang="ko-KR" altLang="en-US" sz="1200" dirty="0"/>
              <a:t>로 취급하는 것의 값은 완전히 같은 값은 아님</a:t>
            </a:r>
            <a:r>
              <a:rPr lang="en-US" altLang="ko-KR" sz="1200" dirty="0"/>
              <a:t>(</a:t>
            </a:r>
            <a:r>
              <a:rPr lang="ko-KR" altLang="en-US" sz="1200" dirty="0"/>
              <a:t>소수점 </a:t>
            </a:r>
            <a:r>
              <a:rPr lang="en-US" altLang="ko-KR" sz="1200" dirty="0"/>
              <a:t>3</a:t>
            </a:r>
            <a:r>
              <a:rPr lang="ko-KR" altLang="en-US" sz="1200" dirty="0" err="1"/>
              <a:t>째자리</a:t>
            </a:r>
            <a:r>
              <a:rPr lang="ko-KR" altLang="en-US" sz="1200" dirty="0"/>
              <a:t> 이하의 값이 다름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4043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421D-A255-D1EF-87E0-4862BD608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B8061-AF8A-8C0C-C7BD-137803040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82" y="3085420"/>
            <a:ext cx="12021437" cy="687161"/>
          </a:xfrm>
        </p:spPr>
        <p:txBody>
          <a:bodyPr>
            <a:normAutofit/>
          </a:bodyPr>
          <a:lstStyle/>
          <a:p>
            <a:pPr algn="ctr"/>
            <a:r>
              <a:rPr lang="ko-KR" altLang="en-US" sz="4000" dirty="0"/>
              <a:t>학습 실험</a:t>
            </a:r>
            <a:endParaRPr lang="en-US" altLang="ko-KR" sz="4000" dirty="0"/>
          </a:p>
        </p:txBody>
      </p:sp>
    </p:spTree>
    <p:extLst>
      <p:ext uri="{BB962C8B-B14F-4D97-AF65-F5344CB8AC3E}">
        <p14:creationId xmlns:p14="http://schemas.microsoft.com/office/powerpoint/2010/main" val="314593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7A90-6D33-FDC5-6EDB-7CD1EF29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464EE-6244-95C2-1A5F-73C5F933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PopBin</a:t>
            </a:r>
            <a:r>
              <a:rPr lang="en-US" altLang="ko-KR" sz="4000" dirty="0"/>
              <a:t> + Hierarchical Majority Voter</a:t>
            </a:r>
            <a:r>
              <a:rPr lang="ko-KR" altLang="en-US" sz="4000" dirty="0"/>
              <a:t> 실험</a:t>
            </a:r>
            <a:r>
              <a:rPr lang="en-US" altLang="ko-KR" sz="4000" dirty="0"/>
              <a:t> </a:t>
            </a:r>
            <a:r>
              <a:rPr lang="ko-KR" altLang="en-US" sz="4000" dirty="0"/>
              <a:t>결과</a:t>
            </a:r>
            <a:endParaRPr lang="en-US" altLang="ko-KR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A82ADC-9634-645A-DB4A-1886E6CC8D18}"/>
              </a:ext>
            </a:extLst>
          </p:cNvPr>
          <p:cNvSpPr txBox="1"/>
          <p:nvPr/>
        </p:nvSpPr>
        <p:spPr>
          <a:xfrm>
            <a:off x="267627" y="1113369"/>
            <a:ext cx="8430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en-US" altLang="ko-KR" b="1" dirty="0"/>
              <a:t> – </a:t>
            </a:r>
            <a:r>
              <a:rPr lang="en-US" altLang="ko-KR" b="1" dirty="0" err="1"/>
              <a:t>PopBin</a:t>
            </a:r>
            <a:r>
              <a:rPr lang="en-US" altLang="ko-KR" b="1" dirty="0"/>
              <a:t> + 9-bit Majority Voter * </a:t>
            </a:r>
            <a:r>
              <a:rPr lang="en-US" altLang="ko-KR" b="1" dirty="0" err="1"/>
              <a:t>C_in</a:t>
            </a:r>
            <a:r>
              <a:rPr lang="en-US" altLang="ko-KR" b="1" dirty="0"/>
              <a:t> </a:t>
            </a:r>
            <a:r>
              <a:rPr lang="ko-KR" altLang="en-US" b="1" dirty="0"/>
              <a:t>실험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B88242B-144E-7B4F-ADD4-A5542E381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048865"/>
              </p:ext>
            </p:extLst>
          </p:nvPr>
        </p:nvGraphicFramePr>
        <p:xfrm>
          <a:off x="267627" y="1613519"/>
          <a:ext cx="11479175" cy="4211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907">
                  <a:extLst>
                    <a:ext uri="{9D8B030D-6E8A-4147-A177-3AD203B41FA5}">
                      <a16:colId xmlns:a16="http://schemas.microsoft.com/office/drawing/2014/main" val="2654488976"/>
                    </a:ext>
                  </a:extLst>
                </a:gridCol>
                <a:gridCol w="1162767">
                  <a:extLst>
                    <a:ext uri="{9D8B030D-6E8A-4147-A177-3AD203B41FA5}">
                      <a16:colId xmlns:a16="http://schemas.microsoft.com/office/drawing/2014/main" val="1432280262"/>
                    </a:ext>
                  </a:extLst>
                </a:gridCol>
                <a:gridCol w="3136153">
                  <a:extLst>
                    <a:ext uri="{9D8B030D-6E8A-4147-A177-3AD203B41FA5}">
                      <a16:colId xmlns:a16="http://schemas.microsoft.com/office/drawing/2014/main" val="3683252766"/>
                    </a:ext>
                  </a:extLst>
                </a:gridCol>
                <a:gridCol w="2972174">
                  <a:extLst>
                    <a:ext uri="{9D8B030D-6E8A-4147-A177-3AD203B41FA5}">
                      <a16:colId xmlns:a16="http://schemas.microsoft.com/office/drawing/2014/main" val="3341214399"/>
                    </a:ext>
                  </a:extLst>
                </a:gridCol>
                <a:gridCol w="2972174">
                  <a:extLst>
                    <a:ext uri="{9D8B030D-6E8A-4147-A177-3AD203B41FA5}">
                      <a16:colId xmlns:a16="http://schemas.microsoft.com/office/drawing/2014/main" val="3432600941"/>
                    </a:ext>
                  </a:extLst>
                </a:gridCol>
              </a:tblGrid>
              <a:tr h="5531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Hierarchical Majority Voter </a:t>
                      </a:r>
                    </a:p>
                    <a:p>
                      <a:pPr algn="ctr" latinLnBrk="1"/>
                      <a:r>
                        <a:rPr lang="ko-KR" altLang="en-US" sz="1600" dirty="0"/>
                        <a:t>적용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Tie Rule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Top-1 / Top-5 Accuracy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744624"/>
                  </a:ext>
                </a:extLst>
              </a:tr>
              <a:tr h="453997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ReActNet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PTQ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모든 </a:t>
                      </a:r>
                      <a:r>
                        <a:rPr lang="en-US" altLang="ko-KR" sz="1600" dirty="0"/>
                        <a:t>Layer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Tie = -1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1.19% / 6.61%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374040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Tie = 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1.00% / 5.16%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87650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Layer-Wise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Tie = -1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다음페이지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005388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Tie = 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98904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QAT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모든 </a:t>
                      </a:r>
                      <a:r>
                        <a:rPr lang="en-US" altLang="ko-KR" sz="1600" dirty="0"/>
                        <a:t>Layer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Tie = -1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37.34% / 67.32%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509899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Tie = 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진행중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269368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Layer-Wise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Tie = -1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진행 예정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977218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Tie = 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진행 예정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778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FCFC2D-0F66-BC26-261D-3E319005AE43}"/>
              </a:ext>
            </a:extLst>
          </p:cNvPr>
          <p:cNvSpPr txBox="1"/>
          <p:nvPr/>
        </p:nvSpPr>
        <p:spPr>
          <a:xfrm>
            <a:off x="267627" y="6011609"/>
            <a:ext cx="61554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*</a:t>
            </a:r>
            <a:r>
              <a:rPr lang="en-US" altLang="ko-KR" sz="1400" dirty="0" err="1"/>
              <a:t>PopBin</a:t>
            </a:r>
            <a:r>
              <a:rPr lang="ko-KR" altLang="en-US" sz="1400" dirty="0"/>
              <a:t>의 top-1 </a:t>
            </a:r>
            <a:r>
              <a:rPr lang="ko-KR" altLang="en-US" sz="1400" dirty="0" err="1"/>
              <a:t>acc</a:t>
            </a:r>
            <a:r>
              <a:rPr lang="ko-KR" altLang="en-US" sz="1400" dirty="0"/>
              <a:t> : 6</a:t>
            </a:r>
            <a:r>
              <a:rPr lang="en-US" altLang="ko-KR" sz="1400" dirty="0"/>
              <a:t>5</a:t>
            </a:r>
            <a:r>
              <a:rPr lang="ko-KR" altLang="en-US" sz="1400" dirty="0"/>
              <a:t>.</a:t>
            </a:r>
            <a:r>
              <a:rPr lang="en-US" altLang="ko-KR" sz="1400" dirty="0"/>
              <a:t>28%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7287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D76A2-BDB5-9279-E9EE-161F151C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FBF82-7C32-DAAA-DB36-36E842B0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PopBin</a:t>
            </a:r>
            <a:r>
              <a:rPr lang="en-US" altLang="ko-KR" sz="4000" dirty="0"/>
              <a:t> + Hierarchical Majority Voter</a:t>
            </a:r>
            <a:r>
              <a:rPr lang="ko-KR" altLang="en-US" sz="4000" dirty="0"/>
              <a:t> 실험</a:t>
            </a:r>
            <a:r>
              <a:rPr lang="en-US" altLang="ko-KR" sz="4000" dirty="0"/>
              <a:t> </a:t>
            </a:r>
            <a:r>
              <a:rPr lang="ko-KR" altLang="en-US" sz="4000" dirty="0"/>
              <a:t>결과</a:t>
            </a:r>
            <a:endParaRPr lang="en-US" altLang="ko-KR" sz="40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69B8C21-0FDB-13C0-3EAF-0B69FD1D7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071487"/>
              </p:ext>
            </p:extLst>
          </p:nvPr>
        </p:nvGraphicFramePr>
        <p:xfrm>
          <a:off x="327099" y="1482239"/>
          <a:ext cx="11132544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58369228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798722136"/>
                    </a:ext>
                  </a:extLst>
                </a:gridCol>
                <a:gridCol w="1928136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928136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573358445"/>
                    </a:ext>
                  </a:extLst>
                </a:gridCol>
                <a:gridCol w="1928136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  <a:gridCol w="1928136">
                  <a:extLst>
                    <a:ext uri="{9D8B030D-6E8A-4147-A177-3AD203B41FA5}">
                      <a16:colId xmlns:a16="http://schemas.microsoft.com/office/drawing/2014/main" val="1384310567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Quantization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Tie Rule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Hierarchical Majority Voter </a:t>
                      </a: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/>
                        <a:t>Layer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Top-1 / Top-5 Accuracy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Tie Rule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Hierarchical Majority Voter </a:t>
                      </a: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/>
                        <a:t>Layer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Top-1 / Top-5 Accuracy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 rowSpan="1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PTQ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Tie = 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All layer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1.19% / 6.61%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Tie = 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All layer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1.00% / 5.16%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79691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49.44% / 77.96%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46.48% / 75.91%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49.03% / 77.32%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45.40% / 74.38%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47.88% / 76.95%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11.01% / 31.90%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50.41% / 78.56%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46.04% 75.34%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46.90% / 75.81%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8.07% / 26.48%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49.46% / 77.97%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46.43% / 75.35%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05796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46.68% / 75.58%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29.39% / 60.69%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97758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49.11% / 77.21%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40.07% / 70.40%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74515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48.91% / 77.29%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46.50% / 76.00%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4363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50.32% / 77.60%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47.91% / 77.31%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187824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49.44% / 77.57%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48.27% / 77.23%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18998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49.18% / 77.07%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48.14% / 77.58%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268325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51.20% / 78.80%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51.23% / 78.86%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629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A3FD199-2D21-C405-5444-6556DB21BE98}"/>
              </a:ext>
            </a:extLst>
          </p:cNvPr>
          <p:cNvSpPr txBox="1"/>
          <p:nvPr/>
        </p:nvSpPr>
        <p:spPr>
          <a:xfrm>
            <a:off x="267627" y="988255"/>
            <a:ext cx="8430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en-US" altLang="ko-KR" b="1" dirty="0"/>
              <a:t> – </a:t>
            </a:r>
            <a:r>
              <a:rPr lang="en-US" altLang="ko-KR" b="1" dirty="0" err="1"/>
              <a:t>PopBin</a:t>
            </a:r>
            <a:r>
              <a:rPr lang="en-US" altLang="ko-KR" b="1" dirty="0"/>
              <a:t> + 9-bit Majority Voter * </a:t>
            </a:r>
            <a:r>
              <a:rPr lang="en-US" altLang="ko-KR" b="1" dirty="0" err="1"/>
              <a:t>C_in</a:t>
            </a:r>
            <a:r>
              <a:rPr lang="en-US" altLang="ko-KR" b="1" dirty="0"/>
              <a:t> </a:t>
            </a:r>
            <a:r>
              <a:rPr lang="ko-KR" altLang="en-US" b="1" dirty="0"/>
              <a:t>실험</a:t>
            </a:r>
            <a:r>
              <a:rPr lang="en-US" altLang="ko-KR" b="1" dirty="0"/>
              <a:t>(PTQ, Layer-Wise)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F3762-81C9-ED3D-A475-9CAEFA5D8D50}"/>
              </a:ext>
            </a:extLst>
          </p:cNvPr>
          <p:cNvSpPr txBox="1"/>
          <p:nvPr/>
        </p:nvSpPr>
        <p:spPr>
          <a:xfrm>
            <a:off x="267627" y="6373780"/>
            <a:ext cx="9144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Tie = 1</a:t>
            </a:r>
            <a:r>
              <a:rPr lang="ko-KR" altLang="en-US" sz="1400" dirty="0"/>
              <a:t>인 경우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Downsampling</a:t>
            </a:r>
            <a:r>
              <a:rPr lang="en-US" altLang="ko-KR" sz="1400" dirty="0"/>
              <a:t> Layer </a:t>
            </a:r>
            <a:r>
              <a:rPr lang="ko-KR" altLang="en-US" sz="1400" dirty="0"/>
              <a:t>직후의 </a:t>
            </a:r>
            <a:r>
              <a:rPr lang="en-US" altLang="ko-KR" sz="1400" dirty="0"/>
              <a:t>Layer</a:t>
            </a:r>
            <a:r>
              <a:rPr lang="ko-KR" altLang="en-US" sz="1400" dirty="0"/>
              <a:t>에 </a:t>
            </a:r>
            <a:r>
              <a:rPr lang="en-US" altLang="ko-KR" sz="1400" dirty="0" err="1"/>
              <a:t>Hiearchical</a:t>
            </a:r>
            <a:r>
              <a:rPr lang="en-US" altLang="ko-KR" sz="1400" dirty="0"/>
              <a:t> Majority Voter </a:t>
            </a:r>
            <a:r>
              <a:rPr lang="ko-KR" altLang="en-US" sz="1400" dirty="0"/>
              <a:t>적용 시 </a:t>
            </a:r>
            <a:r>
              <a:rPr lang="en-US" altLang="ko-KR" sz="1400" dirty="0"/>
              <a:t>Accuracy</a:t>
            </a:r>
            <a:r>
              <a:rPr lang="ko-KR" altLang="en-US" sz="1400" dirty="0"/>
              <a:t>가 매우 하락</a:t>
            </a:r>
          </a:p>
        </p:txBody>
      </p:sp>
    </p:spTree>
    <p:extLst>
      <p:ext uri="{BB962C8B-B14F-4D97-AF65-F5344CB8AC3E}">
        <p14:creationId xmlns:p14="http://schemas.microsoft.com/office/powerpoint/2010/main" val="179997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8AC5-102B-E5F2-2D0A-64CB95FD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704CD-CC3B-BBA4-8665-F0EE2128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PopBin</a:t>
            </a:r>
            <a:r>
              <a:rPr lang="en-US" altLang="ko-KR" sz="4000" dirty="0"/>
              <a:t> + Hierarchical Majority Voter</a:t>
            </a:r>
            <a:r>
              <a:rPr lang="ko-KR" altLang="en-US" sz="4000" dirty="0"/>
              <a:t> 실험</a:t>
            </a:r>
            <a:r>
              <a:rPr lang="en-US" altLang="ko-KR" sz="4000" dirty="0"/>
              <a:t> </a:t>
            </a:r>
            <a:r>
              <a:rPr lang="ko-KR" altLang="en-US" sz="4000" dirty="0"/>
              <a:t>결과</a:t>
            </a:r>
            <a:endParaRPr lang="en-US" altLang="ko-KR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9CC71E-575A-6F3D-1DF3-D8AC53B5CE67}"/>
              </a:ext>
            </a:extLst>
          </p:cNvPr>
          <p:cNvSpPr txBox="1"/>
          <p:nvPr/>
        </p:nvSpPr>
        <p:spPr>
          <a:xfrm>
            <a:off x="267627" y="1113369"/>
            <a:ext cx="8430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Bi-Real Net – </a:t>
            </a:r>
            <a:r>
              <a:rPr lang="en-US" altLang="ko-KR" b="1" dirty="0" err="1"/>
              <a:t>PopBin</a:t>
            </a:r>
            <a:r>
              <a:rPr lang="en-US" altLang="ko-KR" b="1" dirty="0"/>
              <a:t> + 9-bit Majority Voter * </a:t>
            </a:r>
            <a:r>
              <a:rPr lang="en-US" altLang="ko-KR" b="1" dirty="0" err="1"/>
              <a:t>C_in</a:t>
            </a:r>
            <a:r>
              <a:rPr lang="en-US" altLang="ko-KR" b="1" dirty="0"/>
              <a:t> </a:t>
            </a:r>
            <a:r>
              <a:rPr lang="ko-KR" altLang="en-US" b="1" dirty="0"/>
              <a:t>실험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EBCD099-9A3F-22A3-F4CF-76433E830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199008"/>
              </p:ext>
            </p:extLst>
          </p:nvPr>
        </p:nvGraphicFramePr>
        <p:xfrm>
          <a:off x="267627" y="1613519"/>
          <a:ext cx="11479175" cy="4272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907">
                  <a:extLst>
                    <a:ext uri="{9D8B030D-6E8A-4147-A177-3AD203B41FA5}">
                      <a16:colId xmlns:a16="http://schemas.microsoft.com/office/drawing/2014/main" val="2654488976"/>
                    </a:ext>
                  </a:extLst>
                </a:gridCol>
                <a:gridCol w="1162767">
                  <a:extLst>
                    <a:ext uri="{9D8B030D-6E8A-4147-A177-3AD203B41FA5}">
                      <a16:colId xmlns:a16="http://schemas.microsoft.com/office/drawing/2014/main" val="1432280262"/>
                    </a:ext>
                  </a:extLst>
                </a:gridCol>
                <a:gridCol w="3136153">
                  <a:extLst>
                    <a:ext uri="{9D8B030D-6E8A-4147-A177-3AD203B41FA5}">
                      <a16:colId xmlns:a16="http://schemas.microsoft.com/office/drawing/2014/main" val="3683252766"/>
                    </a:ext>
                  </a:extLst>
                </a:gridCol>
                <a:gridCol w="2972174">
                  <a:extLst>
                    <a:ext uri="{9D8B030D-6E8A-4147-A177-3AD203B41FA5}">
                      <a16:colId xmlns:a16="http://schemas.microsoft.com/office/drawing/2014/main" val="3341214399"/>
                    </a:ext>
                  </a:extLst>
                </a:gridCol>
                <a:gridCol w="2972174">
                  <a:extLst>
                    <a:ext uri="{9D8B030D-6E8A-4147-A177-3AD203B41FA5}">
                      <a16:colId xmlns:a16="http://schemas.microsoft.com/office/drawing/2014/main" val="3432600941"/>
                    </a:ext>
                  </a:extLst>
                </a:gridCol>
              </a:tblGrid>
              <a:tr h="5531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Hierarchical Majority Voter </a:t>
                      </a:r>
                    </a:p>
                    <a:p>
                      <a:pPr algn="ctr" latinLnBrk="1"/>
                      <a:r>
                        <a:rPr lang="ko-KR" altLang="en-US" dirty="0"/>
                        <a:t>적용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Tie Rule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Top-1 / Top-5 Accuracy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744624"/>
                  </a:ext>
                </a:extLst>
              </a:tr>
              <a:tr h="453997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Bi-Real Net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PTQ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모든 </a:t>
                      </a:r>
                      <a:r>
                        <a:rPr lang="en-US" altLang="ko-KR" dirty="0"/>
                        <a:t>Layer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Tie = -1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65.28% / 88.34%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374040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Tie = 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2.62% / 17.33%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87650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Layer-Wise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Tie = -1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다음 페이지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005388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Tie = 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98904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QAT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모든 </a:t>
                      </a:r>
                      <a:r>
                        <a:rPr lang="en-US" altLang="ko-KR" dirty="0"/>
                        <a:t>Layer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Tie = -1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진행 예정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509899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Tie = 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진행 예정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269368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Layer-Wise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Tie = -1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진행 예정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977218"/>
                  </a:ext>
                </a:extLst>
              </a:tr>
              <a:tr h="4539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Tie = 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진행 예정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778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1DB70B0-BA22-61BC-D1D2-44051A0AEF8A}"/>
              </a:ext>
            </a:extLst>
          </p:cNvPr>
          <p:cNvSpPr txBox="1"/>
          <p:nvPr/>
        </p:nvSpPr>
        <p:spPr>
          <a:xfrm>
            <a:off x="267627" y="6011609"/>
            <a:ext cx="61554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*</a:t>
            </a:r>
            <a:r>
              <a:rPr lang="en-US" altLang="ko-KR" sz="1400" dirty="0" err="1"/>
              <a:t>PopBin</a:t>
            </a:r>
            <a:r>
              <a:rPr lang="ko-KR" altLang="en-US" sz="1400" dirty="0"/>
              <a:t>의 top-1 </a:t>
            </a:r>
            <a:r>
              <a:rPr lang="ko-KR" altLang="en-US" sz="1400" dirty="0" err="1"/>
              <a:t>acc</a:t>
            </a:r>
            <a:r>
              <a:rPr lang="ko-KR" altLang="en-US" sz="1400" dirty="0"/>
              <a:t> : 6</a:t>
            </a:r>
            <a:r>
              <a:rPr lang="en-US" altLang="ko-KR" sz="1400" dirty="0"/>
              <a:t>7</a:t>
            </a:r>
            <a:r>
              <a:rPr lang="ko-KR" altLang="en-US" sz="1400" dirty="0"/>
              <a:t>.</a:t>
            </a:r>
            <a:r>
              <a:rPr lang="en-US" altLang="ko-KR" sz="1400" dirty="0"/>
              <a:t>67%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81934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41F4F-BE4B-A98F-BFAF-6CB9F279A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B7EAF-F20B-0F55-3C12-BB14E02D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PopBin</a:t>
            </a:r>
            <a:r>
              <a:rPr lang="en-US" altLang="ko-KR" sz="4000" dirty="0"/>
              <a:t> + Hierarchical Majority Voter</a:t>
            </a:r>
            <a:r>
              <a:rPr lang="ko-KR" altLang="en-US" sz="4000" dirty="0"/>
              <a:t> 실험</a:t>
            </a:r>
            <a:r>
              <a:rPr lang="en-US" altLang="ko-KR" sz="4000" dirty="0"/>
              <a:t> </a:t>
            </a:r>
            <a:r>
              <a:rPr lang="ko-KR" altLang="en-US" sz="4000" dirty="0"/>
              <a:t>결과</a:t>
            </a:r>
            <a:endParaRPr lang="en-US" altLang="ko-KR" sz="40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76CD808-CE17-26E4-2176-6807FB45E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946316"/>
              </p:ext>
            </p:extLst>
          </p:nvPr>
        </p:nvGraphicFramePr>
        <p:xfrm>
          <a:off x="118950" y="863604"/>
          <a:ext cx="11982024" cy="5843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474">
                  <a:extLst>
                    <a:ext uri="{9D8B030D-6E8A-4147-A177-3AD203B41FA5}">
                      <a16:colId xmlns:a16="http://schemas.microsoft.com/office/drawing/2014/main" val="3309560037"/>
                    </a:ext>
                  </a:extLst>
                </a:gridCol>
                <a:gridCol w="1278618">
                  <a:extLst>
                    <a:ext uri="{9D8B030D-6E8A-4147-A177-3AD203B41FA5}">
                      <a16:colId xmlns:a16="http://schemas.microsoft.com/office/drawing/2014/main" val="583692281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798722136"/>
                    </a:ext>
                  </a:extLst>
                </a:gridCol>
                <a:gridCol w="1927944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2098553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573358445"/>
                    </a:ext>
                  </a:extLst>
                </a:gridCol>
                <a:gridCol w="2181522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  <a:gridCol w="1842913">
                  <a:extLst>
                    <a:ext uri="{9D8B030D-6E8A-4147-A177-3AD203B41FA5}">
                      <a16:colId xmlns:a16="http://schemas.microsoft.com/office/drawing/2014/main" val="1384310567"/>
                    </a:ext>
                  </a:extLst>
                </a:gridCol>
              </a:tblGrid>
              <a:tr h="6623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BNN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Quantization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Tie Rule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Hierarchical Majority Voter </a:t>
                      </a: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/>
                        <a:t>Layer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Top-1 / Top-5 Accuracy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Tie Rule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Hierarchical Majority Voter </a:t>
                      </a: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/>
                        <a:t>Layer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Top-1 / Top-5 Accuracy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275979">
                <a:tc rowSpan="17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Bi-Real Net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7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PTQ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7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Tie = -1</a:t>
                      </a:r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All layer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65.28% / 88.34%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Tie = 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All layer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2.62 % / 17.33%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79691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36.41% / 66.22%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35.43% / 64.98%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37.82% / 66.92%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35.50% / 64.63%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37.22% / 66.36%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34.28% / 63.28%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36.93% / 66.14%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35.10% / 63.95%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36.46% / 65.65%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37.50% / 66.47%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37.40% / 66.53%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37.82% / 67.46%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057963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38.73% / 68.02%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38.24% / 67.59%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977583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37.38% / 66.04%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37.17% / 66.76%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74515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35.86% / 64.74%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35.29% / 64.19%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43636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37.91% 67.44%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33.17% / 61.21%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187824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38.71% / 67.72%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34.07% / 62.86%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18998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33.84% / 64.12%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35.76% / 63.54%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268325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13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36.29% / 65.83%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13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34.20% / 63.48%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807384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40.80% / 69.85%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29.19% / 59.30%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964212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40.45% / 69.79%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29.28% / 59.28%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79266"/>
                  </a:ext>
                </a:extLst>
              </a:tr>
              <a:tr h="275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42.30% / 70.68%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31.58% / 62.37%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62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984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F26D-5AE9-63B9-4AEA-77ED4C6F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0FAEA-1A65-3F24-7678-1CBE8C57A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PopBin</a:t>
            </a:r>
            <a:r>
              <a:rPr lang="en-US" altLang="ko-KR" sz="4000" dirty="0"/>
              <a:t> + Hierarchical Majority Voter</a:t>
            </a:r>
            <a:r>
              <a:rPr lang="ko-KR" altLang="en-US" sz="4000" dirty="0"/>
              <a:t> 실험</a:t>
            </a:r>
            <a:r>
              <a:rPr lang="en-US" altLang="ko-KR" sz="4000" dirty="0"/>
              <a:t> </a:t>
            </a:r>
            <a:r>
              <a:rPr lang="ko-KR" altLang="en-US" sz="4000" dirty="0"/>
              <a:t>결과</a:t>
            </a:r>
            <a:endParaRPr lang="en-US" altLang="ko-KR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0CDAA-EA38-0E22-4F4B-1D575077D889}"/>
              </a:ext>
            </a:extLst>
          </p:cNvPr>
          <p:cNvSpPr txBox="1"/>
          <p:nvPr/>
        </p:nvSpPr>
        <p:spPr>
          <a:xfrm>
            <a:off x="810320" y="1899495"/>
            <a:ext cx="105713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PTQ / QAT </a:t>
            </a:r>
            <a:r>
              <a:rPr lang="ko-KR" altLang="en-US" b="1" dirty="0"/>
              <a:t>실험 결과</a:t>
            </a:r>
            <a:endParaRPr lang="en-US" altLang="ko-KR" b="1" dirty="0"/>
          </a:p>
          <a:p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sz="1400" dirty="0"/>
              <a:t>Tie</a:t>
            </a:r>
            <a:r>
              <a:rPr lang="ko-KR" altLang="en-US" sz="1400" dirty="0"/>
              <a:t>를 </a:t>
            </a:r>
            <a:r>
              <a:rPr lang="en-US" altLang="ko-KR" sz="1400" dirty="0"/>
              <a:t>-1</a:t>
            </a:r>
            <a:r>
              <a:rPr lang="ko-KR" altLang="en-US" sz="1400" dirty="0"/>
              <a:t>로 처리한 경우가 </a:t>
            </a:r>
            <a:r>
              <a:rPr lang="en-US" altLang="ko-KR" sz="1400" dirty="0"/>
              <a:t>Tie</a:t>
            </a:r>
            <a:r>
              <a:rPr lang="ko-KR" altLang="en-US" sz="1400" dirty="0"/>
              <a:t>를 </a:t>
            </a:r>
            <a:r>
              <a:rPr lang="en-US" altLang="ko-KR" sz="1400" dirty="0"/>
              <a:t>+1</a:t>
            </a:r>
            <a:r>
              <a:rPr lang="ko-KR" altLang="en-US" sz="1400" dirty="0"/>
              <a:t>로 처리한 것보다 </a:t>
            </a:r>
            <a:r>
              <a:rPr lang="en-US" altLang="ko-KR" sz="1400" dirty="0"/>
              <a:t>Accuracy</a:t>
            </a:r>
            <a:r>
              <a:rPr lang="ko-KR" altLang="en-US" sz="1400" dirty="0"/>
              <a:t>가 일반적으로 더 높음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 err="1"/>
              <a:t>ReActNet</a:t>
            </a:r>
            <a:r>
              <a:rPr lang="ko-KR" altLang="en-US" sz="1400" dirty="0"/>
              <a:t>의</a:t>
            </a:r>
            <a:r>
              <a:rPr lang="en-US" altLang="ko-KR" sz="1400" dirty="0"/>
              <a:t> Layer 3, 5, 7 (</a:t>
            </a:r>
            <a:r>
              <a:rPr lang="en-US" altLang="ko-KR" sz="1400" dirty="0" err="1"/>
              <a:t>downsampling</a:t>
            </a:r>
            <a:r>
              <a:rPr lang="en-US" altLang="ko-KR" sz="1400" dirty="0"/>
              <a:t> </a:t>
            </a:r>
            <a:r>
              <a:rPr lang="ko-KR" altLang="en-US" sz="1400" dirty="0"/>
              <a:t>직후</a:t>
            </a:r>
            <a:r>
              <a:rPr lang="en-US" altLang="ko-KR" sz="1400" dirty="0"/>
              <a:t>)</a:t>
            </a:r>
            <a:r>
              <a:rPr lang="ko-KR" altLang="en-US" sz="1400" dirty="0"/>
              <a:t>는 </a:t>
            </a:r>
            <a:r>
              <a:rPr lang="en-US" altLang="ko-KR" sz="1400" dirty="0"/>
              <a:t>catastrophic</a:t>
            </a:r>
            <a:r>
              <a:rPr lang="ko-KR" altLang="en-US" sz="1400" dirty="0"/>
              <a:t>함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764273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CECF-8F56-2C72-61E9-8D60E77F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E22EC-D9F2-36DD-BC8C-78ED6331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82" y="3085420"/>
            <a:ext cx="12021437" cy="687161"/>
          </a:xfrm>
        </p:spPr>
        <p:txBody>
          <a:bodyPr>
            <a:normAutofit/>
          </a:bodyPr>
          <a:lstStyle/>
          <a:p>
            <a:pPr algn="ctr"/>
            <a:r>
              <a:rPr lang="ko-KR" altLang="en-US" sz="4000" dirty="0"/>
              <a:t>분포 분석 실험</a:t>
            </a:r>
            <a:endParaRPr lang="en-US" altLang="ko-KR" sz="4000" dirty="0"/>
          </a:p>
        </p:txBody>
      </p:sp>
    </p:spTree>
    <p:extLst>
      <p:ext uri="{BB962C8B-B14F-4D97-AF65-F5344CB8AC3E}">
        <p14:creationId xmlns:p14="http://schemas.microsoft.com/office/powerpoint/2010/main" val="4216833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43EDD-1A91-BAA7-B77D-E96DD09E1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4BE36-2353-9A71-6679-DB7FF1512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Hierarchical Majority Voter</a:t>
            </a:r>
            <a:r>
              <a:rPr lang="ko-KR" altLang="en-US" sz="4000" dirty="0"/>
              <a:t> 분석 실험 설계</a:t>
            </a:r>
            <a:endParaRPr lang="en-US" altLang="ko-K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8BE55-75D8-B33F-98BD-CA27BCC8D948}"/>
              </a:ext>
            </a:extLst>
          </p:cNvPr>
          <p:cNvSpPr txBox="1"/>
          <p:nvPr/>
        </p:nvSpPr>
        <p:spPr>
          <a:xfrm>
            <a:off x="706241" y="1289895"/>
            <a:ext cx="872025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ko-KR" altLang="en-US" b="1" dirty="0"/>
              <a:t>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Inference </a:t>
            </a:r>
            <a:r>
              <a:rPr lang="ko-KR" altLang="en-US" b="1" dirty="0"/>
              <a:t>시의 </a:t>
            </a:r>
            <a:r>
              <a:rPr lang="en-US" altLang="ko-KR" b="1" dirty="0"/>
              <a:t>XNOR Output</a:t>
            </a:r>
            <a:r>
              <a:rPr lang="ko-KR" altLang="en-US" b="1" dirty="0"/>
              <a:t>대한 </a:t>
            </a:r>
            <a:r>
              <a:rPr lang="en-US" altLang="ko-KR" b="1" dirty="0"/>
              <a:t>Hierarchical Majority Voter</a:t>
            </a:r>
            <a:r>
              <a:rPr lang="ko-KR" altLang="en-US" b="1" dirty="0"/>
              <a:t> 분석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sz="1400" dirty="0"/>
              <a:t>500</a:t>
            </a:r>
            <a:r>
              <a:rPr lang="ko-KR" altLang="en-US" sz="1400" dirty="0"/>
              <a:t>개의</a:t>
            </a:r>
            <a:r>
              <a:rPr lang="en-US" altLang="ko-KR" sz="1400" dirty="0"/>
              <a:t> CIFAR-100 test data</a:t>
            </a:r>
            <a:r>
              <a:rPr lang="en-US" altLang="ko-KR" b="1" dirty="0"/>
              <a:t> </a:t>
            </a: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이웃</a:t>
            </a:r>
            <a:r>
              <a:rPr lang="en-US" altLang="ko-KR" sz="1400" dirty="0"/>
              <a:t> </a:t>
            </a:r>
            <a:r>
              <a:rPr lang="ko-KR" altLang="en-US" sz="1400" dirty="0"/>
              <a:t>비트 간의 </a:t>
            </a:r>
            <a:r>
              <a:rPr lang="en-US" altLang="ko-KR" sz="1400" dirty="0"/>
              <a:t>spatial correlation (</a:t>
            </a:r>
            <a:r>
              <a:rPr lang="ko-KR" altLang="en-US" sz="1400" dirty="0"/>
              <a:t>같은 채널</a:t>
            </a:r>
            <a:r>
              <a:rPr lang="en-US" altLang="ko-KR" sz="1400" dirty="0"/>
              <a:t>, </a:t>
            </a:r>
            <a:r>
              <a:rPr lang="ko-KR" altLang="en-US" sz="1400" dirty="0"/>
              <a:t>인접한 </a:t>
            </a:r>
            <a:r>
              <a:rPr lang="en-US" altLang="ko-KR" sz="1400" dirty="0"/>
              <a:t>pixel</a:t>
            </a:r>
            <a:r>
              <a:rPr lang="ko-KR" altLang="en-US" sz="1400" dirty="0"/>
              <a:t>의 상관 계수</a:t>
            </a:r>
            <a:r>
              <a:rPr lang="en-US" altLang="ko-KR" sz="14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Grouping</a:t>
            </a:r>
            <a:r>
              <a:rPr lang="ko-KR" altLang="en-US" sz="1400" dirty="0"/>
              <a:t>한 정보에 대해 다양성 평가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채널</a:t>
            </a:r>
            <a:r>
              <a:rPr lang="en-US" altLang="ko-KR" sz="1400" dirty="0"/>
              <a:t> </a:t>
            </a:r>
            <a:r>
              <a:rPr lang="ko-KR" altLang="en-US" sz="1400" dirty="0"/>
              <a:t>간 </a:t>
            </a:r>
            <a:r>
              <a:rPr lang="en-US" altLang="ko-KR" sz="1400" dirty="0"/>
              <a:t>correlation </a:t>
            </a:r>
            <a:r>
              <a:rPr lang="ko-KR" altLang="en-US" sz="1400" dirty="0"/>
              <a:t>분포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같은 위치에서 다른 채널 비트와의 상관 계수 → 채널 </a:t>
            </a:r>
            <a:r>
              <a:rPr lang="en-US" altLang="ko-KR" sz="1400" dirty="0"/>
              <a:t>redundancy </a:t>
            </a:r>
            <a:r>
              <a:rPr lang="ko-KR" altLang="en-US" sz="1400" dirty="0"/>
              <a:t>평가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9-bit Majority</a:t>
            </a:r>
            <a:r>
              <a:rPr lang="ko-KR" altLang="en-US" sz="1400" dirty="0"/>
              <a:t> </a:t>
            </a:r>
            <a:r>
              <a:rPr lang="en-US" altLang="ko-KR" sz="1400" dirty="0"/>
              <a:t>Voter</a:t>
            </a:r>
            <a:r>
              <a:rPr lang="ko-KR" altLang="en-US" sz="1400" dirty="0"/>
              <a:t> 사용 시 실측 분포</a:t>
            </a:r>
            <a:endParaRPr lang="en-US" altLang="ko-KR" sz="1400" dirty="0"/>
          </a:p>
          <a:p>
            <a:pPr lvl="1"/>
            <a:r>
              <a:rPr lang="en-US" altLang="ko-KR" sz="1400" dirty="0"/>
              <a:t>- 9-bit</a:t>
            </a:r>
            <a:r>
              <a:rPr lang="ko-KR" altLang="en-US" sz="1400" dirty="0"/>
              <a:t> 합의 빈도 확인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58115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22708-5A72-1AD3-A464-B8AF06A8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8ECC35-AE3D-0A9F-70AD-18A711C4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Hierarchical Majority Voter - spatial correlation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47EEA-637B-83ED-F70E-01D784F8421F}"/>
              </a:ext>
            </a:extLst>
          </p:cNvPr>
          <p:cNvSpPr txBox="1"/>
          <p:nvPr/>
        </p:nvSpPr>
        <p:spPr>
          <a:xfrm>
            <a:off x="706241" y="1289895"/>
            <a:ext cx="872025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ko-KR" altLang="en-US" b="1" dirty="0"/>
              <a:t>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Inference </a:t>
            </a:r>
            <a:r>
              <a:rPr lang="ko-KR" altLang="en-US" b="1" dirty="0"/>
              <a:t>시의 </a:t>
            </a:r>
            <a:r>
              <a:rPr lang="en-US" altLang="ko-KR" b="1" dirty="0"/>
              <a:t>XNOR Output</a:t>
            </a:r>
            <a:r>
              <a:rPr lang="ko-KR" altLang="en-US" b="1" dirty="0"/>
              <a:t>대한 </a:t>
            </a:r>
            <a:r>
              <a:rPr lang="en-US" altLang="ko-KR" b="1" dirty="0"/>
              <a:t>Hierarchical Majority Voter</a:t>
            </a:r>
            <a:r>
              <a:rPr lang="ko-KR" altLang="en-US" b="1" dirty="0"/>
              <a:t> 분석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sz="1400" b="1" dirty="0"/>
              <a:t>이웃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비트 간의 </a:t>
            </a:r>
            <a:r>
              <a:rPr lang="en-US" altLang="ko-KR" sz="1400" b="1" dirty="0"/>
              <a:t>spatial correlation (</a:t>
            </a:r>
            <a:r>
              <a:rPr lang="ko-KR" altLang="en-US" sz="1400" b="1" dirty="0"/>
              <a:t>같은 채널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인접한 </a:t>
            </a:r>
            <a:r>
              <a:rPr lang="en-US" altLang="ko-KR" sz="1400" b="1" dirty="0"/>
              <a:t>pixel)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5E0B127-F2A6-6D5F-1216-C89A99B06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464756"/>
              </p:ext>
            </p:extLst>
          </p:nvPr>
        </p:nvGraphicFramePr>
        <p:xfrm>
          <a:off x="795450" y="2208431"/>
          <a:ext cx="6757644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834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2612905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2612905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Number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오른쪽 </a:t>
                      </a:r>
                      <a:r>
                        <a:rPr lang="en-US" altLang="ko-KR" sz="1400" dirty="0"/>
                        <a:t>bit</a:t>
                      </a:r>
                      <a:r>
                        <a:rPr lang="ko-KR" altLang="en-US" sz="1400" dirty="0"/>
                        <a:t>와의</a:t>
                      </a:r>
                      <a:r>
                        <a:rPr lang="en-US" altLang="ko-KR" sz="1400" dirty="0"/>
                        <a:t> correlation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아래 </a:t>
                      </a:r>
                      <a:r>
                        <a:rPr lang="en-US" altLang="ko-KR" sz="1400" dirty="0"/>
                        <a:t>bit</a:t>
                      </a:r>
                      <a:r>
                        <a:rPr lang="ko-KR" altLang="en-US" sz="1400" dirty="0"/>
                        <a:t>와의</a:t>
                      </a:r>
                      <a:r>
                        <a:rPr lang="en-US" altLang="ko-KR" sz="1400" dirty="0"/>
                        <a:t> correlation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+0.453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+0.441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+0.527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+0.511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+0.463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+0.443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+0.442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+0.411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+0.371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+0.324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+0.384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+0.311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057963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+0.361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+0.230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977583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+0.380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+0.208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74515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+0.407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+0.200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43636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+0.432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+0.156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187824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+0.456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+0.145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18998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+0.422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+0.132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268325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측정 불가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측정 불가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629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EFC1E0-57F0-1D2E-ABD9-0C9924C6A4A5}"/>
              </a:ext>
            </a:extLst>
          </p:cNvPr>
          <p:cNvSpPr txBox="1"/>
          <p:nvPr/>
        </p:nvSpPr>
        <p:spPr>
          <a:xfrm>
            <a:off x="7709210" y="2577960"/>
            <a:ext cx="4140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좌우간의 </a:t>
            </a:r>
            <a:r>
              <a:rPr lang="en-US" altLang="ko-KR" sz="1400" dirty="0"/>
              <a:t>correlation</a:t>
            </a:r>
            <a:r>
              <a:rPr lang="ko-KR" altLang="en-US" sz="1400" dirty="0"/>
              <a:t>은 </a:t>
            </a:r>
            <a:r>
              <a:rPr lang="en-US" altLang="ko-KR" sz="1400" dirty="0"/>
              <a:t>layer</a:t>
            </a:r>
            <a:r>
              <a:rPr lang="ko-KR" altLang="en-US" sz="1400" dirty="0"/>
              <a:t>가 깊어져도 </a:t>
            </a:r>
            <a:r>
              <a:rPr lang="ko-KR" altLang="en-US" sz="1400" dirty="0" err="1"/>
              <a:t>비슷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 err="1"/>
              <a:t>상하간의</a:t>
            </a:r>
            <a:r>
              <a:rPr lang="ko-KR" altLang="en-US" sz="1400" dirty="0"/>
              <a:t> </a:t>
            </a:r>
            <a:r>
              <a:rPr lang="en-US" altLang="ko-KR" sz="1400" dirty="0"/>
              <a:t>correlation</a:t>
            </a:r>
            <a:r>
              <a:rPr lang="ko-KR" altLang="en-US" sz="1400" dirty="0"/>
              <a:t>은 </a:t>
            </a:r>
            <a:r>
              <a:rPr lang="en-US" altLang="ko-KR" sz="1400" dirty="0"/>
              <a:t>layer</a:t>
            </a:r>
            <a:r>
              <a:rPr lang="ko-KR" altLang="en-US" sz="1400" dirty="0"/>
              <a:t>가 깊어지면 감소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27410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C415B-00AE-AADD-AB98-667A0720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FF02D-172D-3A10-94FE-FF5F8EE7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Hierarchical Majority Voter - channel</a:t>
            </a:r>
            <a:r>
              <a:rPr lang="ko-KR" altLang="en-US" sz="4000" dirty="0"/>
              <a:t> </a:t>
            </a:r>
            <a:r>
              <a:rPr lang="en-US" altLang="ko-KR" sz="4000" dirty="0"/>
              <a:t>correlation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1B957-2E57-88A4-F9F0-F3E8753F5589}"/>
              </a:ext>
            </a:extLst>
          </p:cNvPr>
          <p:cNvSpPr txBox="1"/>
          <p:nvPr/>
        </p:nvSpPr>
        <p:spPr>
          <a:xfrm>
            <a:off x="706241" y="1289895"/>
            <a:ext cx="872025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ko-KR" altLang="en-US" b="1" dirty="0"/>
              <a:t>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Inference </a:t>
            </a:r>
            <a:r>
              <a:rPr lang="ko-KR" altLang="en-US" b="1" dirty="0"/>
              <a:t>시의 </a:t>
            </a:r>
            <a:r>
              <a:rPr lang="en-US" altLang="ko-KR" b="1" dirty="0"/>
              <a:t>XNOR Output</a:t>
            </a:r>
            <a:r>
              <a:rPr lang="ko-KR" altLang="en-US" b="1" dirty="0"/>
              <a:t>대한 </a:t>
            </a:r>
            <a:r>
              <a:rPr lang="en-US" altLang="ko-KR" b="1" dirty="0"/>
              <a:t>Hierarchical Majority Voter</a:t>
            </a:r>
            <a:r>
              <a:rPr lang="ko-KR" altLang="en-US" b="1" dirty="0"/>
              <a:t> 분석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sz="1400" b="1" dirty="0"/>
              <a:t>채널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간 </a:t>
            </a:r>
            <a:r>
              <a:rPr lang="en-US" altLang="ko-KR" sz="1400" b="1" dirty="0"/>
              <a:t>correlation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0C314F-B875-0EC0-B408-2A80F605D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626993"/>
              </p:ext>
            </p:extLst>
          </p:nvPr>
        </p:nvGraphicFramePr>
        <p:xfrm>
          <a:off x="795450" y="2208431"/>
          <a:ext cx="3313406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406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Number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-0.004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+0.016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+0.017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+0.013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+0.013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+0.017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057963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+0.010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977583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+0.007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74515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+0.005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43636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+0.005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187824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+0.005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18998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+0.003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268325"/>
                  </a:ext>
                </a:extLst>
              </a:tr>
              <a:tr h="164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측정 불가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62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27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A841C-A42D-67C1-59E6-A2DA2377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AE055-545A-D245-7F2C-CE15F216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Hierarchical Majority Voter – </a:t>
            </a:r>
            <a:r>
              <a:rPr lang="ko-KR" altLang="en-US" sz="4000" dirty="0"/>
              <a:t>실측 분포</a:t>
            </a:r>
            <a:endParaRPr lang="en-US" altLang="ko-K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8A3256-C5DC-A391-47B7-157956738663}"/>
              </a:ext>
            </a:extLst>
          </p:cNvPr>
          <p:cNvSpPr txBox="1"/>
          <p:nvPr/>
        </p:nvSpPr>
        <p:spPr>
          <a:xfrm>
            <a:off x="706241" y="1289895"/>
            <a:ext cx="872025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ko-KR" altLang="en-US" b="1" dirty="0"/>
              <a:t>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Inference </a:t>
            </a:r>
            <a:r>
              <a:rPr lang="ko-KR" altLang="en-US" b="1" dirty="0"/>
              <a:t>시의 </a:t>
            </a:r>
            <a:r>
              <a:rPr lang="en-US" altLang="ko-KR" b="1" dirty="0"/>
              <a:t>XNOR Output</a:t>
            </a:r>
            <a:r>
              <a:rPr lang="ko-KR" altLang="en-US" b="1" dirty="0"/>
              <a:t>대한 </a:t>
            </a:r>
            <a:r>
              <a:rPr lang="en-US" altLang="ko-KR" b="1" dirty="0"/>
              <a:t>Hierarchical Majority Voter</a:t>
            </a:r>
            <a:r>
              <a:rPr lang="ko-KR" altLang="en-US" b="1" dirty="0"/>
              <a:t> 분석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sz="1400" b="1" dirty="0"/>
              <a:t>9-bit Majority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Voter</a:t>
            </a:r>
            <a:r>
              <a:rPr lang="ko-KR" altLang="en-US" sz="1400" b="1" dirty="0"/>
              <a:t> 사용 시 실측 분포</a:t>
            </a:r>
            <a:endParaRPr lang="en-US" altLang="ko-KR" sz="1400" b="1" dirty="0"/>
          </a:p>
          <a:p>
            <a:endParaRPr lang="en-US" altLang="ko-KR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0494B9A-82CE-FB5B-A41B-D93330F4D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923285"/>
              </p:ext>
            </p:extLst>
          </p:nvPr>
        </p:nvGraphicFramePr>
        <p:xfrm>
          <a:off x="944137" y="2428668"/>
          <a:ext cx="460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138431056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536492334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Layer Number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0.37%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16.19%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2.20%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10.19%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1.17%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10.79%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2.98%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6.92%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5.84%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7.21%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5.97%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4.32%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05796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11.30%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3.74%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97758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8.38%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1.35%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74515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1.08%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4363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86DCD30-53DB-4C6A-1E91-2FD8D69C2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630464"/>
              </p:ext>
            </p:extLst>
          </p:nvPr>
        </p:nvGraphicFramePr>
        <p:xfrm>
          <a:off x="5552137" y="2428668"/>
          <a:ext cx="460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138431056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536492334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Layer Number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4.01%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8.81%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2.80%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12.35%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2.91%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5.93%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4.62%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8.99%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3.90%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4.38%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10.51%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5.08%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05796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5.49%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2.96%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97758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11.27%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3.10%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74515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2.88%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436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D934CB-A485-9D62-BE6F-F800920DF643}"/>
              </a:ext>
            </a:extLst>
          </p:cNvPr>
          <p:cNvSpPr txBox="1"/>
          <p:nvPr/>
        </p:nvSpPr>
        <p:spPr>
          <a:xfrm>
            <a:off x="944137" y="5857474"/>
            <a:ext cx="8720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짝수인 </a:t>
            </a:r>
            <a:r>
              <a:rPr lang="en-US" altLang="ko-KR" sz="1400" dirty="0"/>
              <a:t>group sum value</a:t>
            </a:r>
            <a:r>
              <a:rPr lang="ko-KR" altLang="en-US" sz="1400" dirty="0"/>
              <a:t>가 존재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073509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50016-A68A-54EA-3413-1D927856A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96936-F30D-2CD9-E587-7EE9B803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Hierarchical Majority Voter – </a:t>
            </a:r>
            <a:r>
              <a:rPr lang="ko-KR" altLang="en-US" sz="4000" dirty="0"/>
              <a:t>실측 분포</a:t>
            </a:r>
            <a:endParaRPr lang="en-US" altLang="ko-K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087F3-2B78-F138-7AA8-497325ABB4CD}"/>
              </a:ext>
            </a:extLst>
          </p:cNvPr>
          <p:cNvSpPr txBox="1"/>
          <p:nvPr/>
        </p:nvSpPr>
        <p:spPr>
          <a:xfrm>
            <a:off x="706241" y="1289895"/>
            <a:ext cx="872025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ko-KR" altLang="en-US" b="1" dirty="0"/>
              <a:t>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Inference </a:t>
            </a:r>
            <a:r>
              <a:rPr lang="ko-KR" altLang="en-US" b="1" dirty="0"/>
              <a:t>시의 </a:t>
            </a:r>
            <a:r>
              <a:rPr lang="en-US" altLang="ko-KR" b="1" dirty="0"/>
              <a:t>XNOR Output</a:t>
            </a:r>
            <a:r>
              <a:rPr lang="ko-KR" altLang="en-US" b="1" dirty="0"/>
              <a:t>대한 </a:t>
            </a:r>
            <a:r>
              <a:rPr lang="en-US" altLang="ko-KR" b="1" dirty="0"/>
              <a:t>Hierarchical Majority Voter</a:t>
            </a:r>
            <a:r>
              <a:rPr lang="ko-KR" altLang="en-US" b="1" dirty="0"/>
              <a:t> 분석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sz="1400" b="1" dirty="0"/>
              <a:t>9-bit Majority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Voter</a:t>
            </a:r>
            <a:r>
              <a:rPr lang="ko-KR" altLang="en-US" sz="1400" b="1" dirty="0"/>
              <a:t> 사용 시 실측 분포</a:t>
            </a:r>
            <a:endParaRPr lang="en-US" altLang="ko-KR" sz="1400" b="1" dirty="0"/>
          </a:p>
          <a:p>
            <a:endParaRPr lang="en-US" altLang="ko-KR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A0BC0D6-BDBF-2221-9493-DD3BBF16A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181699"/>
              </p:ext>
            </p:extLst>
          </p:nvPr>
        </p:nvGraphicFramePr>
        <p:xfrm>
          <a:off x="706241" y="2428668"/>
          <a:ext cx="27360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Layer Number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11.35%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24.69%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31.88%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23.06%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9.02%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11.65%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71561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24.29%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920769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32.76%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32048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22.50%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752168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8.79%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26957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19815D4-046D-68EB-AE08-66C9A76CE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223471"/>
              </p:ext>
            </p:extLst>
          </p:nvPr>
        </p:nvGraphicFramePr>
        <p:xfrm>
          <a:off x="3442241" y="2428668"/>
          <a:ext cx="27360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Layer Number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11.75%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23.49%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32.39%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23.16%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9.21%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10.42%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71561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24.66%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920769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32.87%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32048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23.00%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752168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9.05%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26957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B39F81A-ED39-EB4A-BE8D-F366C6040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101951"/>
              </p:ext>
            </p:extLst>
          </p:nvPr>
        </p:nvGraphicFramePr>
        <p:xfrm>
          <a:off x="6178241" y="2428668"/>
          <a:ext cx="27360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Layer Number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10.54%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23.77%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32.67%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23.06%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9.96%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Layer 12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9.58%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71561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25.61%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920769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33.86%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32048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22.80%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752168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8.14%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269573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FD4E5C2-6640-3FA8-E121-B5348DA58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788473"/>
              </p:ext>
            </p:extLst>
          </p:nvPr>
        </p:nvGraphicFramePr>
        <p:xfrm>
          <a:off x="8914241" y="2428668"/>
          <a:ext cx="2736000" cy="350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</a:tblGrid>
              <a:tr h="460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Layer Number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52223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13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51.23%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52223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48.77%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074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7EA39-5FF9-B4B6-31D7-5F9F492CB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F86C4-7FB7-A97C-EDCF-B4AB077E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Hierarchical Majority Voter – </a:t>
            </a:r>
            <a:r>
              <a:rPr lang="ko-KR" altLang="en-US" sz="4000" dirty="0"/>
              <a:t>실측 분포</a:t>
            </a:r>
            <a:endParaRPr lang="en-US" altLang="ko-K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B128B-9A7C-33D3-437C-1C0887D07909}"/>
              </a:ext>
            </a:extLst>
          </p:cNvPr>
          <p:cNvSpPr txBox="1"/>
          <p:nvPr/>
        </p:nvSpPr>
        <p:spPr>
          <a:xfrm>
            <a:off x="706241" y="1289895"/>
            <a:ext cx="872025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ko-KR" altLang="en-US" b="1" dirty="0"/>
              <a:t>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Inference </a:t>
            </a:r>
            <a:r>
              <a:rPr lang="ko-KR" altLang="en-US" b="1" dirty="0"/>
              <a:t>시의 </a:t>
            </a:r>
            <a:r>
              <a:rPr lang="en-US" altLang="ko-KR" b="1" dirty="0"/>
              <a:t>XNOR Output</a:t>
            </a:r>
            <a:r>
              <a:rPr lang="ko-KR" altLang="en-US" b="1" dirty="0"/>
              <a:t>대한 </a:t>
            </a:r>
            <a:r>
              <a:rPr lang="en-US" altLang="ko-KR" b="1" dirty="0"/>
              <a:t>Hierarchical Majority Voter</a:t>
            </a:r>
            <a:r>
              <a:rPr lang="ko-KR" altLang="en-US" b="1" dirty="0"/>
              <a:t> 분석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sz="1400" dirty="0"/>
              <a:t>짝수인 </a:t>
            </a:r>
            <a:r>
              <a:rPr lang="en-US" altLang="ko-KR" sz="1400" dirty="0"/>
              <a:t>group sum </a:t>
            </a:r>
            <a:r>
              <a:rPr lang="ko-KR" altLang="en-US" sz="1400" dirty="0"/>
              <a:t>발생 이유</a:t>
            </a:r>
            <a:endParaRPr lang="en-US" altLang="ko-KR" sz="1400" dirty="0"/>
          </a:p>
          <a:p>
            <a:endParaRPr lang="en-US" altLang="ko-KR" b="1" dirty="0"/>
          </a:p>
          <a:p>
            <a:r>
              <a:rPr lang="en-US" altLang="ko-KR" sz="1400" dirty="0"/>
              <a:t>def binaryconv3x3(</a:t>
            </a:r>
            <a:r>
              <a:rPr lang="en-US" altLang="ko-KR" sz="1400" dirty="0" err="1"/>
              <a:t>in_planes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out_planes</a:t>
            </a:r>
            <a:r>
              <a:rPr lang="en-US" altLang="ko-KR" sz="1400" dirty="0"/>
              <a:t>, stride=1):</a:t>
            </a:r>
          </a:p>
          <a:p>
            <a:r>
              <a:rPr lang="en-US" altLang="ko-KR" sz="1400" dirty="0"/>
              <a:t>    return </a:t>
            </a:r>
            <a:r>
              <a:rPr lang="en-US" altLang="ko-KR" sz="1400" dirty="0" err="1"/>
              <a:t>HardBinaryConv_Depth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in_planes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out_planes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kernel_size</a:t>
            </a:r>
            <a:r>
              <a:rPr lang="en-US" altLang="ko-KR" sz="1400" dirty="0"/>
              <a:t>=3, stride=stride, padding=1)</a:t>
            </a:r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PyTorch</a:t>
            </a:r>
            <a:r>
              <a:rPr lang="ko-KR" altLang="en-US" sz="1400" dirty="0"/>
              <a:t>에서 </a:t>
            </a:r>
            <a:r>
              <a:rPr lang="en-US" altLang="ko-KR" sz="1400" dirty="0"/>
              <a:t>padding = 1</a:t>
            </a:r>
            <a:r>
              <a:rPr lang="ko-KR" altLang="en-US" sz="1400" dirty="0"/>
              <a:t>로 설정하면 </a:t>
            </a:r>
            <a:r>
              <a:rPr lang="en-US" altLang="ko-KR" sz="1400" dirty="0"/>
              <a:t>0-padding</a:t>
            </a:r>
            <a:r>
              <a:rPr lang="ko-KR" altLang="en-US" sz="1400" dirty="0"/>
              <a:t>이 진행됨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0-padding</a:t>
            </a:r>
            <a:r>
              <a:rPr lang="ko-KR" altLang="en-US" sz="1400" dirty="0"/>
              <a:t>이 포함된 부분에서 </a:t>
            </a:r>
            <a:r>
              <a:rPr lang="en-US" altLang="ko-KR" sz="1400" dirty="0"/>
              <a:t>Binary Conv </a:t>
            </a:r>
            <a:r>
              <a:rPr lang="ko-KR" altLang="en-US" sz="1400" dirty="0"/>
              <a:t>연산 시</a:t>
            </a:r>
            <a:r>
              <a:rPr lang="en-US" altLang="ko-KR" sz="1400" dirty="0"/>
              <a:t>, 9-bit</a:t>
            </a:r>
            <a:r>
              <a:rPr lang="ko-KR" altLang="en-US" sz="1400" dirty="0"/>
              <a:t>의 합이 짝수가 될 수 있음</a:t>
            </a:r>
            <a:endParaRPr lang="en-US" altLang="ko-KR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6E3571-5E37-5A8F-58F8-65AFFC79B69E}"/>
              </a:ext>
            </a:extLst>
          </p:cNvPr>
          <p:cNvSpPr/>
          <p:nvPr/>
        </p:nvSpPr>
        <p:spPr>
          <a:xfrm>
            <a:off x="1391423" y="3999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6EF5482-9723-4958-E47D-D97F4DF9CB14}"/>
              </a:ext>
            </a:extLst>
          </p:cNvPr>
          <p:cNvSpPr/>
          <p:nvPr/>
        </p:nvSpPr>
        <p:spPr>
          <a:xfrm>
            <a:off x="1823423" y="3999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CADDE4A-5FDC-1B12-6E3C-180423F79D57}"/>
              </a:ext>
            </a:extLst>
          </p:cNvPr>
          <p:cNvSpPr/>
          <p:nvPr/>
        </p:nvSpPr>
        <p:spPr>
          <a:xfrm>
            <a:off x="2255423" y="3999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EA16AC-B802-C309-5108-86F7DCC3FD56}"/>
              </a:ext>
            </a:extLst>
          </p:cNvPr>
          <p:cNvSpPr/>
          <p:nvPr/>
        </p:nvSpPr>
        <p:spPr>
          <a:xfrm>
            <a:off x="1391423" y="4431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B1A71A9-66FB-6110-C708-05711E07691F}"/>
              </a:ext>
            </a:extLst>
          </p:cNvPr>
          <p:cNvSpPr/>
          <p:nvPr/>
        </p:nvSpPr>
        <p:spPr>
          <a:xfrm>
            <a:off x="1823423" y="4431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A4CBF6-26CE-D3F3-422E-FC42C96B00F1}"/>
              </a:ext>
            </a:extLst>
          </p:cNvPr>
          <p:cNvSpPr/>
          <p:nvPr/>
        </p:nvSpPr>
        <p:spPr>
          <a:xfrm>
            <a:off x="2255423" y="4431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5866FA-4C98-E485-68C6-A633D2CBB29F}"/>
              </a:ext>
            </a:extLst>
          </p:cNvPr>
          <p:cNvSpPr/>
          <p:nvPr/>
        </p:nvSpPr>
        <p:spPr>
          <a:xfrm>
            <a:off x="1391423" y="4863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6B16DBA-F684-F02D-5755-446EEC9FDA76}"/>
              </a:ext>
            </a:extLst>
          </p:cNvPr>
          <p:cNvSpPr/>
          <p:nvPr/>
        </p:nvSpPr>
        <p:spPr>
          <a:xfrm>
            <a:off x="1823423" y="4863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356F01F-77BC-968E-BC8D-5B682E7723A9}"/>
              </a:ext>
            </a:extLst>
          </p:cNvPr>
          <p:cNvSpPr/>
          <p:nvPr/>
        </p:nvSpPr>
        <p:spPr>
          <a:xfrm>
            <a:off x="2255423" y="4863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EC9B37A-A313-4F95-189C-8CBC3CA1D999}"/>
              </a:ext>
            </a:extLst>
          </p:cNvPr>
          <p:cNvSpPr/>
          <p:nvPr/>
        </p:nvSpPr>
        <p:spPr>
          <a:xfrm>
            <a:off x="1391423" y="5295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B0486E5-9617-5851-FE42-6819EBCE96B9}"/>
              </a:ext>
            </a:extLst>
          </p:cNvPr>
          <p:cNvSpPr/>
          <p:nvPr/>
        </p:nvSpPr>
        <p:spPr>
          <a:xfrm>
            <a:off x="1823423" y="5295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52C569E-6FB7-A5F8-7A9D-B38987F1B0FC}"/>
              </a:ext>
            </a:extLst>
          </p:cNvPr>
          <p:cNvSpPr/>
          <p:nvPr/>
        </p:nvSpPr>
        <p:spPr>
          <a:xfrm>
            <a:off x="2255423" y="5295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4DE140A-719F-7631-2709-34961D4B74EF}"/>
              </a:ext>
            </a:extLst>
          </p:cNvPr>
          <p:cNvSpPr/>
          <p:nvPr/>
        </p:nvSpPr>
        <p:spPr>
          <a:xfrm>
            <a:off x="2687423" y="3999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422F425-8308-36C3-D441-9A5C77B29ECA}"/>
              </a:ext>
            </a:extLst>
          </p:cNvPr>
          <p:cNvSpPr/>
          <p:nvPr/>
        </p:nvSpPr>
        <p:spPr>
          <a:xfrm>
            <a:off x="2687423" y="4431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B1A07EA-3F5F-FDD7-7FB5-16915924445C}"/>
              </a:ext>
            </a:extLst>
          </p:cNvPr>
          <p:cNvSpPr/>
          <p:nvPr/>
        </p:nvSpPr>
        <p:spPr>
          <a:xfrm>
            <a:off x="2687423" y="4863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A2E8AEA-1E70-26C2-A465-9BA78A2CB3C7}"/>
              </a:ext>
            </a:extLst>
          </p:cNvPr>
          <p:cNvSpPr/>
          <p:nvPr/>
        </p:nvSpPr>
        <p:spPr>
          <a:xfrm>
            <a:off x="2687423" y="5295558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01EDDED-FE3A-BF9F-84C1-5B3A58CD8FB0}"/>
              </a:ext>
            </a:extLst>
          </p:cNvPr>
          <p:cNvSpPr/>
          <p:nvPr/>
        </p:nvSpPr>
        <p:spPr>
          <a:xfrm>
            <a:off x="6986803" y="4164980"/>
            <a:ext cx="432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9981B1E-245A-C9DD-31F3-0C9E499F1ADA}"/>
              </a:ext>
            </a:extLst>
          </p:cNvPr>
          <p:cNvSpPr/>
          <p:nvPr/>
        </p:nvSpPr>
        <p:spPr>
          <a:xfrm>
            <a:off x="7418803" y="4164980"/>
            <a:ext cx="432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CC7E73A-2C19-F1FC-69CE-2A156904CA48}"/>
              </a:ext>
            </a:extLst>
          </p:cNvPr>
          <p:cNvSpPr/>
          <p:nvPr/>
        </p:nvSpPr>
        <p:spPr>
          <a:xfrm>
            <a:off x="7850803" y="4164980"/>
            <a:ext cx="432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F7842C5-6D2B-8D99-B3E2-F6682DF3D35C}"/>
              </a:ext>
            </a:extLst>
          </p:cNvPr>
          <p:cNvSpPr/>
          <p:nvPr/>
        </p:nvSpPr>
        <p:spPr>
          <a:xfrm>
            <a:off x="6986803" y="4596980"/>
            <a:ext cx="432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B52461D-9F95-0E9E-5E4F-A2497E00A128}"/>
              </a:ext>
            </a:extLst>
          </p:cNvPr>
          <p:cNvSpPr/>
          <p:nvPr/>
        </p:nvSpPr>
        <p:spPr>
          <a:xfrm>
            <a:off x="7418803" y="4596980"/>
            <a:ext cx="432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9BE3869-D9E7-7FE8-F7A8-7646D0F92D97}"/>
              </a:ext>
            </a:extLst>
          </p:cNvPr>
          <p:cNvSpPr/>
          <p:nvPr/>
        </p:nvSpPr>
        <p:spPr>
          <a:xfrm>
            <a:off x="7850803" y="4596980"/>
            <a:ext cx="432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C2C9BE7-3C65-3EBB-9716-F2631FC4E1EB}"/>
              </a:ext>
            </a:extLst>
          </p:cNvPr>
          <p:cNvSpPr/>
          <p:nvPr/>
        </p:nvSpPr>
        <p:spPr>
          <a:xfrm>
            <a:off x="6986803" y="5028980"/>
            <a:ext cx="432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C1C5235-EA78-36EF-7D3B-E67798A33B10}"/>
              </a:ext>
            </a:extLst>
          </p:cNvPr>
          <p:cNvSpPr/>
          <p:nvPr/>
        </p:nvSpPr>
        <p:spPr>
          <a:xfrm>
            <a:off x="7418803" y="5028980"/>
            <a:ext cx="432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9049FA7-12EA-F398-15BF-4DE63C0588C0}"/>
              </a:ext>
            </a:extLst>
          </p:cNvPr>
          <p:cNvSpPr/>
          <p:nvPr/>
        </p:nvSpPr>
        <p:spPr>
          <a:xfrm>
            <a:off x="7850803" y="5028980"/>
            <a:ext cx="432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48899EA-2D41-0BF7-4F8C-D6DD8E734525}"/>
              </a:ext>
            </a:extLst>
          </p:cNvPr>
          <p:cNvSpPr/>
          <p:nvPr/>
        </p:nvSpPr>
        <p:spPr>
          <a:xfrm>
            <a:off x="3119423" y="356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A62F6C0-FC57-9623-1CD0-E0AFDC21E078}"/>
              </a:ext>
            </a:extLst>
          </p:cNvPr>
          <p:cNvSpPr/>
          <p:nvPr/>
        </p:nvSpPr>
        <p:spPr>
          <a:xfrm>
            <a:off x="3119423" y="3999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B7984D-06A5-6CDC-9A79-6E248753AB95}"/>
              </a:ext>
            </a:extLst>
          </p:cNvPr>
          <p:cNvSpPr/>
          <p:nvPr/>
        </p:nvSpPr>
        <p:spPr>
          <a:xfrm>
            <a:off x="3119423" y="4431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835C20A-16A9-6577-B87A-53BF371B75C3}"/>
              </a:ext>
            </a:extLst>
          </p:cNvPr>
          <p:cNvSpPr/>
          <p:nvPr/>
        </p:nvSpPr>
        <p:spPr>
          <a:xfrm>
            <a:off x="3119423" y="4863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5F0425D-34D2-7152-57B1-95CBC458BAD0}"/>
              </a:ext>
            </a:extLst>
          </p:cNvPr>
          <p:cNvSpPr/>
          <p:nvPr/>
        </p:nvSpPr>
        <p:spPr>
          <a:xfrm>
            <a:off x="1391423" y="356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B5104AA-4430-3CEC-22DE-FCDCB1A10BDB}"/>
              </a:ext>
            </a:extLst>
          </p:cNvPr>
          <p:cNvSpPr/>
          <p:nvPr/>
        </p:nvSpPr>
        <p:spPr>
          <a:xfrm>
            <a:off x="1823423" y="356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24DA3AA-73E1-40BE-9C6D-DCDD8842C339}"/>
              </a:ext>
            </a:extLst>
          </p:cNvPr>
          <p:cNvSpPr/>
          <p:nvPr/>
        </p:nvSpPr>
        <p:spPr>
          <a:xfrm>
            <a:off x="2255423" y="356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F24A416-4368-72A3-902D-F6530E8AC69A}"/>
              </a:ext>
            </a:extLst>
          </p:cNvPr>
          <p:cNvSpPr/>
          <p:nvPr/>
        </p:nvSpPr>
        <p:spPr>
          <a:xfrm>
            <a:off x="2687423" y="356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7BC7A0A-951B-E5DD-203A-1696A39CBDCB}"/>
              </a:ext>
            </a:extLst>
          </p:cNvPr>
          <p:cNvSpPr/>
          <p:nvPr/>
        </p:nvSpPr>
        <p:spPr>
          <a:xfrm>
            <a:off x="1391423" y="572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5B99A3F-8F54-D8A5-2F89-A061B57BE7A0}"/>
              </a:ext>
            </a:extLst>
          </p:cNvPr>
          <p:cNvSpPr/>
          <p:nvPr/>
        </p:nvSpPr>
        <p:spPr>
          <a:xfrm>
            <a:off x="1823423" y="572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035133D-6D95-1C2C-67DA-9C85BB88DFA0}"/>
              </a:ext>
            </a:extLst>
          </p:cNvPr>
          <p:cNvSpPr/>
          <p:nvPr/>
        </p:nvSpPr>
        <p:spPr>
          <a:xfrm>
            <a:off x="2255423" y="572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B98D423-FD28-2D44-42FB-90CA5352AE6B}"/>
              </a:ext>
            </a:extLst>
          </p:cNvPr>
          <p:cNvSpPr/>
          <p:nvPr/>
        </p:nvSpPr>
        <p:spPr>
          <a:xfrm>
            <a:off x="2687423" y="572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9A47A9E-2BE5-9FC1-AD90-616833FAF5A4}"/>
              </a:ext>
            </a:extLst>
          </p:cNvPr>
          <p:cNvSpPr/>
          <p:nvPr/>
        </p:nvSpPr>
        <p:spPr>
          <a:xfrm>
            <a:off x="959423" y="3999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37E6ED0-B040-3E89-D2D0-C2B666936B63}"/>
              </a:ext>
            </a:extLst>
          </p:cNvPr>
          <p:cNvSpPr/>
          <p:nvPr/>
        </p:nvSpPr>
        <p:spPr>
          <a:xfrm>
            <a:off x="959423" y="4431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AAA6D89-7556-FAE6-4078-C88146F08321}"/>
              </a:ext>
            </a:extLst>
          </p:cNvPr>
          <p:cNvSpPr/>
          <p:nvPr/>
        </p:nvSpPr>
        <p:spPr>
          <a:xfrm>
            <a:off x="959423" y="4863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7E2734A-0F36-9007-7F29-7F58D025D2E4}"/>
              </a:ext>
            </a:extLst>
          </p:cNvPr>
          <p:cNvSpPr/>
          <p:nvPr/>
        </p:nvSpPr>
        <p:spPr>
          <a:xfrm>
            <a:off x="959423" y="5295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67C3E5E-7467-3BFA-1804-65337912935F}"/>
              </a:ext>
            </a:extLst>
          </p:cNvPr>
          <p:cNvSpPr/>
          <p:nvPr/>
        </p:nvSpPr>
        <p:spPr>
          <a:xfrm>
            <a:off x="959423" y="356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34CC06C-CC54-9459-7A55-6B5E61A96CD8}"/>
              </a:ext>
            </a:extLst>
          </p:cNvPr>
          <p:cNvSpPr/>
          <p:nvPr/>
        </p:nvSpPr>
        <p:spPr>
          <a:xfrm>
            <a:off x="959423" y="572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9EE1C64-1B91-2731-25FF-10DD6A31AB3C}"/>
              </a:ext>
            </a:extLst>
          </p:cNvPr>
          <p:cNvSpPr/>
          <p:nvPr/>
        </p:nvSpPr>
        <p:spPr>
          <a:xfrm>
            <a:off x="3119423" y="5295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CD6A72C-0B90-18CC-C8AD-EF7E18ADC1D5}"/>
              </a:ext>
            </a:extLst>
          </p:cNvPr>
          <p:cNvSpPr/>
          <p:nvPr/>
        </p:nvSpPr>
        <p:spPr>
          <a:xfrm>
            <a:off x="3119423" y="5727558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4310C2-C5E9-989B-A6AF-F4C907301B91}"/>
              </a:ext>
            </a:extLst>
          </p:cNvPr>
          <p:cNvSpPr txBox="1"/>
          <p:nvPr/>
        </p:nvSpPr>
        <p:spPr>
          <a:xfrm>
            <a:off x="1939644" y="6244486"/>
            <a:ext cx="6315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예시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B29ECC8-89E6-3F53-DCBA-D3C6C60BA067}"/>
              </a:ext>
            </a:extLst>
          </p:cNvPr>
          <p:cNvSpPr/>
          <p:nvPr/>
        </p:nvSpPr>
        <p:spPr>
          <a:xfrm>
            <a:off x="959423" y="3567558"/>
            <a:ext cx="1296000" cy="129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6A5C0D73-37B3-3F55-FD96-0FBAD0195D12}"/>
              </a:ext>
            </a:extLst>
          </p:cNvPr>
          <p:cNvSpPr/>
          <p:nvPr/>
        </p:nvSpPr>
        <p:spPr>
          <a:xfrm>
            <a:off x="5485113" y="459698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506AF58-4C13-733E-099E-CB517EBC8849}"/>
              </a:ext>
            </a:extLst>
          </p:cNvPr>
          <p:cNvSpPr/>
          <p:nvPr/>
        </p:nvSpPr>
        <p:spPr>
          <a:xfrm>
            <a:off x="5917113" y="459698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14DF3F1-C35C-B193-206D-4687C4E64EBD}"/>
              </a:ext>
            </a:extLst>
          </p:cNvPr>
          <p:cNvSpPr/>
          <p:nvPr/>
        </p:nvSpPr>
        <p:spPr>
          <a:xfrm>
            <a:off x="5485113" y="502898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639C77A-5ACA-F278-6935-989CDC0AC678}"/>
              </a:ext>
            </a:extLst>
          </p:cNvPr>
          <p:cNvSpPr/>
          <p:nvPr/>
        </p:nvSpPr>
        <p:spPr>
          <a:xfrm>
            <a:off x="5917113" y="5028980"/>
            <a:ext cx="432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A5B595E-67F8-99E3-B740-8EC57DF2B0CB}"/>
              </a:ext>
            </a:extLst>
          </p:cNvPr>
          <p:cNvSpPr/>
          <p:nvPr/>
        </p:nvSpPr>
        <p:spPr>
          <a:xfrm>
            <a:off x="5485113" y="4164980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8AF8802-AF24-C580-B842-FE7BA92A8F9E}"/>
              </a:ext>
            </a:extLst>
          </p:cNvPr>
          <p:cNvSpPr/>
          <p:nvPr/>
        </p:nvSpPr>
        <p:spPr>
          <a:xfrm>
            <a:off x="5917113" y="4164980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5679C32-B86C-4723-52BA-14597CDEDF7E}"/>
              </a:ext>
            </a:extLst>
          </p:cNvPr>
          <p:cNvSpPr/>
          <p:nvPr/>
        </p:nvSpPr>
        <p:spPr>
          <a:xfrm>
            <a:off x="5053113" y="4596980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675E56E9-D8E5-8B34-D531-E41616C075C3}"/>
              </a:ext>
            </a:extLst>
          </p:cNvPr>
          <p:cNvSpPr/>
          <p:nvPr/>
        </p:nvSpPr>
        <p:spPr>
          <a:xfrm>
            <a:off x="5053113" y="5028980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37F461F-BFF0-E522-37A0-3D77FF135A53}"/>
              </a:ext>
            </a:extLst>
          </p:cNvPr>
          <p:cNvSpPr/>
          <p:nvPr/>
        </p:nvSpPr>
        <p:spPr>
          <a:xfrm>
            <a:off x="5053113" y="4164980"/>
            <a:ext cx="43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ABF1E57-6D81-73AC-F0DA-28A703716128}"/>
              </a:ext>
            </a:extLst>
          </p:cNvPr>
          <p:cNvSpPr/>
          <p:nvPr/>
        </p:nvSpPr>
        <p:spPr>
          <a:xfrm>
            <a:off x="5053113" y="4164980"/>
            <a:ext cx="1296000" cy="129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868F7EA-7751-1766-4338-737B2D545476}"/>
                  </a:ext>
                </a:extLst>
              </p:cNvPr>
              <p:cNvSpPr txBox="1"/>
              <p:nvPr/>
            </p:nvSpPr>
            <p:spPr>
              <a:xfrm>
                <a:off x="6355245" y="4596980"/>
                <a:ext cx="6315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⊙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868F7EA-7751-1766-4338-737B2D545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245" y="4596980"/>
                <a:ext cx="631558" cy="369332"/>
              </a:xfrm>
              <a:prstGeom prst="rect">
                <a:avLst/>
              </a:prstGeom>
              <a:blipFill>
                <a:blip r:embed="rId3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화살표: 오른쪽 88">
            <a:extLst>
              <a:ext uri="{FF2B5EF4-FFF2-40B4-BE49-F238E27FC236}">
                <a16:creationId xmlns:a16="http://schemas.microsoft.com/office/drawing/2014/main" id="{064E2E00-88DB-EAFD-D5EB-D69E81A1BF27}"/>
              </a:ext>
            </a:extLst>
          </p:cNvPr>
          <p:cNvSpPr/>
          <p:nvPr/>
        </p:nvSpPr>
        <p:spPr>
          <a:xfrm>
            <a:off x="3983423" y="4647558"/>
            <a:ext cx="733054" cy="38142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80DE51D-4D25-B918-2905-58C0227A0534}"/>
              </a:ext>
            </a:extLst>
          </p:cNvPr>
          <p:cNvSpPr/>
          <p:nvPr/>
        </p:nvSpPr>
        <p:spPr>
          <a:xfrm>
            <a:off x="9072577" y="4161453"/>
            <a:ext cx="432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A3EF004F-0BFC-BDA5-5D21-98B8A0E2D17E}"/>
              </a:ext>
            </a:extLst>
          </p:cNvPr>
          <p:cNvSpPr/>
          <p:nvPr/>
        </p:nvSpPr>
        <p:spPr>
          <a:xfrm>
            <a:off x="9504577" y="4161453"/>
            <a:ext cx="432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8D08B6F-6B4A-727F-209C-BB5065BDF018}"/>
              </a:ext>
            </a:extLst>
          </p:cNvPr>
          <p:cNvSpPr/>
          <p:nvPr/>
        </p:nvSpPr>
        <p:spPr>
          <a:xfrm>
            <a:off x="9936577" y="4161453"/>
            <a:ext cx="432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80A9359-F0A8-B4A0-0EEE-882590536014}"/>
              </a:ext>
            </a:extLst>
          </p:cNvPr>
          <p:cNvSpPr/>
          <p:nvPr/>
        </p:nvSpPr>
        <p:spPr>
          <a:xfrm>
            <a:off x="9072577" y="4593453"/>
            <a:ext cx="432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C7F5B03-0C5F-4074-3693-70A1F8F83473}"/>
              </a:ext>
            </a:extLst>
          </p:cNvPr>
          <p:cNvSpPr/>
          <p:nvPr/>
        </p:nvSpPr>
        <p:spPr>
          <a:xfrm>
            <a:off x="9504577" y="4593453"/>
            <a:ext cx="432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B003A6A-0B0E-3F61-FA8B-31D8E6AA6522}"/>
              </a:ext>
            </a:extLst>
          </p:cNvPr>
          <p:cNvSpPr/>
          <p:nvPr/>
        </p:nvSpPr>
        <p:spPr>
          <a:xfrm>
            <a:off x="9936577" y="4593453"/>
            <a:ext cx="432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6B3FBD25-F87B-DE9E-C8FD-0A4FC02DEFD1}"/>
              </a:ext>
            </a:extLst>
          </p:cNvPr>
          <p:cNvSpPr/>
          <p:nvPr/>
        </p:nvSpPr>
        <p:spPr>
          <a:xfrm>
            <a:off x="9072577" y="5025453"/>
            <a:ext cx="432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0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58CB8A2-0411-9F19-1476-DB9363757E23}"/>
              </a:ext>
            </a:extLst>
          </p:cNvPr>
          <p:cNvSpPr/>
          <p:nvPr/>
        </p:nvSpPr>
        <p:spPr>
          <a:xfrm>
            <a:off x="9504577" y="5025453"/>
            <a:ext cx="432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39E1781-C616-23C1-EBE5-7F7B271E3D31}"/>
              </a:ext>
            </a:extLst>
          </p:cNvPr>
          <p:cNvSpPr/>
          <p:nvPr/>
        </p:nvSpPr>
        <p:spPr>
          <a:xfrm>
            <a:off x="9936577" y="5025453"/>
            <a:ext cx="432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-1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9" name="같음 기호 98">
            <a:extLst>
              <a:ext uri="{FF2B5EF4-FFF2-40B4-BE49-F238E27FC236}">
                <a16:creationId xmlns:a16="http://schemas.microsoft.com/office/drawing/2014/main" id="{A90E91EF-9401-3BCA-E83E-C457B4C2D7F1}"/>
              </a:ext>
            </a:extLst>
          </p:cNvPr>
          <p:cNvSpPr/>
          <p:nvPr/>
        </p:nvSpPr>
        <p:spPr>
          <a:xfrm>
            <a:off x="8445190" y="4647558"/>
            <a:ext cx="432000" cy="318754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63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FA5A-A658-E033-DB08-C60777F1D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37F8E-9D9E-E683-F970-2BD43A9D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Hierarchical Majority Voter – </a:t>
            </a:r>
            <a:r>
              <a:rPr lang="ko-KR" altLang="en-US" sz="4000" dirty="0"/>
              <a:t>실측 분포</a:t>
            </a:r>
            <a:endParaRPr lang="en-US" altLang="ko-K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1925EA-4F4A-11C8-1664-2121019857E3}"/>
              </a:ext>
            </a:extLst>
          </p:cNvPr>
          <p:cNvSpPr txBox="1"/>
          <p:nvPr/>
        </p:nvSpPr>
        <p:spPr>
          <a:xfrm>
            <a:off x="810320" y="1899495"/>
            <a:ext cx="1086872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ko-KR" altLang="en-US" b="1" dirty="0"/>
              <a:t>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Inference </a:t>
            </a:r>
            <a:r>
              <a:rPr lang="ko-KR" altLang="en-US" b="1" dirty="0"/>
              <a:t>시의 </a:t>
            </a:r>
            <a:r>
              <a:rPr lang="en-US" altLang="ko-KR" b="1" dirty="0"/>
              <a:t>XNOR Output</a:t>
            </a:r>
            <a:r>
              <a:rPr lang="ko-KR" altLang="en-US" b="1" dirty="0"/>
              <a:t>대한 </a:t>
            </a:r>
            <a:r>
              <a:rPr lang="en-US" altLang="ko-KR" b="1" dirty="0"/>
              <a:t>Hierarchical Majority Voter</a:t>
            </a:r>
            <a:r>
              <a:rPr lang="ko-KR" altLang="en-US" b="1" dirty="0"/>
              <a:t> 분석</a:t>
            </a:r>
            <a:endParaRPr lang="en-US" altLang="ko-KR" b="1" dirty="0"/>
          </a:p>
          <a:p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sz="1400" dirty="0"/>
              <a:t>인접 </a:t>
            </a:r>
            <a:r>
              <a:rPr lang="en-US" altLang="ko-KR" sz="1400" dirty="0"/>
              <a:t>spatial </a:t>
            </a:r>
            <a:r>
              <a:rPr lang="ko-KR" altLang="en-US" sz="1400" dirty="0"/>
              <a:t>비트 상호연관성을 가지고 있으나</a:t>
            </a:r>
            <a:r>
              <a:rPr lang="en-US" altLang="ko-KR" sz="1400" dirty="0"/>
              <a:t> Layer</a:t>
            </a:r>
            <a:r>
              <a:rPr lang="ko-KR" altLang="en-US" sz="1400" dirty="0"/>
              <a:t>가 깊어질수록 상하관계의 인접 비트와의 </a:t>
            </a:r>
            <a:r>
              <a:rPr lang="en-US" altLang="ko-KR" sz="1400" dirty="0"/>
              <a:t>correlation</a:t>
            </a:r>
            <a:r>
              <a:rPr lang="ko-KR" altLang="en-US" sz="1400" dirty="0"/>
              <a:t>은 감소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0-padding</a:t>
            </a:r>
            <a:r>
              <a:rPr lang="ko-KR" altLang="en-US" sz="1400" dirty="0"/>
              <a:t>으로 인한 </a:t>
            </a:r>
            <a:r>
              <a:rPr lang="en-US" altLang="ko-KR" sz="1400" dirty="0"/>
              <a:t>9-bit Sum</a:t>
            </a:r>
            <a:r>
              <a:rPr lang="ko-KR" altLang="en-US" sz="1400" dirty="0"/>
              <a:t>의 값이 짝수가 발생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3x3 kernel</a:t>
            </a:r>
            <a:r>
              <a:rPr lang="ko-KR" altLang="en-US" sz="1400" dirty="0"/>
              <a:t> 인접 </a:t>
            </a:r>
            <a:r>
              <a:rPr lang="en-US" altLang="ko-KR" sz="1400" dirty="0"/>
              <a:t>spatial 9</a:t>
            </a:r>
            <a:r>
              <a:rPr lang="ko-KR" altLang="en-US" sz="1400" dirty="0"/>
              <a:t>개의 </a:t>
            </a:r>
            <a:r>
              <a:rPr lang="en-US" altLang="ko-KR" sz="1400" dirty="0"/>
              <a:t>bit</a:t>
            </a:r>
            <a:r>
              <a:rPr lang="ko-KR" altLang="en-US" sz="1400" dirty="0"/>
              <a:t>라서 같은 그룹 안 비트들이 서로 비슷한 정보를 담는 경향이 있음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426684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A7524-F028-C5E0-0683-A523291B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EF3F3-A244-A608-ED7A-51C0447E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To Do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F4D7C-A806-CAF8-63A1-6236758F69F9}"/>
              </a:ext>
            </a:extLst>
          </p:cNvPr>
          <p:cNvSpPr txBox="1"/>
          <p:nvPr/>
        </p:nvSpPr>
        <p:spPr>
          <a:xfrm>
            <a:off x="706241" y="1289895"/>
            <a:ext cx="87202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 err="1"/>
              <a:t>ReActNet</a:t>
            </a:r>
            <a:r>
              <a:rPr lang="en-US" altLang="ko-KR" b="1" dirty="0"/>
              <a:t>, Bi-Real Net </a:t>
            </a:r>
            <a:r>
              <a:rPr lang="ko-KR" altLang="en-US" b="1" dirty="0"/>
              <a:t>추가</a:t>
            </a:r>
            <a:r>
              <a:rPr lang="en-US" altLang="ko-KR" b="1" dirty="0"/>
              <a:t> </a:t>
            </a:r>
            <a:r>
              <a:rPr lang="ko-KR" altLang="en-US" b="1" dirty="0"/>
              <a:t>학습</a:t>
            </a:r>
            <a:r>
              <a:rPr lang="en-US" altLang="ko-KR" b="1" dirty="0"/>
              <a:t>(Layer-Wise </a:t>
            </a:r>
            <a:r>
              <a:rPr lang="ko-KR" altLang="en-US" b="1" dirty="0"/>
              <a:t>등</a:t>
            </a:r>
            <a:r>
              <a:rPr lang="en-US" altLang="ko-KR" b="1" dirty="0"/>
              <a:t>)</a:t>
            </a:r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Bi-Real Net : All Layer Training, Layer-Wise Training</a:t>
            </a:r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ReActNet</a:t>
            </a:r>
            <a:r>
              <a:rPr lang="en-US" altLang="ko-KR" sz="1400" dirty="0"/>
              <a:t> : Layer-Wiser Training</a:t>
            </a:r>
          </a:p>
          <a:p>
            <a:pPr marL="742950" lvl="1" indent="-285750">
              <a:buFontTx/>
              <a:buChar char="-"/>
            </a:pP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en-US" altLang="ko-KR" b="1" dirty="0"/>
              <a:t>Random Rewiring</a:t>
            </a:r>
            <a:r>
              <a:rPr lang="ko-KR" altLang="en-US" b="1" dirty="0"/>
              <a:t> 실험</a:t>
            </a:r>
            <a:endParaRPr lang="en-US" altLang="ko-KR" b="1" dirty="0"/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296593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A9A2A39-559A-8185-7C72-9A17BF8E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CD49E-3457-610D-0161-BC030E6D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Hierarchical Majority Voter – </a:t>
            </a:r>
            <a:r>
              <a:rPr lang="ko-KR" altLang="en-US" sz="4000" dirty="0"/>
              <a:t>실측 분포</a:t>
            </a:r>
            <a:endParaRPr lang="en-US" altLang="ko-K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1E2B9-1562-F26C-046A-6237F5BF1224}"/>
              </a:ext>
            </a:extLst>
          </p:cNvPr>
          <p:cNvSpPr txBox="1"/>
          <p:nvPr/>
        </p:nvSpPr>
        <p:spPr>
          <a:xfrm>
            <a:off x="706241" y="1289895"/>
            <a:ext cx="872025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ko-KR" altLang="en-US" b="1" dirty="0"/>
              <a:t>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Inference </a:t>
            </a:r>
            <a:r>
              <a:rPr lang="ko-KR" altLang="en-US" b="1" dirty="0"/>
              <a:t>시의 </a:t>
            </a:r>
            <a:r>
              <a:rPr lang="en-US" altLang="ko-KR" b="1" dirty="0"/>
              <a:t>XNOR Output</a:t>
            </a:r>
            <a:r>
              <a:rPr lang="ko-KR" altLang="en-US" b="1" dirty="0"/>
              <a:t>대한 </a:t>
            </a:r>
            <a:r>
              <a:rPr lang="en-US" altLang="ko-KR" b="1" dirty="0"/>
              <a:t>Hierarchical Majority Voter</a:t>
            </a:r>
            <a:r>
              <a:rPr lang="ko-KR" altLang="en-US" b="1" dirty="0"/>
              <a:t> 분석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sz="1400" b="1" dirty="0"/>
              <a:t>9-bit Majority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Voter</a:t>
            </a:r>
            <a:r>
              <a:rPr lang="ko-KR" altLang="en-US" sz="1400" b="1" dirty="0"/>
              <a:t> 사용 시 실측 분포</a:t>
            </a:r>
            <a:endParaRPr lang="en-US" altLang="ko-KR" sz="1400" b="1" dirty="0"/>
          </a:p>
          <a:p>
            <a:endParaRPr lang="en-US" altLang="ko-KR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0394B33-31FA-6278-8DEE-A703A7EC2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023101"/>
              </p:ext>
            </p:extLst>
          </p:nvPr>
        </p:nvGraphicFramePr>
        <p:xfrm>
          <a:off x="944137" y="2428668"/>
          <a:ext cx="460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138431056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536492334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Layer Number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1.60%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10.17%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3.07%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10.63%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2.53%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9.06%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5.67%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8.28%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5.69%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5.67%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8.28%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5.61%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05796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8.52%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2.13%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97758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9.53%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2.37%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74515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1.21%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4363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DBF1CEC-A89D-8899-B82B-20D4B2653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235270"/>
              </p:ext>
            </p:extLst>
          </p:nvPr>
        </p:nvGraphicFramePr>
        <p:xfrm>
          <a:off x="5552137" y="2428668"/>
          <a:ext cx="460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138431056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536492334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Layer Number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1.66%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10.25%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2.72%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10.33%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2.18%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9.40%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5.23%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8.80%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5.05%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8.38%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5.17%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05796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8.50%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2.37%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97758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10.17%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2.81%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74515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0.98%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43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276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B533B3-F30F-8E1F-335A-093E43E62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B6FE5-AEDE-6B30-F419-991BA2237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Hierarchical Majority Voter – </a:t>
            </a:r>
            <a:r>
              <a:rPr lang="ko-KR" altLang="en-US" sz="4000" dirty="0"/>
              <a:t>실측 분포</a:t>
            </a:r>
            <a:endParaRPr lang="en-US" altLang="ko-K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5705D-9758-E22F-7D48-9FDB63462977}"/>
              </a:ext>
            </a:extLst>
          </p:cNvPr>
          <p:cNvSpPr txBox="1"/>
          <p:nvPr/>
        </p:nvSpPr>
        <p:spPr>
          <a:xfrm>
            <a:off x="706241" y="1289895"/>
            <a:ext cx="872025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ko-KR" altLang="en-US" b="1" dirty="0"/>
              <a:t>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Inference </a:t>
            </a:r>
            <a:r>
              <a:rPr lang="ko-KR" altLang="en-US" b="1" dirty="0"/>
              <a:t>시의 </a:t>
            </a:r>
            <a:r>
              <a:rPr lang="en-US" altLang="ko-KR" b="1" dirty="0"/>
              <a:t>XNOR Output</a:t>
            </a:r>
            <a:r>
              <a:rPr lang="ko-KR" altLang="en-US" b="1" dirty="0"/>
              <a:t>대한 </a:t>
            </a:r>
            <a:r>
              <a:rPr lang="en-US" altLang="ko-KR" b="1" dirty="0"/>
              <a:t>Hierarchical Majority Voter</a:t>
            </a:r>
            <a:r>
              <a:rPr lang="ko-KR" altLang="en-US" b="1" dirty="0"/>
              <a:t> 분석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sz="1400" b="1" dirty="0"/>
              <a:t>9-bit Majority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Voter</a:t>
            </a:r>
            <a:r>
              <a:rPr lang="ko-KR" altLang="en-US" sz="1400" b="1" dirty="0"/>
              <a:t> 사용 시 실측 분포</a:t>
            </a:r>
            <a:endParaRPr lang="en-US" altLang="ko-KR" sz="1400" b="1" dirty="0"/>
          </a:p>
          <a:p>
            <a:endParaRPr lang="en-US" altLang="ko-KR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36AE466-C821-E361-45EA-036F585CF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582333"/>
              </p:ext>
            </p:extLst>
          </p:nvPr>
        </p:nvGraphicFramePr>
        <p:xfrm>
          <a:off x="944137" y="2428668"/>
          <a:ext cx="460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138431056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536492334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Layer Number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0.67%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20.97%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1.31%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4.87%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2.75%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16.32%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2.59%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3.45%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8.98%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7.36%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4.16%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1.86%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05796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17.03%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1.60%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97758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5.11%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0.76%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74515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0.22%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4363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F03159D-4A0E-DC9F-E5C9-5F8D172A4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309303"/>
              </p:ext>
            </p:extLst>
          </p:nvPr>
        </p:nvGraphicFramePr>
        <p:xfrm>
          <a:off x="5552137" y="2428668"/>
          <a:ext cx="460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0614457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34578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51745135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138431056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536492334"/>
                    </a:ext>
                  </a:extLst>
                </a:gridCol>
              </a:tblGrid>
              <a:tr h="2298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Layer Number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Group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Sum value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분포도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5274"/>
                  </a:ext>
                </a:extLst>
              </a:tr>
              <a:tr h="164521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Layer 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0.26%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21.27%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5402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0.78%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5.22%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7922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1.73%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16.79%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30377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2.11%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3.87%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62040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8.83%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7.58%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677296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4.29%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2.01%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05796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17.24%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1.56%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977583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5.64%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0.66%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74515"/>
                  </a:ext>
                </a:extLst>
              </a:tr>
              <a:tr h="164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0.15%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43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03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18084</TotalTime>
  <Words>2875</Words>
  <Application>Microsoft Office PowerPoint</Application>
  <PresentationFormat>와이드스크린</PresentationFormat>
  <Paragraphs>897</Paragraphs>
  <Slides>21</Slides>
  <Notes>21</Notes>
  <HiddenSlides>2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Cambria Math</vt:lpstr>
      <vt:lpstr>Office 테마</vt:lpstr>
      <vt:lpstr>Hierarchical Majority Voter 실험</vt:lpstr>
      <vt:lpstr>Background</vt:lpstr>
      <vt:lpstr>Background</vt:lpstr>
      <vt:lpstr>Hierarchical Majority Voter 분석</vt:lpstr>
      <vt:lpstr>학습 실험</vt:lpstr>
      <vt:lpstr>PopBin + Hierarchical Majority Voter 실험 결과</vt:lpstr>
      <vt:lpstr>PopBin + Hierarchical Majority Voter 실험 결과</vt:lpstr>
      <vt:lpstr>PopBin + Hierarchical Majority Voter 실험 결과</vt:lpstr>
      <vt:lpstr>PopBin + Hierarchical Majority Voter 실험 결과</vt:lpstr>
      <vt:lpstr>PopBin + Hierarchical Majority Voter 실험 결과</vt:lpstr>
      <vt:lpstr>분포 분석 실험</vt:lpstr>
      <vt:lpstr>Hierarchical Majority Voter 분석 실험 설계</vt:lpstr>
      <vt:lpstr>Hierarchical Majority Voter - spatial correlation </vt:lpstr>
      <vt:lpstr>Hierarchical Majority Voter - channel correlation </vt:lpstr>
      <vt:lpstr>Hierarchical Majority Voter – 실측 분포</vt:lpstr>
      <vt:lpstr>Hierarchical Majority Voter – 실측 분포</vt:lpstr>
      <vt:lpstr>Hierarchical Majority Voter – 실측 분포</vt:lpstr>
      <vt:lpstr>Hierarchical Majority Voter – 실측 분포</vt:lpstr>
      <vt:lpstr>To Do List</vt:lpstr>
      <vt:lpstr>Hierarchical Majority Voter – 실측 분포</vt:lpstr>
      <vt:lpstr>Hierarchical Majority Voter – 실측 분포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2451</cp:revision>
  <dcterms:created xsi:type="dcterms:W3CDTF">2023-03-06T16:32:37Z</dcterms:created>
  <dcterms:modified xsi:type="dcterms:W3CDTF">2026-05-13T11:48:31Z</dcterms:modified>
</cp:coreProperties>
</file>