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bookmarkIdSeed="2">
  <p:sldMasterIdLst>
    <p:sldMasterId id="2147483648" r:id="rId1"/>
  </p:sldMasterIdLst>
  <p:notesMasterIdLst>
    <p:notesMasterId r:id="rId6"/>
  </p:notesMasterIdLst>
  <p:sldIdLst>
    <p:sldId id="256" r:id="rId2"/>
    <p:sldId id="270" r:id="rId3"/>
    <p:sldId id="283" r:id="rId4"/>
    <p:sldId id="285" r:id="rId5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2C62"/>
    <a:srgbClr val="0066CC"/>
    <a:srgbClr val="CC99FF"/>
    <a:srgbClr val="2156A4"/>
    <a:srgbClr val="336699"/>
    <a:srgbClr val="003399"/>
    <a:srgbClr val="0000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D7AC3CCA-C797-4891-BE02-D94E43425B78}" styleName="보통 스타일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1FECB4D8-DB02-4DC6-A0A2-4F2EBAE1DC90}" styleName="보통 스타일 1 - 강조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1816" autoAdjust="0"/>
    <p:restoredTop sz="83718" autoAdjust="0"/>
  </p:normalViewPr>
  <p:slideViewPr>
    <p:cSldViewPr snapToGrid="0">
      <p:cViewPr>
        <p:scale>
          <a:sx n="89" d="100"/>
          <a:sy n="89" d="100"/>
        </p:scale>
        <p:origin x="960" y="78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103" d="100"/>
          <a:sy n="103" d="100"/>
        </p:scale>
        <p:origin x="3648" y="55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0F939A6-D8A1-4A3E-B1AF-CF6B86DE165A}" type="datetimeFigureOut">
              <a:rPr lang="ko-KR" altLang="en-US" smtClean="0"/>
              <a:t>2026-03-25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3032124-6EC6-43C3-BD2F-F4850F49A65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1075384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032124-6EC6-43C3-BD2F-F4850F49A65E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1757233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032124-6EC6-43C3-BD2F-F4850F49A65E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977289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B3C1F0-F292-4285-A95F-A15DE7C157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62C59FB0-B0C5-D787-DC4E-1F0A56A5C1A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BB4C69EA-D81C-D4E4-C6A7-2F25A8BC5A4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B818B6E-E98E-11DB-78AE-6AB4F563460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032124-6EC6-43C3-BD2F-F4850F49A65E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1774413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A8AA04-8709-DBB2-7920-B5D4ED90A3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AF2ED9AD-0C94-0356-ABDD-CFCC82BF5F1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050C71B9-4ACB-1D6E-5ADF-D167AF9B4D0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EE76571-63A3-9D5F-CA2A-5A51620DD5E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032124-6EC6-43C3-BD2F-F4850F49A65E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5324022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D96069A-B2F6-4FA1-AD4D-2A323F30C2C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219AA13B-A8E5-4FE8-A0C3-D3B2AFC2039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0B6C15F-F3F5-4FD9-905B-15117DA31A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BED11E-A0F7-4FA6-ACB7-78AA5BA9D62F}" type="datetime1">
              <a:rPr lang="ko-KR" altLang="en-US" smtClean="0"/>
              <a:t>2026-03-25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61A8263-FD44-4E94-B425-7997E926A6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182FA20-B669-4095-A48B-C38AD003D9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059754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D0DBC53-D141-4CA5-B5A2-F3FFB856AA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0552" y="176443"/>
            <a:ext cx="12021437" cy="687161"/>
          </a:xfrm>
        </p:spPr>
        <p:txBody>
          <a:bodyPr/>
          <a:lstStyle>
            <a:lvl1pPr>
              <a:defRPr b="1">
                <a:solidFill>
                  <a:srgbClr val="002C62"/>
                </a:solidFill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A4B7B04-A8B7-4F63-8E44-AF4B7DF11C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dirty="0"/>
              <a:t>마스터 텍스트 스타일 편집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768ECB3-E602-48E8-B4DD-6395774C13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524C7B-84A8-4EA4-A24F-E6D033A0AF5B}" type="datetime1">
              <a:rPr lang="ko-KR" altLang="en-US" smtClean="0"/>
              <a:t>2026-03-25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D266D8C-21AF-4084-9D7F-D22D3B951A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DE35378-C752-4505-80FB-FEE7F1043F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14540" y="6356350"/>
            <a:ext cx="2743200" cy="365125"/>
          </a:xfrm>
        </p:spPr>
        <p:txBody>
          <a:bodyPr/>
          <a:lstStyle/>
          <a:p>
            <a:fld id="{78736E57-F90E-408A-B1D8-FC5493EAAE16}" type="slidenum">
              <a:rPr lang="ko-KR" altLang="en-US" smtClean="0"/>
              <a:t>‹#›</a:t>
            </a:fld>
            <a:endParaRPr lang="ko-KR" altLang="en-US"/>
          </a:p>
        </p:txBody>
      </p:sp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415E7BE2-ECE1-4BDD-B754-E19AA34FEEB8}"/>
              </a:ext>
            </a:extLst>
          </p:cNvPr>
          <p:cNvCxnSpPr>
            <a:cxnSpLocks/>
          </p:cNvCxnSpPr>
          <p:nvPr userDrawn="1"/>
        </p:nvCxnSpPr>
        <p:spPr>
          <a:xfrm>
            <a:off x="35168" y="176443"/>
            <a:ext cx="0" cy="687161"/>
          </a:xfrm>
          <a:prstGeom prst="line">
            <a:avLst/>
          </a:prstGeom>
          <a:ln w="76200">
            <a:solidFill>
              <a:srgbClr val="002C6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209118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4DA98FC-457C-4539-A9F9-5E33F436F7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0B16A6F8-E102-4969-BC2D-A82CAFD1C22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4111405-D260-4CEE-AB0F-2164CC9F75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E06B30-2073-4305-9D3A-0916E29AB440}" type="datetime1">
              <a:rPr lang="ko-KR" altLang="en-US" smtClean="0"/>
              <a:t>2026-03-25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78A5793-DA58-417A-BB19-EB5FB470DF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E10BC3D-30E2-4719-AB75-90B6AC0556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536960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3210D63-A220-4A80-8040-023B45C330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2800E88-D9CC-40E2-A228-1DF3046AF3C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2C85741-AD4A-423C-BBF8-BEE9F218D5D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F705DFA8-92FE-436A-AABA-BB7F4D5E3A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3BFF7C-6511-4AE1-B612-A30E568F1FCB}" type="datetime1">
              <a:rPr lang="ko-KR" altLang="en-US" smtClean="0"/>
              <a:t>2026-03-25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4C18C9D4-14AE-42F2-B4D2-8D67F2DF8E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242C7BB9-6B70-4AA3-A457-200DB84427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47708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34DC8E2-E156-4C1B-A2F5-A8BA9612CA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994FBECB-0E3D-4BC8-9FE2-C3AAA031DA9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F9A68962-5696-4C86-8B90-D8C66C87F02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29EF4313-1D05-4480-A6D5-56E1DB4DA4E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2FD04F94-7B0E-43B5-902F-88072858C66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F0CCBDA9-B265-4A3B-8511-7B749734A5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BDD75-5095-4C61-91A4-CF88A65BDFB9}" type="datetime1">
              <a:rPr lang="ko-KR" altLang="en-US" smtClean="0"/>
              <a:t>2026-03-25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8CCC3DF3-CFF5-4FB2-9D5C-7C408E7C81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B4E32E33-68B4-43E5-8FD5-35CF407154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574051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FD93D4F-BBC4-484E-B69C-ED5B1B6D24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01A50EB4-34A2-44F9-A98D-4C7F1499E9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F3530C-2AA3-4CF7-9FD5-BD5A25DD584B}" type="datetime1">
              <a:rPr lang="ko-KR" altLang="en-US" smtClean="0"/>
              <a:t>2026-03-25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22887AA7-BB40-49EF-A7BD-9B42012F7D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745BCA18-5903-472D-A59F-371D567EAB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346242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B93052FA-83BA-4B4E-AF86-D946E318B3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D39933-39D2-48D7-81EE-0FA4E39D937B}" type="datetime1">
              <a:rPr lang="ko-KR" altLang="en-US" smtClean="0"/>
              <a:t>2026-03-25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B9648522-4FEF-4AEC-BD94-28251C3B7F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5FE2665-8B25-4024-BBEC-CFAC9CD2CA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891785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028BDAE-5BD4-4FF7-B0F3-2914ED8D33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6223818-7332-4BC2-B08E-202545FA38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D466E1A0-55B8-4C56-8061-3E942BB1568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E7819FB9-7A93-44A4-9048-D8E152BE1B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935F7E-94F8-43AF-BA3C-2C0EFE7FEF59}" type="datetime1">
              <a:rPr lang="ko-KR" altLang="en-US" smtClean="0"/>
              <a:t>2026-03-25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263777AD-299E-42C8-BD4A-C33CBFD24E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F4738496-BED7-46A0-9B6C-3A0ED70BD9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187439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07251FE-50B6-429C-A5B6-41CCC4B086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C4F9112C-74FA-48DA-9F57-A0FE41483FE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03CC4692-8176-450C-BFAF-3623A36B2C9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CA8D725E-2EA1-46CB-8A4F-9EDF17CC8B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4E7615-84C3-4169-9A08-54E8DCDD2913}" type="datetime1">
              <a:rPr lang="ko-KR" altLang="en-US" smtClean="0"/>
              <a:t>2026-03-25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B95FC6DA-7A65-4895-8AF7-FC7B67E9A6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809FC8C7-18E7-449C-AD48-0ABB0EF9C0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774853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0C3C79F-5B5B-415E-8024-08261215DC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424E4B49-C25B-456D-A666-A3AB7DB27FC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B144563-52D8-4510-89D4-6B03708ED8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770212-C18E-4A1F-93E7-F7CEC1EDC046}" type="datetime1">
              <a:rPr lang="ko-KR" altLang="en-US" smtClean="0"/>
              <a:t>2026-03-25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1FBE8A6-E611-47E5-A029-CFA1EBF265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703308A-F8BF-490F-A63A-ECA122FA5C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06065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FCBC554A-B6FF-46DB-ACAB-826BF9D91CB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E7BDF5C3-6FAC-47AB-BB19-0321DBAF5CC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4A40FDA-BF4D-4F35-BECE-9F365FE6CF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3A6BDA-DA22-4CDD-A71E-4F480C069A60}" type="datetime1">
              <a:rPr lang="ko-KR" altLang="en-US" smtClean="0"/>
              <a:t>2026-03-25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A2C4534-204F-4701-868E-3EDA14DF97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3C512BC-7F13-464E-ADBC-25743F3344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300067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43C559B7-6256-431E-A890-529AA36F9F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6519C8B-4FA7-4FB2-8717-1669983D3CC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F61D0ED-6A06-41E6-9D97-FF94C817076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1768DCC-8D9B-4B47-BE29-50C716B9994F}" type="datetime1">
              <a:rPr lang="ko-KR" altLang="en-US" smtClean="0"/>
              <a:t>2026-03-25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2D21631-28ED-4C23-820E-5CA39025573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A6A2E70-8EAA-4B18-8A7B-601C41DD11F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736E57-F90E-408A-B1D8-FC5493EAAE1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908860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부제목 2">
            <a:extLst>
              <a:ext uri="{FF2B5EF4-FFF2-40B4-BE49-F238E27FC236}">
                <a16:creationId xmlns:a16="http://schemas.microsoft.com/office/drawing/2014/main" id="{BF76F126-0A4F-46B8-9B2B-8C3F765120E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892800" y="5004758"/>
            <a:ext cx="5821861" cy="959759"/>
          </a:xfrm>
        </p:spPr>
        <p:txBody>
          <a:bodyPr>
            <a:normAutofit/>
          </a:bodyPr>
          <a:lstStyle/>
          <a:p>
            <a:pPr algn="r"/>
            <a:r>
              <a:rPr lang="en-US" altLang="ko-KR" b="1" dirty="0" err="1">
                <a:solidFill>
                  <a:srgbClr val="002C62"/>
                </a:solidFill>
              </a:rPr>
              <a:t>Suhyeon</a:t>
            </a:r>
            <a:r>
              <a:rPr lang="en-US" altLang="ko-KR" b="1" dirty="0">
                <a:solidFill>
                  <a:srgbClr val="002C62"/>
                </a:solidFill>
              </a:rPr>
              <a:t> Lee</a:t>
            </a:r>
          </a:p>
          <a:p>
            <a:pPr algn="r"/>
            <a:r>
              <a:rPr lang="en-US" altLang="ko-KR" b="1" dirty="0">
                <a:solidFill>
                  <a:srgbClr val="002C62"/>
                </a:solidFill>
              </a:rPr>
              <a:t>Department of Computer Engineering</a:t>
            </a:r>
          </a:p>
          <a:p>
            <a:pPr algn="r"/>
            <a:endParaRPr lang="ko-KR" altLang="en-US" b="1" dirty="0">
              <a:solidFill>
                <a:srgbClr val="002C62"/>
              </a:solidFill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F5500BC8-BD81-46C1-9DB9-8BCC851C5446}"/>
              </a:ext>
            </a:extLst>
          </p:cNvPr>
          <p:cNvSpPr/>
          <p:nvPr/>
        </p:nvSpPr>
        <p:spPr>
          <a:xfrm>
            <a:off x="-1" y="2135416"/>
            <a:ext cx="12192000" cy="2079997"/>
          </a:xfrm>
          <a:prstGeom prst="rect">
            <a:avLst/>
          </a:prstGeom>
          <a:solidFill>
            <a:srgbClr val="002C6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pic>
        <p:nvPicPr>
          <p:cNvPr id="5" name="Picture 381" descr="악세사리">
            <a:extLst>
              <a:ext uri="{FF2B5EF4-FFF2-40B4-BE49-F238E27FC236}">
                <a16:creationId xmlns:a16="http://schemas.microsoft.com/office/drawing/2014/main" id="{6D421F4B-5169-46B4-9249-AB53789FC1C6}"/>
              </a:ext>
            </a:extLst>
          </p:cNvPr>
          <p:cNvPicPr preferRelativeResize="0">
            <a:picLocks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gray">
          <a:xfrm rot="16200000" flipV="1">
            <a:off x="6022181" y="-1806768"/>
            <a:ext cx="147638" cy="1219200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AEB04FD9-6A59-4C4E-B0B6-829FC2BFF5E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41450" y="2242315"/>
            <a:ext cx="10453006" cy="1604508"/>
          </a:xfrm>
        </p:spPr>
        <p:txBody>
          <a:bodyPr>
            <a:normAutofit/>
          </a:bodyPr>
          <a:lstStyle/>
          <a:p>
            <a:pPr algn="r"/>
            <a:r>
              <a:rPr lang="en-US" altLang="ko-KR" sz="3200" b="1" dirty="0" err="1">
                <a:solidFill>
                  <a:schemeClr val="bg1"/>
                </a:solidFill>
                <a:effectLst>
                  <a:outerShdw blurRad="50800" dist="50800" dir="5400000" sx="1000" sy="1000" algn="ctr" rotWithShape="0">
                    <a:srgbClr val="000000">
                      <a:alpha val="43137"/>
                    </a:srgbClr>
                  </a:outerShdw>
                </a:effectLst>
              </a:rPr>
              <a:t>EoMT</a:t>
            </a:r>
            <a:r>
              <a:rPr lang="en-US" altLang="ko-KR" sz="3200" b="1" dirty="0">
                <a:solidFill>
                  <a:schemeClr val="bg1"/>
                </a:solidFill>
                <a:effectLst>
                  <a:outerShdw blurRad="50800" dist="50800" dir="5400000" sx="1000" sy="1000" algn="ctr" rotWithShape="0">
                    <a:srgbClr val="000000">
                      <a:alpha val="43137"/>
                    </a:srgbClr>
                  </a:outerShdw>
                </a:effectLst>
              </a:rPr>
              <a:t> Apple Neural Engine (5)</a:t>
            </a:r>
            <a:endParaRPr lang="ko-KR" altLang="en-US" sz="3200" b="1" dirty="0">
              <a:solidFill>
                <a:schemeClr val="bg1"/>
              </a:solidFill>
              <a:effectLst>
                <a:outerShdw blurRad="50800" dist="50800" dir="5400000" sx="1000" sy="1000" algn="ctr" rotWithShape="0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DA5E8C29-A238-4DD7-B7C5-335AFB9E0EF2}"/>
              </a:ext>
            </a:extLst>
          </p:cNvPr>
          <p:cNvSpPr/>
          <p:nvPr/>
        </p:nvSpPr>
        <p:spPr>
          <a:xfrm flipH="1">
            <a:off x="11786144" y="5004758"/>
            <a:ext cx="45719" cy="959758"/>
          </a:xfrm>
          <a:prstGeom prst="rect">
            <a:avLst/>
          </a:prstGeom>
          <a:solidFill>
            <a:srgbClr val="002C62"/>
          </a:solidFill>
          <a:ln>
            <a:solidFill>
              <a:srgbClr val="002C6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pic>
        <p:nvPicPr>
          <p:cNvPr id="1028" name="Picture 4" descr="HONGIK UNIVERSITY">
            <a:extLst>
              <a:ext uri="{FF2B5EF4-FFF2-40B4-BE49-F238E27FC236}">
                <a16:creationId xmlns:a16="http://schemas.microsoft.com/office/drawing/2014/main" id="{6B30C8C5-C24D-49AC-8DCD-2AC2166ECC5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8680" y="1773596"/>
            <a:ext cx="3089820" cy="2141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부제목 2">
            <a:extLst>
              <a:ext uri="{FF2B5EF4-FFF2-40B4-BE49-F238E27FC236}">
                <a16:creationId xmlns:a16="http://schemas.microsoft.com/office/drawing/2014/main" id="{6DD967C6-5A84-204B-192A-9720D2E48DAD}"/>
              </a:ext>
            </a:extLst>
          </p:cNvPr>
          <p:cNvSpPr txBox="1">
            <a:spLocks/>
          </p:cNvSpPr>
          <p:nvPr/>
        </p:nvSpPr>
        <p:spPr>
          <a:xfrm>
            <a:off x="9871364" y="1666695"/>
            <a:ext cx="2023092" cy="427981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b="1" dirty="0">
                <a:solidFill>
                  <a:srgbClr val="002C62"/>
                </a:solidFill>
              </a:rPr>
              <a:t>  2026</a:t>
            </a:r>
            <a:r>
              <a:rPr lang="ko-KR" altLang="en-US" b="1" dirty="0">
                <a:solidFill>
                  <a:srgbClr val="002C62"/>
                </a:solidFill>
              </a:rPr>
              <a:t>년 </a:t>
            </a:r>
            <a:r>
              <a:rPr lang="en-US" altLang="ko-KR" b="1" dirty="0">
                <a:solidFill>
                  <a:srgbClr val="002C62"/>
                </a:solidFill>
              </a:rPr>
              <a:t>3</a:t>
            </a:r>
            <a:r>
              <a:rPr lang="ko-KR" altLang="en-US" b="1" dirty="0">
                <a:solidFill>
                  <a:srgbClr val="002C62"/>
                </a:solidFill>
              </a:rPr>
              <a:t>월 </a:t>
            </a:r>
            <a:r>
              <a:rPr lang="en-US" altLang="ko-KR" b="1" dirty="0">
                <a:solidFill>
                  <a:srgbClr val="002C62"/>
                </a:solidFill>
              </a:rPr>
              <a:t>25</a:t>
            </a:r>
            <a:r>
              <a:rPr lang="ko-KR" altLang="en-US" b="1" dirty="0">
                <a:solidFill>
                  <a:srgbClr val="002C62"/>
                </a:solidFill>
              </a:rPr>
              <a:t>일</a:t>
            </a:r>
            <a:endParaRPr lang="en-US" altLang="ko-KR" b="1" dirty="0">
              <a:solidFill>
                <a:srgbClr val="002C6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606867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F01D89-421D-20CC-6D5F-47FC8C6A5C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7340BEB-8E46-868C-99E7-95D8BC5B34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ko-KR" altLang="en-US" dirty="0"/>
              <a:t>목표 및 진행사항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22E4903-A5AB-F7E3-2412-5136BFF43F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2</a:t>
            </a:fld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E0DA4B2-EC6E-F008-6710-245906C12FE5}"/>
              </a:ext>
            </a:extLst>
          </p:cNvPr>
          <p:cNvSpPr txBox="1"/>
          <p:nvPr/>
        </p:nvSpPr>
        <p:spPr>
          <a:xfrm>
            <a:off x="898782" y="1550792"/>
            <a:ext cx="9666514" cy="3179909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endParaRPr lang="en-US" altLang="ko-KR" sz="1600" dirty="0"/>
          </a:p>
          <a:p>
            <a:r>
              <a:rPr lang="ko-KR" altLang="en-US" sz="2000" b="1" dirty="0"/>
              <a:t>목표 </a:t>
            </a:r>
            <a:r>
              <a:rPr lang="en-US" altLang="ko-KR" sz="2000" b="1" dirty="0"/>
              <a:t>(</a:t>
            </a:r>
            <a:r>
              <a:rPr lang="en-US" altLang="ko-KR" b="1" dirty="0"/>
              <a:t>~6월)</a:t>
            </a:r>
            <a:endParaRPr lang="ko-KR" altLang="en-US" b="1" dirty="0">
              <a:cs typeface="Arial"/>
            </a:endParaRPr>
          </a:p>
          <a:p>
            <a:pPr>
              <a:lnSpc>
                <a:spcPct val="150000"/>
              </a:lnSpc>
            </a:pPr>
            <a:r>
              <a:rPr lang="en-US" altLang="ko-KR" dirty="0"/>
              <a:t>iOS </a:t>
            </a:r>
            <a:r>
              <a:rPr lang="ko-KR" altLang="en-US" dirty="0"/>
              <a:t>환경에서 </a:t>
            </a:r>
            <a:r>
              <a:rPr lang="en-US" altLang="ko-KR" dirty="0"/>
              <a:t>panoptic segmentation</a:t>
            </a:r>
            <a:r>
              <a:rPr lang="ko-KR" altLang="en-US" dirty="0"/>
              <a:t>이 가능한 </a:t>
            </a:r>
            <a:r>
              <a:rPr lang="en-US" altLang="ko-KR" dirty="0" err="1"/>
              <a:t>EoMT</a:t>
            </a:r>
            <a:r>
              <a:rPr lang="en-US" altLang="ko-KR" dirty="0"/>
              <a:t> </a:t>
            </a:r>
            <a:r>
              <a:rPr lang="ko-KR" altLang="en-US" dirty="0"/>
              <a:t>모델 최적화 </a:t>
            </a:r>
            <a:endParaRPr lang="en-US" altLang="ko-KR" dirty="0"/>
          </a:p>
          <a:p>
            <a:pPr marL="285750" indent="-285750">
              <a:lnSpc>
                <a:spcPct val="150000"/>
              </a:lnSpc>
              <a:buFont typeface="Arial"/>
              <a:buChar char="•"/>
            </a:pPr>
            <a:r>
              <a:rPr lang="ko-KR" altLang="en-US" dirty="0"/>
              <a:t>ANE</a:t>
            </a:r>
            <a:r>
              <a:rPr lang="ko-KR" dirty="0"/>
              <a:t>(Apple </a:t>
            </a:r>
            <a:r>
              <a:rPr lang="ko-KR" dirty="0" err="1"/>
              <a:t>Neural</a:t>
            </a:r>
            <a:r>
              <a:rPr lang="ko-KR" dirty="0"/>
              <a:t> </a:t>
            </a:r>
            <a:r>
              <a:rPr lang="ko-KR" dirty="0" err="1"/>
              <a:t>Engine</a:t>
            </a:r>
            <a:r>
              <a:rPr lang="ko-KR" dirty="0"/>
              <a:t>)</a:t>
            </a:r>
            <a:r>
              <a:rPr lang="ko-KR" altLang="en-US" dirty="0"/>
              <a:t> </a:t>
            </a:r>
            <a:r>
              <a:rPr lang="ko-KR" altLang="en-US" dirty="0" err="1"/>
              <a:t>friendly</a:t>
            </a:r>
            <a:r>
              <a:rPr lang="ko-KR" altLang="en-US" dirty="0"/>
              <a:t> </a:t>
            </a:r>
            <a:r>
              <a:rPr lang="ko-KR" altLang="en-US" dirty="0" err="1"/>
              <a:t>transformer</a:t>
            </a:r>
            <a:endParaRPr lang="en-US" altLang="ko-KR" dirty="0" err="1">
              <a:cs typeface="Arial"/>
            </a:endParaRPr>
          </a:p>
          <a:p>
            <a:pPr>
              <a:lnSpc>
                <a:spcPct val="150000"/>
              </a:lnSpc>
            </a:pPr>
            <a:r>
              <a:rPr lang="en-US" altLang="ko-KR" sz="1400" dirty="0"/>
              <a:t>Panoptic segmentation:</a:t>
            </a:r>
            <a:r>
              <a:rPr lang="ko-KR" altLang="en-US" sz="1400" dirty="0"/>
              <a:t> 어떤 사물인지</a:t>
            </a:r>
            <a:r>
              <a:rPr lang="en-US" altLang="ko-KR" sz="1400" dirty="0"/>
              <a:t>, </a:t>
            </a:r>
            <a:r>
              <a:rPr lang="ko-KR" altLang="en-US" sz="1400" dirty="0"/>
              <a:t>개별 객체인지를 동시에 구분</a:t>
            </a:r>
            <a:endParaRPr lang="en-US" altLang="ko-KR" sz="1400" dirty="0"/>
          </a:p>
          <a:p>
            <a:pPr>
              <a:lnSpc>
                <a:spcPct val="150000"/>
              </a:lnSpc>
            </a:pPr>
            <a:endParaRPr lang="en-US" altLang="ko-KR" sz="2400" b="1" dirty="0"/>
          </a:p>
          <a:p>
            <a:pPr>
              <a:lnSpc>
                <a:spcPct val="150000"/>
              </a:lnSpc>
            </a:pPr>
            <a:r>
              <a:rPr lang="ko-KR" altLang="en-US" sz="2000" b="1" dirty="0"/>
              <a:t>진행사항</a:t>
            </a:r>
            <a:endParaRPr lang="en-US" altLang="ko-KR" sz="2000" b="1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dirty="0"/>
              <a:t>ANE transformer</a:t>
            </a:r>
            <a:r>
              <a:rPr lang="ko-KR" altLang="en-US" dirty="0"/>
              <a:t>의 원리</a:t>
            </a:r>
            <a:r>
              <a:rPr lang="en-US" altLang="ko-KR" dirty="0"/>
              <a:t> – p1, p2, p3</a:t>
            </a:r>
            <a:r>
              <a:rPr lang="ko-KR" altLang="en-US" dirty="0"/>
              <a:t>의 </a:t>
            </a:r>
            <a:r>
              <a:rPr lang="en-US" altLang="ko-KR" dirty="0"/>
              <a:t>8</a:t>
            </a:r>
            <a:r>
              <a:rPr lang="ko-KR" altLang="en-US" dirty="0"/>
              <a:t>가지 조합 비교 </a:t>
            </a:r>
            <a:endParaRPr lang="en-US" altLang="ko-KR" dirty="0"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97367215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78A358-86C2-C65C-130A-37B42C55B4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2CA901E-0722-66D4-1063-4C1A9721A4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dirty="0"/>
              <a:t>ANE transformers – </a:t>
            </a:r>
            <a:r>
              <a:rPr lang="ko-KR" altLang="en-US" dirty="0"/>
              <a:t>원리 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C3A921F-E2D1-2908-5D59-30C686B32D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3</a:t>
            </a:fld>
            <a:endParaRPr lang="ko-KR" alt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62F446F-E08D-B3A3-A1DC-CE08A8A549E3}"/>
              </a:ext>
            </a:extLst>
          </p:cNvPr>
          <p:cNvSpPr txBox="1"/>
          <p:nvPr/>
        </p:nvSpPr>
        <p:spPr>
          <a:xfrm>
            <a:off x="1083543" y="1268760"/>
            <a:ext cx="7464210" cy="5771324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b="1" dirty="0"/>
              <a:t>1. Picking the Right Data format </a:t>
            </a:r>
            <a:endParaRPr lang="en-US" altLang="ko-KR" sz="1200" dirty="0">
              <a:solidFill>
                <a:srgbClr val="474747"/>
              </a:solidFill>
              <a:highlight>
                <a:srgbClr val="FFFFFF"/>
              </a:highlight>
              <a:cs typeface="Arial"/>
            </a:endParaRPr>
          </a:p>
          <a:p>
            <a:pPr marL="285750" indent="-285750">
              <a:lnSpc>
                <a:spcPct val="150000"/>
              </a:lnSpc>
              <a:buFont typeface="Arial"/>
              <a:buChar char="•"/>
            </a:pPr>
            <a:r>
              <a:rPr lang="en-US" altLang="ko-KR" sz="1600" dirty="0"/>
              <a:t>Linear</a:t>
            </a:r>
            <a:r>
              <a:rPr lang="ko-KR" altLang="en-US" sz="1400" dirty="0"/>
              <a:t> 레이어를 모두 </a:t>
            </a:r>
            <a:r>
              <a:rPr lang="en-US" altLang="ko-KR" sz="1600" dirty="0"/>
              <a:t>Conv2d</a:t>
            </a:r>
            <a:r>
              <a:rPr lang="ko-KR" altLang="en-US" sz="1400" dirty="0"/>
              <a:t> 레이어로 교체</a:t>
            </a:r>
            <a:endParaRPr lang="en-US" altLang="ko-KR" sz="1400" dirty="0">
              <a:cs typeface="Arial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400" b="1" dirty="0"/>
              <a:t>(B, S, C) → (B, C, 1, S) 	</a:t>
            </a:r>
            <a:endParaRPr lang="en-US" altLang="ko-KR" sz="1400" b="1" dirty="0">
              <a:cs typeface="Arial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1400" b="1" dirty="0">
              <a:cs typeface="Arial"/>
            </a:endParaRPr>
          </a:p>
          <a:p>
            <a:pPr>
              <a:lnSpc>
                <a:spcPct val="150000"/>
              </a:lnSpc>
            </a:pPr>
            <a:r>
              <a:rPr lang="en-US" b="1" dirty="0">
                <a:cs typeface="Arial"/>
              </a:rPr>
              <a:t>2. Chunking Large Intermediate Tensors</a:t>
            </a:r>
          </a:p>
          <a:p>
            <a:pPr marL="285750" indent="-285750">
              <a:lnSpc>
                <a:spcPct val="150000"/>
              </a:lnSpc>
              <a:buFont typeface="Arial"/>
              <a:buChar char="•"/>
            </a:pPr>
            <a:r>
              <a:rPr lang="en-US" sz="1400" dirty="0">
                <a:cs typeface="Arial"/>
              </a:rPr>
              <a:t>Multi Head Attention</a:t>
            </a:r>
            <a:r>
              <a:rPr lang="ko-KR" altLang="en-US" sz="1400" dirty="0">
                <a:cs typeface="Arial"/>
              </a:rPr>
              <a:t>에서 </a:t>
            </a:r>
            <a:r>
              <a:rPr lang="en-US" sz="1400" dirty="0">
                <a:cs typeface="Arial"/>
              </a:rPr>
              <a:t>query, key, value</a:t>
            </a:r>
            <a:r>
              <a:rPr lang="en-US" altLang="ko-KR" sz="1400" dirty="0">
                <a:cs typeface="Arial"/>
              </a:rPr>
              <a:t> </a:t>
            </a:r>
            <a:r>
              <a:rPr lang="ko-KR" altLang="en-US" sz="1400" b="1" dirty="0" err="1">
                <a:cs typeface="Arial"/>
              </a:rPr>
              <a:t>텐서를</a:t>
            </a:r>
            <a:r>
              <a:rPr lang="ko-KR" altLang="en-US" sz="1400" b="1" dirty="0">
                <a:cs typeface="Arial"/>
              </a:rPr>
              <a:t> </a:t>
            </a:r>
            <a:r>
              <a:rPr lang="en-US" sz="1400" b="1" dirty="0">
                <a:cs typeface="Arial"/>
              </a:rPr>
              <a:t>head</a:t>
            </a:r>
            <a:r>
              <a:rPr lang="ko-KR" altLang="en-US" sz="1400" b="1" dirty="0">
                <a:cs typeface="Arial"/>
              </a:rPr>
              <a:t> 단위로 분리</a:t>
            </a:r>
            <a:endParaRPr lang="en-US" sz="1400" dirty="0">
              <a:cs typeface="Arial"/>
            </a:endParaRPr>
          </a:p>
          <a:p>
            <a:pPr marL="285750" indent="-285750">
              <a:lnSpc>
                <a:spcPct val="150000"/>
              </a:lnSpc>
              <a:buFont typeface="Arial"/>
              <a:buChar char="•"/>
            </a:pPr>
            <a:endParaRPr lang="ko-KR" altLang="en-US" sz="1400" b="1" dirty="0">
              <a:cs typeface="Arial"/>
            </a:endParaRPr>
          </a:p>
          <a:p>
            <a:pPr>
              <a:lnSpc>
                <a:spcPct val="150000"/>
              </a:lnSpc>
            </a:pPr>
            <a:r>
              <a:rPr lang="ko-KR" b="1" dirty="0">
                <a:cs typeface="Arial"/>
              </a:rPr>
              <a:t>3. </a:t>
            </a:r>
            <a:r>
              <a:rPr lang="ko-KR" b="1" dirty="0" err="1">
                <a:cs typeface="Arial"/>
              </a:rPr>
              <a:t>Minimizing</a:t>
            </a:r>
            <a:r>
              <a:rPr lang="ko-KR" b="1" dirty="0">
                <a:cs typeface="Arial"/>
              </a:rPr>
              <a:t> </a:t>
            </a:r>
            <a:r>
              <a:rPr lang="ko-KR" b="1" dirty="0" err="1">
                <a:cs typeface="Arial"/>
              </a:rPr>
              <a:t>Memory</a:t>
            </a:r>
            <a:r>
              <a:rPr lang="ko-KR" b="1" dirty="0">
                <a:cs typeface="Arial"/>
              </a:rPr>
              <a:t> </a:t>
            </a:r>
            <a:r>
              <a:rPr lang="ko-KR" b="1" dirty="0" err="1">
                <a:cs typeface="Arial"/>
              </a:rPr>
              <a:t>Copies</a:t>
            </a:r>
            <a:endParaRPr lang="ko-KR" b="1" dirty="0">
              <a:cs typeface="Arial"/>
            </a:endParaRPr>
          </a:p>
          <a:p>
            <a:pPr marL="285750" indent="-285750">
              <a:lnSpc>
                <a:spcPct val="150000"/>
              </a:lnSpc>
              <a:buFont typeface="Arial"/>
              <a:buChar char="•"/>
            </a:pPr>
            <a:r>
              <a:rPr lang="en-US" sz="1400" dirty="0">
                <a:cs typeface="Arial"/>
              </a:rPr>
              <a:t>Reshape</a:t>
            </a:r>
            <a:r>
              <a:rPr lang="ko-KR" altLang="en-US" sz="1400" dirty="0">
                <a:cs typeface="Arial"/>
              </a:rPr>
              <a:t>과</a:t>
            </a:r>
            <a:r>
              <a:rPr lang="en-US" sz="1400" dirty="0">
                <a:cs typeface="Arial"/>
              </a:rPr>
              <a:t> transpose </a:t>
            </a:r>
            <a:r>
              <a:rPr lang="ko-KR" altLang="en-US" sz="1400" dirty="0">
                <a:cs typeface="Arial"/>
              </a:rPr>
              <a:t>연산</a:t>
            </a:r>
            <a:r>
              <a:rPr lang="en-US" sz="1400" dirty="0">
                <a:cs typeface="Arial"/>
              </a:rPr>
              <a:t> </a:t>
            </a:r>
            <a:r>
              <a:rPr lang="ko-KR" altLang="en-US" sz="1400" dirty="0">
                <a:cs typeface="Arial"/>
              </a:rPr>
              <a:t>최소화</a:t>
            </a:r>
            <a:r>
              <a:rPr lang="en-US" sz="1400" dirty="0">
                <a:cs typeface="Arial"/>
              </a:rPr>
              <a:t> - </a:t>
            </a:r>
            <a:r>
              <a:rPr lang="en-US" sz="1400" b="1" dirty="0" err="1">
                <a:cs typeface="Arial"/>
              </a:rPr>
              <a:t>einsum</a:t>
            </a:r>
            <a:r>
              <a:rPr lang="en-US" sz="1400" b="1" dirty="0">
                <a:cs typeface="Arial"/>
              </a:rPr>
              <a:t> </a:t>
            </a:r>
            <a:r>
              <a:rPr lang="ko-KR" sz="1400" b="1" dirty="0">
                <a:cs typeface="Arial"/>
              </a:rPr>
              <a:t>공식</a:t>
            </a:r>
            <a:r>
              <a:rPr lang="ko-KR" sz="1400" dirty="0">
                <a:cs typeface="Arial"/>
              </a:rPr>
              <a:t> 활용</a:t>
            </a:r>
            <a:endParaRPr lang="en-US" sz="1400" dirty="0">
              <a:cs typeface="Arial"/>
            </a:endParaRPr>
          </a:p>
          <a:p>
            <a:pPr marL="285750" indent="-285750">
              <a:lnSpc>
                <a:spcPct val="150000"/>
              </a:lnSpc>
              <a:buFont typeface="Arial"/>
              <a:buChar char="•"/>
            </a:pPr>
            <a:endParaRPr lang="ko-KR" sz="1400" dirty="0">
              <a:cs typeface="Arial"/>
            </a:endParaRPr>
          </a:p>
          <a:p>
            <a:pPr>
              <a:lnSpc>
                <a:spcPct val="150000"/>
              </a:lnSpc>
            </a:pPr>
            <a:r>
              <a:rPr lang="en-US" altLang="ko-KR" b="1" dirty="0">
                <a:cs typeface="Arial"/>
              </a:rPr>
              <a:t>4.</a:t>
            </a:r>
            <a:r>
              <a:rPr lang="ko-KR" altLang="en-US" b="1" dirty="0">
                <a:cs typeface="Arial"/>
              </a:rPr>
              <a:t> </a:t>
            </a:r>
            <a:r>
              <a:rPr lang="en-US" altLang="ko-KR" b="1" dirty="0">
                <a:cs typeface="Arial"/>
              </a:rPr>
              <a:t>Handling</a:t>
            </a:r>
            <a:r>
              <a:rPr lang="ko-KR" altLang="en-US" b="1" dirty="0">
                <a:cs typeface="Arial"/>
              </a:rPr>
              <a:t> </a:t>
            </a:r>
            <a:r>
              <a:rPr lang="en-US" altLang="ko-KR" b="1" dirty="0">
                <a:cs typeface="Arial"/>
              </a:rPr>
              <a:t>Bandwidth-Boundness</a:t>
            </a:r>
            <a:endParaRPr lang="ko-KR" dirty="0">
              <a:cs typeface="Arial"/>
            </a:endParaRPr>
          </a:p>
          <a:p>
            <a:pPr marL="285750" indent="-285750">
              <a:lnSpc>
                <a:spcPct val="150000"/>
              </a:lnSpc>
              <a:buFont typeface="Arial,Sans-Serif"/>
              <a:buChar char="•"/>
            </a:pPr>
            <a:r>
              <a:rPr lang="ko-KR" altLang="en-US" sz="1200" dirty="0">
                <a:cs typeface="Arial"/>
              </a:rPr>
              <a:t>배치 크기 증가</a:t>
            </a:r>
            <a:r>
              <a:rPr lang="en-US" sz="1200" dirty="0">
                <a:cs typeface="Arial"/>
              </a:rPr>
              <a:t> </a:t>
            </a:r>
            <a:r>
              <a:rPr lang="en-US" altLang="ko-KR" sz="1200" dirty="0">
                <a:cs typeface="Arial"/>
              </a:rPr>
              <a:t>or </a:t>
            </a:r>
            <a:r>
              <a:rPr lang="ko-KR" altLang="en-US" sz="1200" dirty="0">
                <a:cs typeface="Arial"/>
              </a:rPr>
              <a:t>파라미터 </a:t>
            </a:r>
            <a:r>
              <a:rPr lang="ko-KR" altLang="en-US" sz="1200" dirty="0" err="1">
                <a:cs typeface="Arial"/>
              </a:rPr>
              <a:t>텐서</a:t>
            </a:r>
            <a:r>
              <a:rPr lang="ko-KR" altLang="en-US" sz="1200" dirty="0">
                <a:cs typeface="Arial"/>
              </a:rPr>
              <a:t> 크기 감소</a:t>
            </a:r>
            <a:endParaRPr lang="en-US" sz="1200" dirty="0">
              <a:cs typeface="Arial"/>
            </a:endParaRPr>
          </a:p>
          <a:p>
            <a:pPr>
              <a:lnSpc>
                <a:spcPct val="150000"/>
              </a:lnSpc>
            </a:pPr>
            <a:endParaRPr lang="ko-KR" altLang="en-US" sz="1600" dirty="0">
              <a:cs typeface="Arial"/>
            </a:endParaRPr>
          </a:p>
          <a:p>
            <a:pPr>
              <a:lnSpc>
                <a:spcPct val="150000"/>
              </a:lnSpc>
            </a:pPr>
            <a:endParaRPr lang="ko-KR" altLang="en-US" sz="1600" dirty="0">
              <a:cs typeface="Arial"/>
            </a:endParaRPr>
          </a:p>
          <a:p>
            <a:pPr lvl="1">
              <a:lnSpc>
                <a:spcPct val="150000"/>
              </a:lnSpc>
            </a:pPr>
            <a:endParaRPr lang="en-US" altLang="ko-KR" sz="1600" dirty="0">
              <a:cs typeface="Arial"/>
            </a:endParaRPr>
          </a:p>
          <a:p>
            <a:pPr>
              <a:lnSpc>
                <a:spcPct val="150000"/>
              </a:lnSpc>
            </a:pPr>
            <a:endParaRPr lang="en-US" altLang="ko-KR" sz="1600" dirty="0">
              <a:cs typeface="Arial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AC343DF-F19A-4250-F9F6-BE52CDB35130}"/>
              </a:ext>
            </a:extLst>
          </p:cNvPr>
          <p:cNvSpPr txBox="1"/>
          <p:nvPr/>
        </p:nvSpPr>
        <p:spPr>
          <a:xfrm>
            <a:off x="1083543" y="6400297"/>
            <a:ext cx="7053292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100" dirty="0"/>
              <a:t>Apple ML Research, "Deploying Transformers on the ANE", 2022</a:t>
            </a:r>
            <a:endParaRPr lang="ko-KR" altLang="en-US" sz="1100" dirty="0"/>
          </a:p>
        </p:txBody>
      </p:sp>
    </p:spTree>
    <p:extLst>
      <p:ext uri="{BB962C8B-B14F-4D97-AF65-F5344CB8AC3E}">
        <p14:creationId xmlns:p14="http://schemas.microsoft.com/office/powerpoint/2010/main" val="213792048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98B523-9858-F43D-4DF6-DC3F38922D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A14EA1E-572C-4719-E33F-18D77646D3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dirty="0" err="1"/>
              <a:t>EoMT</a:t>
            </a:r>
            <a:r>
              <a:rPr lang="en-US" altLang="ko-KR" dirty="0"/>
              <a:t> ANE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AA816EF-5F22-9841-A354-CDFC829B5E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4</a:t>
            </a:fld>
            <a:endParaRPr lang="ko-KR" altLang="en-US"/>
          </a:p>
        </p:txBody>
      </p:sp>
      <p:graphicFrame>
        <p:nvGraphicFramePr>
          <p:cNvPr id="11" name="표 10">
            <a:extLst>
              <a:ext uri="{FF2B5EF4-FFF2-40B4-BE49-F238E27FC236}">
                <a16:creationId xmlns:a16="http://schemas.microsoft.com/office/drawing/2014/main" id="{6B0F22F1-AEB4-5F3F-7BDE-8721BF1D3BC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56332711"/>
              </p:ext>
            </p:extLst>
          </p:nvPr>
        </p:nvGraphicFramePr>
        <p:xfrm>
          <a:off x="3026323" y="176443"/>
          <a:ext cx="7881934" cy="6614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29318">
                  <a:extLst>
                    <a:ext uri="{9D8B030D-6E8A-4147-A177-3AD203B41FA5}">
                      <a16:colId xmlns:a16="http://schemas.microsoft.com/office/drawing/2014/main" val="2428669688"/>
                    </a:ext>
                  </a:extLst>
                </a:gridCol>
                <a:gridCol w="1613154">
                  <a:extLst>
                    <a:ext uri="{9D8B030D-6E8A-4147-A177-3AD203B41FA5}">
                      <a16:colId xmlns:a16="http://schemas.microsoft.com/office/drawing/2014/main" val="2798766547"/>
                    </a:ext>
                  </a:extLst>
                </a:gridCol>
                <a:gridCol w="1613154">
                  <a:extLst>
                    <a:ext uri="{9D8B030D-6E8A-4147-A177-3AD203B41FA5}">
                      <a16:colId xmlns:a16="http://schemas.microsoft.com/office/drawing/2014/main" val="520335530"/>
                    </a:ext>
                  </a:extLst>
                </a:gridCol>
                <a:gridCol w="1613154">
                  <a:extLst>
                    <a:ext uri="{9D8B030D-6E8A-4147-A177-3AD203B41FA5}">
                      <a16:colId xmlns:a16="http://schemas.microsoft.com/office/drawing/2014/main" val="2549239283"/>
                    </a:ext>
                  </a:extLst>
                </a:gridCol>
                <a:gridCol w="1613154">
                  <a:extLst>
                    <a:ext uri="{9D8B030D-6E8A-4147-A177-3AD203B41FA5}">
                      <a16:colId xmlns:a16="http://schemas.microsoft.com/office/drawing/2014/main" val="3897733600"/>
                    </a:ext>
                  </a:extLst>
                </a:gridCol>
              </a:tblGrid>
              <a:tr h="263573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ko-KR" altLang="en-US" sz="1000" err="1">
                          <a:solidFill>
                            <a:schemeClr val="tx1"/>
                          </a:solidFill>
                        </a:rPr>
                        <a:t>Model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Compute Unit Mapping</a:t>
                      </a:r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Prediction</a:t>
                      </a:r>
                      <a:br>
                        <a:rPr lang="en-US" altLang="ko-KR" sz="1000" dirty="0">
                          <a:solidFill>
                            <a:srgbClr val="000000"/>
                          </a:solidFill>
                        </a:rPr>
                      </a:b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en-US" altLang="ko-KR" sz="1000" dirty="0" err="1">
                          <a:solidFill>
                            <a:schemeClr val="tx1"/>
                          </a:solidFill>
                        </a:rPr>
                        <a:t>ms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)</a:t>
                      </a:r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Load</a:t>
                      </a:r>
                    </a:p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en-US" altLang="ko-KR" sz="1000" err="1">
                          <a:solidFill>
                            <a:schemeClr val="tx1"/>
                          </a:solidFill>
                        </a:rPr>
                        <a:t>ms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)</a:t>
                      </a:r>
                      <a:endParaRPr lang="ko-KR" altLang="en-US" sz="100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Compilation</a:t>
                      </a:r>
                      <a:br>
                        <a:rPr lang="en-US" altLang="ko-KR" sz="1000" dirty="0">
                          <a:solidFill>
                            <a:srgbClr val="000000"/>
                          </a:solidFill>
                        </a:rPr>
                      </a:b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en-US" altLang="ko-KR" sz="1000" err="1">
                          <a:solidFill>
                            <a:schemeClr val="tx1"/>
                          </a:solidFill>
                        </a:rPr>
                        <a:t>ms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)</a:t>
                      </a:r>
                      <a:endParaRPr lang="ko-KR" altLang="en-US" sz="100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93165678"/>
                  </a:ext>
                </a:extLst>
              </a:tr>
              <a:tr h="193287">
                <a:tc rowSpan="3"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altLang="ko-KR" sz="1400" dirty="0"/>
                        <a:t>Baseline</a:t>
                      </a:r>
                    </a:p>
                    <a:p>
                      <a:pPr lvl="0" algn="ctr">
                        <a:buNone/>
                      </a:pPr>
                      <a:r>
                        <a:rPr lang="en-US" altLang="ko-KR" sz="1400" dirty="0"/>
                        <a:t>(none)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chemeClr val="tx1"/>
                      </a:solidFill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rowSpan="3">
                  <a:txBody>
                    <a:bodyPr/>
                    <a:lstStyle/>
                    <a:p>
                      <a:pPr algn="l" latinLnBrk="1"/>
                      <a:r>
                        <a:rPr lang="en-US" altLang="ko-KR" sz="1400" dirty="0"/>
                        <a:t>CPU: 6</a:t>
                      </a:r>
                      <a:br>
                        <a:rPr lang="en-US" altLang="ko-KR" sz="1400" dirty="0"/>
                      </a:br>
                      <a:r>
                        <a:rPr lang="en-US" altLang="ko-KR" sz="1400" dirty="0"/>
                        <a:t>ANE: 330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/>
                        <a:t>115.04</a:t>
                      </a:r>
                      <a:endParaRPr lang="ko-KR" altLang="en-US" sz="11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/>
                        <a:t>48.16</a:t>
                      </a:r>
                      <a:endParaRPr lang="ko-KR" altLang="en-US" sz="11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/>
                        <a:t>179.50</a:t>
                      </a:r>
                      <a:endParaRPr lang="ko-KR" altLang="en-US" sz="11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07067852"/>
                  </a:ext>
                </a:extLst>
              </a:tr>
              <a:tr h="253512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/>
                        <a:t>103.66</a:t>
                      </a:r>
                      <a:endParaRPr lang="ko-KR" altLang="en-US" sz="11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/>
                        <a:t>41.10</a:t>
                      </a:r>
                      <a:endParaRPr lang="ko-KR" altLang="en-US" sz="11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/>
                        <a:t>171.47</a:t>
                      </a:r>
                      <a:endParaRPr lang="ko-KR" altLang="en-US" sz="11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16406165"/>
                  </a:ext>
                </a:extLst>
              </a:tr>
              <a:tr h="193287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/>
                        <a:t>62.30</a:t>
                      </a:r>
                      <a:endParaRPr lang="ko-KR" altLang="en-US" sz="11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/>
                        <a:t>22.46</a:t>
                      </a:r>
                      <a:endParaRPr lang="ko-KR" altLang="en-US" sz="11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/>
                        <a:t>60.49</a:t>
                      </a:r>
                      <a:endParaRPr lang="ko-KR" altLang="en-US" sz="11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94696182"/>
                  </a:ext>
                </a:extLst>
              </a:tr>
              <a:tr h="193287">
                <a:tc rowSpan="3"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altLang="ko-KR" sz="1400" dirty="0"/>
                        <a:t>P1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rowSpan="3">
                  <a:txBody>
                    <a:bodyPr/>
                    <a:lstStyle/>
                    <a:p>
                      <a:pPr algn="l" latinLnBrk="1"/>
                      <a:r>
                        <a:rPr lang="en-US" altLang="ko-KR" sz="1400" dirty="0"/>
                        <a:t>CPU: 2</a:t>
                      </a:r>
                      <a:br>
                        <a:rPr lang="en-US" altLang="ko-KR" sz="1400" dirty="0"/>
                      </a:br>
                      <a:r>
                        <a:rPr lang="en-US" altLang="ko-KR" sz="1400" dirty="0"/>
                        <a:t>ANE:362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/>
                        <a:t>133.37</a:t>
                      </a:r>
                      <a:endParaRPr lang="ko-KR" altLang="en-US" sz="11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/>
                        <a:t>55.06</a:t>
                      </a:r>
                      <a:endParaRPr lang="ko-KR" altLang="en-US" sz="11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/>
                        <a:t>222.66</a:t>
                      </a:r>
                      <a:endParaRPr lang="ko-KR" altLang="en-US" sz="11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04279177"/>
                  </a:ext>
                </a:extLst>
              </a:tr>
              <a:tr h="193287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/>
                        <a:t>61.96</a:t>
                      </a:r>
                      <a:endParaRPr lang="ko-KR" altLang="en-US" sz="11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/>
                        <a:t>26.75</a:t>
                      </a:r>
                      <a:endParaRPr lang="ko-KR" altLang="en-US" sz="11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/>
                        <a:t>74.58</a:t>
                      </a:r>
                      <a:endParaRPr lang="ko-KR" altLang="en-US" sz="11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31699275"/>
                  </a:ext>
                </a:extLst>
              </a:tr>
              <a:tr h="193287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/>
                        <a:t>106.87</a:t>
                      </a:r>
                      <a:endParaRPr lang="ko-KR" altLang="en-US" sz="11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/>
                        <a:t>54.38</a:t>
                      </a:r>
                      <a:endParaRPr lang="ko-KR" altLang="en-US" sz="11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/>
                        <a:t>135.81</a:t>
                      </a:r>
                      <a:endParaRPr lang="ko-KR" altLang="en-US" sz="11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99192603"/>
                  </a:ext>
                </a:extLst>
              </a:tr>
              <a:tr h="193287">
                <a:tc rowSpan="3"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altLang="ko-KR" sz="1400" dirty="0"/>
                        <a:t>P2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chemeClr val="tx1"/>
                      </a:solidFill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rowSpan="3"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lang="en-US" sz="1400" b="0" i="0" u="none" strike="noStrike" noProof="0" dirty="0">
                          <a:latin typeface="Arial"/>
                          <a:cs typeface="Arial"/>
                        </a:rPr>
                        <a:t>CPU: 20</a:t>
                      </a:r>
                      <a:br>
                        <a:rPr lang="en-US" sz="1400" b="0" i="0" u="none" strike="noStrike" noProof="0" dirty="0">
                          <a:latin typeface="Arial"/>
                          <a:cs typeface="Arial"/>
                        </a:rPr>
                      </a:br>
                      <a:r>
                        <a:rPr lang="en-US" sz="1400" b="0" i="0" u="none" strike="noStrike" noProof="0" dirty="0">
                          <a:latin typeface="Arial"/>
                          <a:cs typeface="Arial"/>
                        </a:rPr>
                        <a:t>ANE: 772</a:t>
                      </a:r>
                      <a:endParaRPr lang="ko-KR" alt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altLang="ko-KR" sz="1100" dirty="0"/>
                        <a:t>71.90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chemeClr val="tx1"/>
                      </a:solidFill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altLang="ko-KR" sz="1100" dirty="0"/>
                        <a:t>30.42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chemeClr val="tx1"/>
                      </a:solidFill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altLang="ko-KR" sz="1100" dirty="0"/>
                        <a:t>94.62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5266278"/>
                  </a:ext>
                </a:extLst>
              </a:tr>
              <a:tr h="193287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altLang="ko-KR" sz="1100" dirty="0"/>
                        <a:t>85.61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altLang="ko-KR" sz="1100" dirty="0"/>
                        <a:t>35.14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altLang="ko-KR" sz="1100" dirty="0"/>
                        <a:t>90.63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44794205"/>
                  </a:ext>
                </a:extLst>
              </a:tr>
              <a:tr h="193287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altLang="ko-KR" sz="1100" dirty="0"/>
                        <a:t>93.27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altLang="ko-KR" sz="1100" dirty="0"/>
                        <a:t>40.16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altLang="ko-KR" sz="1100" dirty="0"/>
                        <a:t>120.31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99038067"/>
                  </a:ext>
                </a:extLst>
              </a:tr>
              <a:tr h="193287">
                <a:tc rowSpan="3"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altLang="ko-KR" sz="1400" dirty="0"/>
                        <a:t>P3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rowSpan="3">
                  <a:txBody>
                    <a:bodyPr/>
                    <a:lstStyle/>
                    <a:p>
                      <a:pPr algn="l" latinLnBrk="1"/>
                      <a:r>
                        <a:rPr lang="en-US" altLang="ko-KR" sz="1400" dirty="0"/>
                        <a:t>CPU: 6</a:t>
                      </a:r>
                      <a:br>
                        <a:rPr lang="en-US" altLang="ko-KR" sz="1400" dirty="0"/>
                      </a:br>
                      <a:r>
                        <a:rPr lang="en-US" altLang="ko-KR" sz="1400" dirty="0"/>
                        <a:t>ANE:330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altLang="ko-KR" sz="1100" dirty="0"/>
                        <a:t>86.26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chemeClr val="tx1"/>
                      </a:solidFill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altLang="ko-KR" sz="1100" dirty="0"/>
                        <a:t>41.13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chemeClr val="tx1"/>
                      </a:solidFill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altLang="ko-KR" sz="1100" dirty="0"/>
                        <a:t>77.32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1743627"/>
                  </a:ext>
                </a:extLst>
              </a:tr>
              <a:tr h="193287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altLang="ko-KR" sz="1100" dirty="0"/>
                        <a:t>86.30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altLang="ko-KR" sz="1100" dirty="0"/>
                        <a:t>39.82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altLang="ko-KR" sz="1100" dirty="0"/>
                        <a:t>170.39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57818997"/>
                  </a:ext>
                </a:extLst>
              </a:tr>
              <a:tr h="193287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altLang="ko-KR" sz="1100" dirty="0"/>
                        <a:t>60.80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altLang="ko-KR" sz="1100" dirty="0"/>
                        <a:t>22.38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altLang="ko-KR" sz="1100" dirty="0"/>
                        <a:t>62.47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66744533"/>
                  </a:ext>
                </a:extLst>
              </a:tr>
              <a:tr h="193287">
                <a:tc rowSpan="3"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altLang="ko-KR" sz="1400" dirty="0"/>
                        <a:t>P1 &amp; P2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rowSpan="3"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lang="en-US" sz="1400" b="0" i="0" u="none" strike="noStrike" noProof="0" dirty="0">
                          <a:latin typeface="Arial"/>
                          <a:cs typeface="Arial"/>
                        </a:rPr>
                        <a:t>CPU: 3</a:t>
                      </a:r>
                      <a:br>
                        <a:rPr lang="en-US" sz="1400" b="0" i="0" u="none" strike="noStrike" noProof="0" dirty="0">
                          <a:latin typeface="Arial"/>
                          <a:cs typeface="Arial"/>
                        </a:rPr>
                      </a:br>
                      <a:r>
                        <a:rPr lang="en-US" sz="1400" b="0" i="0" u="none" strike="noStrike" noProof="0" dirty="0">
                          <a:latin typeface="Arial"/>
                          <a:cs typeface="Arial"/>
                        </a:rPr>
                        <a:t>ANE: 914</a:t>
                      </a:r>
                      <a:endParaRPr lang="ko-KR" alt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altLang="ko-KR" sz="1100" dirty="0"/>
                        <a:t>111.91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altLang="ko-KR" sz="1100" dirty="0"/>
                        <a:t>68.30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altLang="ko-KR" sz="1100" dirty="0"/>
                        <a:t>184.82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chemeClr val="tx1"/>
                      </a:solidFill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66192989"/>
                  </a:ext>
                </a:extLst>
              </a:tr>
              <a:tr h="193287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altLang="ko-KR" sz="1100" dirty="0"/>
                        <a:t>103.04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altLang="ko-KR" sz="1100" dirty="0"/>
                        <a:t>67.04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altLang="ko-KR" sz="1100" dirty="0"/>
                        <a:t>154.55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72590221"/>
                  </a:ext>
                </a:extLst>
              </a:tr>
              <a:tr h="193287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altLang="ko-KR" sz="1100" dirty="0"/>
                        <a:t>103.07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altLang="ko-KR" sz="1100" dirty="0"/>
                        <a:t>71.28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altLang="ko-KR" sz="1100" dirty="0"/>
                        <a:t>122.66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92111969"/>
                  </a:ext>
                </a:extLst>
              </a:tr>
              <a:tr h="193287">
                <a:tc rowSpan="3"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altLang="ko-KR" sz="1400" dirty="0"/>
                        <a:t>P1 &amp; P3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rowSpan="3">
                  <a:txBody>
                    <a:bodyPr/>
                    <a:lstStyle/>
                    <a:p>
                      <a:pPr algn="l" latinLnBrk="1"/>
                      <a:r>
                        <a:rPr lang="en-US" altLang="ko-KR" sz="1400" dirty="0"/>
                        <a:t>CPU: 3 </a:t>
                      </a:r>
                      <a:br>
                        <a:rPr lang="en-US" altLang="ko-KR" sz="1400" dirty="0"/>
                      </a:br>
                      <a:r>
                        <a:rPr lang="en-US" altLang="ko-KR" sz="1400" dirty="0"/>
                        <a:t>ANE: 410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altLang="ko-KR" sz="1100" dirty="0"/>
                        <a:t>80.39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chemeClr val="tx1"/>
                      </a:solidFill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altLang="ko-KR" sz="1100" dirty="0"/>
                        <a:t>50.25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chemeClr val="tx1"/>
                      </a:solidFill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altLang="ko-KR" sz="1100" dirty="0"/>
                        <a:t>234.87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67330309"/>
                  </a:ext>
                </a:extLst>
              </a:tr>
              <a:tr h="193287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altLang="ko-KR" sz="1100" dirty="0"/>
                        <a:t>114.15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altLang="ko-KR" sz="1100" dirty="0"/>
                        <a:t>49.22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altLang="ko-KR" sz="1100" dirty="0"/>
                        <a:t>234.58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56484254"/>
                  </a:ext>
                </a:extLst>
              </a:tr>
              <a:tr h="193287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altLang="ko-KR" sz="1100" dirty="0"/>
                        <a:t>90.96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altLang="ko-KR" sz="1100" dirty="0"/>
                        <a:t>48.29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altLang="ko-KR" sz="1100" dirty="0"/>
                        <a:t>228.71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52337970"/>
                  </a:ext>
                </a:extLst>
              </a:tr>
              <a:tr h="193287">
                <a:tc rowSpan="3"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altLang="ko-KR" sz="1400" dirty="0"/>
                        <a:t>P2 &amp; P3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rowSpan="3"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lang="en-US" altLang="ko-KR" sz="1400" b="0" dirty="0"/>
                        <a:t>CPU: 3</a:t>
                      </a:r>
                      <a:br>
                        <a:rPr lang="en-US" altLang="ko-KR" sz="1400" b="0" dirty="0"/>
                      </a:br>
                      <a:r>
                        <a:rPr lang="en-US" altLang="ko-KR" sz="1400" b="0" dirty="0"/>
                        <a:t>ANE: 786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altLang="ko-KR" sz="1100" dirty="0"/>
                        <a:t>101.52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chemeClr val="tx1"/>
                      </a:solidFill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altLang="ko-KR" sz="1100" dirty="0"/>
                        <a:t>61.25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chemeClr val="tx1"/>
                      </a:solidFill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altLang="ko-KR" sz="1100" dirty="0"/>
                        <a:t>143.95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65285275"/>
                  </a:ext>
                </a:extLst>
              </a:tr>
              <a:tr h="193287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altLang="ko-KR" sz="1100" dirty="0"/>
                        <a:t>101.43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altLang="ko-KR" sz="1100" dirty="0"/>
                        <a:t>60.56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altLang="ko-KR" sz="1100" dirty="0"/>
                        <a:t>100.43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13246690"/>
                  </a:ext>
                </a:extLst>
              </a:tr>
              <a:tr h="193287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altLang="ko-KR" sz="1100" dirty="0"/>
                        <a:t>93.40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altLang="ko-KR" sz="1100" dirty="0"/>
                        <a:t>59.78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altLang="ko-KR" sz="1100" dirty="0"/>
                        <a:t>136.36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46250152"/>
                  </a:ext>
                </a:extLst>
              </a:tr>
              <a:tr h="193287">
                <a:tc rowSpan="3"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altLang="ko-KR" sz="1400" dirty="0"/>
                        <a:t>P1 &amp; P2 &amp; P3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rowSpan="3">
                  <a:txBody>
                    <a:bodyPr/>
                    <a:lstStyle/>
                    <a:p>
                      <a:pPr algn="l" latinLnBrk="1"/>
                      <a:r>
                        <a:rPr lang="en-US" altLang="ko-KR" sz="1400" dirty="0"/>
                        <a:t>CPU: 3</a:t>
                      </a:r>
                      <a:br>
                        <a:rPr lang="en-US" altLang="ko-KR" sz="1400" dirty="0"/>
                      </a:br>
                      <a:r>
                        <a:rPr lang="en-US" altLang="ko-KR" sz="1400" dirty="0"/>
                        <a:t>ANE: 566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altLang="ko-KR" sz="1100" dirty="0"/>
                        <a:t>91.48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chemeClr val="tx1"/>
                      </a:solidFill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altLang="ko-KR" sz="1100" dirty="0"/>
                        <a:t>72.21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chemeClr val="tx1"/>
                      </a:solidFill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altLang="ko-KR" sz="1100" dirty="0"/>
                        <a:t>220.56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65689219"/>
                  </a:ext>
                </a:extLst>
              </a:tr>
              <a:tr h="193287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altLang="ko-KR" sz="1100" dirty="0"/>
                        <a:t>91.24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altLang="ko-KR" sz="1100" dirty="0"/>
                        <a:t>54.39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altLang="ko-KR" sz="1100" dirty="0"/>
                        <a:t>227.19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04547664"/>
                  </a:ext>
                </a:extLst>
              </a:tr>
              <a:tr h="193287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altLang="ko-KR" sz="1100" dirty="0"/>
                        <a:t>79.81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altLang="ko-KR" sz="1100" dirty="0"/>
                        <a:t>54.13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altLang="ko-KR" sz="1100" dirty="0"/>
                        <a:t>117.79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9429958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2272880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Arial"/>
        <a:ea typeface="arial"/>
        <a:cs typeface=""/>
      </a:majorFont>
      <a:minorFont>
        <a:latin typeface="Arial"/>
        <a:ea typeface="arial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6873</TotalTime>
  <Words>339</Words>
  <Application>Microsoft Office PowerPoint</Application>
  <PresentationFormat>와이드스크린</PresentationFormat>
  <Paragraphs>132</Paragraphs>
  <Slides>4</Slides>
  <Notes>4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</vt:i4>
      </vt:variant>
    </vt:vector>
  </HeadingPairs>
  <TitlesOfParts>
    <vt:vector size="8" baseType="lpstr">
      <vt:lpstr>Arial,Sans-Serif</vt:lpstr>
      <vt:lpstr>맑은 고딕</vt:lpstr>
      <vt:lpstr>Arial</vt:lpstr>
      <vt:lpstr>Office 테마</vt:lpstr>
      <vt:lpstr>EoMT Apple Neural Engine (5)</vt:lpstr>
      <vt:lpstr>목표 및 진행사항</vt:lpstr>
      <vt:lpstr>ANE transformers – 원리 </vt:lpstr>
      <vt:lpstr>EoMT ANE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konwoo</dc:creator>
  <cp:lastModifiedBy>Suhyeon</cp:lastModifiedBy>
  <cp:revision>1782</cp:revision>
  <dcterms:created xsi:type="dcterms:W3CDTF">2023-03-06T16:32:37Z</dcterms:created>
  <dcterms:modified xsi:type="dcterms:W3CDTF">2026-03-25T08:02:29Z</dcterms:modified>
</cp:coreProperties>
</file>