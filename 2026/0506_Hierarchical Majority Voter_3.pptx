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256" r:id="rId2"/>
    <p:sldId id="319" r:id="rId3"/>
    <p:sldId id="320" r:id="rId4"/>
    <p:sldId id="322" r:id="rId5"/>
    <p:sldId id="330" r:id="rId6"/>
    <p:sldId id="337" r:id="rId7"/>
    <p:sldId id="332" r:id="rId8"/>
    <p:sldId id="331" r:id="rId9"/>
    <p:sldId id="333" r:id="rId10"/>
    <p:sldId id="334" r:id="rId11"/>
    <p:sldId id="335" r:id="rId12"/>
    <p:sldId id="33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0650" autoAdjust="0"/>
  </p:normalViewPr>
  <p:slideViewPr>
    <p:cSldViewPr snapToGrid="0">
      <p:cViewPr varScale="1">
        <p:scale>
          <a:sx n="129" d="100"/>
          <a:sy n="129" d="100"/>
        </p:scale>
        <p:origin x="1542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740F-E8C6-9B5E-80A5-7D52A657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823D36-8D6D-78D9-2331-B00DA1E5D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79117A-CC40-2EF1-60E1-A6838A77A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20E75-FF90-3EB3-5A0C-F146C0986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72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DC9F-332F-2E00-783B-9AFAC328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758B8-04F4-EA9B-368E-5B778D807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A47E81-92FC-9298-4BCC-E516A8508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A427C-AE1D-103E-BB53-916A4A588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11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3D90-6C8F-B6D0-580C-5D8EEEC3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B56E1D-7517-144E-E23C-D5DAF3CCE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9B9516-762E-0455-6552-FB5A0E28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116A7-FD48-6C28-4A21-35AD4832D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266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A6A1E-EFAA-8F94-2262-75C030A4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88988B-458A-A4F8-A14A-B96C53463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310BF-B352-DEC9-3074-BAA88F528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BAE36B-1AC1-0C35-3C23-B6A9C7D21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24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8872-9B13-9EBD-164B-A2AEB183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39A792-9C52-0593-E3D4-CA8EFADD7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D90CFD-7FD2-5DDA-2A34-EE795D7BA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0AB54-B021-0123-2255-2F863DE65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65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CD2E-E354-AAF7-7155-76C05B39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810BA-5961-5CAA-0640-0917B1F04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4DCD7-2776-E2D8-5961-415322388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2CFF2-EE52-6318-133E-3E965FCE0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658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BC64-DF1D-D58C-DB1C-F32C1DBD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FE408E-7B83-6C19-CD69-4F2EC9A27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93A44A-77DB-8413-1F3C-F66F8DD74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B2335-7B3C-CF83-6810-3CEC1BED7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227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ABDE-A565-ACAB-953C-BBC3A201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E7D299-2BE6-3BD0-6EBA-6B86957F1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432961-338C-47E3-5D5F-E8573D1BA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DA1B5-C169-5BB6-2D71-CEEA52E8F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741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EAD9-781B-C011-93B6-A8B9F12B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A0067F-8248-C124-30C2-6ACA6153A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831FCF-BE0B-F8BB-5BC4-0889A29C4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05439-C7CB-4C17-ABCB-BA0B37B15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27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625AD-E696-6B21-950A-17413C19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521E8C-2E69-40B8-3FD5-A633D4174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32800C-3B96-A94D-540B-F793D5C92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710D5-1444-877C-51B0-83709FB2E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34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9FAE-86DD-D113-719C-14C162DA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90D06-D21C-ADE2-7E34-7A2CA1227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436D00-CE93-EBBE-A4C6-D4DA495EE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2ADE11-41BB-DB62-D82D-CD9A85340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3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PopBin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+ Hierarchical Majority Voter 3</a:t>
            </a:r>
            <a:endParaRPr lang="ko-KR" altLang="en-US" sz="2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CD4A-D36E-B0A6-FDCF-8DC9F0B1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3D7D4-F240-1B76-41A1-CF8721A8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 목표</a:t>
            </a:r>
            <a:endParaRPr lang="en-US" altLang="ko-KR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704F7-A03F-BF8D-703F-415FFAAE391D}"/>
              </a:ext>
            </a:extLst>
          </p:cNvPr>
          <p:cNvSpPr txBox="1"/>
          <p:nvPr/>
        </p:nvSpPr>
        <p:spPr>
          <a:xfrm>
            <a:off x="708161" y="1849080"/>
            <a:ext cx="10205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 err="1"/>
              <a:t>Popcount</a:t>
            </a:r>
            <a:r>
              <a:rPr lang="en-US" altLang="ko-KR" b="1" dirty="0"/>
              <a:t> </a:t>
            </a:r>
            <a:r>
              <a:rPr lang="ko-KR" altLang="en-US" b="1" dirty="0"/>
              <a:t>연산을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로</a:t>
            </a:r>
            <a:r>
              <a:rPr lang="en-US" altLang="ko-KR" b="1" dirty="0"/>
              <a:t> </a:t>
            </a:r>
            <a:r>
              <a:rPr lang="ko-KR" altLang="en-US" b="1" dirty="0"/>
              <a:t>대체</a:t>
            </a:r>
            <a:endParaRPr lang="en-US" altLang="ko-KR" b="1" dirty="0"/>
          </a:p>
          <a:p>
            <a:pPr marL="800100" lvl="1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 err="1"/>
              <a:t>Popcount</a:t>
            </a:r>
            <a:r>
              <a:rPr lang="en-US" altLang="ko-KR" b="1" dirty="0"/>
              <a:t> </a:t>
            </a:r>
            <a:r>
              <a:rPr lang="ko-KR" altLang="en-US" b="1" dirty="0"/>
              <a:t>연산을 </a:t>
            </a:r>
            <a:r>
              <a:rPr lang="en-US" altLang="ko-KR" b="1" dirty="0"/>
              <a:t>Hierarchical Approximate Majority Voter</a:t>
            </a:r>
            <a:r>
              <a:rPr lang="ko-KR" altLang="en-US" b="1" dirty="0"/>
              <a:t>로 대체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4056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F195-ECEB-62DE-CDBD-6CB0B2A4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43F1-98E9-92DC-829D-841EA71C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 계획</a:t>
            </a:r>
            <a:endParaRPr lang="en-US" altLang="ko-KR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C6CC2-B303-D9D6-374C-F3B8A8395703}"/>
              </a:ext>
            </a:extLst>
          </p:cNvPr>
          <p:cNvSpPr txBox="1"/>
          <p:nvPr/>
        </p:nvSpPr>
        <p:spPr>
          <a:xfrm>
            <a:off x="708161" y="1849080"/>
            <a:ext cx="102051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학습 실험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sz="1400" dirty="0"/>
              <a:t>-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pPr lvl="1"/>
            <a:r>
              <a:rPr lang="en-US" altLang="ko-KR" sz="1400" dirty="0"/>
              <a:t>- XNOR Output </a:t>
            </a:r>
            <a:r>
              <a:rPr lang="ko-KR" altLang="en-US" sz="1400" dirty="0"/>
              <a:t>비중 확인 및 </a:t>
            </a:r>
            <a:r>
              <a:rPr lang="en-US" altLang="ko-KR" sz="1400" dirty="0"/>
              <a:t>Hierarchical Majority Voter </a:t>
            </a:r>
            <a:r>
              <a:rPr lang="ko-KR" altLang="en-US" sz="1400" dirty="0"/>
              <a:t>설계 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학습 안정화 기법 탐색 및 적용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03967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6E83-FDCD-837A-1848-0DB55303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25ADE-E21E-1A07-85D9-6DEAE336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A6B95-6031-D44A-8717-06164BCBF6B3}"/>
              </a:ext>
            </a:extLst>
          </p:cNvPr>
          <p:cNvSpPr txBox="1"/>
          <p:nvPr/>
        </p:nvSpPr>
        <p:spPr>
          <a:xfrm>
            <a:off x="977900" y="1297405"/>
            <a:ext cx="8686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en-US" altLang="ko-KR" b="1" dirty="0"/>
              <a:t> XNOR Output </a:t>
            </a:r>
            <a:r>
              <a:rPr lang="ko-KR" altLang="en-US" b="1" dirty="0"/>
              <a:t>비중</a:t>
            </a:r>
            <a:endParaRPr lang="en-US" altLang="ko-KR" b="1" dirty="0"/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Batch size : 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Epoch : 128</a:t>
            </a:r>
            <a:r>
              <a:rPr lang="ko-KR" altLang="en-US" sz="1400" dirty="0"/>
              <a:t> </a:t>
            </a:r>
            <a:r>
              <a:rPr lang="en-US" altLang="ko-KR" sz="1400" dirty="0"/>
              <a:t>epoch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Lr : 1.25e-3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마지막 </a:t>
            </a:r>
            <a:r>
              <a:rPr lang="en-US" altLang="ko-KR" sz="1400" dirty="0"/>
              <a:t>epoch, 1</a:t>
            </a:r>
            <a:r>
              <a:rPr lang="ko-KR" altLang="en-US" sz="1400" dirty="0"/>
              <a:t>개의 </a:t>
            </a:r>
            <a:r>
              <a:rPr lang="en-US" altLang="ko-KR" sz="1400" dirty="0"/>
              <a:t>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64</a:t>
            </a:r>
            <a:r>
              <a:rPr lang="ko-KR" altLang="en-US" sz="1400" dirty="0"/>
              <a:t>개씩 묶어서 진행한다고 가정했을 때의 비중 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3723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5C49-C6B3-ED66-4247-B0C87B66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5AE45-E749-003D-747C-A2856472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6D4C1A8-F8F9-A828-2EE1-1064DAE7E5DE}"/>
              </a:ext>
            </a:extLst>
          </p:cNvPr>
          <p:cNvSpPr/>
          <p:nvPr/>
        </p:nvSpPr>
        <p:spPr>
          <a:xfrm>
            <a:off x="568031" y="1817909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B90E5EA-C458-9AEB-EAAC-07B4F01DCF06}"/>
              </a:ext>
            </a:extLst>
          </p:cNvPr>
          <p:cNvSpPr/>
          <p:nvPr/>
        </p:nvSpPr>
        <p:spPr>
          <a:xfrm>
            <a:off x="568031" y="181790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(64 × 16 × 16)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37C131-1C9F-C8FE-0F24-9F73E84865B9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1</a:t>
            </a:r>
            <a:endParaRPr lang="en-US" altLang="ko-KR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8B55D2EE-5D0C-3606-7E1B-E67113624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800564"/>
              </p:ext>
            </p:extLst>
          </p:nvPr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41.07%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5.27%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1.51%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1.40%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1.18%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2.97%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46.59%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C15F87C4-384F-A282-8703-9F1B8697573C}"/>
              </a:ext>
            </a:extLst>
          </p:cNvPr>
          <p:cNvSpPr txBox="1"/>
          <p:nvPr/>
        </p:nvSpPr>
        <p:spPr>
          <a:xfrm>
            <a:off x="3324855" y="1892620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288-bit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03FC4B-C543-12B9-BA7D-A91F827965C3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299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8991-B9A4-8A2E-9496-CB23C9C2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C2756-919F-5AAF-03CB-02B21BDF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780DDF7-BB71-21A8-C3CE-0A60AAE981F0}"/>
              </a:ext>
            </a:extLst>
          </p:cNvPr>
          <p:cNvSpPr/>
          <p:nvPr/>
        </p:nvSpPr>
        <p:spPr>
          <a:xfrm>
            <a:off x="568031" y="1817909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B76FAB3-F064-BDD5-9262-155C76E50A84}"/>
              </a:ext>
            </a:extLst>
          </p:cNvPr>
          <p:cNvSpPr/>
          <p:nvPr/>
        </p:nvSpPr>
        <p:spPr>
          <a:xfrm>
            <a:off x="568031" y="181790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(64 × 16 × 16)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0A0236-2160-24B8-5E68-6EEB89E933E2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2</a:t>
            </a:r>
            <a:endParaRPr lang="en-US" altLang="ko-KR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AC32BB90-866F-AAB6-F81E-9C58DC1E057E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31.70%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15.87%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3.05%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3.13%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7.42%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37.22%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80618A5A-E1A3-8146-FBB6-F6990531F893}"/>
              </a:ext>
            </a:extLst>
          </p:cNvPr>
          <p:cNvSpPr txBox="1"/>
          <p:nvPr/>
        </p:nvSpPr>
        <p:spPr>
          <a:xfrm>
            <a:off x="3324855" y="1892620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576-bit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DDA88-70E5-16B4-2DED-17E7FF791DB4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714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F8451-B822-C534-2EBA-0F0C0800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4796E-6A0C-C6C5-96CD-C8D6F3B1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FA34B2-1E81-3D04-C884-1F5848110760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3~4</a:t>
            </a:r>
            <a:endParaRPr lang="en-US" altLang="ko-KR" dirty="0">
              <a:latin typeface="+mj-lt"/>
            </a:endParaRPr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8C5FF27E-5062-E67A-FAEA-5629EF9F3BFA}"/>
              </a:ext>
            </a:extLst>
          </p:cNvPr>
          <p:cNvSpPr/>
          <p:nvPr/>
        </p:nvSpPr>
        <p:spPr>
          <a:xfrm>
            <a:off x="675705" y="1817909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9F56DC11-0AA5-2AD4-FBAC-FE6519AB50DB}"/>
              </a:ext>
            </a:extLst>
          </p:cNvPr>
          <p:cNvSpPr/>
          <p:nvPr/>
        </p:nvSpPr>
        <p:spPr>
          <a:xfrm>
            <a:off x="640080" y="180603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(128 × 8 × 8)</a:t>
            </a:r>
            <a:endParaRPr lang="en-US" sz="13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D9F82-71B6-8E20-3794-0E3CA7F0BD23}"/>
              </a:ext>
            </a:extLst>
          </p:cNvPr>
          <p:cNvSpPr txBox="1"/>
          <p:nvPr/>
        </p:nvSpPr>
        <p:spPr>
          <a:xfrm>
            <a:off x="3396904" y="1888826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1152-bit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D952D4D-DA38-C491-69C0-97F7521A0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696529"/>
              </p:ext>
            </p:extLst>
          </p:nvPr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29.96%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5.34%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1.96%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4.50%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19.36%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23.91%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ADD5A73-C0DB-9138-F692-C542D32FB861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764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3A33-C245-0CFB-FC8C-6A4B4071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7C42A-1818-439C-4C2A-C2FDEC95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0F7A7B7-F30C-2CF9-051A-74EADC0F92DB}"/>
              </a:ext>
            </a:extLst>
          </p:cNvPr>
          <p:cNvSpPr/>
          <p:nvPr/>
        </p:nvSpPr>
        <p:spPr>
          <a:xfrm>
            <a:off x="655523" y="1728085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FA3A6ED-10B0-6627-283E-B6A73913D83D}"/>
              </a:ext>
            </a:extLst>
          </p:cNvPr>
          <p:cNvSpPr/>
          <p:nvPr/>
        </p:nvSpPr>
        <p:spPr>
          <a:xfrm>
            <a:off x="655523" y="1728085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(256 × 4 × 4)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1EB307-EF47-92F4-1562-D5B63B64E55F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5~6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5AF2C-7FA5-20EA-A3EB-93D5A1555C6E}"/>
              </a:ext>
            </a:extLst>
          </p:cNvPr>
          <p:cNvSpPr txBox="1"/>
          <p:nvPr/>
        </p:nvSpPr>
        <p:spPr>
          <a:xfrm>
            <a:off x="3412347" y="1830721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2304-bit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0AFAD6-D869-3F89-24C7-6EB469CD1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9729"/>
              </p:ext>
            </p:extLst>
          </p:nvPr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4.20%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37.39%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3.88%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29.91%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89E4F7-F8F1-3E61-51E9-D805B94D7AA0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083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033F-8A8F-6B67-C051-5584FB05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9B0B8-C201-5E17-B645-2915BA99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C0142ED-1057-2901-D4B3-71839E87D88C}"/>
              </a:ext>
            </a:extLst>
          </p:cNvPr>
          <p:cNvSpPr/>
          <p:nvPr/>
        </p:nvSpPr>
        <p:spPr>
          <a:xfrm>
            <a:off x="667395" y="1726474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95582F2-A16E-76A4-46C5-484C94EE7DC6}"/>
              </a:ext>
            </a:extLst>
          </p:cNvPr>
          <p:cNvSpPr/>
          <p:nvPr/>
        </p:nvSpPr>
        <p:spPr>
          <a:xfrm>
            <a:off x="667395" y="172647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(512 × 2 × 2)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1C2CF0-D982-52FF-D474-ABD26DBA360D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7~12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D108C-1AF2-2EBC-8726-0D7BD2412868}"/>
              </a:ext>
            </a:extLst>
          </p:cNvPr>
          <p:cNvSpPr txBox="1"/>
          <p:nvPr/>
        </p:nvSpPr>
        <p:spPr>
          <a:xfrm>
            <a:off x="3424219" y="1830721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4608-bit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2E5C29-30C3-97B7-0A11-6F8ECB337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26954"/>
              </p:ext>
            </p:extLst>
          </p:nvPr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0.22%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7.32%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8.26%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9.23%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41.72%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81001D-9648-A669-22F5-6DF4AFF1BD4F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958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CECF-8F56-2C72-61E9-8D60E77F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E22EC-D9F2-36DD-BC8C-78ED6331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F622AA5-BD0E-4962-C4FE-2A8D7CD49E4B}"/>
              </a:ext>
            </a:extLst>
          </p:cNvPr>
          <p:cNvSpPr/>
          <p:nvPr/>
        </p:nvSpPr>
        <p:spPr>
          <a:xfrm>
            <a:off x="619897" y="1717824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68B4BE8-198C-7420-1934-AF2520C315FF}"/>
              </a:ext>
            </a:extLst>
          </p:cNvPr>
          <p:cNvSpPr/>
          <p:nvPr/>
        </p:nvSpPr>
        <p:spPr>
          <a:xfrm>
            <a:off x="619897" y="17178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(1024 × 1 × 1)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697B99-86D4-0584-BAFC-FFE6C516406E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Layer 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3458F-4209-D8B4-EF54-BA61E8FD896C}"/>
              </a:ext>
            </a:extLst>
          </p:cNvPr>
          <p:cNvSpPr txBox="1"/>
          <p:nvPr/>
        </p:nvSpPr>
        <p:spPr>
          <a:xfrm>
            <a:off x="3376721" y="1830721"/>
            <a:ext cx="234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9216-bit</a:t>
            </a:r>
            <a:r>
              <a:rPr lang="ko-KR" altLang="en-US" sz="1400" b="1" dirty="0"/>
              <a:t> 씩 </a:t>
            </a:r>
            <a:r>
              <a:rPr lang="en-US" altLang="ko-KR" sz="1400" b="1" dirty="0" err="1"/>
              <a:t>popcount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</a:t>
            </a: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0CCA67-300B-8C31-C9AB-75687855B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6602"/>
              </p:ext>
            </p:extLst>
          </p:nvPr>
        </p:nvGraphicFramePr>
        <p:xfrm>
          <a:off x="640080" y="3092656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0.18%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29.33%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8.35%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9.32%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9.34%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37.93%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6AAA94-2C11-1909-C0F5-487C8E715351}"/>
              </a:ext>
            </a:extLst>
          </p:cNvPr>
          <p:cNvSpPr txBox="1"/>
          <p:nvPr/>
        </p:nvSpPr>
        <p:spPr>
          <a:xfrm>
            <a:off x="568031" y="2492503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비중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683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8168-EEBD-9526-7FB7-5E58A4FB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76E42-B2D3-C105-7152-F93345FD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XNOR Output </a:t>
            </a:r>
            <a:r>
              <a:rPr lang="ko-KR" altLang="en-US" sz="4000" dirty="0"/>
              <a:t>비중</a:t>
            </a:r>
            <a:endParaRPr lang="en-US" altLang="ko-KR" sz="4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A5F96C-1826-F14E-EF11-1374DA374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236915"/>
              </p:ext>
            </p:extLst>
          </p:nvPr>
        </p:nvGraphicFramePr>
        <p:xfrm>
          <a:off x="687581" y="2187292"/>
          <a:ext cx="4442164" cy="248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82">
                  <a:extLst>
                    <a:ext uri="{9D8B030D-6E8A-4147-A177-3AD203B41FA5}">
                      <a16:colId xmlns:a16="http://schemas.microsoft.com/office/drawing/2014/main" val="1894746070"/>
                    </a:ext>
                  </a:extLst>
                </a:gridCol>
                <a:gridCol w="2221082">
                  <a:extLst>
                    <a:ext uri="{9D8B030D-6E8A-4147-A177-3AD203B41FA5}">
                      <a16:colId xmlns:a16="http://schemas.microsoft.com/office/drawing/2014/main" val="3772756744"/>
                    </a:ext>
                  </a:extLst>
                </a:gridCol>
              </a:tblGrid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4085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6.51%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77397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28.31%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78310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6.57%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542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7.33%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7352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7.07%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450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</a:t>
                      </a:r>
                      <a:r>
                        <a:rPr lang="ko-KR" altLang="en-US" sz="1400" dirty="0"/>
                        <a:t>개 이상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미만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31.10%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30559"/>
                  </a:ext>
                </a:extLst>
              </a:tr>
              <a:tr h="310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13.11%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7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BEF1A2-39EB-F5D9-C5C9-A37F9984C340}"/>
              </a:ext>
            </a:extLst>
          </p:cNvPr>
          <p:cNvSpPr txBox="1"/>
          <p:nvPr/>
        </p:nvSpPr>
        <p:spPr>
          <a:xfrm>
            <a:off x="615532" y="1587139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64-bit</a:t>
            </a:r>
            <a:r>
              <a:rPr lang="ko-KR" altLang="en-US" b="1" dirty="0">
                <a:latin typeface="+mj-lt"/>
              </a:rPr>
              <a:t>씩 묶었을 때의 평균 비중</a:t>
            </a:r>
            <a:endParaRPr lang="en-US" altLang="ko-KR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3CE02-4288-5C88-7812-1722AAE2FD0B}"/>
              </a:ext>
            </a:extLst>
          </p:cNvPr>
          <p:cNvSpPr txBox="1"/>
          <p:nvPr/>
        </p:nvSpPr>
        <p:spPr>
          <a:xfrm>
            <a:off x="5590308" y="2187292"/>
            <a:ext cx="61217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dirty="0"/>
              <a:t> Layer 1 ~ 3</a:t>
            </a:r>
            <a:r>
              <a:rPr lang="ko-KR" altLang="en-US" dirty="0"/>
              <a:t>에서는 </a:t>
            </a:r>
            <a:r>
              <a:rPr lang="en-US" altLang="ko-KR" dirty="0" err="1"/>
              <a:t>popcount</a:t>
            </a:r>
            <a:r>
              <a:rPr lang="ko-KR" altLang="en-US" dirty="0"/>
              <a:t>가 양 극단에 약 </a:t>
            </a:r>
            <a:r>
              <a:rPr lang="en-US" altLang="ko-KR" dirty="0"/>
              <a:t>39~69% </a:t>
            </a:r>
            <a:r>
              <a:rPr lang="ko-KR" altLang="en-US" dirty="0"/>
              <a:t>분포하여 한쪽으로 강하게 편향됨</a:t>
            </a:r>
            <a:endParaRPr lang="en-US" altLang="ko-KR" dirty="0"/>
          </a:p>
          <a:p>
            <a:pPr>
              <a:buFont typeface="+mj-lt"/>
              <a:buAutoNum type="arabicPeriod"/>
            </a:pP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en-US" altLang="ko-KR" dirty="0"/>
              <a:t> Layer 6 </a:t>
            </a:r>
            <a:r>
              <a:rPr lang="ko-KR" altLang="en-US" dirty="0"/>
              <a:t>이후부터는 편향이 약해지고 </a:t>
            </a:r>
            <a:r>
              <a:rPr lang="en-US" altLang="ko-KR" dirty="0"/>
              <a:t>31~33 </a:t>
            </a:r>
            <a:r>
              <a:rPr lang="ko-KR" altLang="en-US" dirty="0"/>
              <a:t>근처일 때의 비중이 </a:t>
            </a:r>
            <a:r>
              <a:rPr lang="en-US" altLang="ko-KR" dirty="0"/>
              <a:t>25~27%</a:t>
            </a:r>
            <a:r>
              <a:rPr lang="ko-KR" altLang="en-US" dirty="0"/>
              <a:t>로 증가</a:t>
            </a:r>
          </a:p>
        </p:txBody>
      </p:sp>
    </p:spTree>
    <p:extLst>
      <p:ext uri="{BB962C8B-B14F-4D97-AF65-F5344CB8AC3E}">
        <p14:creationId xmlns:p14="http://schemas.microsoft.com/office/powerpoint/2010/main" val="156467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0C2F-C70F-D0A0-F386-8DEE9E41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9FDCB-910D-34D9-8906-E6290CAF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</a:t>
            </a:r>
            <a:r>
              <a:rPr lang="ko-KR" altLang="en-US" sz="4000" dirty="0"/>
              <a:t>설계 방안</a:t>
            </a:r>
            <a:endParaRPr lang="en-US" altLang="ko-K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037A1-A77F-CBC2-2CDC-2F831847A429}"/>
                  </a:ext>
                </a:extLst>
              </p:cNvPr>
              <p:cNvSpPr txBox="1"/>
              <p:nvPr/>
            </p:nvSpPr>
            <p:spPr>
              <a:xfrm>
                <a:off x="615532" y="1587139"/>
                <a:ext cx="4588234" cy="170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+mj-lt"/>
                  </a:rPr>
                  <a:t>Hierarchical Majority Voter </a:t>
                </a:r>
                <a:r>
                  <a:rPr lang="ko-KR" altLang="en-US" b="1" dirty="0">
                    <a:latin typeface="+mj-lt"/>
                  </a:rPr>
                  <a:t>설계 방안</a:t>
                </a:r>
                <a:endParaRPr lang="en-US" altLang="ko-KR" b="1" dirty="0">
                  <a:latin typeface="+mj-lt"/>
                </a:endParaRPr>
              </a:p>
              <a:p>
                <a:endParaRPr lang="en-US" altLang="ko-KR" sz="1400" dirty="0">
                  <a:latin typeface="+mj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j-lt"/>
                  </a:rPr>
                  <a:t>Uniform 64-bit Hierarchical Majority Voter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+mj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j-lt"/>
                  </a:rPr>
                  <a:t>Layer-wise Adaptive Hierarchical Majority Voter</a:t>
                </a:r>
              </a:p>
              <a:p>
                <a:endParaRPr lang="en-US" altLang="ko-KR" sz="1400" dirty="0">
                  <a:latin typeface="+mj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1400" dirty="0">
                    <a:latin typeface="+mj-lt"/>
                  </a:rPr>
                  <a:t> 2-level Hierarchical Majority Voter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037A1-A77F-CBC2-2CDC-2F831847A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32" y="1587139"/>
                <a:ext cx="4588234" cy="1707455"/>
              </a:xfrm>
              <a:prstGeom prst="rect">
                <a:avLst/>
              </a:prstGeom>
              <a:blipFill>
                <a:blip r:embed="rId3"/>
                <a:stretch>
                  <a:fillRect l="-1195" t="-1786" b="-2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27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15514</TotalTime>
  <Words>588</Words>
  <Application>Microsoft Office PowerPoint</Application>
  <PresentationFormat>와이드스크린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PopBin + Hierarchical Majority Voter 3</vt:lpstr>
      <vt:lpstr>연구 목표</vt:lpstr>
      <vt:lpstr>연구 계획</vt:lpstr>
      <vt:lpstr>ReActNet XNOR Output 비중</vt:lpstr>
      <vt:lpstr>ReActNet XNOR Output 비중</vt:lpstr>
      <vt:lpstr>ReActNet XNOR Output 비중</vt:lpstr>
      <vt:lpstr>ReActNet XNOR Output 비중</vt:lpstr>
      <vt:lpstr>ReActNet XNOR Output 비중</vt:lpstr>
      <vt:lpstr>ReActNet XNOR Output 비중</vt:lpstr>
      <vt:lpstr>ReActNet XNOR Output 비중</vt:lpstr>
      <vt:lpstr>ReActNet XNOR Output 비중</vt:lpstr>
      <vt:lpstr>Hierarchical Majority Voter 설계 방안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2227</cp:revision>
  <dcterms:created xsi:type="dcterms:W3CDTF">2023-03-06T16:32:37Z</dcterms:created>
  <dcterms:modified xsi:type="dcterms:W3CDTF">2026-05-06T07:10:28Z</dcterms:modified>
</cp:coreProperties>
</file>