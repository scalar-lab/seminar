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0"/>
  </p:notesMasterIdLst>
  <p:sldIdLst>
    <p:sldId id="256" r:id="rId2"/>
    <p:sldId id="270" r:id="rId3"/>
    <p:sldId id="283" r:id="rId4"/>
    <p:sldId id="287" r:id="rId5"/>
    <p:sldId id="286" r:id="rId6"/>
    <p:sldId id="290" r:id="rId7"/>
    <p:sldId id="291" r:id="rId8"/>
    <p:sldId id="289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002C62"/>
    <a:srgbClr val="CC99FF"/>
    <a:srgbClr val="2156A4"/>
    <a:srgbClr val="336699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48" autoAdjust="0"/>
    <p:restoredTop sz="83678" autoAdjust="0"/>
  </p:normalViewPr>
  <p:slideViewPr>
    <p:cSldViewPr snapToGrid="0">
      <p:cViewPr varScale="1">
        <p:scale>
          <a:sx n="112" d="100"/>
          <a:sy n="112" d="100"/>
        </p:scale>
        <p:origin x="216" y="3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2026. 4. 15.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572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72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3C1F0-F292-4285-A95F-A15DE7C15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C59FB0-B0C5-D787-DC4E-1F0A56A5C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4C69EA-D81C-D4E4-C6A7-2F25A8BC5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818B6E-E98E-11DB-78AE-6AB4F5634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744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F8939-E811-BAA3-D8E1-C6AF074D5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F6CB4A-C803-8756-F7D9-CBA3D7A2C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D35A58-FF9C-B813-5072-67FD837AD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9DD421-993F-D04A-3C9A-CE7B8CA083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8494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37914-4781-B11F-1C35-D6B2365DF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358E46-5F20-87FA-FBAE-615971920D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2EFF28-2E4C-500F-1020-7AF754691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B2A519-F73C-94DB-0D55-B2E989F68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799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41071-4E91-E6D0-B731-DEF135A6F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494EB5-3F7C-CF06-7B93-C7E63EBCA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F064E3-0145-48CB-75C9-5F277C947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CFF1FD-1FE0-BD93-AEB5-A71769C364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4957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EAAE4-952D-DA7D-B9E6-08361F898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28C88E-C5DD-E616-5F21-54821F5D9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55CA11-F323-89E6-BF73-672323CAE2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28ACA4-FDBF-42C3-4428-C5334F8A1B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4268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2026. 4. 15.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2026. 4. 15.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2026. 4. 15.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2026. 4. 15.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2026. 4. 15.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2026. 4. 15.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2026. 4. 15.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2026. 4. 15.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2026. 4. 15.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2026. 4. 15.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2026. 4. 15.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2026. 4. 15.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Suhyeon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200" b="1" dirty="0" err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EoMT</a:t>
            </a:r>
            <a:r>
              <a:rPr lang="en-US" altLang="ko-KR" sz="32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Apple Neural Engine (8)</a:t>
            </a:r>
            <a:endParaRPr lang="ko-KR" altLang="en-US" sz="32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71364" y="1666695"/>
            <a:ext cx="2023092" cy="4279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solidFill>
                  <a:srgbClr val="002C62"/>
                </a:solidFill>
              </a:rPr>
              <a:t>  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4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15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1D89-421D-20CC-6D5F-47FC8C6A5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340BEB-8E46-868C-99E7-95D8BC5B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목표 및 진행사항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2E4903-A5AB-F7E3-2412-5136BFF4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0DA4B2-EC6E-F008-6710-245906C12FE5}"/>
              </a:ext>
            </a:extLst>
          </p:cNvPr>
          <p:cNvSpPr txBox="1"/>
          <p:nvPr/>
        </p:nvSpPr>
        <p:spPr>
          <a:xfrm>
            <a:off x="898782" y="1550792"/>
            <a:ext cx="9666514" cy="40112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altLang="ko-KR" sz="1600" dirty="0"/>
          </a:p>
          <a:p>
            <a:r>
              <a:rPr lang="ko-KR" altLang="en-US" sz="2000" b="1" dirty="0"/>
              <a:t>목표 </a:t>
            </a:r>
            <a:r>
              <a:rPr lang="en-US" altLang="ko-KR" sz="2000" b="1" dirty="0"/>
              <a:t>(</a:t>
            </a:r>
            <a:r>
              <a:rPr lang="en-US" altLang="ko-KR" b="1" dirty="0"/>
              <a:t>~6월)</a:t>
            </a:r>
            <a:endParaRPr lang="ko-KR" altLang="en-US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altLang="ko-KR" dirty="0"/>
              <a:t>iOS </a:t>
            </a:r>
            <a:r>
              <a:rPr lang="ko-KR" altLang="en-US" dirty="0"/>
              <a:t>환경에서 </a:t>
            </a:r>
            <a:r>
              <a:rPr lang="en-US" altLang="ko-KR" dirty="0"/>
              <a:t>panoptic segmentation</a:t>
            </a:r>
            <a:r>
              <a:rPr lang="ko-KR" altLang="en-US" dirty="0"/>
              <a:t>이 가능한 </a:t>
            </a:r>
            <a:r>
              <a:rPr lang="en-US" altLang="ko-KR" dirty="0" err="1"/>
              <a:t>EoMT</a:t>
            </a:r>
            <a:r>
              <a:rPr lang="en-US" altLang="ko-KR" dirty="0"/>
              <a:t> </a:t>
            </a:r>
            <a:r>
              <a:rPr lang="ko-KR" altLang="en-US" dirty="0"/>
              <a:t>모델 최적화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ko-KR" altLang="en-US" dirty="0"/>
              <a:t>ANE</a:t>
            </a:r>
            <a:r>
              <a:rPr lang="ko-KR" dirty="0"/>
              <a:t>(Apple </a:t>
            </a:r>
            <a:r>
              <a:rPr lang="ko-KR" dirty="0" err="1"/>
              <a:t>Neural</a:t>
            </a:r>
            <a:r>
              <a:rPr lang="ko-KR" dirty="0"/>
              <a:t> </a:t>
            </a:r>
            <a:r>
              <a:rPr lang="ko-KR" dirty="0" err="1"/>
              <a:t>Engine</a:t>
            </a:r>
            <a:r>
              <a:rPr lang="ko-KR" dirty="0"/>
              <a:t>)</a:t>
            </a:r>
            <a:r>
              <a:rPr lang="ko-KR" altLang="en-US" dirty="0"/>
              <a:t> </a:t>
            </a:r>
            <a:r>
              <a:rPr lang="ko-KR" altLang="en-US" dirty="0" err="1"/>
              <a:t>friendly</a:t>
            </a:r>
            <a:r>
              <a:rPr lang="ko-KR" altLang="en-US" dirty="0"/>
              <a:t> </a:t>
            </a:r>
            <a:r>
              <a:rPr lang="ko-KR" altLang="en-US" dirty="0" err="1"/>
              <a:t>transformer</a:t>
            </a:r>
            <a:endParaRPr lang="en-US" altLang="ko-KR" dirty="0" err="1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/>
              <a:t>Panoptic segmentation:</a:t>
            </a:r>
            <a:r>
              <a:rPr lang="ko-KR" altLang="en-US" sz="1400" dirty="0"/>
              <a:t> 어떤 사물인지</a:t>
            </a:r>
            <a:r>
              <a:rPr lang="en-US" altLang="ko-KR" sz="1400" dirty="0"/>
              <a:t>, </a:t>
            </a:r>
            <a:r>
              <a:rPr lang="ko-KR" altLang="en-US" sz="1400" dirty="0"/>
              <a:t>개별 객체인지를 동시에 구분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ko-KR" altLang="en-US" sz="2000" b="1" dirty="0"/>
              <a:t>진행사항</a:t>
            </a:r>
            <a:endParaRPr lang="en-US" altLang="ko-KR" sz="20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cs typeface="Arial"/>
              </a:rPr>
              <a:t>ViT</a:t>
            </a:r>
            <a:r>
              <a:rPr lang="en-US" altLang="ko-KR" dirty="0">
                <a:cs typeface="Arial"/>
              </a:rPr>
              <a:t> small, base, large </a:t>
            </a:r>
            <a:r>
              <a:rPr lang="ko-KR" altLang="en-US" dirty="0">
                <a:cs typeface="Arial"/>
              </a:rPr>
              <a:t>크기별 </a:t>
            </a:r>
            <a:r>
              <a:rPr lang="en-US" altLang="ko-KR" dirty="0">
                <a:cs typeface="Arial"/>
              </a:rPr>
              <a:t>prediction time</a:t>
            </a:r>
            <a:r>
              <a:rPr lang="ko-KR" altLang="en-US" dirty="0">
                <a:cs typeface="Arial"/>
              </a:rPr>
              <a:t> 비교 </a:t>
            </a:r>
            <a:endParaRPr lang="en-US" altLang="ko-KR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cs typeface="Arial"/>
              </a:rPr>
              <a:t>Input size:</a:t>
            </a:r>
            <a:r>
              <a:rPr lang="ko-KR" altLang="en-US" dirty="0">
                <a:cs typeface="Arial"/>
              </a:rPr>
              <a:t> </a:t>
            </a:r>
            <a:r>
              <a:rPr lang="en-US" altLang="ko-KR" dirty="0">
                <a:cs typeface="Arial"/>
              </a:rPr>
              <a:t>224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cs typeface="Arial"/>
              </a:rPr>
              <a:t>Input size:</a:t>
            </a:r>
            <a:r>
              <a:rPr lang="ko-KR" altLang="en-US" dirty="0">
                <a:cs typeface="Arial"/>
              </a:rPr>
              <a:t> </a:t>
            </a:r>
            <a:r>
              <a:rPr lang="en-US" altLang="ko-KR" dirty="0">
                <a:cs typeface="Arial"/>
              </a:rPr>
              <a:t>384</a:t>
            </a:r>
          </a:p>
        </p:txBody>
      </p:sp>
    </p:spTree>
    <p:extLst>
      <p:ext uri="{BB962C8B-B14F-4D97-AF65-F5344CB8AC3E}">
        <p14:creationId xmlns:p14="http://schemas.microsoft.com/office/powerpoint/2010/main" val="973672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8A358-86C2-C65C-130A-37B42C55B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CA901E-0722-66D4-1063-4C1A9721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ANE transformers – </a:t>
            </a:r>
            <a:r>
              <a:rPr lang="ko-KR" altLang="en-US" dirty="0"/>
              <a:t>원리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3A921F-E2D1-2908-5D59-30C686B3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F446F-E08D-B3A3-A1DC-CE08A8A549E3}"/>
              </a:ext>
            </a:extLst>
          </p:cNvPr>
          <p:cNvSpPr txBox="1"/>
          <p:nvPr/>
        </p:nvSpPr>
        <p:spPr>
          <a:xfrm>
            <a:off x="1083543" y="1268760"/>
            <a:ext cx="7464210" cy="5771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1. Picking the Right Data format </a:t>
            </a:r>
            <a:endParaRPr lang="en-US" altLang="ko-KR" sz="1200" dirty="0">
              <a:solidFill>
                <a:srgbClr val="474747"/>
              </a:solidFill>
              <a:highlight>
                <a:srgbClr val="FFFFFF"/>
              </a:highlight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altLang="ko-KR" sz="1600" dirty="0"/>
              <a:t>Linear</a:t>
            </a:r>
            <a:r>
              <a:rPr lang="ko-KR" altLang="en-US" sz="1400" dirty="0"/>
              <a:t> 레이어를 모두 </a:t>
            </a:r>
            <a:r>
              <a:rPr lang="en-US" altLang="ko-KR" sz="1600" dirty="0"/>
              <a:t>Conv2d</a:t>
            </a:r>
            <a:r>
              <a:rPr lang="ko-KR" altLang="en-US" sz="1400" dirty="0"/>
              <a:t> 레이어로 교체</a:t>
            </a:r>
            <a:endParaRPr lang="en-US" altLang="ko-KR" sz="1400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(B, S, C) → (B, C, 1, S) 	</a:t>
            </a:r>
            <a:endParaRPr lang="en-US" altLang="ko-KR" sz="1400" b="1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cs typeface="Arial"/>
              </a:rPr>
              <a:t>2. Chunking Large Intermediate Tensors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cs typeface="Arial"/>
              </a:rPr>
              <a:t>Multi Head Attention</a:t>
            </a:r>
            <a:r>
              <a:rPr lang="ko-KR" altLang="en-US" sz="1400" dirty="0">
                <a:cs typeface="Arial"/>
              </a:rPr>
              <a:t>에서 </a:t>
            </a:r>
            <a:r>
              <a:rPr lang="en-US" sz="1400" dirty="0">
                <a:cs typeface="Arial"/>
              </a:rPr>
              <a:t>query, key, value</a:t>
            </a:r>
            <a:r>
              <a:rPr lang="en-US" altLang="ko-KR" sz="1400" dirty="0">
                <a:cs typeface="Arial"/>
              </a:rPr>
              <a:t> </a:t>
            </a:r>
            <a:r>
              <a:rPr lang="ko-KR" altLang="en-US" sz="1400" b="1" dirty="0" err="1">
                <a:cs typeface="Arial"/>
              </a:rPr>
              <a:t>텐서를</a:t>
            </a:r>
            <a:r>
              <a:rPr lang="ko-KR" altLang="en-US" sz="1400" b="1" dirty="0">
                <a:cs typeface="Arial"/>
              </a:rPr>
              <a:t> </a:t>
            </a:r>
            <a:r>
              <a:rPr lang="en-US" sz="1400" b="1" dirty="0">
                <a:cs typeface="Arial"/>
              </a:rPr>
              <a:t>head</a:t>
            </a:r>
            <a:r>
              <a:rPr lang="ko-KR" altLang="en-US" sz="1400" b="1" dirty="0">
                <a:cs typeface="Arial"/>
              </a:rPr>
              <a:t> 단위로 분리</a:t>
            </a:r>
            <a:endParaRPr lang="en-US" sz="1400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ko-KR" altLang="en-US" sz="1400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ko-KR" b="1" dirty="0">
                <a:cs typeface="Arial"/>
              </a:rPr>
              <a:t>3. </a:t>
            </a:r>
            <a:r>
              <a:rPr lang="ko-KR" b="1" dirty="0" err="1">
                <a:cs typeface="Arial"/>
              </a:rPr>
              <a:t>Minimizing</a:t>
            </a:r>
            <a:r>
              <a:rPr lang="ko-KR" b="1" dirty="0">
                <a:cs typeface="Arial"/>
              </a:rPr>
              <a:t> </a:t>
            </a:r>
            <a:r>
              <a:rPr lang="ko-KR" b="1" dirty="0" err="1">
                <a:cs typeface="Arial"/>
              </a:rPr>
              <a:t>Memory</a:t>
            </a:r>
            <a:r>
              <a:rPr lang="ko-KR" b="1" dirty="0">
                <a:cs typeface="Arial"/>
              </a:rPr>
              <a:t> </a:t>
            </a:r>
            <a:r>
              <a:rPr lang="ko-KR" b="1" dirty="0" err="1">
                <a:cs typeface="Arial"/>
              </a:rPr>
              <a:t>Copies</a:t>
            </a:r>
            <a:endParaRPr lang="ko-KR" b="1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cs typeface="Arial"/>
              </a:rPr>
              <a:t>Reshape</a:t>
            </a:r>
            <a:r>
              <a:rPr lang="ko-KR" altLang="en-US" sz="1400" dirty="0">
                <a:cs typeface="Arial"/>
              </a:rPr>
              <a:t>과</a:t>
            </a:r>
            <a:r>
              <a:rPr lang="en-US" sz="1400" dirty="0">
                <a:cs typeface="Arial"/>
              </a:rPr>
              <a:t> transpose </a:t>
            </a:r>
            <a:r>
              <a:rPr lang="ko-KR" altLang="en-US" sz="1400" dirty="0">
                <a:cs typeface="Arial"/>
              </a:rPr>
              <a:t>연산</a:t>
            </a:r>
            <a:r>
              <a:rPr lang="en-US" sz="1400" dirty="0">
                <a:cs typeface="Arial"/>
              </a:rPr>
              <a:t> </a:t>
            </a:r>
            <a:r>
              <a:rPr lang="ko-KR" altLang="en-US" sz="1400" dirty="0">
                <a:cs typeface="Arial"/>
              </a:rPr>
              <a:t>최소화</a:t>
            </a:r>
            <a:r>
              <a:rPr lang="en-US" sz="1400" dirty="0">
                <a:cs typeface="Arial"/>
              </a:rPr>
              <a:t> - </a:t>
            </a:r>
            <a:r>
              <a:rPr lang="en-US" sz="1400" b="1" dirty="0" err="1">
                <a:cs typeface="Arial"/>
              </a:rPr>
              <a:t>einsum</a:t>
            </a:r>
            <a:r>
              <a:rPr lang="en-US" sz="1400" b="1" dirty="0">
                <a:cs typeface="Arial"/>
              </a:rPr>
              <a:t> </a:t>
            </a:r>
            <a:r>
              <a:rPr lang="ko-KR" sz="1400" b="1" dirty="0">
                <a:cs typeface="Arial"/>
              </a:rPr>
              <a:t>공식</a:t>
            </a:r>
            <a:r>
              <a:rPr lang="ko-KR" sz="1400" dirty="0">
                <a:cs typeface="Arial"/>
              </a:rPr>
              <a:t> 활용</a:t>
            </a:r>
            <a:endParaRPr lang="en-US" sz="1400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ko-KR" sz="1400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cs typeface="Arial"/>
              </a:rPr>
              <a:t>4.</a:t>
            </a:r>
            <a:r>
              <a:rPr lang="ko-KR" altLang="en-US" b="1" dirty="0">
                <a:cs typeface="Arial"/>
              </a:rPr>
              <a:t> </a:t>
            </a:r>
            <a:r>
              <a:rPr lang="en-US" altLang="ko-KR" b="1" dirty="0">
                <a:cs typeface="Arial"/>
              </a:rPr>
              <a:t>Handling</a:t>
            </a:r>
            <a:r>
              <a:rPr lang="ko-KR" altLang="en-US" b="1" dirty="0">
                <a:cs typeface="Arial"/>
              </a:rPr>
              <a:t> </a:t>
            </a:r>
            <a:r>
              <a:rPr lang="en-US" altLang="ko-KR" b="1" dirty="0">
                <a:cs typeface="Arial"/>
              </a:rPr>
              <a:t>Bandwidth-Boundness</a:t>
            </a:r>
            <a:endParaRPr lang="ko-KR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ko-KR" altLang="en-US" sz="1200" dirty="0">
                <a:cs typeface="Arial"/>
              </a:rPr>
              <a:t>배치 크기 증가</a:t>
            </a:r>
            <a:r>
              <a:rPr lang="en-US" sz="1200" dirty="0">
                <a:cs typeface="Arial"/>
              </a:rPr>
              <a:t> </a:t>
            </a:r>
            <a:r>
              <a:rPr lang="en-US" altLang="ko-KR" sz="1200" dirty="0">
                <a:cs typeface="Arial"/>
              </a:rPr>
              <a:t>or </a:t>
            </a:r>
            <a:r>
              <a:rPr lang="ko-KR" altLang="en-US" sz="1200" dirty="0">
                <a:cs typeface="Arial"/>
              </a:rPr>
              <a:t>파라미터 </a:t>
            </a:r>
            <a:r>
              <a:rPr lang="ko-KR" altLang="en-US" sz="1200" dirty="0" err="1">
                <a:cs typeface="Arial"/>
              </a:rPr>
              <a:t>텐서</a:t>
            </a:r>
            <a:r>
              <a:rPr lang="ko-KR" altLang="en-US" sz="1200" dirty="0">
                <a:cs typeface="Arial"/>
              </a:rPr>
              <a:t> 크기 감소</a:t>
            </a:r>
            <a:endParaRPr lang="en-US" sz="1200" dirty="0">
              <a:cs typeface="Arial"/>
            </a:endParaRPr>
          </a:p>
          <a:p>
            <a:pPr>
              <a:lnSpc>
                <a:spcPct val="150000"/>
              </a:lnSpc>
            </a:pPr>
            <a:endParaRPr lang="ko-KR" altLang="en-US" sz="1600" dirty="0">
              <a:cs typeface="Arial"/>
            </a:endParaRPr>
          </a:p>
          <a:p>
            <a:pPr>
              <a:lnSpc>
                <a:spcPct val="150000"/>
              </a:lnSpc>
            </a:pPr>
            <a:endParaRPr lang="ko-KR" altLang="en-US" sz="1600" dirty="0">
              <a:cs typeface="Arial"/>
            </a:endParaRPr>
          </a:p>
          <a:p>
            <a:pPr lvl="1">
              <a:lnSpc>
                <a:spcPct val="150000"/>
              </a:lnSpc>
            </a:pPr>
            <a:endParaRPr lang="en-US" altLang="ko-KR" sz="1600" dirty="0">
              <a:cs typeface="Arial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343DF-F19A-4250-F9F6-BE52CDB35130}"/>
              </a:ext>
            </a:extLst>
          </p:cNvPr>
          <p:cNvSpPr txBox="1"/>
          <p:nvPr/>
        </p:nvSpPr>
        <p:spPr>
          <a:xfrm>
            <a:off x="1083543" y="6400297"/>
            <a:ext cx="70532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Apple ML Research, "Deploying Transformers on the ANE", 2022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37920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D2EA7-98EF-332A-9095-B4723442E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6E2AC3-0806-62A3-D8E5-C25659FD4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ViT-224 </a:t>
            </a:r>
            <a:r>
              <a:rPr lang="ko-KR" altLang="en-US" dirty="0"/>
              <a:t>모델 크기별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929668-C915-5326-463D-B49F8490F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B6380EC-5D70-279B-3B26-C259B13EAD0A}"/>
              </a:ext>
            </a:extLst>
          </p:cNvPr>
          <p:cNvGrpSpPr/>
          <p:nvPr/>
        </p:nvGrpSpPr>
        <p:grpSpPr>
          <a:xfrm>
            <a:off x="2209800" y="1259044"/>
            <a:ext cx="7772400" cy="5130490"/>
            <a:chOff x="2209800" y="1225860"/>
            <a:chExt cx="7772400" cy="513049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FE7ACB6F-E037-7E16-25F8-300100DC34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2081"/>
            <a:stretch>
              <a:fillRect/>
            </a:stretch>
          </p:blipFill>
          <p:spPr>
            <a:xfrm>
              <a:off x="2209800" y="1225860"/>
              <a:ext cx="7772400" cy="5130490"/>
            </a:xfrm>
            <a:prstGeom prst="rect">
              <a:avLst/>
            </a:prstGeom>
          </p:spPr>
        </p:pic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9430981-B6FA-1212-47DD-A71AFE9E93CB}"/>
                </a:ext>
              </a:extLst>
            </p:cNvPr>
            <p:cNvGrpSpPr/>
            <p:nvPr/>
          </p:nvGrpSpPr>
          <p:grpSpPr>
            <a:xfrm>
              <a:off x="2278865" y="1859689"/>
              <a:ext cx="7632000" cy="3979390"/>
              <a:chOff x="2278865" y="1883753"/>
              <a:chExt cx="7613332" cy="3979390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73661826-0258-053B-379D-4B613A30C0B9}"/>
                  </a:ext>
                </a:extLst>
              </p:cNvPr>
              <p:cNvSpPr/>
              <p:nvPr/>
            </p:nvSpPr>
            <p:spPr>
              <a:xfrm>
                <a:off x="2279753" y="1883753"/>
                <a:ext cx="7610205" cy="1328679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BBDE4732-0389-26D5-E85D-508440BEB238}"/>
                  </a:ext>
                </a:extLst>
              </p:cNvPr>
              <p:cNvSpPr/>
              <p:nvPr/>
            </p:nvSpPr>
            <p:spPr>
              <a:xfrm>
                <a:off x="2278865" y="4534464"/>
                <a:ext cx="7610205" cy="1328679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1FDED07F-E286-BE29-B630-0DBB2DCA1DFC}"/>
                  </a:ext>
                </a:extLst>
              </p:cNvPr>
              <p:cNvSpPr/>
              <p:nvPr/>
            </p:nvSpPr>
            <p:spPr>
              <a:xfrm>
                <a:off x="2281992" y="3208469"/>
                <a:ext cx="7610205" cy="1328679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D572F09-34E5-127D-62C4-4E7BCA7339D8}"/>
              </a:ext>
            </a:extLst>
          </p:cNvPr>
          <p:cNvSpPr txBox="1"/>
          <p:nvPr/>
        </p:nvSpPr>
        <p:spPr>
          <a:xfrm>
            <a:off x="2278865" y="1117499"/>
            <a:ext cx="6124072" cy="283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ko-KR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Model: </a:t>
            </a:r>
            <a:r>
              <a:rPr lang="en" altLang="ko-KR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vit_patch16_224</a:t>
            </a:r>
          </a:p>
        </p:txBody>
      </p:sp>
    </p:spTree>
    <p:extLst>
      <p:ext uri="{BB962C8B-B14F-4D97-AF65-F5344CB8AC3E}">
        <p14:creationId xmlns:p14="http://schemas.microsoft.com/office/powerpoint/2010/main" val="2283817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26781-4380-477C-B8CB-3BC542E1D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48D3F-6A63-D91C-C203-6BD9F93E8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ViT-224 </a:t>
            </a:r>
            <a:r>
              <a:rPr lang="ko-KR" altLang="en-US" dirty="0"/>
              <a:t>크기별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84D9B4-61A3-E4D3-BEF4-0297842D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C1BC71D-9DED-A31E-025E-B51E4A7C84CC}"/>
              </a:ext>
            </a:extLst>
          </p:cNvPr>
          <p:cNvGrpSpPr/>
          <p:nvPr/>
        </p:nvGrpSpPr>
        <p:grpSpPr>
          <a:xfrm>
            <a:off x="1973656" y="1227099"/>
            <a:ext cx="9227745" cy="5129251"/>
            <a:chOff x="1973656" y="1227099"/>
            <a:chExt cx="9227745" cy="5129251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EDCF20CA-9B1E-65DD-8D72-F8D2DEF33E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73656" y="1227099"/>
              <a:ext cx="9227745" cy="5129251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514EFB4-8061-3A36-C47F-73E61CD14806}"/>
                </a:ext>
              </a:extLst>
            </p:cNvPr>
            <p:cNvSpPr/>
            <p:nvPr/>
          </p:nvSpPr>
          <p:spPr>
            <a:xfrm>
              <a:off x="2490895" y="1631436"/>
              <a:ext cx="2189389" cy="43001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CC95AB7-3BD5-33A5-DC71-551155A4F32A}"/>
                </a:ext>
              </a:extLst>
            </p:cNvPr>
            <p:cNvSpPr/>
            <p:nvPr/>
          </p:nvSpPr>
          <p:spPr>
            <a:xfrm>
              <a:off x="4680823" y="1631436"/>
              <a:ext cx="2189389" cy="43001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757CBE9-233F-1B38-5BAB-F269E006E471}"/>
                </a:ext>
              </a:extLst>
            </p:cNvPr>
            <p:cNvSpPr/>
            <p:nvPr/>
          </p:nvSpPr>
          <p:spPr>
            <a:xfrm>
              <a:off x="6870212" y="1631436"/>
              <a:ext cx="2160000" cy="43001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536748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BF954-0E8D-035D-E766-112AF7A70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70C20-37FA-EEC7-50D7-A25515E27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ViT-384 </a:t>
            </a:r>
            <a:r>
              <a:rPr lang="ko-KR" altLang="en-US" dirty="0"/>
              <a:t>모델 크기별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B897A2-90A3-A19B-84C1-FE20D3BB9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4F1018-76AC-53E9-0BED-1E3478A18640}"/>
              </a:ext>
            </a:extLst>
          </p:cNvPr>
          <p:cNvSpPr txBox="1"/>
          <p:nvPr/>
        </p:nvSpPr>
        <p:spPr>
          <a:xfrm>
            <a:off x="2278865" y="1117499"/>
            <a:ext cx="6124072" cy="283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ko-KR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Model: </a:t>
            </a:r>
            <a:r>
              <a:rPr lang="en" altLang="ko-KR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vit_patch16_</a:t>
            </a:r>
            <a:r>
              <a:rPr lang="en-US" altLang="ko-KR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384</a:t>
            </a:r>
            <a:endParaRPr lang="en" altLang="ko-KR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92A8E99-850F-33ED-3FF1-C873E3315918}"/>
              </a:ext>
            </a:extLst>
          </p:cNvPr>
          <p:cNvGrpSpPr/>
          <p:nvPr/>
        </p:nvGrpSpPr>
        <p:grpSpPr>
          <a:xfrm>
            <a:off x="2206240" y="1431806"/>
            <a:ext cx="7772400" cy="4972122"/>
            <a:chOff x="2206240" y="1431806"/>
            <a:chExt cx="7772400" cy="4972122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F48DC05-B749-1E5D-D148-AC717CA79B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4798"/>
            <a:stretch>
              <a:fillRect/>
            </a:stretch>
          </p:blipFill>
          <p:spPr>
            <a:xfrm>
              <a:off x="2206240" y="1431806"/>
              <a:ext cx="7772400" cy="4972122"/>
            </a:xfrm>
            <a:prstGeom prst="rect">
              <a:avLst/>
            </a:prstGeom>
          </p:spPr>
        </p:pic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26A751EA-A8B4-5F44-06FE-98056388FB08}"/>
                </a:ext>
              </a:extLst>
            </p:cNvPr>
            <p:cNvGrpSpPr/>
            <p:nvPr/>
          </p:nvGrpSpPr>
          <p:grpSpPr>
            <a:xfrm>
              <a:off x="2278008" y="1928812"/>
              <a:ext cx="7632000" cy="3979390"/>
              <a:chOff x="2278865" y="1883753"/>
              <a:chExt cx="7613332" cy="3979390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5949E9B6-77C3-1528-D5D3-3CC5535422F2}"/>
                  </a:ext>
                </a:extLst>
              </p:cNvPr>
              <p:cNvSpPr/>
              <p:nvPr/>
            </p:nvSpPr>
            <p:spPr>
              <a:xfrm>
                <a:off x="2279753" y="1883753"/>
                <a:ext cx="7610205" cy="1328679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02762FE5-1012-74D0-C040-74A2AD429C1A}"/>
                  </a:ext>
                </a:extLst>
              </p:cNvPr>
              <p:cNvSpPr/>
              <p:nvPr/>
            </p:nvSpPr>
            <p:spPr>
              <a:xfrm>
                <a:off x="2278865" y="4534464"/>
                <a:ext cx="7610205" cy="1328679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422D750A-C34F-D617-3EE4-3C2944E46409}"/>
                  </a:ext>
                </a:extLst>
              </p:cNvPr>
              <p:cNvSpPr/>
              <p:nvPr/>
            </p:nvSpPr>
            <p:spPr>
              <a:xfrm>
                <a:off x="2281992" y="3208469"/>
                <a:ext cx="7610205" cy="1328679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88580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0C278-8976-6979-A96A-7CE8B845A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A07FCC1-0CAB-0EA6-FBDF-7B7DE3303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911" y="1244468"/>
            <a:ext cx="9276465" cy="515633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E46E35D-3FF8-16BB-A4AD-CF1CB0AD6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ViT-384 </a:t>
            </a:r>
            <a:r>
              <a:rPr lang="ko-KR" altLang="en-US" dirty="0"/>
              <a:t>크기별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0BECA1-8B32-1621-4FBE-D6867EED2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C3ACDC8-8AEC-2EE4-76EB-A9CCCDE081B6}"/>
              </a:ext>
            </a:extLst>
          </p:cNvPr>
          <p:cNvGrpSpPr/>
          <p:nvPr/>
        </p:nvGrpSpPr>
        <p:grpSpPr>
          <a:xfrm>
            <a:off x="2490895" y="1631436"/>
            <a:ext cx="6539317" cy="4300132"/>
            <a:chOff x="2490895" y="1631436"/>
            <a:chExt cx="6539317" cy="4300132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072298F-40D1-6403-BE59-40E234FEB802}"/>
                </a:ext>
              </a:extLst>
            </p:cNvPr>
            <p:cNvSpPr/>
            <p:nvPr/>
          </p:nvSpPr>
          <p:spPr>
            <a:xfrm>
              <a:off x="2490895" y="1631436"/>
              <a:ext cx="2189389" cy="43001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F789A01-DB96-3CE3-D9DE-8F36ADC85FDC}"/>
                </a:ext>
              </a:extLst>
            </p:cNvPr>
            <p:cNvSpPr/>
            <p:nvPr/>
          </p:nvSpPr>
          <p:spPr>
            <a:xfrm>
              <a:off x="4680823" y="1631436"/>
              <a:ext cx="2189389" cy="43001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0C50FFA-CFA3-50FB-8C6E-13F87DD5AFBE}"/>
                </a:ext>
              </a:extLst>
            </p:cNvPr>
            <p:cNvSpPr/>
            <p:nvPr/>
          </p:nvSpPr>
          <p:spPr>
            <a:xfrm>
              <a:off x="6870212" y="1631436"/>
              <a:ext cx="2160000" cy="43001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343598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744A58-CD74-BFEB-9E9A-0364255F6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/>
              <a:t>Sequence length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25F0EC-6AD9-F0FC-580A-A499D3338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F2E0522-E29C-4F43-C5E7-C7538A08CB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23956"/>
              </p:ext>
            </p:extLst>
          </p:nvPr>
        </p:nvGraphicFramePr>
        <p:xfrm>
          <a:off x="2035032" y="2647950"/>
          <a:ext cx="8292475" cy="1562100"/>
        </p:xfrm>
        <a:graphic>
          <a:graphicData uri="http://schemas.openxmlformats.org/drawingml/2006/table">
            <a:tbl>
              <a:tblPr/>
              <a:tblGrid>
                <a:gridCol w="2670933">
                  <a:extLst>
                    <a:ext uri="{9D8B030D-6E8A-4147-A177-3AD203B41FA5}">
                      <a16:colId xmlns:a16="http://schemas.microsoft.com/office/drawing/2014/main" val="3421669817"/>
                    </a:ext>
                  </a:extLst>
                </a:gridCol>
                <a:gridCol w="2309542">
                  <a:extLst>
                    <a:ext uri="{9D8B030D-6E8A-4147-A177-3AD203B41FA5}">
                      <a16:colId xmlns:a16="http://schemas.microsoft.com/office/drawing/2014/main" val="2428270288"/>
                    </a:ext>
                  </a:extLst>
                </a:gridCol>
                <a:gridCol w="3312000">
                  <a:extLst>
                    <a:ext uri="{9D8B030D-6E8A-4147-A177-3AD203B41FA5}">
                      <a16:colId xmlns:a16="http://schemas.microsoft.com/office/drawing/2014/main" val="28952940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effectLst/>
                        </a:rPr>
                        <a:t>모델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>
                          <a:effectLst/>
                        </a:rPr>
                        <a:t>Sequence Length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 err="1">
                          <a:effectLst/>
                        </a:rPr>
                        <a:t>Head당</a:t>
                      </a:r>
                      <a:r>
                        <a:rPr lang="en" dirty="0">
                          <a:effectLst/>
                        </a:rPr>
                        <a:t> Attention </a:t>
                      </a:r>
                      <a:r>
                        <a:rPr lang="en" dirty="0" err="1">
                          <a:effectLst/>
                        </a:rPr>
                        <a:t>행렬</a:t>
                      </a:r>
                      <a:r>
                        <a:rPr lang="en" dirty="0">
                          <a:effectLst/>
                        </a:rPr>
                        <a:t> </a:t>
                      </a:r>
                      <a:r>
                        <a:rPr lang="en" dirty="0" err="1">
                          <a:effectLst/>
                        </a:rPr>
                        <a:t>크기</a:t>
                      </a:r>
                      <a:endParaRPr lang="en" dirty="0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524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</a:rPr>
                        <a:t>DistilBERT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 dirty="0">
                          <a:effectLst/>
                        </a:rPr>
                        <a:t>512</a:t>
                      </a:r>
                      <a:r>
                        <a:rPr lang="en" dirty="0">
                          <a:effectLst/>
                        </a:rPr>
                        <a:t> 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512 × 512 × 2 bytes ≈ 5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r>
                        <a:rPr lang="en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KB</a:t>
                      </a:r>
                      <a:endParaRPr lang="ko-KR" altLang="en-US" dirty="0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174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</a:rPr>
                        <a:t>ViT-224 (patch16)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>
                          <a:effectLst/>
                        </a:rPr>
                        <a:t>197</a:t>
                      </a:r>
                      <a:endParaRPr lang="ko-KR" altLang="en-US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197 × 197 × 2 bytes ≈ 7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en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KB</a:t>
                      </a:r>
                      <a:endParaRPr lang="ko-KR" altLang="en-US" dirty="0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01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 err="1">
                          <a:effectLst/>
                        </a:rPr>
                        <a:t>ViT</a:t>
                      </a:r>
                      <a:r>
                        <a:rPr lang="en" dirty="0">
                          <a:effectLst/>
                        </a:rPr>
                        <a:t>-</a:t>
                      </a:r>
                      <a:r>
                        <a:rPr lang="en-US" altLang="ko-KR" dirty="0">
                          <a:effectLst/>
                        </a:rPr>
                        <a:t>384</a:t>
                      </a:r>
                      <a:r>
                        <a:rPr lang="en" dirty="0">
                          <a:effectLst/>
                        </a:rPr>
                        <a:t> (patch16)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 dirty="0">
                          <a:effectLst/>
                        </a:rPr>
                        <a:t>577</a:t>
                      </a:r>
                      <a:endParaRPr lang="ko-KR" altLang="en-US" dirty="0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>
                          <a:effectLst/>
                        </a:rPr>
                        <a:t>577 </a:t>
                      </a:r>
                      <a:r>
                        <a:rPr lang="en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 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577</a:t>
                      </a:r>
                      <a:r>
                        <a:rPr lang="en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× 2 bytes ≈ 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665</a:t>
                      </a:r>
                      <a:r>
                        <a:rPr lang="en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KB</a:t>
                      </a:r>
                      <a:endParaRPr lang="ko-KR" altLang="en-US" dirty="0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53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>
                          <a:effectLst/>
                        </a:rPr>
                        <a:t>EoMT-640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 dirty="0">
                          <a:effectLst/>
                        </a:rPr>
                        <a:t>1805</a:t>
                      </a:r>
                      <a:endParaRPr lang="ko-KR" altLang="en-US" dirty="0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1805 × 1805 × 2 bytes ≈ 6.5 MB</a:t>
                      </a:r>
                      <a:endParaRPr lang="ko-KR" altLang="en-US" dirty="0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266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5112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8187</TotalTime>
  <Words>268</Words>
  <Application>Microsoft Macintosh PowerPoint</Application>
  <PresentationFormat>와이드스크린</PresentationFormat>
  <Paragraphs>67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Arial,Sans-Serif</vt:lpstr>
      <vt:lpstr>Arial</vt:lpstr>
      <vt:lpstr>Office 테마</vt:lpstr>
      <vt:lpstr>EoMT Apple Neural Engine (8)</vt:lpstr>
      <vt:lpstr>목표 및 진행사항</vt:lpstr>
      <vt:lpstr>ANE transformers – 원리 </vt:lpstr>
      <vt:lpstr>ViT-224 모델 크기별 비교</vt:lpstr>
      <vt:lpstr>ViT-224 크기별 비교</vt:lpstr>
      <vt:lpstr>ViT-384 모델 크기별 비교</vt:lpstr>
      <vt:lpstr>ViT-384 크기별 비교</vt:lpstr>
      <vt:lpstr>Sequence length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이수현</cp:lastModifiedBy>
  <cp:revision>1837</cp:revision>
  <dcterms:created xsi:type="dcterms:W3CDTF">2023-03-06T16:32:37Z</dcterms:created>
  <dcterms:modified xsi:type="dcterms:W3CDTF">2026-04-14T22:00:13Z</dcterms:modified>
</cp:coreProperties>
</file>