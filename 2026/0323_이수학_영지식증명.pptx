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8"/>
  </p:notesMasterIdLst>
  <p:sldIdLst>
    <p:sldId id="256" r:id="rId2"/>
    <p:sldId id="356" r:id="rId3"/>
    <p:sldId id="358" r:id="rId4"/>
    <p:sldId id="360" r:id="rId5"/>
    <p:sldId id="359" r:id="rId6"/>
    <p:sldId id="3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0F0"/>
    <a:srgbClr val="002C62"/>
    <a:srgbClr val="0F386B"/>
    <a:srgbClr val="00CC00"/>
    <a:srgbClr val="DD802B"/>
    <a:srgbClr val="CC99FF"/>
    <a:srgbClr val="F4B183"/>
    <a:srgbClr val="2E75B6"/>
    <a:srgbClr val="336699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29" autoAdjust="0"/>
    <p:restoredTop sz="84803" autoAdjust="0"/>
  </p:normalViewPr>
  <p:slideViewPr>
    <p:cSldViewPr snapToGrid="0">
      <p:cViewPr varScale="1">
        <p:scale>
          <a:sx n="84" d="100"/>
          <a:sy n="84" d="100"/>
        </p:scale>
        <p:origin x="120" y="12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CE34A-4EDF-FD7B-22CE-F7D5D6C0F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DADC20A-91D0-3546-A9DD-F938A9925F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5A0C77-88CA-4ABA-DA96-35453AE64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990AE2-3428-CE74-0E4C-40EAF7A66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832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1D4F7-932C-693E-A1F4-5992FB5AD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7A2255-D8B8-4C78-BF71-B4B0EB139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6CB47A-7C5B-EFF9-86E1-DA7775B951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2EA275-77A7-5632-DF84-30786386EF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263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51FCF-CB32-1BEE-5DEF-B31D02AE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A17FFB-0B50-5AC4-0EB7-64461AFEE3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101031-E3FD-95E8-D2B4-290A1A449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CFD32A-26D1-6C1C-B414-DE9EFDF20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8950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85C3F-39D6-D978-55D7-4CDD0CF77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DE2F36-C909-456A-E88E-147F65FA0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BDE530-65EC-38A5-64E0-5BB67A499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EVM</a:t>
            </a:r>
            <a:r>
              <a:rPr lang="ko-KR" altLang="en-US" dirty="0"/>
              <a:t>에서는 숫자를 읽을 때 </a:t>
            </a:r>
            <a:r>
              <a:rPr lang="en-US" altLang="ko-KR" dirty="0"/>
              <a:t>Big-Endian</a:t>
            </a:r>
            <a:r>
              <a:rPr lang="ko-KR" altLang="en-US" dirty="0"/>
              <a:t>을 기대</a:t>
            </a:r>
            <a:endParaRPr lang="en-US" altLang="ko-KR" dirty="0"/>
          </a:p>
          <a:p>
            <a:r>
              <a:rPr lang="en-US" altLang="ko-KR" dirty="0"/>
              <a:t>Serialization</a:t>
            </a:r>
            <a:r>
              <a:rPr lang="ko-KR" altLang="en-US" dirty="0"/>
              <a:t>은 일반적으로 </a:t>
            </a:r>
            <a:r>
              <a:rPr lang="en-US" altLang="ko-KR" dirty="0"/>
              <a:t>little-endian</a:t>
            </a:r>
            <a:r>
              <a:rPr lang="ko-KR" altLang="en-US" dirty="0"/>
              <a:t>으로 처리</a:t>
            </a:r>
            <a:r>
              <a:rPr lang="en-US" altLang="ko-KR" dirty="0"/>
              <a:t>(CPU</a:t>
            </a:r>
            <a:r>
              <a:rPr lang="ko-KR" altLang="en-US" dirty="0"/>
              <a:t>가 처리할 때 더 빠름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D7FDB-623E-DEE4-ED16-D193761A09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410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0121D-0EEA-F86B-E9CC-AFA9C094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C1E77DF-1C22-0598-9835-32E16B035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BBD020-6521-04ED-3D51-EF350D3A00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EVM</a:t>
            </a:r>
            <a:r>
              <a:rPr lang="ko-KR" altLang="en-US" dirty="0"/>
              <a:t>에서는 숫자를 읽을 때 </a:t>
            </a:r>
            <a:r>
              <a:rPr lang="en-US" altLang="ko-KR" dirty="0"/>
              <a:t>Big-Endian</a:t>
            </a:r>
            <a:r>
              <a:rPr lang="ko-KR" altLang="en-US" dirty="0"/>
              <a:t>을 기대</a:t>
            </a:r>
            <a:endParaRPr lang="en-US" altLang="ko-KR" dirty="0"/>
          </a:p>
          <a:p>
            <a:r>
              <a:rPr lang="en-US" altLang="ko-KR" dirty="0"/>
              <a:t>Serialization</a:t>
            </a:r>
            <a:r>
              <a:rPr lang="ko-KR" altLang="en-US" dirty="0"/>
              <a:t>은 일반적으로 </a:t>
            </a:r>
            <a:r>
              <a:rPr lang="en-US" altLang="ko-KR" dirty="0"/>
              <a:t>little-endian</a:t>
            </a:r>
            <a:r>
              <a:rPr lang="ko-KR" altLang="en-US" dirty="0"/>
              <a:t>으로 처리</a:t>
            </a:r>
            <a:r>
              <a:rPr lang="en-US" altLang="ko-KR" dirty="0"/>
              <a:t>(CPU</a:t>
            </a:r>
            <a:r>
              <a:rPr lang="ko-KR" altLang="en-US" dirty="0"/>
              <a:t>가 처리할 때 더 빠름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CE863E-9C6F-6B03-F9B6-F4A2E8EA6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349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2026-03-23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ko-KR" altLang="en-US" sz="3600" b="1" dirty="0" err="1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영지식</a:t>
            </a:r>
            <a:r>
              <a:rPr lang="ko-KR" altLang="en-US" sz="36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증명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2026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03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23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9FC0B-26F1-0C03-F542-399F91C1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F007F9-F4DD-DD09-B7CB-220634FA3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2846A7-4199-3C49-42B3-E5CF2BF6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2A8FAB-4A1B-7345-37B7-F2CBC7AF4CE7}"/>
              </a:ext>
            </a:extLst>
          </p:cNvPr>
          <p:cNvSpPr txBox="1"/>
          <p:nvPr/>
        </p:nvSpPr>
        <p:spPr>
          <a:xfrm>
            <a:off x="390525" y="1579982"/>
            <a:ext cx="1141094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err="1"/>
              <a:t>영지식</a:t>
            </a:r>
            <a:r>
              <a:rPr lang="ko-KR" altLang="en-US" sz="1600" b="1" dirty="0"/>
              <a:t> 증명 프로세스</a:t>
            </a:r>
            <a:endParaRPr lang="en-US" altLang="ko-KR" sz="1600" b="1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직렬화</a:t>
            </a:r>
            <a:r>
              <a:rPr lang="en-US" altLang="ko-KR" sz="1400" dirty="0"/>
              <a:t>(Prover)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전송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 err="1"/>
              <a:t>전처리</a:t>
            </a:r>
            <a:r>
              <a:rPr lang="en-US" altLang="ko-KR" sz="1400" dirty="0"/>
              <a:t>(Verifier)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수학적 검증</a:t>
            </a:r>
            <a:r>
              <a:rPr lang="en-US" altLang="ko-KR" sz="1400" dirty="0"/>
              <a:t>(Pairing)</a:t>
            </a:r>
          </a:p>
          <a:p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655459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5FDEB-5F61-C549-EC6A-F64C253E3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D14C6-0F16-5B3B-429D-2F099E00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DF1980-5631-E5BB-BE2D-A2A9FEC4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5A7F72-08FD-5442-504C-3D332C961C14}"/>
              </a:ext>
            </a:extLst>
          </p:cNvPr>
          <p:cNvSpPr txBox="1"/>
          <p:nvPr/>
        </p:nvSpPr>
        <p:spPr>
          <a:xfrm>
            <a:off x="390525" y="1579982"/>
            <a:ext cx="1141094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2-to-1 hashing</a:t>
            </a:r>
            <a:r>
              <a:rPr lang="ko-KR" altLang="en-US" sz="1400" dirty="0"/>
              <a:t>을 진행한다고 가정</a:t>
            </a:r>
            <a:endParaRPr lang="en-US" altLang="ko-KR" sz="1400" dirty="0"/>
          </a:p>
          <a:p>
            <a:endParaRPr lang="en-US" altLang="ko-KR" sz="1600" b="1" dirty="0"/>
          </a:p>
          <a:p>
            <a:r>
              <a:rPr lang="ko-KR" altLang="en-US" sz="1600" b="1" dirty="0"/>
              <a:t>직렬화</a:t>
            </a:r>
            <a:r>
              <a:rPr lang="en-US" altLang="ko-KR" sz="1600" b="1" dirty="0"/>
              <a:t>(Serialization)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m1, m2</a:t>
            </a:r>
            <a:r>
              <a:rPr lang="ko-KR" altLang="en-US" sz="1400" dirty="0"/>
              <a:t>를 이용한 </a:t>
            </a:r>
            <a:r>
              <a:rPr lang="en-US" altLang="ko-KR" sz="1400" dirty="0"/>
              <a:t>Poseidon</a:t>
            </a:r>
            <a:r>
              <a:rPr lang="ko-KR" altLang="en-US" sz="1400" dirty="0"/>
              <a:t> 연산 수행</a:t>
            </a:r>
            <a:r>
              <a:rPr lang="en-US" altLang="ko-KR" sz="1400" dirty="0"/>
              <a:t>(</a:t>
            </a:r>
            <a:r>
              <a:rPr lang="ko-KR" altLang="en-US" sz="1400" dirty="0"/>
              <a:t>회로 내부</a:t>
            </a:r>
            <a:r>
              <a:rPr lang="en-US" altLang="ko-KR" sz="1400" dirty="0"/>
              <a:t>)</a:t>
            </a:r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h</a:t>
            </a:r>
            <a:r>
              <a:rPr lang="ko-KR" altLang="en-US" sz="1400" dirty="0"/>
              <a:t>를 공개 값으로 설정</a:t>
            </a:r>
            <a:r>
              <a:rPr lang="en-US" altLang="ko-KR" sz="1400" dirty="0"/>
              <a:t>(</a:t>
            </a:r>
            <a:r>
              <a:rPr lang="ko-KR" altLang="en-US" sz="1400" dirty="0"/>
              <a:t>회로 내부</a:t>
            </a:r>
            <a:r>
              <a:rPr lang="en-US" altLang="ko-KR" sz="1400" dirty="0"/>
              <a:t>)</a:t>
            </a: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3A09A152-EC62-15AC-97B8-3AEC564CC904}"/>
              </a:ext>
            </a:extLst>
          </p:cNvPr>
          <p:cNvGrpSpPr/>
          <p:nvPr/>
        </p:nvGrpSpPr>
        <p:grpSpPr>
          <a:xfrm>
            <a:off x="1283743" y="4223355"/>
            <a:ext cx="5270668" cy="1543438"/>
            <a:chOff x="1283743" y="4223355"/>
            <a:chExt cx="5270668" cy="1543438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0D8F743-B9BD-3661-5207-5EFEC8A84FD2}"/>
                </a:ext>
              </a:extLst>
            </p:cNvPr>
            <p:cNvSpPr txBox="1"/>
            <p:nvPr/>
          </p:nvSpPr>
          <p:spPr>
            <a:xfrm>
              <a:off x="5143501" y="4396369"/>
              <a:ext cx="1410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/>
                <a:t>공개값</a:t>
              </a:r>
              <a:endParaRPr lang="en-US" altLang="ko-KR" sz="1200" dirty="0"/>
            </a:p>
            <a:p>
              <a:r>
                <a:rPr lang="en-US" altLang="ko-KR" sz="1200" dirty="0"/>
                <a:t>(Field Element)</a:t>
              </a:r>
            </a:p>
          </p:txBody>
        </p:sp>
        <p:pic>
          <p:nvPicPr>
            <p:cNvPr id="55" name="그림 54" descr="텍스트, 스크린샷, 도표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A160A35-4C8E-2E26-989B-0197AD7A8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3743" y="4223355"/>
              <a:ext cx="3967248" cy="1543438"/>
            </a:xfrm>
            <a:prstGeom prst="rect">
              <a:avLst/>
            </a:prstGeom>
          </p:spPr>
        </p:pic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D6222680-50B2-2C53-5633-BBE63619EBC0}"/>
                </a:ext>
              </a:extLst>
            </p:cNvPr>
            <p:cNvSpPr/>
            <p:nvPr/>
          </p:nvSpPr>
          <p:spPr>
            <a:xfrm>
              <a:off x="4866569" y="4869180"/>
              <a:ext cx="276932" cy="30338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화살표 연결선 51">
              <a:extLst>
                <a:ext uri="{FF2B5EF4-FFF2-40B4-BE49-F238E27FC236}">
                  <a16:creationId xmlns:a16="http://schemas.microsoft.com/office/drawing/2014/main" id="{F7E0AA55-E9D6-C71B-DC23-0C07EAEB4020}"/>
                </a:ext>
              </a:extLst>
            </p:cNvPr>
            <p:cNvCxnSpPr>
              <a:cxnSpLocks/>
              <a:stCxn id="50" idx="0"/>
              <a:endCxn id="53" idx="1"/>
            </p:cNvCxnSpPr>
            <p:nvPr/>
          </p:nvCxnSpPr>
          <p:spPr>
            <a:xfrm flipV="1">
              <a:off x="5005035" y="4627202"/>
              <a:ext cx="138466" cy="24197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26811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1F191-9BF3-9528-6E93-3E5B1A609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F981286-F271-80F5-7605-7F659CE0FDE1}"/>
              </a:ext>
            </a:extLst>
          </p:cNvPr>
          <p:cNvSpPr/>
          <p:nvPr/>
        </p:nvSpPr>
        <p:spPr>
          <a:xfrm>
            <a:off x="411480" y="3429000"/>
            <a:ext cx="10984230" cy="284607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E4EE31-BFBF-213D-FA7B-CA00AC6AE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C78C62-B49D-CCC5-B806-A60192A0D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D49145-D461-1B79-A8ED-1EDDA53AB49D}"/>
              </a:ext>
            </a:extLst>
          </p:cNvPr>
          <p:cNvSpPr/>
          <p:nvPr/>
        </p:nvSpPr>
        <p:spPr>
          <a:xfrm>
            <a:off x="537210" y="4240530"/>
            <a:ext cx="4530090" cy="18971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A5EB4E3C-FC23-DA47-90DF-1F4B53DB49DE}"/>
              </a:ext>
            </a:extLst>
          </p:cNvPr>
          <p:cNvGrpSpPr/>
          <p:nvPr/>
        </p:nvGrpSpPr>
        <p:grpSpPr>
          <a:xfrm>
            <a:off x="624840" y="4817955"/>
            <a:ext cx="4404360" cy="1147021"/>
            <a:chOff x="1283743" y="4223355"/>
            <a:chExt cx="5270668" cy="154343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0723379-7CE6-CE3F-290C-5C848F154E98}"/>
                </a:ext>
              </a:extLst>
            </p:cNvPr>
            <p:cNvSpPr txBox="1"/>
            <p:nvPr/>
          </p:nvSpPr>
          <p:spPr>
            <a:xfrm>
              <a:off x="5143501" y="4396369"/>
              <a:ext cx="14109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err="1"/>
                <a:t>공개값</a:t>
              </a:r>
              <a:endParaRPr lang="en-US" altLang="ko-KR" sz="1200" dirty="0"/>
            </a:p>
            <a:p>
              <a:r>
                <a:rPr lang="en-US" altLang="ko-KR" sz="1200" dirty="0"/>
                <a:t>(Field Element)</a:t>
              </a:r>
            </a:p>
          </p:txBody>
        </p:sp>
        <p:pic>
          <p:nvPicPr>
            <p:cNvPr id="55" name="그림 54" descr="텍스트, 스크린샷, 도표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A424319-EDE0-A2D0-CDC4-FF7FACF1A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3743" y="4223355"/>
              <a:ext cx="3967248" cy="1543438"/>
            </a:xfrm>
            <a:prstGeom prst="rect">
              <a:avLst/>
            </a:prstGeom>
          </p:spPr>
        </p:pic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5BDA6133-06E2-3B53-FD65-C72FE000586D}"/>
                </a:ext>
              </a:extLst>
            </p:cNvPr>
            <p:cNvSpPr/>
            <p:nvPr/>
          </p:nvSpPr>
          <p:spPr>
            <a:xfrm>
              <a:off x="4866569" y="4869180"/>
              <a:ext cx="276932" cy="30338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736F1BBE-9D29-F5CD-D673-3634A5AFB3CA}"/>
                </a:ext>
              </a:extLst>
            </p:cNvPr>
            <p:cNvCxnSpPr>
              <a:cxnSpLocks/>
              <a:stCxn id="56" idx="0"/>
              <a:endCxn id="54" idx="1"/>
            </p:cNvCxnSpPr>
            <p:nvPr/>
          </p:nvCxnSpPr>
          <p:spPr>
            <a:xfrm flipV="1">
              <a:off x="5005035" y="4627202"/>
              <a:ext cx="138466" cy="24197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0130DBE-4F42-2DB2-B4CC-9B3195C6B8E9}"/>
              </a:ext>
            </a:extLst>
          </p:cNvPr>
          <p:cNvSpPr txBox="1"/>
          <p:nvPr/>
        </p:nvSpPr>
        <p:spPr>
          <a:xfrm>
            <a:off x="2076225" y="4297963"/>
            <a:ext cx="14520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영지식</a:t>
            </a:r>
            <a:r>
              <a:rPr lang="ko-KR" altLang="en-US" sz="1200" dirty="0"/>
              <a:t> 증명 회로</a:t>
            </a:r>
            <a:endParaRPr lang="en-US" altLang="ko-KR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0BBBF-FEAE-7352-3D2A-B442EBAA8A93}"/>
              </a:ext>
            </a:extLst>
          </p:cNvPr>
          <p:cNvSpPr txBox="1"/>
          <p:nvPr/>
        </p:nvSpPr>
        <p:spPr>
          <a:xfrm>
            <a:off x="5328786" y="3456088"/>
            <a:ext cx="1149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/>
              <a:t>영지식</a:t>
            </a:r>
            <a:r>
              <a:rPr lang="ko-KR" altLang="en-US" sz="1400" b="1" dirty="0"/>
              <a:t> 증명</a:t>
            </a:r>
            <a:endParaRPr lang="en-US" altLang="ko-KR" sz="14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AFA57E-3B7C-C82D-8DBF-EAD02A4D7B98}"/>
              </a:ext>
            </a:extLst>
          </p:cNvPr>
          <p:cNvSpPr/>
          <p:nvPr/>
        </p:nvSpPr>
        <p:spPr>
          <a:xfrm>
            <a:off x="5966530" y="4428936"/>
            <a:ext cx="2572933" cy="1698164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증명자</a:t>
            </a:r>
            <a:r>
              <a:rPr lang="en-US" altLang="ko-KR" sz="1400" b="1" dirty="0"/>
              <a:t>(Prover)</a:t>
            </a:r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E64C54-2476-01CE-FBDF-676A4F831CE8}"/>
              </a:ext>
            </a:extLst>
          </p:cNvPr>
          <p:cNvSpPr/>
          <p:nvPr/>
        </p:nvSpPr>
        <p:spPr>
          <a:xfrm>
            <a:off x="5067300" y="3796928"/>
            <a:ext cx="672152" cy="34309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400" b="1" dirty="0"/>
              <a:t>RAM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843AFE06-BAD5-3C87-D26C-56C2FA9FD713}"/>
              </a:ext>
            </a:extLst>
          </p:cNvPr>
          <p:cNvCxnSpPr>
            <a:stCxn id="56" idx="6"/>
            <a:endCxn id="9" idx="2"/>
          </p:cNvCxnSpPr>
          <p:nvPr/>
        </p:nvCxnSpPr>
        <p:spPr>
          <a:xfrm flipV="1">
            <a:off x="3850192" y="4140020"/>
            <a:ext cx="1553184" cy="127061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F7ADD1D9-8F99-0410-7318-76FAF05FB3F2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5739452" y="3968474"/>
            <a:ext cx="227078" cy="130954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AF779E-9F32-32FA-F7E5-EA7AA0A8AAC0}"/>
                  </a:ext>
                </a:extLst>
              </p:cNvPr>
              <p:cNvSpPr txBox="1"/>
              <p:nvPr/>
            </p:nvSpPr>
            <p:spPr>
              <a:xfrm>
                <a:off x="4471035" y="5378528"/>
                <a:ext cx="144399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  <a:p>
                <a:endParaRPr lang="en-US" altLang="ko-KR" sz="1200" dirty="0"/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zero-padding 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256-bit </a:t>
                </a:r>
                <a:r>
                  <a:rPr lang="ko-KR" altLang="en-US" sz="1200" dirty="0"/>
                  <a:t>단위</a:t>
                </a:r>
                <a:endParaRPr lang="en-US" altLang="ko-KR" sz="1200" dirty="0"/>
              </a:p>
              <a:p>
                <a:pPr marL="171450" indent="-171450">
                  <a:buFontTx/>
                  <a:buChar char="-"/>
                </a:pPr>
                <a:r>
                  <a:rPr lang="en-US" altLang="ko-KR" sz="1200" dirty="0"/>
                  <a:t>Uint64 data[4]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BAF779E-9F32-32FA-F7E5-EA7AA0A8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035" y="5378528"/>
                <a:ext cx="1443990" cy="1015663"/>
              </a:xfrm>
              <a:prstGeom prst="rect">
                <a:avLst/>
              </a:prstGeom>
              <a:blipFill>
                <a:blip r:embed="rId4"/>
                <a:stretch>
                  <a:fillRect b="-29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A2C604-9B80-8E4B-CC6A-6F61B170E609}"/>
                  </a:ext>
                </a:extLst>
              </p:cNvPr>
              <p:cNvSpPr txBox="1"/>
              <p:nvPr/>
            </p:nvSpPr>
            <p:spPr>
              <a:xfrm>
                <a:off x="5937600" y="4866244"/>
                <a:ext cx="5052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000" b="1" dirty="0">
                    <a:solidFill>
                      <a:srgbClr val="FF0000"/>
                    </a:solidFill>
                  </a:rPr>
                  <a:t>=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1A2C604-9B80-8E4B-CC6A-6F61B170E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7600" y="4866244"/>
                <a:ext cx="505271" cy="246221"/>
              </a:xfrm>
              <a:prstGeom prst="rect">
                <a:avLst/>
              </a:prstGeom>
              <a:blipFill>
                <a:blip r:embed="rId5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>
            <a:extLst>
              <a:ext uri="{FF2B5EF4-FFF2-40B4-BE49-F238E27FC236}">
                <a16:creationId xmlns:a16="http://schemas.microsoft.com/office/drawing/2014/main" id="{532868B5-421A-8C3D-4701-3905BD0739CB}"/>
              </a:ext>
            </a:extLst>
          </p:cNvPr>
          <p:cNvSpPr/>
          <p:nvPr/>
        </p:nvSpPr>
        <p:spPr>
          <a:xfrm>
            <a:off x="6273298" y="488199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data[0]</a:t>
            </a:r>
            <a:endParaRPr lang="ko-KR" altLang="en-US" sz="9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0A291A-F3B7-3441-EC0C-6B370BCD33CA}"/>
              </a:ext>
            </a:extLst>
          </p:cNvPr>
          <p:cNvSpPr/>
          <p:nvPr/>
        </p:nvSpPr>
        <p:spPr>
          <a:xfrm>
            <a:off x="6836474" y="4881998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data[1]</a:t>
            </a:r>
            <a:endParaRPr lang="ko-KR" altLang="en-US" sz="9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5C3C896-743C-3D32-9F8F-CB40559AA4EB}"/>
              </a:ext>
            </a:extLst>
          </p:cNvPr>
          <p:cNvSpPr/>
          <p:nvPr/>
        </p:nvSpPr>
        <p:spPr>
          <a:xfrm>
            <a:off x="7386384" y="488199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data[2]</a:t>
            </a:r>
            <a:endParaRPr lang="ko-KR" altLang="en-US" sz="9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D8BD1F9-244A-7491-C54B-6A1FDCF2410D}"/>
              </a:ext>
            </a:extLst>
          </p:cNvPr>
          <p:cNvSpPr/>
          <p:nvPr/>
        </p:nvSpPr>
        <p:spPr>
          <a:xfrm>
            <a:off x="7949560" y="4881998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data[3]</a:t>
            </a:r>
            <a:endParaRPr lang="ko-KR" altLang="en-US" sz="9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246918E-C6BB-7CE3-33B0-CDBD4303D5DF}"/>
                  </a:ext>
                </a:extLst>
              </p:cNvPr>
              <p:cNvSpPr txBox="1"/>
              <p:nvPr/>
            </p:nvSpPr>
            <p:spPr>
              <a:xfrm>
                <a:off x="5806180" y="4057167"/>
                <a:ext cx="45223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246918E-C6BB-7CE3-33B0-CDBD4303D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180" y="4057167"/>
                <a:ext cx="452233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0EFBBD5-5749-2960-1D16-9E1DD1994EF3}"/>
              </a:ext>
            </a:extLst>
          </p:cNvPr>
          <p:cNvCxnSpPr>
            <a:cxnSpLocks/>
          </p:cNvCxnSpPr>
          <p:nvPr/>
        </p:nvCxnSpPr>
        <p:spPr>
          <a:xfrm>
            <a:off x="7386384" y="5153826"/>
            <a:ext cx="0" cy="2207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C05E3D2-7D6B-D466-1C4B-FFFB6C561675}"/>
              </a:ext>
            </a:extLst>
          </p:cNvPr>
          <p:cNvSpPr/>
          <p:nvPr/>
        </p:nvSpPr>
        <p:spPr>
          <a:xfrm>
            <a:off x="6288316" y="5396390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[0]</a:t>
            </a:r>
            <a:endParaRPr lang="ko-KR" altLang="en-US" sz="9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4D1E3DE-CF67-3B18-8D87-D0781A1B9D21}"/>
              </a:ext>
            </a:extLst>
          </p:cNvPr>
          <p:cNvSpPr/>
          <p:nvPr/>
        </p:nvSpPr>
        <p:spPr>
          <a:xfrm>
            <a:off x="6857842" y="5396390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[1]</a:t>
            </a:r>
            <a:endParaRPr lang="ko-KR" altLang="en-US" sz="900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778D575-D2F8-B6B2-E91D-D7CC056D18C8}"/>
              </a:ext>
            </a:extLst>
          </p:cNvPr>
          <p:cNvSpPr/>
          <p:nvPr/>
        </p:nvSpPr>
        <p:spPr>
          <a:xfrm>
            <a:off x="7395052" y="5396390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[2]</a:t>
            </a:r>
            <a:endParaRPr lang="ko-KR" altLang="en-US" sz="9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5A5B741-0468-C943-4611-76662DDE6032}"/>
              </a:ext>
            </a:extLst>
          </p:cNvPr>
          <p:cNvSpPr/>
          <p:nvPr/>
        </p:nvSpPr>
        <p:spPr>
          <a:xfrm>
            <a:off x="7958228" y="5396390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[3]</a:t>
            </a:r>
            <a:endParaRPr lang="ko-KR" altLang="en-US" sz="9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A2CD9A-5DA9-F6E8-AB26-7C3139836F13}"/>
              </a:ext>
            </a:extLst>
          </p:cNvPr>
          <p:cNvSpPr/>
          <p:nvPr/>
        </p:nvSpPr>
        <p:spPr>
          <a:xfrm>
            <a:off x="6279648" y="5832322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[28]</a:t>
            </a:r>
            <a:endParaRPr lang="ko-KR" altLang="en-US" sz="900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F7E863C-EB65-B9D5-A54D-F3CBF65D988D}"/>
              </a:ext>
            </a:extLst>
          </p:cNvPr>
          <p:cNvSpPr/>
          <p:nvPr/>
        </p:nvSpPr>
        <p:spPr>
          <a:xfrm>
            <a:off x="6849174" y="5832322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[29]</a:t>
            </a:r>
            <a:endParaRPr lang="ko-KR" altLang="en-US" sz="9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FC200EA-452F-063F-3286-6C6F1CECB7AC}"/>
              </a:ext>
            </a:extLst>
          </p:cNvPr>
          <p:cNvSpPr/>
          <p:nvPr/>
        </p:nvSpPr>
        <p:spPr>
          <a:xfrm>
            <a:off x="7386384" y="5832322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[30]</a:t>
            </a:r>
            <a:endParaRPr lang="ko-KR" altLang="en-US" sz="9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BB6400-4381-3D35-6C49-AAB5E4952D7A}"/>
              </a:ext>
            </a:extLst>
          </p:cNvPr>
          <p:cNvSpPr/>
          <p:nvPr/>
        </p:nvSpPr>
        <p:spPr>
          <a:xfrm>
            <a:off x="7949560" y="5832322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[31]</a:t>
            </a:r>
            <a:endParaRPr lang="ko-KR" altLang="en-US" sz="9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25DBE9-32FD-34B3-E553-84906CB5797E}"/>
              </a:ext>
            </a:extLst>
          </p:cNvPr>
          <p:cNvSpPr txBox="1"/>
          <p:nvPr/>
        </p:nvSpPr>
        <p:spPr>
          <a:xfrm>
            <a:off x="7168935" y="5545009"/>
            <a:ext cx="452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5E85403-DE17-F097-4D55-CA0957D61F11}"/>
              </a:ext>
            </a:extLst>
          </p:cNvPr>
          <p:cNvSpPr txBox="1"/>
          <p:nvPr/>
        </p:nvSpPr>
        <p:spPr>
          <a:xfrm>
            <a:off x="7463704" y="5114234"/>
            <a:ext cx="1028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Little Endian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92734A-F87C-ED7A-82E0-100FCAC0C467}"/>
              </a:ext>
            </a:extLst>
          </p:cNvPr>
          <p:cNvSpPr txBox="1"/>
          <p:nvPr/>
        </p:nvSpPr>
        <p:spPr>
          <a:xfrm>
            <a:off x="5748098" y="6324537"/>
            <a:ext cx="884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Byte</a:t>
            </a:r>
            <a:r>
              <a:rPr lang="ko-KR" altLang="en-US" sz="1200" dirty="0"/>
              <a:t> 단위</a:t>
            </a:r>
            <a:endParaRPr lang="en-US" altLang="ko-KR" sz="1200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075DC1A-E4F7-8733-BA1E-AFD69FA33BC0}"/>
              </a:ext>
            </a:extLst>
          </p:cNvPr>
          <p:cNvSpPr/>
          <p:nvPr/>
        </p:nvSpPr>
        <p:spPr>
          <a:xfrm>
            <a:off x="6341780" y="5821575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5428E4E7-4E99-C54A-97F1-D35903B398D3}"/>
              </a:ext>
            </a:extLst>
          </p:cNvPr>
          <p:cNvCxnSpPr>
            <a:cxnSpLocks/>
            <a:stCxn id="38" idx="4"/>
            <a:endCxn id="37" idx="0"/>
          </p:cNvCxnSpPr>
          <p:nvPr/>
        </p:nvCxnSpPr>
        <p:spPr>
          <a:xfrm flipH="1">
            <a:off x="6190235" y="6047036"/>
            <a:ext cx="368023" cy="27750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40AAAC69-65A2-B4E8-A365-C0551D12A4E6}"/>
              </a:ext>
            </a:extLst>
          </p:cNvPr>
          <p:cNvSpPr/>
          <p:nvPr/>
        </p:nvSpPr>
        <p:spPr>
          <a:xfrm>
            <a:off x="7991852" y="4882339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FBD1D8AD-48C0-0B97-BA85-605C7A182CDC}"/>
              </a:ext>
            </a:extLst>
          </p:cNvPr>
          <p:cNvCxnSpPr>
            <a:cxnSpLocks/>
            <a:stCxn id="49" idx="0"/>
            <a:endCxn id="58" idx="2"/>
          </p:cNvCxnSpPr>
          <p:nvPr/>
        </p:nvCxnSpPr>
        <p:spPr>
          <a:xfrm flipV="1">
            <a:off x="8208330" y="4366002"/>
            <a:ext cx="544302" cy="5163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7C74191-BDDD-B104-2871-3DAE6BFC68D9}"/>
              </a:ext>
            </a:extLst>
          </p:cNvPr>
          <p:cNvSpPr txBox="1"/>
          <p:nvPr/>
        </p:nvSpPr>
        <p:spPr>
          <a:xfrm>
            <a:off x="7865963" y="4089003"/>
            <a:ext cx="17733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64-bit </a:t>
            </a:r>
            <a:r>
              <a:rPr lang="ko-KR" altLang="en-US" sz="1200" dirty="0"/>
              <a:t>단위</a:t>
            </a:r>
            <a:r>
              <a:rPr lang="en-US" altLang="ko-KR" sz="1200" dirty="0"/>
              <a:t>(little endian)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168A032C-6A35-9833-90B0-D2D4A07B41F3}"/>
              </a:ext>
            </a:extLst>
          </p:cNvPr>
          <p:cNvSpPr/>
          <p:nvPr/>
        </p:nvSpPr>
        <p:spPr>
          <a:xfrm>
            <a:off x="7991852" y="5806889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5E8CD52-BA46-4A0F-B034-4CBA35B471F0}"/>
              </a:ext>
            </a:extLst>
          </p:cNvPr>
          <p:cNvCxnSpPr>
            <a:cxnSpLocks/>
            <a:stCxn id="62" idx="4"/>
          </p:cNvCxnSpPr>
          <p:nvPr/>
        </p:nvCxnSpPr>
        <p:spPr>
          <a:xfrm>
            <a:off x="8208330" y="6032350"/>
            <a:ext cx="235983" cy="3944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5AA6C24-438F-D70D-3304-B153A42E7AAF}"/>
              </a:ext>
            </a:extLst>
          </p:cNvPr>
          <p:cNvSpPr txBox="1"/>
          <p:nvPr/>
        </p:nvSpPr>
        <p:spPr>
          <a:xfrm>
            <a:off x="7395051" y="6421288"/>
            <a:ext cx="1868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상위 </a:t>
            </a:r>
            <a:r>
              <a:rPr lang="en-US" altLang="ko-KR" sz="1200" dirty="0"/>
              <a:t>2-bit 0</a:t>
            </a:r>
            <a:r>
              <a:rPr lang="ko-KR" altLang="en-US" sz="1200" dirty="0"/>
              <a:t>으로 </a:t>
            </a:r>
            <a:r>
              <a:rPr lang="en-US" altLang="ko-KR" sz="1200" dirty="0"/>
              <a:t>masking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85B6D1-9F3A-7917-DC14-8E13F7C5C44E}"/>
              </a:ext>
            </a:extLst>
          </p:cNvPr>
          <p:cNvSpPr txBox="1"/>
          <p:nvPr/>
        </p:nvSpPr>
        <p:spPr>
          <a:xfrm>
            <a:off x="381219" y="963097"/>
            <a:ext cx="74847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직렬화</a:t>
            </a:r>
            <a:r>
              <a:rPr lang="en-US" altLang="ko-KR" sz="1600" b="1" dirty="0"/>
              <a:t>(Serialization)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ko-KR" altLang="en-US" sz="1400" dirty="0"/>
              <a:t>증명 생성 </a:t>
            </a:r>
            <a:r>
              <a:rPr lang="en-US" altLang="ko-KR" sz="1400" dirty="0"/>
              <a:t>: </a:t>
            </a:r>
            <a:r>
              <a:rPr lang="ko-KR" altLang="en-US" sz="1400" dirty="0"/>
              <a:t>모든 </a:t>
            </a:r>
            <a:r>
              <a:rPr lang="en-US" altLang="ko-KR" sz="1400" dirty="0"/>
              <a:t>witness </a:t>
            </a:r>
            <a:r>
              <a:rPr lang="ko-KR" altLang="en-US" sz="1400" dirty="0"/>
              <a:t>값과 </a:t>
            </a:r>
            <a:r>
              <a:rPr lang="en-US" altLang="ko-KR" sz="1400" dirty="0"/>
              <a:t>proving key</a:t>
            </a:r>
            <a:r>
              <a:rPr lang="ko-KR" altLang="en-US" sz="1400" dirty="0"/>
              <a:t>를 사용하여 증명 생성</a:t>
            </a:r>
            <a:endParaRPr lang="en-US" altLang="ko-KR" sz="1400" dirty="0"/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Field Element </a:t>
            </a:r>
            <a:r>
              <a:rPr lang="ko-KR" altLang="en-US" sz="1400" dirty="0"/>
              <a:t>→ 메모리</a:t>
            </a:r>
            <a:r>
              <a:rPr lang="en-US" altLang="ko-KR" sz="1400" dirty="0"/>
              <a:t> </a:t>
            </a:r>
            <a:r>
              <a:rPr lang="ko-KR" altLang="en-US" sz="1400" dirty="0"/>
              <a:t>상의 숫자로 변환 </a:t>
            </a:r>
            <a:r>
              <a:rPr lang="en-US" altLang="ko-KR" sz="1400" dirty="0"/>
              <a:t>(</a:t>
            </a:r>
            <a:r>
              <a:rPr lang="ko-KR" altLang="en-US" sz="1400" dirty="0"/>
              <a:t>회로 외부</a:t>
            </a:r>
            <a:r>
              <a:rPr lang="en-US" altLang="ko-KR" sz="1400" dirty="0"/>
              <a:t>) </a:t>
            </a:r>
            <a:r>
              <a:rPr lang="en-US" altLang="ko-KR" sz="1400" b="1" dirty="0">
                <a:solidFill>
                  <a:srgbClr val="FF0000"/>
                </a:solidFill>
              </a:rPr>
              <a:t>→ uint64 data[4]</a:t>
            </a:r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Endian </a:t>
            </a:r>
            <a:r>
              <a:rPr lang="ko-KR" altLang="en-US" sz="1400" dirty="0"/>
              <a:t>변환</a:t>
            </a:r>
            <a:r>
              <a:rPr lang="en-US" altLang="ko-KR" sz="1400" dirty="0"/>
              <a:t>(</a:t>
            </a:r>
            <a:r>
              <a:rPr lang="ko-KR" altLang="en-US" sz="1400" dirty="0"/>
              <a:t>일반적으로 </a:t>
            </a:r>
            <a:r>
              <a:rPr lang="en-US" altLang="ko-KR" sz="1400" dirty="0"/>
              <a:t>Little Endian </a:t>
            </a:r>
            <a:r>
              <a:rPr lang="ko-KR" altLang="en-US" sz="1400" dirty="0"/>
              <a:t>사용</a:t>
            </a:r>
            <a:r>
              <a:rPr lang="en-US" altLang="ko-KR" sz="1400" dirty="0"/>
              <a:t>) </a:t>
            </a:r>
            <a:r>
              <a:rPr lang="ko-KR" altLang="en-US" sz="1400" dirty="0"/>
              <a:t>및 </a:t>
            </a:r>
            <a:r>
              <a:rPr lang="en-US" altLang="ko-KR" sz="1400" dirty="0"/>
              <a:t>Buffer </a:t>
            </a:r>
            <a:r>
              <a:rPr lang="ko-KR" altLang="en-US" sz="1400" dirty="0"/>
              <a:t>할당</a:t>
            </a:r>
            <a:endParaRPr lang="en-US" altLang="ko-KR" sz="1400" dirty="0"/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en-US" altLang="ko-KR" sz="1400" dirty="0"/>
              <a:t>Data</a:t>
            </a:r>
            <a:r>
              <a:rPr lang="ko-KR" altLang="en-US" sz="1400" dirty="0"/>
              <a:t> </a:t>
            </a:r>
            <a:r>
              <a:rPr lang="en-US" altLang="ko-KR" sz="1400" dirty="0"/>
              <a:t>Filling,</a:t>
            </a:r>
            <a:r>
              <a:rPr lang="ko-KR" altLang="en-US" sz="1400" dirty="0"/>
              <a:t> </a:t>
            </a:r>
            <a:r>
              <a:rPr lang="en-US" altLang="ko-KR" sz="1400" dirty="0"/>
              <a:t>0-padding</a:t>
            </a:r>
          </a:p>
          <a:p>
            <a:pPr marL="342900" indent="-342900">
              <a:buAutoNum type="arabicPeriod" startAt="3"/>
            </a:pPr>
            <a:endParaRPr lang="en-US" altLang="ko-KR" sz="1400" dirty="0"/>
          </a:p>
          <a:p>
            <a:pPr marL="342900" indent="-342900">
              <a:buAutoNum type="arabicPeriod" startAt="3"/>
            </a:pPr>
            <a:r>
              <a:rPr lang="ko-KR" altLang="en-US" sz="1400" dirty="0"/>
              <a:t>생성된 값을 </a:t>
            </a:r>
            <a:r>
              <a:rPr lang="en-US" altLang="ko-KR" sz="1400" dirty="0"/>
              <a:t>HTTP </a:t>
            </a:r>
            <a:r>
              <a:rPr lang="ko-KR" altLang="en-US" sz="1400" dirty="0"/>
              <a:t>요청이나 트랜잭션의 </a:t>
            </a:r>
            <a:r>
              <a:rPr lang="en-US" altLang="ko-KR" sz="1400" dirty="0"/>
              <a:t>data </a:t>
            </a:r>
            <a:r>
              <a:rPr lang="ko-KR" altLang="en-US" sz="1400" dirty="0"/>
              <a:t>필드에 포함하여 </a:t>
            </a:r>
            <a:r>
              <a:rPr lang="en-US" altLang="ko-KR" sz="1400" dirty="0"/>
              <a:t>Verifier</a:t>
            </a:r>
            <a:r>
              <a:rPr lang="ko-KR" altLang="en-US" sz="1400" dirty="0"/>
              <a:t>에게 전송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74910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F5DC-62CC-9F33-2066-3E4521952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B9A3DD-98E1-79CB-587C-0660386A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356391-9FF9-028B-5963-E1E2E766C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1C738-6EE9-0216-644D-842220B97327}"/>
              </a:ext>
            </a:extLst>
          </p:cNvPr>
          <p:cNvSpPr txBox="1"/>
          <p:nvPr/>
        </p:nvSpPr>
        <p:spPr>
          <a:xfrm>
            <a:off x="390525" y="997663"/>
            <a:ext cx="1079944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직렬화</a:t>
            </a:r>
            <a:r>
              <a:rPr lang="en-US" altLang="ko-KR" sz="1600" b="1" dirty="0"/>
              <a:t>(Serialization)</a:t>
            </a:r>
          </a:p>
          <a:p>
            <a:endParaRPr lang="en-US" altLang="ko-KR" sz="1400" dirty="0"/>
          </a:p>
          <a:p>
            <a:pPr marL="342900" indent="-342900">
              <a:buAutoNum type="arabicPeriod" startAt="7"/>
            </a:pPr>
            <a:r>
              <a:rPr lang="en-US" altLang="ko-KR" sz="1400" dirty="0"/>
              <a:t>ABI Encoding : </a:t>
            </a:r>
            <a:r>
              <a:rPr lang="ko-KR" altLang="en-US" sz="1400" dirty="0"/>
              <a:t>생성된 값을 </a:t>
            </a:r>
            <a:r>
              <a:rPr lang="en-US" altLang="ko-KR" sz="1400" dirty="0"/>
              <a:t>HTTP </a:t>
            </a:r>
            <a:r>
              <a:rPr lang="ko-KR" altLang="en-US" sz="1400" dirty="0"/>
              <a:t>요청이나 트랜잭션의 </a:t>
            </a:r>
            <a:r>
              <a:rPr lang="en-US" altLang="ko-KR" sz="1400" dirty="0"/>
              <a:t>data </a:t>
            </a:r>
            <a:r>
              <a:rPr lang="ko-KR" altLang="en-US" sz="1400" dirty="0"/>
              <a:t>필드에 포함하여 </a:t>
            </a:r>
            <a:r>
              <a:rPr lang="en-US" altLang="ko-KR" sz="1400" dirty="0"/>
              <a:t>Verifier</a:t>
            </a:r>
            <a:r>
              <a:rPr lang="ko-KR" altLang="en-US" sz="1400" dirty="0"/>
              <a:t>에게 전송</a:t>
            </a:r>
            <a:endParaRPr lang="en-US" altLang="ko-KR" sz="1400" dirty="0"/>
          </a:p>
          <a:p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tx</a:t>
            </a:r>
            <a:r>
              <a:rPr lang="en-US" altLang="ko-KR" sz="1400" dirty="0"/>
              <a:t>[0] ~ </a:t>
            </a:r>
            <a:r>
              <a:rPr lang="en-US" altLang="ko-KR" sz="1400" dirty="0" err="1"/>
              <a:t>tx</a:t>
            </a:r>
            <a:r>
              <a:rPr lang="en-US" altLang="ko-KR" sz="1400" dirty="0"/>
              <a:t>[3] : </a:t>
            </a:r>
            <a:r>
              <a:rPr lang="ko-KR" altLang="en-US" sz="1400" dirty="0"/>
              <a:t>함수 </a:t>
            </a:r>
            <a:r>
              <a:rPr lang="en-US" altLang="ko-KR" sz="1400" dirty="0"/>
              <a:t>Indicator</a:t>
            </a:r>
            <a:r>
              <a:rPr lang="ko-KR" altLang="en-US" sz="1400" dirty="0"/>
              <a:t>의 </a:t>
            </a:r>
            <a:r>
              <a:rPr lang="en-US" altLang="ko-KR" sz="1400" dirty="0"/>
              <a:t>4-byte </a:t>
            </a:r>
            <a:r>
              <a:rPr lang="ko-KR" altLang="en-US" sz="1400" dirty="0"/>
              <a:t>값을 </a:t>
            </a:r>
            <a:r>
              <a:rPr lang="en-US" altLang="ko-KR" sz="1400" dirty="0"/>
              <a:t>Big Endian</a:t>
            </a:r>
            <a:r>
              <a:rPr lang="ko-KR" altLang="en-US" sz="1400" dirty="0"/>
              <a:t>으로 저장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 err="1"/>
              <a:t>tx</a:t>
            </a:r>
            <a:r>
              <a:rPr lang="en-US" altLang="ko-KR" sz="1400" dirty="0"/>
              <a:t>[4] ~ </a:t>
            </a:r>
            <a:r>
              <a:rPr lang="en-US" altLang="ko-KR" sz="1400" dirty="0" err="1"/>
              <a:t>tx</a:t>
            </a:r>
            <a:r>
              <a:rPr lang="en-US" altLang="ko-KR" sz="1400" dirty="0"/>
              <a:t>[35] : </a:t>
            </a:r>
            <a:r>
              <a:rPr lang="en-US" altLang="ko-KR" sz="1400" dirty="0" err="1"/>
              <a:t>buf</a:t>
            </a:r>
            <a:r>
              <a:rPr lang="en-US" altLang="ko-KR" sz="1400" dirty="0"/>
              <a:t>[32]</a:t>
            </a:r>
            <a:r>
              <a:rPr lang="ko-KR" altLang="en-US" sz="1400" dirty="0"/>
              <a:t>의 값을 </a:t>
            </a:r>
            <a:r>
              <a:rPr lang="en-US" altLang="ko-KR" sz="1400" dirty="0"/>
              <a:t>Big Endian</a:t>
            </a:r>
            <a:r>
              <a:rPr lang="ko-KR" altLang="en-US" sz="1400" dirty="0"/>
              <a:t>으로 변경</a:t>
            </a:r>
            <a:r>
              <a:rPr lang="en-US" altLang="ko-KR" sz="1400" dirty="0"/>
              <a:t>(Poseidon hash </a:t>
            </a:r>
            <a:r>
              <a:rPr lang="ko-KR" altLang="en-US" sz="1400" dirty="0"/>
              <a:t>결과값 </a:t>
            </a:r>
            <a:r>
              <a:rPr lang="en-US" altLang="ko-KR" sz="1400" dirty="0"/>
              <a:t>h)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이 외의 정보 </a:t>
            </a:r>
            <a:r>
              <a:rPr lang="en-US" altLang="ko-KR" sz="1400" dirty="0"/>
              <a:t>: proving</a:t>
            </a:r>
            <a:r>
              <a:rPr lang="ko-KR" altLang="en-US" sz="1400" dirty="0"/>
              <a:t> </a:t>
            </a:r>
            <a:r>
              <a:rPr lang="en-US" altLang="ko-KR" sz="1400" dirty="0"/>
              <a:t>key</a:t>
            </a:r>
            <a:r>
              <a:rPr lang="ko-KR" altLang="en-US" sz="1400" dirty="0"/>
              <a:t> 기반으로 생성된 </a:t>
            </a:r>
            <a:r>
              <a:rPr lang="en-US" altLang="ko-KR" sz="1400" dirty="0"/>
              <a:t>3</a:t>
            </a:r>
            <a:r>
              <a:rPr lang="ko-KR" altLang="en-US" sz="1400" dirty="0"/>
              <a:t>개의 타원곡선 점 좌표 정보</a:t>
            </a:r>
            <a:r>
              <a:rPr lang="en-US" altLang="ko-KR" sz="1400" dirty="0"/>
              <a:t>, </a:t>
            </a:r>
            <a:r>
              <a:rPr lang="ko-KR" altLang="en-US" sz="1400" dirty="0"/>
              <a:t>검증 수식 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r>
              <a:rPr lang="ko-KR" altLang="en-US" sz="1600" b="1" dirty="0"/>
              <a:t>전송</a:t>
            </a:r>
            <a:r>
              <a:rPr lang="en-US" altLang="ko-KR" sz="1400" b="1" dirty="0"/>
              <a:t>(Transmission)</a:t>
            </a:r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400" dirty="0"/>
              <a:t>증명자가 검증자에게 데이터 패킷 전송</a:t>
            </a:r>
            <a:endParaRPr lang="en-US" altLang="ko-KR" sz="14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1BC3EB5-47AC-0EB9-813B-FBF655DD4CFC}"/>
              </a:ext>
            </a:extLst>
          </p:cNvPr>
          <p:cNvSpPr/>
          <p:nvPr/>
        </p:nvSpPr>
        <p:spPr>
          <a:xfrm>
            <a:off x="390525" y="3517904"/>
            <a:ext cx="10984230" cy="284607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DF3EA4-8881-7371-1A2E-99D548D6FFE0}"/>
              </a:ext>
            </a:extLst>
          </p:cNvPr>
          <p:cNvSpPr txBox="1"/>
          <p:nvPr/>
        </p:nvSpPr>
        <p:spPr>
          <a:xfrm>
            <a:off x="5307831" y="3544992"/>
            <a:ext cx="1149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/>
              <a:t>영지식</a:t>
            </a:r>
            <a:r>
              <a:rPr lang="ko-KR" altLang="en-US" sz="1400" b="1" dirty="0"/>
              <a:t> 증명</a:t>
            </a:r>
            <a:endParaRPr lang="en-US" altLang="ko-KR" sz="1400" b="1" dirty="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788F6B36-B516-BB2F-ED88-B36857ED2D67}"/>
              </a:ext>
            </a:extLst>
          </p:cNvPr>
          <p:cNvSpPr/>
          <p:nvPr/>
        </p:nvSpPr>
        <p:spPr>
          <a:xfrm>
            <a:off x="1555628" y="4452124"/>
            <a:ext cx="6319642" cy="1698164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증명자</a:t>
            </a:r>
            <a:r>
              <a:rPr lang="en-US" altLang="ko-KR" sz="1400" b="1" dirty="0"/>
              <a:t>(Prover)</a:t>
            </a:r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/>
          </a:p>
          <a:p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10C5CEB-3AEA-BC95-BF4E-47F55BE4AF4C}"/>
                  </a:ext>
                </a:extLst>
              </p:cNvPr>
              <p:cNvSpPr txBox="1"/>
              <p:nvPr/>
            </p:nvSpPr>
            <p:spPr>
              <a:xfrm>
                <a:off x="1526698" y="4889432"/>
                <a:ext cx="505271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altLang="ko-KR" sz="1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ko-KR" sz="1000" b="1" dirty="0">
                    <a:solidFill>
                      <a:srgbClr val="FF0000"/>
                    </a:solidFill>
                  </a:rPr>
                  <a:t>=</a:t>
                </a:r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10C5CEB-3AEA-BC95-BF4E-47F55BE4A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698" y="4889432"/>
                <a:ext cx="505271" cy="246221"/>
              </a:xfrm>
              <a:prstGeom prst="rect">
                <a:avLst/>
              </a:prstGeom>
              <a:blipFill>
                <a:blip r:embed="rId3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직사각형 72">
            <a:extLst>
              <a:ext uri="{FF2B5EF4-FFF2-40B4-BE49-F238E27FC236}">
                <a16:creationId xmlns:a16="http://schemas.microsoft.com/office/drawing/2014/main" id="{F46A7388-19AC-2D8C-7A94-5AFB51E7944C}"/>
              </a:ext>
            </a:extLst>
          </p:cNvPr>
          <p:cNvSpPr/>
          <p:nvPr/>
        </p:nvSpPr>
        <p:spPr>
          <a:xfrm>
            <a:off x="1862396" y="4905186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data[0]</a:t>
            </a:r>
            <a:endParaRPr lang="ko-KR" altLang="en-US" sz="900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5857AC1-4BC5-D181-2AB3-E27EC4858CD0}"/>
              </a:ext>
            </a:extLst>
          </p:cNvPr>
          <p:cNvSpPr/>
          <p:nvPr/>
        </p:nvSpPr>
        <p:spPr>
          <a:xfrm>
            <a:off x="2425572" y="4905186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data[1]</a:t>
            </a:r>
            <a:endParaRPr lang="ko-KR" altLang="en-US" sz="900" dirty="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D69EF4B-4EA7-5831-B943-362775498843}"/>
              </a:ext>
            </a:extLst>
          </p:cNvPr>
          <p:cNvSpPr/>
          <p:nvPr/>
        </p:nvSpPr>
        <p:spPr>
          <a:xfrm>
            <a:off x="2975482" y="4905186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data[0]</a:t>
            </a:r>
            <a:endParaRPr lang="ko-KR" altLang="en-US" sz="900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CA0143F-E2DC-AD5C-1FD5-772588143DAC}"/>
              </a:ext>
            </a:extLst>
          </p:cNvPr>
          <p:cNvSpPr/>
          <p:nvPr/>
        </p:nvSpPr>
        <p:spPr>
          <a:xfrm>
            <a:off x="3538658" y="4905186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data[1]</a:t>
            </a:r>
            <a:endParaRPr lang="ko-KR" altLang="en-US" sz="900" dirty="0"/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1B149B05-3DA3-A151-B79D-490083FBB28D}"/>
              </a:ext>
            </a:extLst>
          </p:cNvPr>
          <p:cNvCxnSpPr>
            <a:cxnSpLocks/>
          </p:cNvCxnSpPr>
          <p:nvPr/>
        </p:nvCxnSpPr>
        <p:spPr>
          <a:xfrm>
            <a:off x="2975482" y="5177014"/>
            <a:ext cx="0" cy="22079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37004FEE-23F5-B848-56D3-B766E01C9B99}"/>
              </a:ext>
            </a:extLst>
          </p:cNvPr>
          <p:cNvSpPr/>
          <p:nvPr/>
        </p:nvSpPr>
        <p:spPr>
          <a:xfrm>
            <a:off x="1877414" y="541957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[0]</a:t>
            </a:r>
            <a:endParaRPr lang="ko-KR" altLang="en-US" sz="900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68E8C36-505E-4EF6-E8BB-53ADBA4973B5}"/>
              </a:ext>
            </a:extLst>
          </p:cNvPr>
          <p:cNvSpPr/>
          <p:nvPr/>
        </p:nvSpPr>
        <p:spPr>
          <a:xfrm>
            <a:off x="2446940" y="5419578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[1]</a:t>
            </a:r>
            <a:endParaRPr lang="ko-KR" altLang="en-US" sz="900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CC840A50-E2AF-5F50-B59F-2B1B6743F092}"/>
              </a:ext>
            </a:extLst>
          </p:cNvPr>
          <p:cNvSpPr/>
          <p:nvPr/>
        </p:nvSpPr>
        <p:spPr>
          <a:xfrm>
            <a:off x="2984150" y="5419578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[2]</a:t>
            </a:r>
            <a:endParaRPr lang="ko-KR" altLang="en-US" sz="900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2B8B8FD0-1D75-9C27-3B4E-05240E664498}"/>
              </a:ext>
            </a:extLst>
          </p:cNvPr>
          <p:cNvSpPr/>
          <p:nvPr/>
        </p:nvSpPr>
        <p:spPr>
          <a:xfrm>
            <a:off x="3547326" y="5419578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[3]</a:t>
            </a:r>
            <a:endParaRPr lang="ko-KR" altLang="en-US" sz="900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2E96402-F101-A0C4-FBB2-C1BF6E5C3D35}"/>
              </a:ext>
            </a:extLst>
          </p:cNvPr>
          <p:cNvSpPr/>
          <p:nvPr/>
        </p:nvSpPr>
        <p:spPr>
          <a:xfrm>
            <a:off x="1868746" y="5855510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[28]</a:t>
            </a:r>
            <a:endParaRPr lang="ko-KR" altLang="en-US" sz="9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36FE3ED7-6528-F10F-B036-0DA781BFCECF}"/>
              </a:ext>
            </a:extLst>
          </p:cNvPr>
          <p:cNvSpPr/>
          <p:nvPr/>
        </p:nvSpPr>
        <p:spPr>
          <a:xfrm>
            <a:off x="2438272" y="5855510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[29]</a:t>
            </a:r>
            <a:endParaRPr lang="ko-KR" altLang="en-US" sz="900" dirty="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074B358-34E1-B660-15A0-5BFC007AC18C}"/>
              </a:ext>
            </a:extLst>
          </p:cNvPr>
          <p:cNvSpPr/>
          <p:nvPr/>
        </p:nvSpPr>
        <p:spPr>
          <a:xfrm>
            <a:off x="2975482" y="5855510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[30]</a:t>
            </a:r>
            <a:endParaRPr lang="ko-KR" altLang="en-US" sz="900" dirty="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89C59C8-4E5E-981B-EA07-9CE7CA033E7E}"/>
              </a:ext>
            </a:extLst>
          </p:cNvPr>
          <p:cNvSpPr/>
          <p:nvPr/>
        </p:nvSpPr>
        <p:spPr>
          <a:xfrm>
            <a:off x="3538658" y="5855510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buf</a:t>
            </a:r>
            <a:r>
              <a:rPr lang="en-US" altLang="ko-KR" sz="900" dirty="0"/>
              <a:t>[31]</a:t>
            </a:r>
            <a:endParaRPr lang="ko-KR" altLang="en-US" sz="9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DC41DFB-640E-6A17-BB9F-6EC4DF803E56}"/>
              </a:ext>
            </a:extLst>
          </p:cNvPr>
          <p:cNvSpPr txBox="1"/>
          <p:nvPr/>
        </p:nvSpPr>
        <p:spPr>
          <a:xfrm>
            <a:off x="2758033" y="5568197"/>
            <a:ext cx="452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296469B-B231-1786-2E67-C4C51FB9357D}"/>
              </a:ext>
            </a:extLst>
          </p:cNvPr>
          <p:cNvSpPr txBox="1"/>
          <p:nvPr/>
        </p:nvSpPr>
        <p:spPr>
          <a:xfrm>
            <a:off x="3052802" y="5137422"/>
            <a:ext cx="1028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Little Endian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13C5C57-2D00-7B8F-7EA1-C7EE92A737C6}"/>
              </a:ext>
            </a:extLst>
          </p:cNvPr>
          <p:cNvSpPr txBox="1"/>
          <p:nvPr/>
        </p:nvSpPr>
        <p:spPr>
          <a:xfrm>
            <a:off x="984473" y="6306409"/>
            <a:ext cx="884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Byte</a:t>
            </a:r>
            <a:r>
              <a:rPr lang="ko-KR" altLang="en-US" sz="1200" dirty="0"/>
              <a:t> 단위</a:t>
            </a:r>
            <a:endParaRPr lang="en-US" altLang="ko-KR" sz="1200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FF24DD13-1A50-2A68-13BF-BD416EC401B5}"/>
              </a:ext>
            </a:extLst>
          </p:cNvPr>
          <p:cNvSpPr/>
          <p:nvPr/>
        </p:nvSpPr>
        <p:spPr>
          <a:xfrm>
            <a:off x="1919827" y="5414204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A497D3CE-9B25-06BD-7BA4-E0C52404F188}"/>
              </a:ext>
            </a:extLst>
          </p:cNvPr>
          <p:cNvCxnSpPr>
            <a:cxnSpLocks/>
            <a:stCxn id="90" idx="4"/>
            <a:endCxn id="89" idx="0"/>
          </p:cNvCxnSpPr>
          <p:nvPr/>
        </p:nvCxnSpPr>
        <p:spPr>
          <a:xfrm flipH="1">
            <a:off x="1426610" y="5639665"/>
            <a:ext cx="709695" cy="6667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타원 91">
            <a:extLst>
              <a:ext uri="{FF2B5EF4-FFF2-40B4-BE49-F238E27FC236}">
                <a16:creationId xmlns:a16="http://schemas.microsoft.com/office/drawing/2014/main" id="{BA60069A-B84F-F1FE-AFC5-209D96EE36C6}"/>
              </a:ext>
            </a:extLst>
          </p:cNvPr>
          <p:cNvSpPr/>
          <p:nvPr/>
        </p:nvSpPr>
        <p:spPr>
          <a:xfrm>
            <a:off x="3580950" y="4905527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935475A5-C15B-8CFF-D5BB-5C275715FACB}"/>
              </a:ext>
            </a:extLst>
          </p:cNvPr>
          <p:cNvCxnSpPr>
            <a:cxnSpLocks/>
            <a:stCxn id="92" idx="0"/>
            <a:endCxn id="94" idx="2"/>
          </p:cNvCxnSpPr>
          <p:nvPr/>
        </p:nvCxnSpPr>
        <p:spPr>
          <a:xfrm flipV="1">
            <a:off x="3797428" y="4389190"/>
            <a:ext cx="145696" cy="5163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7EED15E2-7CF4-7F95-F314-002FDBF6BA5A}"/>
              </a:ext>
            </a:extLst>
          </p:cNvPr>
          <p:cNvSpPr txBox="1"/>
          <p:nvPr/>
        </p:nvSpPr>
        <p:spPr>
          <a:xfrm>
            <a:off x="3455062" y="4112191"/>
            <a:ext cx="9761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64-bit </a:t>
            </a:r>
            <a:r>
              <a:rPr lang="ko-KR" altLang="en-US" sz="1200" dirty="0"/>
              <a:t>단위</a:t>
            </a:r>
            <a:endParaRPr lang="en-US" altLang="ko-KR" sz="1200" dirty="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E6C12804-B806-C69E-4E3D-D9610C50ED9F}"/>
              </a:ext>
            </a:extLst>
          </p:cNvPr>
          <p:cNvSpPr/>
          <p:nvPr/>
        </p:nvSpPr>
        <p:spPr>
          <a:xfrm>
            <a:off x="3580950" y="5830077"/>
            <a:ext cx="432955" cy="22546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31BC3273-C534-D5F6-ACF4-5670F53B319D}"/>
              </a:ext>
            </a:extLst>
          </p:cNvPr>
          <p:cNvCxnSpPr>
            <a:cxnSpLocks/>
            <a:stCxn id="95" idx="4"/>
          </p:cNvCxnSpPr>
          <p:nvPr/>
        </p:nvCxnSpPr>
        <p:spPr>
          <a:xfrm>
            <a:off x="3797428" y="6055538"/>
            <a:ext cx="235983" cy="39442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45F19D00-70E8-3F60-1D81-820EC85C09F2}"/>
              </a:ext>
            </a:extLst>
          </p:cNvPr>
          <p:cNvSpPr txBox="1"/>
          <p:nvPr/>
        </p:nvSpPr>
        <p:spPr>
          <a:xfrm>
            <a:off x="2984149" y="6444476"/>
            <a:ext cx="1868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상위 </a:t>
            </a:r>
            <a:r>
              <a:rPr lang="en-US" altLang="ko-KR" sz="1200" dirty="0"/>
              <a:t>2-bit 0</a:t>
            </a:r>
            <a:r>
              <a:rPr lang="ko-KR" altLang="en-US" sz="1200" dirty="0"/>
              <a:t>으로 </a:t>
            </a:r>
            <a:r>
              <a:rPr lang="en-US" altLang="ko-KR" sz="1200" dirty="0"/>
              <a:t>masking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BBEBC49-0C58-F6A9-F71F-0F6BF208A0A0}"/>
              </a:ext>
            </a:extLst>
          </p:cNvPr>
          <p:cNvSpPr txBox="1"/>
          <p:nvPr/>
        </p:nvSpPr>
        <p:spPr>
          <a:xfrm>
            <a:off x="826551" y="4901096"/>
            <a:ext cx="1443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…</a:t>
            </a:r>
          </a:p>
        </p:txBody>
      </p: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50E35133-0CBC-0A8E-0224-CCF77095502F}"/>
              </a:ext>
            </a:extLst>
          </p:cNvPr>
          <p:cNvGrpSpPr/>
          <p:nvPr/>
        </p:nvGrpSpPr>
        <p:grpSpPr>
          <a:xfrm>
            <a:off x="5365487" y="5116651"/>
            <a:ext cx="2221108" cy="650646"/>
            <a:chOff x="5205404" y="5012543"/>
            <a:chExt cx="2221108" cy="650646"/>
          </a:xfrm>
        </p:grpSpPr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4B0F7E8A-15A6-43CB-D233-17F8E09A947F}"/>
                </a:ext>
              </a:extLst>
            </p:cNvPr>
            <p:cNvSpPr/>
            <p:nvPr/>
          </p:nvSpPr>
          <p:spPr>
            <a:xfrm>
              <a:off x="5214072" y="5012543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[4]</a:t>
              </a:r>
              <a:endParaRPr lang="ko-KR" altLang="en-US" sz="900" dirty="0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D1B24E00-4083-8113-3236-BC34B6474C7C}"/>
                </a:ext>
              </a:extLst>
            </p:cNvPr>
            <p:cNvSpPr/>
            <p:nvPr/>
          </p:nvSpPr>
          <p:spPr>
            <a:xfrm>
              <a:off x="5783598" y="5012543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[5]</a:t>
              </a:r>
              <a:endParaRPr lang="ko-KR" altLang="en-US" sz="900" dirty="0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2BD5A61D-3C1D-BE39-FAF8-3368DD26CBB7}"/>
                </a:ext>
              </a:extLst>
            </p:cNvPr>
            <p:cNvSpPr/>
            <p:nvPr/>
          </p:nvSpPr>
          <p:spPr>
            <a:xfrm>
              <a:off x="6320808" y="5012543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[6]</a:t>
              </a:r>
              <a:endParaRPr lang="ko-KR" altLang="en-US" sz="900" dirty="0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11C6562D-0254-9260-164C-10E55D1156CB}"/>
                </a:ext>
              </a:extLst>
            </p:cNvPr>
            <p:cNvSpPr/>
            <p:nvPr/>
          </p:nvSpPr>
          <p:spPr>
            <a:xfrm>
              <a:off x="6883984" y="5012543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[7]</a:t>
              </a:r>
              <a:endParaRPr lang="ko-KR" altLang="en-US" sz="900" dirty="0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283D54E1-602B-6E9A-CC7B-89689C1ACC8A}"/>
                </a:ext>
              </a:extLst>
            </p:cNvPr>
            <p:cNvSpPr/>
            <p:nvPr/>
          </p:nvSpPr>
          <p:spPr>
            <a:xfrm>
              <a:off x="5205404" y="5448475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[32]</a:t>
              </a:r>
              <a:endParaRPr lang="ko-KR" altLang="en-US" sz="900" dirty="0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ED956C32-E37B-D6BB-B0A0-E948BBCAF3A8}"/>
                </a:ext>
              </a:extLst>
            </p:cNvPr>
            <p:cNvSpPr/>
            <p:nvPr/>
          </p:nvSpPr>
          <p:spPr>
            <a:xfrm>
              <a:off x="5774930" y="5448475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[33]</a:t>
              </a:r>
              <a:endParaRPr lang="ko-KR" altLang="en-US" sz="900" dirty="0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BB8BA194-4470-D3E1-6E2E-E414389838FC}"/>
                </a:ext>
              </a:extLst>
            </p:cNvPr>
            <p:cNvSpPr/>
            <p:nvPr/>
          </p:nvSpPr>
          <p:spPr>
            <a:xfrm>
              <a:off x="6312140" y="5448475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[34]</a:t>
              </a:r>
              <a:endParaRPr lang="ko-KR" altLang="en-US" sz="900" dirty="0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248D882-43DD-563E-6AFA-996F031DD536}"/>
                </a:ext>
              </a:extLst>
            </p:cNvPr>
            <p:cNvSpPr/>
            <p:nvPr/>
          </p:nvSpPr>
          <p:spPr>
            <a:xfrm>
              <a:off x="6875316" y="5448475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[35]</a:t>
              </a:r>
              <a:endParaRPr lang="ko-KR" altLang="en-US" sz="900" dirty="0"/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1DC715B7-824E-455A-D6A7-5EF75A7A98A2}"/>
                </a:ext>
              </a:extLst>
            </p:cNvPr>
            <p:cNvSpPr txBox="1"/>
            <p:nvPr/>
          </p:nvSpPr>
          <p:spPr>
            <a:xfrm>
              <a:off x="6094691" y="5161162"/>
              <a:ext cx="4522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…</a:t>
              </a:r>
            </a:p>
          </p:txBody>
        </p:sp>
      </p:grpSp>
      <p:cxnSp>
        <p:nvCxnSpPr>
          <p:cNvPr id="113" name="연결선: 꺾임 112">
            <a:extLst>
              <a:ext uri="{FF2B5EF4-FFF2-40B4-BE49-F238E27FC236}">
                <a16:creationId xmlns:a16="http://schemas.microsoft.com/office/drawing/2014/main" id="{B782A31A-2578-BCCB-9E07-6563C59C4A7A}"/>
              </a:ext>
            </a:extLst>
          </p:cNvPr>
          <p:cNvCxnSpPr>
            <a:cxnSpLocks/>
          </p:cNvCxnSpPr>
          <p:nvPr/>
        </p:nvCxnSpPr>
        <p:spPr>
          <a:xfrm flipV="1">
            <a:off x="4152900" y="5414204"/>
            <a:ext cx="1122828" cy="333805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B4687A22-EC1C-2E8E-C9F0-47F2CDD60523}"/>
              </a:ext>
            </a:extLst>
          </p:cNvPr>
          <p:cNvSpPr txBox="1"/>
          <p:nvPr/>
        </p:nvSpPr>
        <p:spPr>
          <a:xfrm>
            <a:off x="4091037" y="5159030"/>
            <a:ext cx="1522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</a:rPr>
              <a:t>Big Endian</a:t>
            </a:r>
            <a:r>
              <a:rPr lang="ko-KR" altLang="en-US" sz="1000" dirty="0">
                <a:solidFill>
                  <a:schemeClr val="bg1"/>
                </a:solidFill>
              </a:rPr>
              <a:t>으로 변경</a:t>
            </a:r>
            <a:endParaRPr lang="en-US" altLang="ko-KR" sz="1000" dirty="0">
              <a:solidFill>
                <a:schemeClr val="bg1"/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F53A8476-86E0-5C6C-36D4-350D902CD959}"/>
              </a:ext>
            </a:extLst>
          </p:cNvPr>
          <p:cNvSpPr/>
          <p:nvPr/>
        </p:nvSpPr>
        <p:spPr>
          <a:xfrm>
            <a:off x="5362343" y="4716549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[0]</a:t>
            </a:r>
            <a:endParaRPr lang="ko-KR" altLang="en-US" sz="900" dirty="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B4BF4F5-46F5-F535-A1ED-DE6DA910172D}"/>
              </a:ext>
            </a:extLst>
          </p:cNvPr>
          <p:cNvSpPr/>
          <p:nvPr/>
        </p:nvSpPr>
        <p:spPr>
          <a:xfrm>
            <a:off x="5931869" y="4716549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[1]</a:t>
            </a:r>
            <a:endParaRPr lang="ko-KR" altLang="en-US" sz="900" dirty="0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A63B4A14-21F6-E4D5-AB50-9E918A341D08}"/>
              </a:ext>
            </a:extLst>
          </p:cNvPr>
          <p:cNvSpPr/>
          <p:nvPr/>
        </p:nvSpPr>
        <p:spPr>
          <a:xfrm>
            <a:off x="6469079" y="4716549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[2]</a:t>
            </a:r>
            <a:endParaRPr lang="ko-KR" altLang="en-US" sz="900" dirty="0"/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B5FD50EC-B7C8-5182-6D47-F51C5A5BFC02}"/>
              </a:ext>
            </a:extLst>
          </p:cNvPr>
          <p:cNvSpPr/>
          <p:nvPr/>
        </p:nvSpPr>
        <p:spPr>
          <a:xfrm>
            <a:off x="7032255" y="4716549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[3]</a:t>
            </a:r>
            <a:endParaRPr lang="ko-KR" altLang="en-US" sz="900" dirty="0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517BEDE3-8106-7E06-B4B0-0D921B3F9548}"/>
              </a:ext>
            </a:extLst>
          </p:cNvPr>
          <p:cNvSpPr/>
          <p:nvPr/>
        </p:nvSpPr>
        <p:spPr>
          <a:xfrm>
            <a:off x="5345611" y="4604680"/>
            <a:ext cx="2320109" cy="14655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AFF4124B-7DDD-7C6E-5CA4-BEA392D7EEA3}"/>
              </a:ext>
            </a:extLst>
          </p:cNvPr>
          <p:cNvCxnSpPr>
            <a:cxnSpLocks/>
            <a:stCxn id="123" idx="0"/>
            <a:endCxn id="128" idx="2"/>
          </p:cNvCxnSpPr>
          <p:nvPr/>
        </p:nvCxnSpPr>
        <p:spPr>
          <a:xfrm flipV="1">
            <a:off x="6505666" y="4461505"/>
            <a:ext cx="1349184" cy="14317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1EC977B-A6F3-C72F-7242-CC112E928C17}"/>
              </a:ext>
            </a:extLst>
          </p:cNvPr>
          <p:cNvSpPr txBox="1"/>
          <p:nvPr/>
        </p:nvSpPr>
        <p:spPr>
          <a:xfrm>
            <a:off x="5868357" y="3999840"/>
            <a:ext cx="3972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식별자 포함</a:t>
            </a:r>
            <a:r>
              <a:rPr lang="en-US" altLang="ko-KR" sz="1200" dirty="0"/>
              <a:t>, </a:t>
            </a:r>
            <a:r>
              <a:rPr lang="ko-KR" altLang="en-US" sz="1200" dirty="0"/>
              <a:t>여러 정보를 담아 데이터 패킷으로 구성</a:t>
            </a:r>
            <a:r>
              <a:rPr lang="en-US" altLang="ko-KR" sz="1200" dirty="0"/>
              <a:t>(byte </a:t>
            </a:r>
            <a:r>
              <a:rPr lang="ko-KR" altLang="en-US" sz="1200" dirty="0"/>
              <a:t>단위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  <a:endParaRPr lang="en-US" altLang="ko-KR" sz="12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728A00B-84CD-9036-9952-D174B0A2D698}"/>
              </a:ext>
            </a:extLst>
          </p:cNvPr>
          <p:cNvSpPr txBox="1"/>
          <p:nvPr/>
        </p:nvSpPr>
        <p:spPr>
          <a:xfrm>
            <a:off x="6267149" y="5760178"/>
            <a:ext cx="452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3F1DB2A1-8045-6690-B333-12F72D745F0A}"/>
              </a:ext>
            </a:extLst>
          </p:cNvPr>
          <p:cNvCxnSpPr>
            <a:cxnSpLocks/>
            <a:stCxn id="67" idx="3"/>
            <a:endCxn id="138" idx="1"/>
          </p:cNvCxnSpPr>
          <p:nvPr/>
        </p:nvCxnSpPr>
        <p:spPr>
          <a:xfrm>
            <a:off x="7875270" y="5301206"/>
            <a:ext cx="1419853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DA976A22-31DF-6BFD-2C96-3D79819723E8}"/>
              </a:ext>
            </a:extLst>
          </p:cNvPr>
          <p:cNvSpPr/>
          <p:nvPr/>
        </p:nvSpPr>
        <p:spPr>
          <a:xfrm>
            <a:off x="9295123" y="4452124"/>
            <a:ext cx="1939743" cy="1698164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검증자</a:t>
            </a:r>
            <a:r>
              <a:rPr lang="en-US" altLang="ko-KR" sz="1400" b="1" dirty="0"/>
              <a:t>(Verifier)</a:t>
            </a:r>
          </a:p>
          <a:p>
            <a:pPr algn="ctr"/>
            <a:endParaRPr lang="en-US" altLang="ko-KR" sz="14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검증키 이미 보유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C745A30-59B8-7EE3-F917-8A2285AC7F46}"/>
              </a:ext>
            </a:extLst>
          </p:cNvPr>
          <p:cNvSpPr txBox="1"/>
          <p:nvPr/>
        </p:nvSpPr>
        <p:spPr>
          <a:xfrm>
            <a:off x="7882652" y="4796329"/>
            <a:ext cx="1419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데이터</a:t>
            </a:r>
            <a:r>
              <a:rPr lang="en-US" altLang="ko-KR" sz="1200" dirty="0"/>
              <a:t> </a:t>
            </a:r>
            <a:r>
              <a:rPr lang="ko-KR" altLang="en-US" sz="1200" dirty="0"/>
              <a:t>패킷으로 전송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428417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B60B7-05E6-F8EB-5CDA-1490FC75D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8D117-940E-B3AA-9EA6-0B4A33F2B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영지식</a:t>
            </a:r>
            <a:r>
              <a:rPr lang="ko-KR" altLang="en-US" dirty="0"/>
              <a:t> 증명</a:t>
            </a:r>
            <a:endParaRPr lang="en-US" altLang="ko-KR" baseline="30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6300FB-015D-E9FF-2A5E-9FAD1278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3221F-E6A4-A83C-18B8-3EE3B7848E61}"/>
              </a:ext>
            </a:extLst>
          </p:cNvPr>
          <p:cNvSpPr txBox="1"/>
          <p:nvPr/>
        </p:nvSpPr>
        <p:spPr>
          <a:xfrm>
            <a:off x="390525" y="1214833"/>
            <a:ext cx="5815965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검증자의 </a:t>
            </a:r>
            <a:r>
              <a:rPr lang="ko-KR" altLang="en-US" sz="1600" b="1" dirty="0" err="1"/>
              <a:t>전처리</a:t>
            </a:r>
            <a:endParaRPr lang="en-US" altLang="ko-KR" sz="1600" b="1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수신한 바이트 단위 정보를 타원 곡선 점 좌표 및 스칼라로 복원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검증을 위한 사전 준비 과정</a:t>
            </a:r>
            <a:r>
              <a:rPr lang="en-US" altLang="ko-KR" sz="1400" dirty="0"/>
              <a:t>(</a:t>
            </a:r>
            <a:r>
              <a:rPr lang="ko-KR" altLang="en-US" sz="1400" dirty="0"/>
              <a:t>좌표 부정</a:t>
            </a:r>
            <a:r>
              <a:rPr lang="en-US" altLang="ko-KR" sz="1400" dirty="0"/>
              <a:t>, </a:t>
            </a:r>
            <a:r>
              <a:rPr lang="ko-KR" altLang="en-US" sz="1400" dirty="0"/>
              <a:t>공개 입력 선형 결합</a:t>
            </a:r>
            <a:r>
              <a:rPr lang="en-US" altLang="ko-KR" sz="1400" dirty="0"/>
              <a:t>, VK </a:t>
            </a:r>
            <a:r>
              <a:rPr lang="ko-KR" altLang="en-US" sz="1400" dirty="0"/>
              <a:t>키 준비 등</a:t>
            </a:r>
            <a:r>
              <a:rPr lang="en-US" altLang="ko-KR" sz="1400" dirty="0"/>
              <a:t>)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48C8CB8-F19A-F355-61CC-243674A738B6}"/>
              </a:ext>
            </a:extLst>
          </p:cNvPr>
          <p:cNvSpPr/>
          <p:nvPr/>
        </p:nvSpPr>
        <p:spPr>
          <a:xfrm>
            <a:off x="390525" y="3517904"/>
            <a:ext cx="10984230" cy="284607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6981C8-F7D6-8C18-9698-C6FA526C06BB}"/>
              </a:ext>
            </a:extLst>
          </p:cNvPr>
          <p:cNvSpPr txBox="1"/>
          <p:nvPr/>
        </p:nvSpPr>
        <p:spPr>
          <a:xfrm>
            <a:off x="5307831" y="3544992"/>
            <a:ext cx="11496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/>
              <a:t>영지식</a:t>
            </a:r>
            <a:r>
              <a:rPr lang="ko-KR" altLang="en-US" sz="1400" b="1" dirty="0"/>
              <a:t> 증명</a:t>
            </a:r>
            <a:endParaRPr lang="en-US" altLang="ko-KR" sz="1400" b="1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1A2868F-C42F-867B-DB29-941CAFAA5095}"/>
              </a:ext>
            </a:extLst>
          </p:cNvPr>
          <p:cNvSpPr txBox="1"/>
          <p:nvPr/>
        </p:nvSpPr>
        <p:spPr>
          <a:xfrm>
            <a:off x="826551" y="4901096"/>
            <a:ext cx="1443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…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F2D0B804-460E-4032-265F-0A75B4D465A1}"/>
              </a:ext>
            </a:extLst>
          </p:cNvPr>
          <p:cNvSpPr/>
          <p:nvPr/>
        </p:nvSpPr>
        <p:spPr>
          <a:xfrm>
            <a:off x="1548546" y="4337824"/>
            <a:ext cx="9504264" cy="1698164"/>
          </a:xfrm>
          <a:prstGeom prst="rect">
            <a:avLst/>
          </a:prstGeom>
          <a:solidFill>
            <a:srgbClr val="002C6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400" b="1" dirty="0" err="1"/>
              <a:t>검증자</a:t>
            </a:r>
            <a:r>
              <a:rPr lang="en-US" altLang="ko-KR" sz="1400" b="1" dirty="0"/>
              <a:t>(Verifier)</a:t>
            </a:r>
          </a:p>
          <a:p>
            <a:pPr algn="ctr"/>
            <a:endParaRPr lang="en-US" altLang="ko-KR" sz="1400" dirty="0"/>
          </a:p>
          <a:p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8398D62-7E08-237B-C600-891238A5D500}"/>
              </a:ext>
            </a:extLst>
          </p:cNvPr>
          <p:cNvGrpSpPr/>
          <p:nvPr/>
        </p:nvGrpSpPr>
        <p:grpSpPr>
          <a:xfrm>
            <a:off x="1719317" y="4977663"/>
            <a:ext cx="2221108" cy="650646"/>
            <a:chOff x="5205404" y="5012543"/>
            <a:chExt cx="2221108" cy="650646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99D7F6A-14AF-383F-C18A-B48128BAE712}"/>
                </a:ext>
              </a:extLst>
            </p:cNvPr>
            <p:cNvSpPr/>
            <p:nvPr/>
          </p:nvSpPr>
          <p:spPr>
            <a:xfrm>
              <a:off x="5214072" y="5012543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[4]</a:t>
              </a:r>
              <a:endParaRPr lang="ko-KR" altLang="en-US" sz="900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834E07C-A37B-7652-51A0-AC3E82B60CAF}"/>
                </a:ext>
              </a:extLst>
            </p:cNvPr>
            <p:cNvSpPr/>
            <p:nvPr/>
          </p:nvSpPr>
          <p:spPr>
            <a:xfrm>
              <a:off x="5783598" y="5012543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[5]</a:t>
              </a:r>
              <a:endParaRPr lang="ko-KR" altLang="en-US" sz="9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E887C05-8189-F467-AD39-0550128CCE6C}"/>
                </a:ext>
              </a:extLst>
            </p:cNvPr>
            <p:cNvSpPr/>
            <p:nvPr/>
          </p:nvSpPr>
          <p:spPr>
            <a:xfrm>
              <a:off x="6320808" y="5012543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[6]</a:t>
              </a:r>
              <a:endParaRPr lang="ko-KR" altLang="en-US" sz="9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1246034-7EFD-CEA6-C703-49D4E2914B06}"/>
                </a:ext>
              </a:extLst>
            </p:cNvPr>
            <p:cNvSpPr/>
            <p:nvPr/>
          </p:nvSpPr>
          <p:spPr>
            <a:xfrm>
              <a:off x="6883984" y="5012543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[7]</a:t>
              </a:r>
              <a:endParaRPr lang="ko-KR" altLang="en-US" sz="900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FB954D6-D9B9-8209-9610-38433C7D9372}"/>
                </a:ext>
              </a:extLst>
            </p:cNvPr>
            <p:cNvSpPr/>
            <p:nvPr/>
          </p:nvSpPr>
          <p:spPr>
            <a:xfrm>
              <a:off x="5205404" y="5448475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[32]</a:t>
              </a:r>
              <a:endParaRPr lang="ko-KR" altLang="en-US" sz="900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DC7694F-C610-42CD-E0CC-55BD178F89B9}"/>
                </a:ext>
              </a:extLst>
            </p:cNvPr>
            <p:cNvSpPr/>
            <p:nvPr/>
          </p:nvSpPr>
          <p:spPr>
            <a:xfrm>
              <a:off x="5774930" y="5448475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[33]</a:t>
              </a:r>
              <a:endParaRPr lang="ko-KR" altLang="en-US" sz="900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74CF18C-816B-6391-3EFB-BD411E15A556}"/>
                </a:ext>
              </a:extLst>
            </p:cNvPr>
            <p:cNvSpPr/>
            <p:nvPr/>
          </p:nvSpPr>
          <p:spPr>
            <a:xfrm>
              <a:off x="6312140" y="5448475"/>
              <a:ext cx="569921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[34]</a:t>
              </a:r>
              <a:endParaRPr lang="ko-KR" altLang="en-US" sz="900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0EACFAA-C050-B3A4-935E-9104DA2A4AC3}"/>
                </a:ext>
              </a:extLst>
            </p:cNvPr>
            <p:cNvSpPr/>
            <p:nvPr/>
          </p:nvSpPr>
          <p:spPr>
            <a:xfrm>
              <a:off x="6875316" y="5448475"/>
              <a:ext cx="542528" cy="21471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 err="1"/>
                <a:t>tx</a:t>
              </a:r>
              <a:r>
                <a:rPr lang="en-US" altLang="ko-KR" sz="900" dirty="0"/>
                <a:t>[35]</a:t>
              </a:r>
              <a:endParaRPr lang="ko-KR" altLang="en-US" sz="9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96D0522-76AB-C14F-C1FC-5289C71D250D}"/>
                </a:ext>
              </a:extLst>
            </p:cNvPr>
            <p:cNvSpPr txBox="1"/>
            <p:nvPr/>
          </p:nvSpPr>
          <p:spPr>
            <a:xfrm>
              <a:off x="6094691" y="5161162"/>
              <a:ext cx="4522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</a:rPr>
                <a:t>…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69EA74F-96FC-E679-BECF-F918C2A112AC}"/>
              </a:ext>
            </a:extLst>
          </p:cNvPr>
          <p:cNvSpPr/>
          <p:nvPr/>
        </p:nvSpPr>
        <p:spPr>
          <a:xfrm>
            <a:off x="1716173" y="4577561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[0]</a:t>
            </a:r>
            <a:endParaRPr lang="ko-KR" altLang="en-US" sz="9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09EB31A-EC37-D69F-AB54-0AD4F23E15F8}"/>
              </a:ext>
            </a:extLst>
          </p:cNvPr>
          <p:cNvSpPr/>
          <p:nvPr/>
        </p:nvSpPr>
        <p:spPr>
          <a:xfrm>
            <a:off x="2285699" y="4577561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[1]</a:t>
            </a:r>
            <a:endParaRPr lang="ko-KR" altLang="en-US" sz="9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4B7F8FB-A872-6ACA-3C01-86C10B029CDB}"/>
              </a:ext>
            </a:extLst>
          </p:cNvPr>
          <p:cNvSpPr/>
          <p:nvPr/>
        </p:nvSpPr>
        <p:spPr>
          <a:xfrm>
            <a:off x="2822909" y="4577561"/>
            <a:ext cx="569921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[2]</a:t>
            </a:r>
            <a:endParaRPr lang="ko-KR" altLang="en-US" sz="9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5960DA-25D7-2C88-3DD8-7A58CA9F2784}"/>
              </a:ext>
            </a:extLst>
          </p:cNvPr>
          <p:cNvSpPr/>
          <p:nvPr/>
        </p:nvSpPr>
        <p:spPr>
          <a:xfrm>
            <a:off x="3386085" y="4577561"/>
            <a:ext cx="542528" cy="2147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err="1"/>
              <a:t>tx</a:t>
            </a:r>
            <a:r>
              <a:rPr lang="en-US" altLang="ko-KR" sz="900" dirty="0"/>
              <a:t>[3]</a:t>
            </a:r>
            <a:endParaRPr lang="ko-KR" altLang="en-US" sz="9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102DFFF-45CD-3A1B-1F4F-5932222192DE}"/>
              </a:ext>
            </a:extLst>
          </p:cNvPr>
          <p:cNvSpPr/>
          <p:nvPr/>
        </p:nvSpPr>
        <p:spPr>
          <a:xfrm>
            <a:off x="1699441" y="4465692"/>
            <a:ext cx="2320109" cy="14655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A4DB1F-955B-6290-ADE2-8550DA4F54EB}"/>
              </a:ext>
            </a:extLst>
          </p:cNvPr>
          <p:cNvSpPr txBox="1"/>
          <p:nvPr/>
        </p:nvSpPr>
        <p:spPr>
          <a:xfrm>
            <a:off x="2620979" y="5621190"/>
            <a:ext cx="452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…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8A5E245-831D-38A9-9621-6F73391ABB1C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4019550" y="5198464"/>
            <a:ext cx="62103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4F43A50-B946-E1DE-7A99-404B1D1E1E30}"/>
              </a:ext>
            </a:extLst>
          </p:cNvPr>
          <p:cNvSpPr/>
          <p:nvPr/>
        </p:nvSpPr>
        <p:spPr>
          <a:xfrm>
            <a:off x="4750365" y="4672689"/>
            <a:ext cx="1097985" cy="2284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타원 곡선 </a:t>
            </a:r>
            <a:r>
              <a:rPr lang="en-US" altLang="ko-KR" sz="900" dirty="0"/>
              <a:t>A </a:t>
            </a:r>
            <a:r>
              <a:rPr lang="ko-KR" altLang="en-US" sz="900" dirty="0"/>
              <a:t>좌표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B27C96B-5F24-1EDE-5079-485761BF6F4E}"/>
              </a:ext>
            </a:extLst>
          </p:cNvPr>
          <p:cNvSpPr/>
          <p:nvPr/>
        </p:nvSpPr>
        <p:spPr>
          <a:xfrm>
            <a:off x="4750365" y="4970333"/>
            <a:ext cx="1097985" cy="2284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타원 곡선 </a:t>
            </a:r>
            <a:r>
              <a:rPr lang="en-US" altLang="ko-KR" sz="900" dirty="0"/>
              <a:t>B </a:t>
            </a:r>
            <a:r>
              <a:rPr lang="ko-KR" altLang="en-US" sz="900" dirty="0"/>
              <a:t>좌표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48E5996-9FEF-AB41-0D1A-4A5CBE89588B}"/>
              </a:ext>
            </a:extLst>
          </p:cNvPr>
          <p:cNvSpPr/>
          <p:nvPr/>
        </p:nvSpPr>
        <p:spPr>
          <a:xfrm>
            <a:off x="4750365" y="5291893"/>
            <a:ext cx="1097985" cy="2284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타원 곡선 </a:t>
            </a:r>
            <a:r>
              <a:rPr lang="en-US" altLang="ko-KR" sz="900" dirty="0"/>
              <a:t>C </a:t>
            </a:r>
            <a:r>
              <a:rPr lang="ko-KR" altLang="en-US" sz="900" dirty="0"/>
              <a:t>좌표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71854D4-105E-A774-0A7D-7AC569901AC5}"/>
              </a:ext>
            </a:extLst>
          </p:cNvPr>
          <p:cNvSpPr/>
          <p:nvPr/>
        </p:nvSpPr>
        <p:spPr>
          <a:xfrm>
            <a:off x="4750365" y="5600895"/>
            <a:ext cx="1097985" cy="22840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h </a:t>
            </a:r>
            <a:r>
              <a:rPr lang="ko-KR" altLang="en-US" sz="900" dirty="0"/>
              <a:t>값</a:t>
            </a:r>
            <a:r>
              <a:rPr lang="en-US" altLang="ko-KR" sz="900" dirty="0"/>
              <a:t>(scalar)</a:t>
            </a:r>
            <a:endParaRPr lang="ko-KR" altLang="en-US" sz="900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9C1ADBA-DCF2-799C-C722-D53C72FFF348}"/>
              </a:ext>
            </a:extLst>
          </p:cNvPr>
          <p:cNvCxnSpPr>
            <a:cxnSpLocks/>
          </p:cNvCxnSpPr>
          <p:nvPr/>
        </p:nvCxnSpPr>
        <p:spPr>
          <a:xfrm>
            <a:off x="6332220" y="2276194"/>
            <a:ext cx="62103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977B4CD-7D63-342C-8CDF-A970591CBE42}"/>
              </a:ext>
            </a:extLst>
          </p:cNvPr>
          <p:cNvSpPr txBox="1"/>
          <p:nvPr/>
        </p:nvSpPr>
        <p:spPr>
          <a:xfrm>
            <a:off x="7210467" y="2120732"/>
            <a:ext cx="767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/>
              <a:t>검증</a:t>
            </a:r>
            <a:endParaRPr lang="en-US" altLang="ko-KR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ED420E-CF10-687C-6548-52CB71368FAA}"/>
              </a:ext>
            </a:extLst>
          </p:cNvPr>
          <p:cNvSpPr txBox="1"/>
          <p:nvPr/>
        </p:nvSpPr>
        <p:spPr>
          <a:xfrm>
            <a:off x="6284376" y="4952403"/>
            <a:ext cx="1443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83968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47727</TotalTime>
  <Words>626</Words>
  <Application>Microsoft Office PowerPoint</Application>
  <PresentationFormat>와이드스크린</PresentationFormat>
  <Paragraphs>166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Cambria Math</vt:lpstr>
      <vt:lpstr>Office 테마</vt:lpstr>
      <vt:lpstr>영지식 증명</vt:lpstr>
      <vt:lpstr>영지식 증명</vt:lpstr>
      <vt:lpstr>영지식 증명</vt:lpstr>
      <vt:lpstr>영지식 증명</vt:lpstr>
      <vt:lpstr>영지식 증명</vt:lpstr>
      <vt:lpstr>영지식 증명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2391</cp:revision>
  <dcterms:created xsi:type="dcterms:W3CDTF">2023-03-06T16:32:37Z</dcterms:created>
  <dcterms:modified xsi:type="dcterms:W3CDTF">2026-03-23T12:30:41Z</dcterms:modified>
</cp:coreProperties>
</file>