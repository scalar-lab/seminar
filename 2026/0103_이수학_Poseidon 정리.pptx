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5"/>
  </p:notesMasterIdLst>
  <p:sldIdLst>
    <p:sldId id="256" r:id="rId2"/>
    <p:sldId id="324" r:id="rId3"/>
    <p:sldId id="306" r:id="rId4"/>
    <p:sldId id="325" r:id="rId5"/>
    <p:sldId id="322" r:id="rId6"/>
    <p:sldId id="339" r:id="rId7"/>
    <p:sldId id="326" r:id="rId8"/>
    <p:sldId id="308" r:id="rId9"/>
    <p:sldId id="327" r:id="rId10"/>
    <p:sldId id="320" r:id="rId11"/>
    <p:sldId id="328" r:id="rId12"/>
    <p:sldId id="323" r:id="rId13"/>
    <p:sldId id="329" r:id="rId14"/>
    <p:sldId id="319" r:id="rId15"/>
    <p:sldId id="315" r:id="rId16"/>
    <p:sldId id="317" r:id="rId17"/>
    <p:sldId id="318" r:id="rId18"/>
    <p:sldId id="338" r:id="rId19"/>
    <p:sldId id="337" r:id="rId20"/>
    <p:sldId id="330" r:id="rId21"/>
    <p:sldId id="332" r:id="rId22"/>
    <p:sldId id="331" r:id="rId23"/>
    <p:sldId id="33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3" d="100"/>
          <a:sy n="73" d="100"/>
        </p:scale>
        <p:origin x="10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4E90-1715-D7B3-A6C7-446B31E8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71EEC-FD6C-ADD1-22C8-B9B3BD33E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BAAF6D-B690-BE89-0860-008B93A3D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921A5-13FB-0667-2DC7-FD66B6E0C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4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6AB3-987F-DB11-277F-AF978D5B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58DA99-17A6-E632-1C02-38FF8AFEE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9B705-1B1B-B44F-9BA0-ABA8EBCD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1D97C6-7855-D0EF-3DB8-84FDC521C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42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FA26-7888-56FD-1596-2315E397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48FE5-9388-18B2-7059-AB8B1FABF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933318-4764-4DAD-1391-DB7F27E8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가전제품이나 </a:t>
            </a:r>
            <a:r>
              <a:rPr lang="en-US" altLang="ko-KR" sz="1200" dirty="0"/>
              <a:t>IoT </a:t>
            </a:r>
            <a:r>
              <a:rPr lang="ko-KR" altLang="en-US" sz="1200" dirty="0"/>
              <a:t>기기의 발전을 통하여 단순한 도구가 아닌 스스로 판단하고 결제하는 </a:t>
            </a:r>
            <a:r>
              <a:rPr lang="en-US" altLang="ko-KR" sz="1200" dirty="0"/>
              <a:t>Agentic AI </a:t>
            </a:r>
            <a:r>
              <a:rPr lang="ko-KR" altLang="en-US" sz="1200" dirty="0"/>
              <a:t>기반 경제 주체로 </a:t>
            </a:r>
            <a:r>
              <a:rPr lang="ko-KR" altLang="en-US" sz="1200" dirty="0" err="1"/>
              <a:t>진화중</a:t>
            </a:r>
            <a:r>
              <a:rPr lang="en-US" altLang="ko-KR" sz="1200" dirty="0"/>
              <a:t>(*</a:t>
            </a:r>
            <a:r>
              <a:rPr lang="ko-KR" altLang="en-US" sz="1200" dirty="0"/>
              <a:t>관련된 논문이 있는지 주장을 뒷받침할 근거 찾아보기</a:t>
            </a:r>
            <a:r>
              <a:rPr lang="en-US" altLang="ko-KR" sz="1200" dirty="0"/>
              <a:t>)</a:t>
            </a:r>
          </a:p>
          <a:p>
            <a:endParaRPr lang="en-US" altLang="ko-KR" dirty="0"/>
          </a:p>
          <a:p>
            <a:r>
              <a:rPr lang="ko-KR" altLang="en-US" sz="1200" dirty="0"/>
              <a:t>모바일</a:t>
            </a:r>
            <a:r>
              <a:rPr lang="en-US" altLang="ko-KR" sz="1200" dirty="0"/>
              <a:t>/</a:t>
            </a:r>
            <a:r>
              <a:rPr lang="ko-KR" altLang="en-US" sz="1200" dirty="0"/>
              <a:t>임베디드 환경에서의 에너지 효율은 기기 수명과 직결되는 핵심 요소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412BE8-5B0F-ABE3-AC99-EF4EDBDF0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443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E822-6841-8D1E-AA70-29A0BAEA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28D3F-82EB-B36C-DD14-8C510550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079CD-2B3D-80F0-EEE7-3DAC88B16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BN254</a:t>
            </a:r>
            <a:r>
              <a:rPr lang="ko-KR" altLang="en-US" dirty="0"/>
              <a:t>랑 </a:t>
            </a:r>
            <a:r>
              <a:rPr lang="en-US" altLang="ko-KR" dirty="0"/>
              <a:t>Goldilocks</a:t>
            </a:r>
            <a:r>
              <a:rPr lang="ko-KR" altLang="en-US" dirty="0"/>
              <a:t>랑 </a:t>
            </a:r>
            <a:r>
              <a:rPr lang="en-US" altLang="ko-KR" dirty="0"/>
              <a:t>DSP </a:t>
            </a:r>
            <a:r>
              <a:rPr lang="ko-KR" altLang="en-US" dirty="0"/>
              <a:t>블록 수 차이가 </a:t>
            </a:r>
            <a:r>
              <a:rPr lang="en-US" altLang="ko-KR" dirty="0"/>
              <a:t>16</a:t>
            </a:r>
            <a:r>
              <a:rPr lang="ko-KR" altLang="en-US" dirty="0"/>
              <a:t>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*DSP </a:t>
            </a:r>
            <a:r>
              <a:rPr lang="ko-KR" altLang="en-US" dirty="0"/>
              <a:t>블록 수 </a:t>
            </a:r>
            <a:r>
              <a:rPr lang="en-US" altLang="ko-KR" dirty="0"/>
              <a:t>= FPGA</a:t>
            </a:r>
            <a:r>
              <a:rPr lang="ko-KR" altLang="en-US" dirty="0"/>
              <a:t> 내부에 들어있는 고속 산술 연산 전용 하드웨어 가속기</a:t>
            </a:r>
            <a:endParaRPr lang="en-US" altLang="ko-KR" dirty="0"/>
          </a:p>
          <a:p>
            <a:r>
              <a:rPr lang="ko-KR" altLang="en-US" dirty="0"/>
              <a:t>크기 차이로 인하여 </a:t>
            </a:r>
            <a:r>
              <a:rPr lang="en-US" altLang="ko-KR" dirty="0"/>
              <a:t>DN254</a:t>
            </a:r>
            <a:r>
              <a:rPr lang="ko-KR" altLang="en-US" dirty="0"/>
              <a:t>가 </a:t>
            </a:r>
            <a:r>
              <a:rPr lang="en-US" altLang="ko-KR" dirty="0"/>
              <a:t>Goldilocks</a:t>
            </a:r>
            <a:r>
              <a:rPr lang="ko-KR" altLang="en-US" dirty="0"/>
              <a:t>에 비해 </a:t>
            </a:r>
            <a:r>
              <a:rPr lang="en-US" altLang="ko-KR" dirty="0"/>
              <a:t>16</a:t>
            </a:r>
            <a:r>
              <a:rPr lang="ko-KR" altLang="en-US" dirty="0"/>
              <a:t>배 정도 큼</a:t>
            </a:r>
            <a:r>
              <a:rPr lang="en-US" altLang="ko-KR" dirty="0"/>
              <a:t> =&gt; </a:t>
            </a:r>
            <a:r>
              <a:rPr lang="en-US" altLang="ko-KR" dirty="0" err="1"/>
              <a:t>Goldilock</a:t>
            </a:r>
            <a:r>
              <a:rPr lang="ko-KR" altLang="en-US" dirty="0"/>
              <a:t>로 바꾸는 것은 자원 점유율 감소에 도움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B24A3-3C10-8A2A-178C-13A99F201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92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C894-0534-84BA-E774-21CA8F7C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DD1A2-D5B2-A636-B779-BEA8EA6A4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17CDAD-4C65-C2D7-AB77-414A7C52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5F6CE-D6BB-376D-DE02-721E42FE4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889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AEF8-4902-18E4-DB23-EB8F2680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C8DF88-E37C-40F0-5BC4-74C2830DD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2F5C8B-0118-B001-95BE-91C5BD6C5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FADD2B-C5B1-0FE4-84F5-F019B03E0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688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E7D-1B0F-ADC1-D5B5-B9795FEF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DC8CEF-1F81-1435-DE3E-8DDCCDC55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B62C75-5C1C-7F85-F5B1-C40D62F7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완전성 </a:t>
            </a:r>
            <a:r>
              <a:rPr lang="en-US" altLang="ko-KR" dirty="0"/>
              <a:t>: </a:t>
            </a:r>
            <a:r>
              <a:rPr lang="ko-KR" altLang="en-US" dirty="0"/>
              <a:t>문장이 참 </a:t>
            </a:r>
            <a:r>
              <a:rPr lang="ko-KR" altLang="en-US" sz="1200" dirty="0"/>
              <a:t>→ 증명자는 검증자를 납득시킬 수 있음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건전성 </a:t>
            </a:r>
            <a:r>
              <a:rPr lang="en-US" altLang="ko-KR" sz="1200" dirty="0"/>
              <a:t>: </a:t>
            </a:r>
            <a:r>
              <a:rPr lang="ko-KR" altLang="en-US" sz="1200" dirty="0"/>
              <a:t>문장이 거짓 → 증명자가 검증자를 속여서 참이라고 </a:t>
            </a:r>
            <a:r>
              <a:rPr lang="ko-KR" altLang="en-US" sz="1200" dirty="0" err="1"/>
              <a:t>믿게할</a:t>
            </a:r>
            <a:r>
              <a:rPr lang="ko-KR" altLang="en-US" sz="1200" dirty="0"/>
              <a:t> 확률이 매우 작음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영지식성 </a:t>
            </a:r>
            <a:r>
              <a:rPr lang="en-US" altLang="ko-KR" sz="1200" dirty="0"/>
              <a:t>: </a:t>
            </a:r>
            <a:r>
              <a:rPr lang="ko-KR" altLang="en-US" sz="1200" dirty="0"/>
              <a:t>문장이 참 → 검증자는 증명 과정에서 문장이 참</a:t>
            </a:r>
            <a:r>
              <a:rPr lang="en-US" altLang="ko-KR" sz="1200" dirty="0"/>
              <a:t>/</a:t>
            </a:r>
            <a:r>
              <a:rPr lang="ko-KR" altLang="en-US" sz="1200" dirty="0"/>
              <a:t>거짓 이외에 다른 추가 정보도 얻을 수 없음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B669C1-A097-F825-D721-A410C1E74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59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292E-1598-56E1-0A53-DEC1765B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77E72E-6991-A83D-5475-5E5E55D0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E53454-9D6B-2FCA-68A7-90A66376C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파라미터 설명</a:t>
            </a:r>
            <a:endParaRPr lang="en-US" altLang="ko-KR" dirty="0"/>
          </a:p>
          <a:p>
            <a:r>
              <a:rPr lang="en-US" altLang="ko-KR" dirty="0"/>
              <a:t>R(Relation) : </a:t>
            </a:r>
            <a:r>
              <a:rPr lang="ko-KR" altLang="en-US" dirty="0"/>
              <a:t>산술회로</a:t>
            </a:r>
            <a:r>
              <a:rPr lang="en-US" altLang="ko-KR" dirty="0"/>
              <a:t>(</a:t>
            </a:r>
            <a:r>
              <a:rPr lang="ko-KR" altLang="en-US" dirty="0"/>
              <a:t>증명하고자 하는 논리가 수학적으로 정의된 규칙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pk(proving key) : </a:t>
            </a:r>
            <a:r>
              <a:rPr lang="ko-KR" altLang="en-US" dirty="0"/>
              <a:t>증명 키</a:t>
            </a:r>
            <a:r>
              <a:rPr lang="en-US" altLang="ko-KR" dirty="0"/>
              <a:t>(</a:t>
            </a:r>
            <a:r>
              <a:rPr lang="ko-KR" altLang="en-US" dirty="0"/>
              <a:t>증명자가 증명 생성 시 사용하는 공개 파라미터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vk</a:t>
            </a:r>
            <a:r>
              <a:rPr lang="en-US" altLang="ko-KR" dirty="0"/>
              <a:t>(verification key) : </a:t>
            </a:r>
            <a:r>
              <a:rPr lang="ko-KR" altLang="en-US" dirty="0"/>
              <a:t>검증 키</a:t>
            </a:r>
            <a:r>
              <a:rPr lang="en-US" altLang="ko-KR" dirty="0"/>
              <a:t>(</a:t>
            </a:r>
            <a:r>
              <a:rPr lang="ko-KR" altLang="en-US" dirty="0"/>
              <a:t>검증자가 증명이 맞는지 확인할 때 사용하는 공개 파라미터</a:t>
            </a:r>
            <a:r>
              <a:rPr lang="en-US" altLang="ko-KR" dirty="0"/>
              <a:t>) (pk </a:t>
            </a:r>
            <a:r>
              <a:rPr lang="ko-KR" altLang="en-US" dirty="0"/>
              <a:t>크기 </a:t>
            </a:r>
            <a:r>
              <a:rPr lang="en-US" altLang="ko-KR" dirty="0"/>
              <a:t>&gt; </a:t>
            </a:r>
            <a:r>
              <a:rPr lang="en-US" altLang="ko-KR" dirty="0" err="1"/>
              <a:t>vk</a:t>
            </a:r>
            <a:r>
              <a:rPr lang="en-US" altLang="ko-KR" dirty="0"/>
              <a:t> 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u(statement) : </a:t>
            </a:r>
            <a:r>
              <a:rPr lang="ko-KR" altLang="en-US" dirty="0"/>
              <a:t>공개 </a:t>
            </a:r>
            <a:r>
              <a:rPr lang="ko-KR" altLang="en-US" dirty="0" err="1"/>
              <a:t>입력값</a:t>
            </a:r>
            <a:r>
              <a:rPr lang="en-US" altLang="ko-KR" dirty="0"/>
              <a:t>. </a:t>
            </a:r>
            <a:r>
              <a:rPr lang="ko-KR" altLang="en-US" dirty="0"/>
              <a:t>증명자와 </a:t>
            </a:r>
            <a:r>
              <a:rPr lang="ko-KR" altLang="en-US" dirty="0" err="1"/>
              <a:t>검증자</a:t>
            </a:r>
            <a:r>
              <a:rPr lang="ko-KR" altLang="en-US" dirty="0"/>
              <a:t> 모두 알고 있는 정보</a:t>
            </a:r>
            <a:endParaRPr lang="en-US" altLang="ko-KR" dirty="0"/>
          </a:p>
          <a:p>
            <a:r>
              <a:rPr lang="en-US" altLang="ko-KR" dirty="0"/>
              <a:t>w(witness) : private input. </a:t>
            </a:r>
            <a:r>
              <a:rPr lang="ko-KR" altLang="en-US" dirty="0"/>
              <a:t>증명자만 알고 있는 비밀 정보</a:t>
            </a:r>
            <a:r>
              <a:rPr lang="en-US" altLang="ko-KR" dirty="0"/>
              <a:t>(</a:t>
            </a:r>
            <a:r>
              <a:rPr lang="ko-KR" altLang="en-US" dirty="0"/>
              <a:t>개인키 등</a:t>
            </a:r>
            <a:r>
              <a:rPr lang="en-US" altLang="ko-KR" dirty="0"/>
              <a:t>). </a:t>
            </a:r>
            <a:r>
              <a:rPr lang="ko-KR" altLang="en-US" dirty="0"/>
              <a:t>절대 노출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Pi(Proof) : </a:t>
            </a:r>
            <a:r>
              <a:rPr lang="ko-KR" altLang="en-US" dirty="0" err="1"/>
              <a:t>영지식</a:t>
            </a:r>
            <a:r>
              <a:rPr lang="ko-KR" altLang="en-US" dirty="0"/>
              <a:t> 증명 값</a:t>
            </a:r>
            <a:r>
              <a:rPr lang="en-US" altLang="ko-KR" dirty="0"/>
              <a:t>. </a:t>
            </a:r>
            <a:r>
              <a:rPr lang="ko-KR" altLang="en-US" dirty="0"/>
              <a:t>증명자가 </a:t>
            </a:r>
            <a:r>
              <a:rPr lang="en-US" altLang="ko-KR" dirty="0"/>
              <a:t>pk, u, w </a:t>
            </a:r>
            <a:r>
              <a:rPr lang="ko-KR" altLang="en-US" dirty="0"/>
              <a:t>조합하여 </a:t>
            </a:r>
            <a:r>
              <a:rPr lang="ko-KR" altLang="en-US" dirty="0" err="1"/>
              <a:t>만들어냄</a:t>
            </a:r>
            <a:endParaRPr lang="en-US" altLang="ko-KR" dirty="0"/>
          </a:p>
          <a:p>
            <a:r>
              <a:rPr lang="en-US" altLang="ko-KR" dirty="0"/>
              <a:t>0/1 : </a:t>
            </a:r>
            <a:r>
              <a:rPr lang="ko-KR" altLang="en-US" dirty="0"/>
              <a:t>검증 결과 </a:t>
            </a:r>
            <a:r>
              <a:rPr lang="en-US" altLang="ko-KR" dirty="0"/>
              <a:t>(0 =</a:t>
            </a:r>
            <a:r>
              <a:rPr lang="ko-KR" altLang="en-US" dirty="0"/>
              <a:t> 거짓</a:t>
            </a:r>
            <a:r>
              <a:rPr lang="en-US" altLang="ko-KR" dirty="0"/>
              <a:t>, 1 = </a:t>
            </a:r>
            <a:r>
              <a:rPr lang="ko-KR" altLang="en-US" dirty="0"/>
              <a:t>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*R1CS </a:t>
            </a:r>
            <a:r>
              <a:rPr lang="ko-KR" altLang="en-US" dirty="0"/>
              <a:t>사용하려면 </a:t>
            </a:r>
            <a:r>
              <a:rPr lang="en-US" altLang="ko-KR" dirty="0"/>
              <a:t>Background</a:t>
            </a:r>
            <a:r>
              <a:rPr lang="ko-KR" altLang="en-US" dirty="0"/>
              <a:t>에 </a:t>
            </a:r>
            <a:r>
              <a:rPr lang="en-US" altLang="ko-KR" dirty="0"/>
              <a:t>R1CS</a:t>
            </a:r>
            <a:r>
              <a:rPr lang="ko-KR" altLang="en-US" dirty="0"/>
              <a:t>와 관련된 내용이 </a:t>
            </a:r>
            <a:r>
              <a:rPr lang="ko-KR" altLang="en-US" dirty="0" err="1"/>
              <a:t>추가되어야할</a:t>
            </a:r>
            <a:r>
              <a:rPr lang="ko-KR" altLang="en-US" dirty="0"/>
              <a:t> 수 있음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5D2D3-7E6F-C8B2-FBAB-50AC9E987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622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696C3-14CA-6834-8F84-2091B7D4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958A89-A2C8-2272-84C5-BF75B021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536C6F-E78D-7344-DB7D-78C878C2B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 err="1"/>
              <a:t>영지식</a:t>
            </a:r>
            <a:r>
              <a:rPr lang="ko-KR" altLang="en-US" dirty="0"/>
              <a:t> 증명 생성 비용 </a:t>
            </a:r>
            <a:r>
              <a:rPr lang="ko-KR" altLang="en-US" dirty="0" err="1"/>
              <a:t>관련되서</a:t>
            </a:r>
            <a:r>
              <a:rPr lang="ko-KR" altLang="en-US" dirty="0"/>
              <a:t> </a:t>
            </a:r>
            <a:r>
              <a:rPr lang="en-US" altLang="ko-KR" dirty="0"/>
              <a:t>Gas </a:t>
            </a:r>
            <a:r>
              <a:rPr lang="ko-KR" altLang="en-US" dirty="0"/>
              <a:t>라고 하는 비용이 추가적으로 존재하는데</a:t>
            </a:r>
            <a:r>
              <a:rPr lang="en-US" altLang="ko-KR" dirty="0"/>
              <a:t>, Gas Fee</a:t>
            </a:r>
            <a:r>
              <a:rPr lang="ko-KR" altLang="en-US" dirty="0"/>
              <a:t>와 관련되어서도 추가적으로 조사하고 내용 추가 후 진행하는 것이 좋을 것으로 생각</a:t>
            </a:r>
            <a:r>
              <a:rPr lang="en-US" altLang="ko-KR" dirty="0"/>
              <a:t>(</a:t>
            </a:r>
            <a:r>
              <a:rPr lang="ko-KR" altLang="en-US" dirty="0"/>
              <a:t>희주가 알려줬던 거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53FB6E-D51E-AC1D-4B5F-ACC20E7E4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327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7B01-6920-D261-5B5E-B4BD7A74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C71545-F218-630A-5D07-892E9DE07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C74142-2E17-9EEC-37EE-70C5698B7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0859E1-160A-F634-BD5B-B9A073827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202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0D4D-CE0C-2F6B-5BBB-4DCA78C1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250B2-6BA8-BC6B-9174-177C66DF2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B310FE-26E9-E91D-C98C-EC2986E90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74EDD-B076-4AD9-07B9-BBFAD16A5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807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32F03-E405-AE2D-0A85-C5E2FD80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D742EC-7A16-88DE-CF9B-3E9B5FF72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BA781B-A587-CA69-82D8-A9105E89B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967D6-055F-CDBA-E983-8BC53C821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203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C64-C5F5-4932-0FBD-DD05D98B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4AF32-66C2-6C84-7D78-00045519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8A82B-9505-3F99-41AA-CEEB479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적당히 명명할 이름이 생각나지 않아 </a:t>
            </a:r>
            <a:r>
              <a:rPr lang="en-US" altLang="ko-KR" dirty="0"/>
              <a:t>‘Poseidon Solution’ </a:t>
            </a:r>
            <a:r>
              <a:rPr lang="ko-KR" altLang="en-US" dirty="0"/>
              <a:t>이라고 일단 명명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Grain LFSR </a:t>
            </a:r>
            <a:r>
              <a:rPr lang="ko-KR" altLang="en-US" dirty="0"/>
              <a:t>관련 설명</a:t>
            </a:r>
            <a:endParaRPr lang="en-US" altLang="ko-KR" dirty="0"/>
          </a:p>
          <a:p>
            <a:r>
              <a:rPr lang="ko-KR" altLang="en-US" dirty="0"/>
              <a:t>일반적으로 </a:t>
            </a:r>
            <a:r>
              <a:rPr lang="en-US" altLang="ko-KR" dirty="0"/>
              <a:t>Constant matrix</a:t>
            </a:r>
            <a:r>
              <a:rPr lang="ko-KR" altLang="en-US" dirty="0"/>
              <a:t>의 </a:t>
            </a:r>
            <a:r>
              <a:rPr lang="en-US" altLang="ko-KR" dirty="0"/>
              <a:t>constant </a:t>
            </a:r>
            <a:r>
              <a:rPr lang="ko-KR" altLang="en-US" dirty="0"/>
              <a:t>값은 </a:t>
            </a:r>
            <a:r>
              <a:rPr lang="ko-KR" altLang="en-US" dirty="0" err="1"/>
              <a:t>하드코딩된</a:t>
            </a:r>
            <a:r>
              <a:rPr lang="ko-KR" altLang="en-US" dirty="0"/>
              <a:t> 상태로 메모리에 저장되어 있음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Poseidon </a:t>
            </a:r>
            <a:r>
              <a:rPr lang="ko-KR" altLang="en-US" dirty="0"/>
              <a:t>논문 내에서 권장하는 것은 일정한 산술 규칙을 만들어 다음 라운드에 사용할 </a:t>
            </a:r>
            <a:r>
              <a:rPr lang="en-US" altLang="ko-KR" dirty="0"/>
              <a:t>Constant </a:t>
            </a:r>
            <a:r>
              <a:rPr lang="ko-KR" altLang="en-US" dirty="0"/>
              <a:t>값을 만드는 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첫번째 라운드</a:t>
            </a:r>
            <a:r>
              <a:rPr lang="en-US" altLang="ko-KR" dirty="0"/>
              <a:t> </a:t>
            </a:r>
            <a:r>
              <a:rPr lang="ko-KR" altLang="en-US" dirty="0"/>
              <a:t>상수</a:t>
            </a:r>
            <a:r>
              <a:rPr lang="en-US" altLang="ko-KR" dirty="0"/>
              <a:t>(R0)</a:t>
            </a:r>
            <a:r>
              <a:rPr lang="ko-KR" altLang="en-US" dirty="0"/>
              <a:t>를 통해서 첫번째 라운드의 연산을 진행함과 동시에</a:t>
            </a:r>
            <a:r>
              <a:rPr lang="en-US" altLang="ko-KR" dirty="0"/>
              <a:t> R0</a:t>
            </a:r>
            <a:r>
              <a:rPr lang="ko-KR" altLang="en-US" dirty="0"/>
              <a:t>에 규칙적인 연산을 통해서 다음 라운드에 사용될 라운드 상수</a:t>
            </a:r>
            <a:r>
              <a:rPr lang="en-US" altLang="ko-KR" dirty="0"/>
              <a:t>(R1)</a:t>
            </a:r>
            <a:r>
              <a:rPr lang="ko-KR" altLang="en-US" dirty="0"/>
              <a:t>을 추출</a:t>
            </a:r>
            <a:r>
              <a:rPr lang="en-US" altLang="ko-KR" dirty="0"/>
              <a:t>. </a:t>
            </a:r>
            <a:r>
              <a:rPr lang="ko-KR" altLang="en-US" dirty="0"/>
              <a:t>첫번째 라운드의 모든 연산이 끝날 경우 </a:t>
            </a:r>
            <a:r>
              <a:rPr lang="en-US" altLang="ko-KR" dirty="0"/>
              <a:t>R1 </a:t>
            </a:r>
            <a:r>
              <a:rPr lang="ko-KR" altLang="en-US" dirty="0"/>
              <a:t>값을 </a:t>
            </a:r>
            <a:r>
              <a:rPr lang="en-US" altLang="ko-KR" dirty="0"/>
              <a:t>Load </a:t>
            </a:r>
            <a:r>
              <a:rPr lang="ko-KR" altLang="en-US" dirty="0"/>
              <a:t>해오고 앞의 과정 반복</a:t>
            </a:r>
            <a:endParaRPr lang="en-US" altLang="ko-KR" dirty="0"/>
          </a:p>
          <a:p>
            <a:r>
              <a:rPr lang="ko-KR" altLang="en-US" dirty="0"/>
              <a:t>이러한 과정을 통해서 메모리에 </a:t>
            </a:r>
            <a:r>
              <a:rPr lang="ko-KR" altLang="en-US" dirty="0" err="1"/>
              <a:t>하드코딩된</a:t>
            </a:r>
            <a:r>
              <a:rPr lang="ko-KR" altLang="en-US" dirty="0"/>
              <a:t> 상태로 저장할 필요 없이 연산을 통해서 진행</a:t>
            </a:r>
            <a:r>
              <a:rPr lang="en-US" altLang="ko-KR" dirty="0"/>
              <a:t>(</a:t>
            </a:r>
            <a:r>
              <a:rPr lang="ko-KR" altLang="en-US" dirty="0"/>
              <a:t>메모리 사용 최소화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E104-29D3-B8CC-EAB8-2DC168A9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60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E24C-40B9-0FCE-D4A3-116ACEFD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26856C-B274-1AE0-896B-5EDB2CA3E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323DA-177E-6C1B-1A51-659F2A008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F2535A-D219-2E89-160F-DF67A7891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387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C12E-7AB3-8DF7-FE2C-564AA690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3650A-ACDE-D88A-6424-308FCCF15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6093B-63BB-E42F-CB0A-D1E891E4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7D823-F3F4-0A90-B7A9-855B4B3B8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984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E23C-208F-66FD-835E-A27F6BB7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CFF838-556B-A798-355F-8DB9027ED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BE377-1ADD-1C56-327D-30A5EDA18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A3E62-5F28-379E-64BF-23133DA07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52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77CE-D6D1-167F-A550-875E747B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B9217-C6CB-9FC3-E95C-E4AE9E3E7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7E0F40-C26D-7F0D-5ACE-F549E659D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11415-E3D7-3876-C42B-62E1340D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313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AF0F-08FB-054A-2B0E-6C28F462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3389A-1B79-EB31-C869-105FEA7E8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3A3950-3CF6-1409-C70B-7A6692CC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ZK </a:t>
            </a:r>
            <a:r>
              <a:rPr lang="ko-KR" altLang="en-US" dirty="0"/>
              <a:t>회로 안에서 비트를 자르고 다시 합치는 연산이 </a:t>
            </a:r>
            <a:r>
              <a:rPr lang="en-US" altLang="ko-KR" dirty="0"/>
              <a:t>constraints</a:t>
            </a:r>
            <a:r>
              <a:rPr lang="ko-KR" altLang="en-US" dirty="0"/>
              <a:t>를 소모 </a:t>
            </a:r>
            <a:r>
              <a:rPr lang="en-US" altLang="ko-KR" dirty="0"/>
              <a:t>-&gt; </a:t>
            </a:r>
            <a:r>
              <a:rPr lang="ko-KR" altLang="en-US" dirty="0"/>
              <a:t>밖에서 </a:t>
            </a:r>
            <a:r>
              <a:rPr lang="en-US" altLang="ko-KR" dirty="0"/>
              <a:t>0</a:t>
            </a:r>
            <a:r>
              <a:rPr lang="ko-KR" altLang="en-US" dirty="0"/>
              <a:t>으로 채워서 쓰는 것이 빠르고 유용하기에 </a:t>
            </a:r>
            <a:r>
              <a:rPr lang="en-US" altLang="ko-KR" dirty="0"/>
              <a:t>0-padding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058BE-F5C9-99F4-1361-062238535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972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2E1F-F685-441E-6043-BCB828C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1CB4EC-73A1-5254-31F1-CED79578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7F07E8-B96D-36FD-1A5F-04E8E02CD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D0F38-028D-653C-819A-34055A815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484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2881-EAE4-2B69-663A-C3E41732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404612-9D00-A84A-039B-52CE824B7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BB9D-F538-5A36-8E3F-BCFE9544F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오픈소스 </a:t>
            </a:r>
            <a:r>
              <a:rPr lang="en-US" altLang="ko-KR" dirty="0"/>
              <a:t>ASIC </a:t>
            </a:r>
            <a:r>
              <a:rPr lang="ko-KR" altLang="en-US" dirty="0"/>
              <a:t>툴 활용 </a:t>
            </a:r>
            <a:r>
              <a:rPr lang="en-US" altLang="ko-KR" dirty="0"/>
              <a:t>(</a:t>
            </a:r>
            <a:r>
              <a:rPr lang="en-US" altLang="ko-KR" dirty="0" err="1"/>
              <a:t>Yosys</a:t>
            </a:r>
            <a:r>
              <a:rPr lang="en-US" altLang="ko-KR" dirty="0"/>
              <a:t> + </a:t>
            </a:r>
            <a:r>
              <a:rPr lang="en-US" altLang="ko-KR" dirty="0" err="1"/>
              <a:t>SkyWater</a:t>
            </a:r>
            <a:r>
              <a:rPr lang="en-US" altLang="ko-KR" dirty="0"/>
              <a:t> 130nm) =&gt; Gate Count </a:t>
            </a:r>
            <a:r>
              <a:rPr lang="ko-KR" altLang="en-US" dirty="0"/>
              <a:t>측정 가능 </a:t>
            </a:r>
            <a:r>
              <a:rPr lang="en-US" altLang="ko-KR" dirty="0"/>
              <a:t>(</a:t>
            </a:r>
            <a:r>
              <a:rPr lang="ko-KR" altLang="en-US" dirty="0"/>
              <a:t>실제 하드웨어 상의 회로 비용 측정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478851-30A7-AB54-3B2E-B409A65EB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24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4C66-2664-585B-06DC-62774B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C24C7C-8328-9E70-F16A-F68B9A2D0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F5008C-4AD2-2E8F-1542-BD5AFA52A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3A552D-A8B9-E9C2-5323-FC1A81798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98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BB6F-4281-B78B-D3DB-4966C80D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E8027-074A-54E2-85AF-A52A1905B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4E6D9D-EFD8-7B29-1DB0-4F652215F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98134-5234-4421-40C6-3741AE6A1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50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연구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C54E-0D3B-E5F0-CA8F-96D22DF8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75C31-9435-1B6F-2233-36A134A0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7EA2EF-290E-0902-3596-942C96D0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1DBB6-6839-713E-2BCC-126DDBC017C7}"/>
              </a:ext>
            </a:extLst>
          </p:cNvPr>
          <p:cNvSpPr txBox="1"/>
          <p:nvPr/>
        </p:nvSpPr>
        <p:spPr>
          <a:xfrm>
            <a:off x="1006789" y="1487467"/>
            <a:ext cx="10502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Related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28258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FB6F-ABC7-0751-DD84-8872059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EDF28-FE1B-4AC3-7677-68DCFA9B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Introduction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2C7D5-7D37-42D3-B3AD-5E2C552C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99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CF6D-2238-9028-9762-517D8900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E7658-8AAF-CB6A-EE75-1A1A2F92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48708-8749-F451-7132-5BA8D11C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0B489A-E5A6-7557-C0E3-5F8026D81843}"/>
              </a:ext>
            </a:extLst>
          </p:cNvPr>
          <p:cNvSpPr txBox="1"/>
          <p:nvPr/>
        </p:nvSpPr>
        <p:spPr>
          <a:xfrm>
            <a:off x="1006789" y="1487467"/>
            <a:ext cx="105027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Introduction</a:t>
            </a:r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가전제품이나 </a:t>
            </a:r>
            <a:r>
              <a:rPr lang="en-US" altLang="ko-KR" sz="1600" dirty="0"/>
              <a:t>IoT </a:t>
            </a:r>
            <a:r>
              <a:rPr lang="ko-KR" altLang="en-US" sz="1600" dirty="0"/>
              <a:t>기기의 발전을 통하여 단순한 도구가 아닌 스스로 판단하고 결제하는 </a:t>
            </a:r>
            <a:r>
              <a:rPr lang="en-US" altLang="ko-KR" sz="1600" dirty="0"/>
              <a:t>Agentic AI </a:t>
            </a:r>
            <a:r>
              <a:rPr lang="ko-KR" altLang="en-US" sz="1600" dirty="0"/>
              <a:t>기반 경제 주체로 </a:t>
            </a:r>
            <a:r>
              <a:rPr lang="ko-KR" altLang="en-US" sz="1600" dirty="0" err="1"/>
              <a:t>진화중</a:t>
            </a:r>
            <a:r>
              <a:rPr lang="en-US" altLang="ko-KR" sz="1600" dirty="0"/>
              <a:t>(*</a:t>
            </a:r>
            <a:r>
              <a:rPr lang="ko-KR" altLang="en-US" sz="1600" dirty="0"/>
              <a:t>관련된 논문이 있는지 주장을 뒷받침할 근거 찾아보기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기기간의 신뢰를 보장하는 </a:t>
            </a:r>
            <a:r>
              <a:rPr lang="en-US" altLang="ko-KR" sz="1600" dirty="0"/>
              <a:t>BID(Blockchain ID)</a:t>
            </a:r>
            <a:r>
              <a:rPr lang="ko-KR" altLang="en-US" sz="1600" dirty="0"/>
              <a:t>와 디지털 지갑의 내장 가속화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Agentic AI</a:t>
            </a:r>
            <a:r>
              <a:rPr lang="ko-KR" altLang="en-US" sz="1600" dirty="0"/>
              <a:t>가 주도하는 경제 체제에서는 </a:t>
            </a:r>
            <a:r>
              <a:rPr lang="ko-KR" altLang="en-US" sz="1600" dirty="0" err="1"/>
              <a:t>중앙화된</a:t>
            </a:r>
            <a:r>
              <a:rPr lang="ko-KR" altLang="en-US" sz="1600" dirty="0"/>
              <a:t> 관리자 없이 장치 간 직접 거래 발생</a:t>
            </a:r>
            <a:r>
              <a:rPr lang="en-US" altLang="ko-KR" sz="1600" dirty="0"/>
              <a:t>(P2P)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안전한 결제를 위해 </a:t>
            </a:r>
            <a:r>
              <a:rPr lang="ko-KR" altLang="en-US" sz="1600" dirty="0" err="1"/>
              <a:t>영지식</a:t>
            </a:r>
            <a:r>
              <a:rPr lang="ko-KR" altLang="en-US" sz="1600" dirty="0"/>
              <a:t> 증명</a:t>
            </a:r>
            <a:r>
              <a:rPr lang="en-US" altLang="ko-KR" sz="1600" dirty="0"/>
              <a:t>(ZKP, Zero-</a:t>
            </a:r>
            <a:r>
              <a:rPr lang="en-US" altLang="ko-KR" sz="1600" dirty="0" err="1"/>
              <a:t>Knowledgement</a:t>
            </a:r>
            <a:r>
              <a:rPr lang="en-US" altLang="ko-KR" sz="1600" dirty="0"/>
              <a:t> Proof) </a:t>
            </a:r>
            <a:r>
              <a:rPr lang="ko-KR" altLang="en-US" sz="1600" dirty="0"/>
              <a:t>기술이 필수적이나 기존 암호 알고리즘</a:t>
            </a:r>
            <a:r>
              <a:rPr lang="en-US" altLang="ko-KR" sz="1600" dirty="0"/>
              <a:t>(SHA-256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은 하드웨어 자원이 제한된 </a:t>
            </a:r>
            <a:r>
              <a:rPr lang="en-US" altLang="ko-KR" sz="1600" dirty="0"/>
              <a:t>IoT </a:t>
            </a:r>
            <a:r>
              <a:rPr lang="ko-KR" altLang="en-US" sz="1600" dirty="0"/>
              <a:t>기기에서 높은 연산 비용과 에너지 소모를 초래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초저전력</a:t>
            </a:r>
            <a:r>
              <a:rPr lang="ko-KR" altLang="en-US" sz="1600" dirty="0"/>
              <a:t> </a:t>
            </a:r>
            <a:r>
              <a:rPr lang="en-US" altLang="ko-KR" sz="1600" dirty="0"/>
              <a:t>IoT </a:t>
            </a:r>
            <a:r>
              <a:rPr lang="ko-KR" altLang="en-US" sz="1600" dirty="0"/>
              <a:t>환경에서의 하드웨어 자원 최적화가 우선순위 </a:t>
            </a:r>
            <a:r>
              <a:rPr lang="en-US" altLang="ko-KR" sz="1600" dirty="0"/>
              <a:t>X)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 </a:t>
            </a:r>
            <a:r>
              <a:rPr lang="ko-KR" altLang="en-US" sz="1600" dirty="0"/>
              <a:t>해시함수는 </a:t>
            </a:r>
            <a:r>
              <a:rPr lang="en-US" altLang="ko-KR" sz="1600" dirty="0"/>
              <a:t>ZK </a:t>
            </a:r>
            <a:r>
              <a:rPr lang="ko-KR" altLang="en-US" sz="1600" dirty="0"/>
              <a:t>친화적이지만 </a:t>
            </a:r>
            <a:r>
              <a:rPr lang="en-US" altLang="ko-KR" sz="1600" dirty="0"/>
              <a:t>BN254, BLS12-381 </a:t>
            </a:r>
            <a:r>
              <a:rPr lang="ko-KR" altLang="en-US" sz="1600" dirty="0"/>
              <a:t>타원 곡선을 사용하여 출력 길이가 </a:t>
            </a:r>
            <a:r>
              <a:rPr lang="en-US" altLang="ko-KR" sz="1600" dirty="0"/>
              <a:t>254-bit</a:t>
            </a:r>
            <a:r>
              <a:rPr lang="ko-KR" altLang="en-US" sz="1600" dirty="0"/>
              <a:t> 혹은 </a:t>
            </a:r>
            <a:r>
              <a:rPr lang="en-US" altLang="ko-KR" sz="1600" dirty="0"/>
              <a:t>255-bit </a:t>
            </a:r>
            <a:r>
              <a:rPr lang="ko-KR" altLang="en-US" sz="1600" dirty="0"/>
              <a:t>수준에 준함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data</a:t>
            </a:r>
            <a:r>
              <a:rPr lang="ko-KR" altLang="en-US" sz="1600" dirty="0"/>
              <a:t>를 </a:t>
            </a:r>
            <a:r>
              <a:rPr lang="en-US" altLang="ko-KR" sz="1600" dirty="0"/>
              <a:t>256-bit </a:t>
            </a:r>
            <a:r>
              <a:rPr lang="ko-KR" altLang="en-US" sz="1600" dirty="0"/>
              <a:t>규격에 맞추기 위해 추가적인 </a:t>
            </a:r>
            <a:r>
              <a:rPr lang="en-US" altLang="ko-KR" sz="1600" dirty="0"/>
              <a:t>data processing </a:t>
            </a:r>
            <a:r>
              <a:rPr lang="ko-KR" altLang="en-US" sz="1600" dirty="0"/>
              <a:t>과정도 비용을 소모하게 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일반적인 블록체인 및 금융 인프라에서는 </a:t>
            </a:r>
            <a:r>
              <a:rPr lang="en-US" altLang="ko-KR" sz="1600" dirty="0"/>
              <a:t>Legacy </a:t>
            </a:r>
            <a:r>
              <a:rPr lang="ko-KR" altLang="en-US" sz="1600" dirty="0"/>
              <a:t>시스템과의 무결성 호환을 위해 </a:t>
            </a:r>
            <a:r>
              <a:rPr lang="en-US" altLang="ko-KR" sz="1600" dirty="0"/>
              <a:t>32-byte </a:t>
            </a:r>
            <a:r>
              <a:rPr lang="ko-KR" altLang="en-US" sz="1600" dirty="0"/>
              <a:t>단위</a:t>
            </a:r>
            <a:r>
              <a:rPr lang="en-US" altLang="ko-KR" sz="1600" dirty="0"/>
              <a:t> (</a:t>
            </a:r>
            <a:r>
              <a:rPr lang="ko-KR" altLang="en-US" sz="1600" dirty="0" err="1"/>
              <a:t>이더리움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비트코인의</a:t>
            </a:r>
            <a:r>
              <a:rPr lang="ko-KR" altLang="en-US" sz="1600" dirty="0"/>
              <a:t> 지갑 주소 체계 및 스마트 </a:t>
            </a:r>
            <a:r>
              <a:rPr lang="ko-KR" altLang="en-US" sz="1600" dirty="0" err="1"/>
              <a:t>컨트랙트의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입력값이</a:t>
            </a:r>
            <a:r>
              <a:rPr lang="ko-KR" altLang="en-US" sz="1600" dirty="0"/>
              <a:t> </a:t>
            </a:r>
            <a:r>
              <a:rPr lang="en-US" altLang="ko-KR" sz="1600" dirty="0"/>
              <a:t>256-bit </a:t>
            </a:r>
            <a:r>
              <a:rPr lang="ko-KR" altLang="en-US" sz="1600" dirty="0"/>
              <a:t>단위로 정렬되어 있기 때문에 </a:t>
            </a:r>
            <a:r>
              <a:rPr lang="en-US" altLang="ko-KR" sz="1600" dirty="0"/>
              <a:t>256-bit </a:t>
            </a:r>
            <a:r>
              <a:rPr lang="ko-KR" altLang="en-US" sz="1600" dirty="0"/>
              <a:t>단위로 맞추는 것이 추가적인 데이터 가공 비용을 초래하지 않을 수 있음 </a:t>
            </a:r>
            <a:r>
              <a:rPr lang="en-US" altLang="ko-KR" sz="1600" dirty="0"/>
              <a:t>– </a:t>
            </a:r>
            <a:r>
              <a:rPr lang="ko-KR" altLang="en-US" sz="1600" dirty="0"/>
              <a:t>추가적인 데이터 가공 과정은 </a:t>
            </a:r>
            <a:r>
              <a:rPr lang="en-US" altLang="ko-KR" sz="1600" dirty="0"/>
              <a:t>IoT</a:t>
            </a:r>
            <a:r>
              <a:rPr lang="ko-KR" altLang="en-US" sz="1600" dirty="0"/>
              <a:t>의 에너지 낭비 초래 </a:t>
            </a:r>
            <a:r>
              <a:rPr lang="en-US" altLang="ko-KR" sz="1600" dirty="0"/>
              <a:t>O)</a:t>
            </a:r>
          </a:p>
        </p:txBody>
      </p:sp>
    </p:spTree>
    <p:extLst>
      <p:ext uri="{BB962C8B-B14F-4D97-AF65-F5344CB8AC3E}">
        <p14:creationId xmlns:p14="http://schemas.microsoft.com/office/powerpoint/2010/main" val="264602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DBD9-ED01-309A-D964-6ED94928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4F89F-80E4-B451-506B-D2B29AD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324E9-1484-C93A-74AE-90CEA97C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973C1-0ECD-5FC8-B9B6-4428253F2831}"/>
              </a:ext>
            </a:extLst>
          </p:cNvPr>
          <p:cNvSpPr txBox="1"/>
          <p:nvPr/>
        </p:nvSpPr>
        <p:spPr>
          <a:xfrm>
            <a:off x="1006789" y="1487467"/>
            <a:ext cx="105027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Goal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</a:t>
            </a:r>
            <a:r>
              <a:rPr lang="en-US" altLang="ko-KR" sz="1600" dirty="0"/>
              <a:t>Poseidon-128</a:t>
            </a:r>
            <a:r>
              <a:rPr lang="ko-KR" altLang="en-US" sz="1600" dirty="0"/>
              <a:t>의 보안강도</a:t>
            </a:r>
            <a:r>
              <a:rPr lang="en-US" altLang="ko-KR" sz="1600" dirty="0"/>
              <a:t>(128-bit)</a:t>
            </a:r>
            <a:r>
              <a:rPr lang="ko-KR" altLang="en-US" sz="1600" dirty="0"/>
              <a:t>를 유지하면서 </a:t>
            </a:r>
            <a:r>
              <a:rPr lang="en-US" altLang="ko-KR" sz="1600" dirty="0"/>
              <a:t>256-bit </a:t>
            </a:r>
            <a:r>
              <a:rPr lang="ko-KR" altLang="en-US" sz="1600" dirty="0"/>
              <a:t>표준 출력을 생성하는 최적화 구조</a:t>
            </a:r>
            <a:r>
              <a:rPr lang="en-US" altLang="ko-KR" sz="1600" dirty="0"/>
              <a:t>(</a:t>
            </a:r>
            <a:r>
              <a:rPr lang="ko-KR" altLang="en-US" sz="1600" dirty="0"/>
              <a:t>기존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보다 회로 비용이 더 들더라도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사용 </a:t>
            </a:r>
            <a:r>
              <a:rPr lang="ko-KR" altLang="en-US" sz="1600" dirty="0" err="1"/>
              <a:t>소수체</a:t>
            </a:r>
            <a:r>
              <a:rPr lang="en-US" altLang="ko-KR" sz="1600" dirty="0"/>
              <a:t>(BN254, BLS12-381)</a:t>
            </a:r>
            <a:r>
              <a:rPr lang="ko-KR" altLang="en-US" sz="1600" dirty="0"/>
              <a:t>가 아닌 </a:t>
            </a:r>
            <a:r>
              <a:rPr lang="en-US" altLang="ko-KR" sz="1600" dirty="0"/>
              <a:t>Goldilocks </a:t>
            </a:r>
            <a:r>
              <a:rPr lang="ko-KR" altLang="en-US" sz="1600" dirty="0"/>
              <a:t>필드 기반의 </a:t>
            </a:r>
            <a:r>
              <a:rPr lang="en-US" altLang="ko-KR" sz="1600" dirty="0"/>
              <a:t>Serial </a:t>
            </a:r>
            <a:r>
              <a:rPr lang="ko-KR" altLang="en-US" sz="1600" dirty="0"/>
              <a:t>처리 </a:t>
            </a:r>
            <a:r>
              <a:rPr lang="ko-KR" altLang="en-US" sz="1600" dirty="0" err="1"/>
              <a:t>아키텍쳐</a:t>
            </a:r>
            <a:r>
              <a:rPr lang="ko-KR" altLang="en-US" sz="1600" dirty="0"/>
              <a:t> → 하드웨어 면적과 전력 소모 절감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Goal </a:t>
            </a:r>
            <a:r>
              <a:rPr lang="ko-KR" altLang="en-US" sz="1600" b="1" dirty="0"/>
              <a:t>설정 이유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Goldilocks </a:t>
            </a:r>
            <a:r>
              <a:rPr lang="ko-KR" altLang="en-US" sz="1600" dirty="0"/>
              <a:t>등 더 작은 소수체를 사용하는 이유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BN254</a:t>
            </a:r>
            <a:r>
              <a:rPr lang="ko-KR" altLang="en-US" sz="1600" dirty="0"/>
              <a:t>는 </a:t>
            </a:r>
            <a:r>
              <a:rPr lang="en-US" altLang="ko-KR" sz="1600" dirty="0"/>
              <a:t>256-bit </a:t>
            </a:r>
            <a:r>
              <a:rPr lang="ko-KR" altLang="en-US" sz="1600" dirty="0"/>
              <a:t>레지스터보다 작지만 </a:t>
            </a:r>
            <a:r>
              <a:rPr lang="ko-KR" altLang="en-US" sz="1600" dirty="0" err="1"/>
              <a:t>연산기</a:t>
            </a:r>
            <a:r>
              <a:rPr lang="ko-KR" altLang="en-US" sz="1600" dirty="0"/>
              <a:t> 크기는 큼</a:t>
            </a:r>
            <a:r>
              <a:rPr lang="en-US" altLang="ko-KR" sz="1600" dirty="0"/>
              <a:t>(256-bit </a:t>
            </a:r>
            <a:r>
              <a:rPr lang="ko-KR" altLang="en-US" sz="1600" dirty="0" err="1"/>
              <a:t>연산기</a:t>
            </a:r>
            <a:r>
              <a:rPr lang="en-US" altLang="ko-KR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Goldilocks</a:t>
            </a:r>
            <a:r>
              <a:rPr lang="ko-KR" altLang="en-US" sz="1600" dirty="0"/>
              <a:t>는 약 </a:t>
            </a:r>
            <a:r>
              <a:rPr lang="en-US" altLang="ko-KR" sz="1600" dirty="0"/>
              <a:t>64-bit </a:t>
            </a:r>
            <a:r>
              <a:rPr lang="ko-KR" altLang="en-US" sz="1600" dirty="0"/>
              <a:t>수준이어서 </a:t>
            </a:r>
            <a:r>
              <a:rPr lang="en-US" altLang="ko-KR" sz="1600" dirty="0"/>
              <a:t>Modular</a:t>
            </a:r>
            <a:r>
              <a:rPr lang="ko-KR" altLang="en-US" sz="1600" dirty="0"/>
              <a:t> 연산이 매우 빠름</a:t>
            </a:r>
            <a:r>
              <a:rPr lang="en-US" altLang="ko-KR" sz="1600" dirty="0"/>
              <a:t>(64-bit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연산기</a:t>
            </a:r>
            <a:r>
              <a:rPr lang="ko-KR" altLang="en-US" sz="1600" dirty="0"/>
              <a:t> 사용</a:t>
            </a:r>
            <a:r>
              <a:rPr lang="en-US" altLang="ko-KR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64-bit</a:t>
            </a:r>
            <a:r>
              <a:rPr lang="ko-KR" altLang="en-US" sz="1600" dirty="0"/>
              <a:t> 값을 넘어가는 경우 </a:t>
            </a:r>
            <a:r>
              <a:rPr lang="en-US" altLang="ko-KR" sz="1600" dirty="0"/>
              <a:t>Bit-Shift, Subtraction </a:t>
            </a:r>
            <a:r>
              <a:rPr lang="ko-KR" altLang="en-US" sz="1600" dirty="0"/>
              <a:t>연산만으로 처리 가능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Bit Shift, Bit Addition </a:t>
            </a:r>
            <a:r>
              <a:rPr lang="ko-KR" altLang="en-US" sz="1600" dirty="0"/>
              <a:t>연산만으로 </a:t>
            </a:r>
            <a:r>
              <a:rPr lang="en-US" altLang="ko-KR" sz="1600" dirty="0"/>
              <a:t>Modular </a:t>
            </a:r>
            <a:r>
              <a:rPr lang="ko-KR" altLang="en-US" sz="1600" dirty="0"/>
              <a:t>처리가 가능  → 하드웨어 복잡도 감소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Serial</a:t>
            </a:r>
            <a:r>
              <a:rPr lang="ko-KR" altLang="en-US" sz="1600" dirty="0"/>
              <a:t>한 처리 </a:t>
            </a:r>
            <a:r>
              <a:rPr lang="ko-KR" altLang="en-US" sz="1600" dirty="0" err="1"/>
              <a:t>아키텍쳐</a:t>
            </a:r>
            <a:r>
              <a:rPr lang="ko-KR" altLang="en-US" sz="1600" dirty="0"/>
              <a:t> 설계 이유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IoT </a:t>
            </a:r>
            <a:r>
              <a:rPr lang="ko-KR" altLang="en-US" sz="1600" dirty="0"/>
              <a:t>장치에서 가장 비싼 자원 </a:t>
            </a:r>
            <a:r>
              <a:rPr lang="en-US" altLang="ko-KR" sz="1600" dirty="0"/>
              <a:t>: Area, Leakage 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연산기</a:t>
            </a:r>
            <a:r>
              <a:rPr lang="ko-KR" altLang="en-US" sz="1600" dirty="0"/>
              <a:t> </a:t>
            </a:r>
            <a:r>
              <a:rPr lang="en-US" altLang="ko-KR" sz="1600" dirty="0"/>
              <a:t>1</a:t>
            </a:r>
            <a:r>
              <a:rPr lang="ko-KR" altLang="en-US" sz="1600" dirty="0"/>
              <a:t>개를 시분할</a:t>
            </a:r>
            <a:r>
              <a:rPr lang="en-US" altLang="ko-KR" sz="1600" dirty="0"/>
              <a:t>(Time-Sharing)</a:t>
            </a:r>
            <a:r>
              <a:rPr lang="ko-KR" altLang="en-US" sz="1600" dirty="0"/>
              <a:t>하여 재사용  → 에너지 소모 최소화 </a:t>
            </a:r>
            <a:r>
              <a:rPr lang="en-US" altLang="ko-KR" sz="1600" dirty="0"/>
              <a:t>O (</a:t>
            </a:r>
            <a:r>
              <a:rPr lang="ko-KR" altLang="en-US" sz="1600" dirty="0"/>
              <a:t>실시간 대용량 처리</a:t>
            </a:r>
            <a:r>
              <a:rPr lang="en-US" altLang="ko-KR" sz="1600" dirty="0"/>
              <a:t>X)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8052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FDEA-D28A-B3FE-C0F8-D2E7E001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4C714-F570-D3B3-75A5-CE8C3199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77FA37-FB66-CC87-F8A0-C349A8CC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596F4BF-04A2-6778-BE8B-D98F08C466A7}"/>
              </a:ext>
            </a:extLst>
          </p:cNvPr>
          <p:cNvGrpSpPr/>
          <p:nvPr/>
        </p:nvGrpSpPr>
        <p:grpSpPr>
          <a:xfrm>
            <a:off x="1850573" y="1759968"/>
            <a:ext cx="3043646" cy="972870"/>
            <a:chOff x="1628502" y="1759968"/>
            <a:chExt cx="3043646" cy="97287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12A8587-2A0B-BD7E-D67F-704AB187C0C6}"/>
                </a:ext>
              </a:extLst>
            </p:cNvPr>
            <p:cNvSpPr/>
            <p:nvPr/>
          </p:nvSpPr>
          <p:spPr>
            <a:xfrm>
              <a:off x="1628502" y="1759968"/>
              <a:ext cx="3043646" cy="972870"/>
            </a:xfrm>
            <a:prstGeom prst="rect">
              <a:avLst/>
            </a:prstGeom>
            <a:solidFill>
              <a:srgbClr val="DD802B"/>
            </a:solidFill>
            <a:ln>
              <a:solidFill>
                <a:srgbClr val="DD80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IoT </a:t>
              </a:r>
              <a:r>
                <a:rPr lang="ko-KR" altLang="en-US" b="1" dirty="0">
                  <a:solidFill>
                    <a:schemeClr val="tx1"/>
                  </a:solidFill>
                </a:rPr>
                <a:t>제한된 에너지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27EBE8-746D-EDE0-2879-5215AB14BF81}"/>
                </a:ext>
              </a:extLst>
            </p:cNvPr>
            <p:cNvSpPr/>
            <p:nvPr/>
          </p:nvSpPr>
          <p:spPr>
            <a:xfrm>
              <a:off x="1746068" y="1902823"/>
              <a:ext cx="2808514" cy="687161"/>
            </a:xfrm>
            <a:prstGeom prst="rect">
              <a:avLst/>
            </a:prstGeom>
            <a:solidFill>
              <a:srgbClr val="DD802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IoT </a:t>
              </a:r>
              <a:r>
                <a:rPr lang="ko-KR" altLang="en-US" b="1" dirty="0">
                  <a:solidFill>
                    <a:schemeClr val="tx1"/>
                  </a:solidFill>
                </a:rPr>
                <a:t>제한된 에너지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39F8E13-77BA-92E7-CC1A-55A04B95E875}"/>
              </a:ext>
            </a:extLst>
          </p:cNvPr>
          <p:cNvGrpSpPr/>
          <p:nvPr/>
        </p:nvGrpSpPr>
        <p:grpSpPr>
          <a:xfrm>
            <a:off x="1850573" y="3152293"/>
            <a:ext cx="3043646" cy="972870"/>
            <a:chOff x="1628502" y="1759968"/>
            <a:chExt cx="3043646" cy="97287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27D1777-1298-8B30-05A3-8D48B2B06A74}"/>
                </a:ext>
              </a:extLst>
            </p:cNvPr>
            <p:cNvSpPr/>
            <p:nvPr/>
          </p:nvSpPr>
          <p:spPr>
            <a:xfrm>
              <a:off x="1628502" y="1759968"/>
              <a:ext cx="3043646" cy="972870"/>
            </a:xfrm>
            <a:prstGeom prst="rect">
              <a:avLst/>
            </a:prstGeom>
            <a:solidFill>
              <a:srgbClr val="DD802B"/>
            </a:solidFill>
            <a:ln>
              <a:solidFill>
                <a:srgbClr val="DD80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IoT </a:t>
              </a:r>
              <a:r>
                <a:rPr lang="ko-KR" altLang="en-US" b="1" dirty="0">
                  <a:solidFill>
                    <a:schemeClr val="tx1"/>
                  </a:solidFill>
                </a:rPr>
                <a:t>제한된 에너지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6701B67-B87F-627F-EA2C-87B8796B9291}"/>
                </a:ext>
              </a:extLst>
            </p:cNvPr>
            <p:cNvSpPr/>
            <p:nvPr/>
          </p:nvSpPr>
          <p:spPr>
            <a:xfrm>
              <a:off x="1746068" y="1902823"/>
              <a:ext cx="2808514" cy="687161"/>
            </a:xfrm>
            <a:prstGeom prst="rect">
              <a:avLst/>
            </a:prstGeom>
            <a:solidFill>
              <a:srgbClr val="DD802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제한된 칩</a:t>
              </a:r>
              <a:r>
                <a:rPr lang="en-US" altLang="ko-KR" b="1" dirty="0">
                  <a:solidFill>
                    <a:schemeClr val="tx1"/>
                  </a:solidFill>
                </a:rPr>
                <a:t> </a:t>
              </a:r>
              <a:r>
                <a:rPr lang="ko-KR" altLang="en-US" b="1" dirty="0">
                  <a:solidFill>
                    <a:schemeClr val="tx1"/>
                  </a:solidFill>
                </a:rPr>
                <a:t>면적</a:t>
              </a:r>
              <a:r>
                <a:rPr lang="en-US" altLang="ko-KR" b="1" dirty="0">
                  <a:solidFill>
                    <a:schemeClr val="tx1"/>
                  </a:solidFill>
                </a:rPr>
                <a:t>/</a:t>
              </a:r>
              <a:r>
                <a:rPr lang="ko-KR" altLang="en-US" b="1" dirty="0">
                  <a:solidFill>
                    <a:schemeClr val="tx1"/>
                  </a:solidFill>
                </a:rPr>
                <a:t>비용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053432E-E417-EA8D-B4CA-FFAFC6C749A5}"/>
              </a:ext>
            </a:extLst>
          </p:cNvPr>
          <p:cNvGrpSpPr/>
          <p:nvPr/>
        </p:nvGrpSpPr>
        <p:grpSpPr>
          <a:xfrm>
            <a:off x="1850573" y="4544618"/>
            <a:ext cx="3043646" cy="972870"/>
            <a:chOff x="1628502" y="1759968"/>
            <a:chExt cx="3043646" cy="97287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BACC3FB-0D59-002E-5E19-D10155352D96}"/>
                </a:ext>
              </a:extLst>
            </p:cNvPr>
            <p:cNvSpPr/>
            <p:nvPr/>
          </p:nvSpPr>
          <p:spPr>
            <a:xfrm>
              <a:off x="1628502" y="1759968"/>
              <a:ext cx="3043646" cy="972870"/>
            </a:xfrm>
            <a:prstGeom prst="rect">
              <a:avLst/>
            </a:prstGeom>
            <a:solidFill>
              <a:srgbClr val="DD802B"/>
            </a:solidFill>
            <a:ln>
              <a:solidFill>
                <a:srgbClr val="DD80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IoT </a:t>
              </a:r>
              <a:r>
                <a:rPr lang="ko-KR" altLang="en-US" b="1" dirty="0">
                  <a:solidFill>
                    <a:schemeClr val="tx1"/>
                  </a:solidFill>
                </a:rPr>
                <a:t>제한된 에너지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2BB0853-D064-AF8E-2D84-1B68DE9835F6}"/>
                </a:ext>
              </a:extLst>
            </p:cNvPr>
            <p:cNvSpPr/>
            <p:nvPr/>
          </p:nvSpPr>
          <p:spPr>
            <a:xfrm>
              <a:off x="1746068" y="1902823"/>
              <a:ext cx="2808514" cy="687161"/>
            </a:xfrm>
            <a:prstGeom prst="rect">
              <a:avLst/>
            </a:prstGeom>
            <a:solidFill>
              <a:srgbClr val="DD802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인터페이스 호환성 문제</a:t>
              </a:r>
            </a:p>
          </p:txBody>
        </p:sp>
      </p:grp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CF8BA8B4-6045-566B-E7BC-858A8B1BDEBD}"/>
              </a:ext>
            </a:extLst>
          </p:cNvPr>
          <p:cNvSpPr/>
          <p:nvPr/>
        </p:nvSpPr>
        <p:spPr>
          <a:xfrm>
            <a:off x="5314409" y="2002971"/>
            <a:ext cx="836022" cy="4868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14FF688-91A9-5A19-118D-2D340102D677}"/>
              </a:ext>
            </a:extLst>
          </p:cNvPr>
          <p:cNvSpPr/>
          <p:nvPr/>
        </p:nvSpPr>
        <p:spPr>
          <a:xfrm>
            <a:off x="5314409" y="4787621"/>
            <a:ext cx="836022" cy="4868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2CED1C3-F525-371C-AAA7-8A2C5522B5FB}"/>
              </a:ext>
            </a:extLst>
          </p:cNvPr>
          <p:cNvSpPr/>
          <p:nvPr/>
        </p:nvSpPr>
        <p:spPr>
          <a:xfrm>
            <a:off x="5314409" y="3395296"/>
            <a:ext cx="836022" cy="4868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31E7A62-7FC0-C4F8-2F76-22E964D25DFB}"/>
              </a:ext>
            </a:extLst>
          </p:cNvPr>
          <p:cNvGrpSpPr/>
          <p:nvPr/>
        </p:nvGrpSpPr>
        <p:grpSpPr>
          <a:xfrm>
            <a:off x="6570620" y="1759969"/>
            <a:ext cx="3487782" cy="972870"/>
            <a:chOff x="6348549" y="1759969"/>
            <a:chExt cx="3487782" cy="972870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79303B4-993C-9EAD-3A6B-B5F0C61BFB02}"/>
                </a:ext>
              </a:extLst>
            </p:cNvPr>
            <p:cNvSpPr/>
            <p:nvPr/>
          </p:nvSpPr>
          <p:spPr>
            <a:xfrm>
              <a:off x="6348549" y="1759969"/>
              <a:ext cx="3487782" cy="972870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6D275BD-D9E9-8FB4-BF2D-06EA028043A6}"/>
                </a:ext>
              </a:extLst>
            </p:cNvPr>
            <p:cNvSpPr/>
            <p:nvPr/>
          </p:nvSpPr>
          <p:spPr>
            <a:xfrm>
              <a:off x="6496595" y="1880916"/>
              <a:ext cx="3202232" cy="726908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Goldilocks </a:t>
              </a:r>
              <a:r>
                <a:rPr lang="ko-KR" altLang="en-US" b="1" dirty="0">
                  <a:solidFill>
                    <a:schemeClr val="bg1"/>
                  </a:solidFill>
                </a:rPr>
                <a:t>사용</a:t>
              </a:r>
              <a:endParaRPr lang="en-US" altLang="ko-KR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(</a:t>
              </a:r>
              <a:r>
                <a:rPr lang="ko-KR" altLang="en-US" b="1" dirty="0">
                  <a:solidFill>
                    <a:schemeClr val="bg1"/>
                  </a:solidFill>
                </a:rPr>
                <a:t>낮은 연산 비용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7C1F500-3AA7-6FE9-7E3A-9F4574F7C0F4}"/>
              </a:ext>
            </a:extLst>
          </p:cNvPr>
          <p:cNvGrpSpPr/>
          <p:nvPr/>
        </p:nvGrpSpPr>
        <p:grpSpPr>
          <a:xfrm>
            <a:off x="6570620" y="3152293"/>
            <a:ext cx="3487782" cy="972870"/>
            <a:chOff x="6348549" y="3152293"/>
            <a:chExt cx="3487782" cy="97287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AA71733-BE1B-281D-95CD-E312374968E8}"/>
                </a:ext>
              </a:extLst>
            </p:cNvPr>
            <p:cNvSpPr/>
            <p:nvPr/>
          </p:nvSpPr>
          <p:spPr>
            <a:xfrm>
              <a:off x="6348549" y="3152293"/>
              <a:ext cx="3487782" cy="972870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3C2CF54E-DF97-A739-6406-19F410C11E0A}"/>
                </a:ext>
              </a:extLst>
            </p:cNvPr>
            <p:cNvSpPr/>
            <p:nvPr/>
          </p:nvSpPr>
          <p:spPr>
            <a:xfrm>
              <a:off x="6496595" y="3273240"/>
              <a:ext cx="3202232" cy="726908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Serial </a:t>
              </a:r>
              <a:r>
                <a:rPr lang="ko-KR" altLang="en-US" b="1" dirty="0">
                  <a:solidFill>
                    <a:schemeClr val="bg1"/>
                  </a:solidFill>
                </a:rPr>
                <a:t>처리</a:t>
              </a:r>
              <a:r>
                <a:rPr lang="en-US" altLang="ko-KR" b="1" dirty="0">
                  <a:solidFill>
                    <a:schemeClr val="bg1"/>
                  </a:solidFill>
                </a:rPr>
                <a:t>(</a:t>
              </a:r>
              <a:r>
                <a:rPr lang="ko-KR" altLang="en-US" b="1" dirty="0">
                  <a:solidFill>
                    <a:schemeClr val="bg1"/>
                  </a:solidFill>
                </a:rPr>
                <a:t>자원 재사용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0B4E745-6DC3-AD25-F72E-C8C515BCF800}"/>
              </a:ext>
            </a:extLst>
          </p:cNvPr>
          <p:cNvGrpSpPr/>
          <p:nvPr/>
        </p:nvGrpSpPr>
        <p:grpSpPr>
          <a:xfrm>
            <a:off x="6570620" y="4544618"/>
            <a:ext cx="3487782" cy="972870"/>
            <a:chOff x="6348549" y="4544618"/>
            <a:chExt cx="3487782" cy="97287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8B09A1C-A1CE-EC0A-2E53-229CD53A6510}"/>
                </a:ext>
              </a:extLst>
            </p:cNvPr>
            <p:cNvSpPr/>
            <p:nvPr/>
          </p:nvSpPr>
          <p:spPr>
            <a:xfrm>
              <a:off x="6348549" y="4544618"/>
              <a:ext cx="3487782" cy="972870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2AE51B4A-569C-032D-C11E-0684848BE62A}"/>
                </a:ext>
              </a:extLst>
            </p:cNvPr>
            <p:cNvSpPr/>
            <p:nvPr/>
          </p:nvSpPr>
          <p:spPr>
            <a:xfrm>
              <a:off x="6496595" y="4665565"/>
              <a:ext cx="3202232" cy="726908"/>
            </a:xfrm>
            <a:prstGeom prst="roundRect">
              <a:avLst>
                <a:gd name="adj" fmla="val 50000"/>
              </a:avLst>
            </a:prstGeom>
            <a:solidFill>
              <a:srgbClr val="002C6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256-bit </a:t>
              </a:r>
              <a:r>
                <a:rPr lang="ko-KR" altLang="en-US" b="1" dirty="0">
                  <a:solidFill>
                    <a:schemeClr val="bg1"/>
                  </a:solidFill>
                </a:rPr>
                <a:t>표준 출력 설계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08F49FE-BE0C-6F8C-BB9E-4829F438A7C7}"/>
              </a:ext>
            </a:extLst>
          </p:cNvPr>
          <p:cNvSpPr txBox="1"/>
          <p:nvPr/>
        </p:nvSpPr>
        <p:spPr>
          <a:xfrm>
            <a:off x="4582887" y="5931742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Problem – Solution Matching</a:t>
            </a:r>
          </a:p>
        </p:txBody>
      </p:sp>
    </p:spTree>
    <p:extLst>
      <p:ext uri="{BB962C8B-B14F-4D97-AF65-F5344CB8AC3E}">
        <p14:creationId xmlns:p14="http://schemas.microsoft.com/office/powerpoint/2010/main" val="317262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DC7D-094D-E0FE-9A9F-CAED7674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4E5E9-EF16-450E-BBB9-F71DBC87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Background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5D1660-98B0-58FB-12EB-DF515365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070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9026-6C5E-78BF-40EB-B82C492F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폰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D16FC7-DC28-550B-4699-EE47279B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08" y="4223934"/>
            <a:ext cx="5252921" cy="213241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DB2D85-4103-0495-DE4B-A85C7C27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Background – </a:t>
            </a:r>
            <a:r>
              <a:rPr lang="en-US" altLang="ko-KR" dirty="0" err="1"/>
              <a:t>zkp</a:t>
            </a:r>
            <a:r>
              <a:rPr lang="en-US" altLang="ko-KR" dirty="0"/>
              <a:t>(zero-</a:t>
            </a:r>
            <a:r>
              <a:rPr lang="en-US" altLang="ko-KR" dirty="0" err="1"/>
              <a:t>knowledgement</a:t>
            </a:r>
            <a:r>
              <a:rPr lang="en-US" altLang="ko-KR" dirty="0"/>
              <a:t> proof)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EB8E8-0716-44A1-794A-2D13B404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634D0-A593-A860-1B22-BE64A7BE833D}"/>
              </a:ext>
            </a:extLst>
          </p:cNvPr>
          <p:cNvSpPr txBox="1"/>
          <p:nvPr/>
        </p:nvSpPr>
        <p:spPr>
          <a:xfrm>
            <a:off x="710201" y="1138431"/>
            <a:ext cx="1055024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영지식</a:t>
            </a:r>
            <a:r>
              <a:rPr lang="ko-KR" altLang="en-US" b="1" dirty="0"/>
              <a:t> 증명</a:t>
            </a:r>
            <a:r>
              <a:rPr lang="en-US" altLang="ko-KR" b="1" dirty="0"/>
              <a:t>(Zero-</a:t>
            </a:r>
            <a:r>
              <a:rPr lang="en-US" altLang="ko-KR" b="1" dirty="0" err="1"/>
              <a:t>Knowledgement</a:t>
            </a:r>
            <a:r>
              <a:rPr lang="en-US" altLang="ko-KR" b="1" dirty="0"/>
              <a:t> Proof, ZKP)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 err="1"/>
              <a:t>증명자</a:t>
            </a:r>
            <a:r>
              <a:rPr lang="en-US" altLang="ko-KR" sz="1600" dirty="0"/>
              <a:t>(Prover)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검증자</a:t>
            </a:r>
            <a:r>
              <a:rPr lang="en-US" altLang="ko-KR" sz="1600" dirty="0"/>
              <a:t>(Verifier)</a:t>
            </a:r>
            <a:r>
              <a:rPr lang="ko-KR" altLang="en-US" sz="1600" dirty="0"/>
              <a:t>에게 어떤 문장이 참이라는 사실 외에는</a:t>
            </a:r>
            <a:r>
              <a:rPr lang="en-US" altLang="ko-KR" sz="1600" dirty="0"/>
              <a:t>, </a:t>
            </a:r>
            <a:r>
              <a:rPr lang="ko-KR" altLang="en-US" sz="1600" dirty="0"/>
              <a:t>그 문장의 참 거짓을 판단할 수 있는 </a:t>
            </a:r>
            <a:r>
              <a:rPr lang="ko-KR" altLang="en-US" sz="1600" b="1" dirty="0"/>
              <a:t>어떠한 정보도 노출하지 않고</a:t>
            </a:r>
            <a:r>
              <a:rPr lang="ko-KR" altLang="en-US" sz="1600" dirty="0"/>
              <a:t> 설득하는 암호학적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 err="1"/>
              <a:t>영지식</a:t>
            </a:r>
            <a:r>
              <a:rPr lang="ko-KR" altLang="en-US" sz="1600" dirty="0"/>
              <a:t> 증명을 사용하는 이유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프라이버시 보호 </a:t>
            </a:r>
            <a:r>
              <a:rPr lang="en-US" altLang="ko-KR" sz="1600" dirty="0"/>
              <a:t>: </a:t>
            </a:r>
            <a:r>
              <a:rPr lang="ko-KR" altLang="en-US" sz="1600" dirty="0"/>
              <a:t>공공 블록체인에서 결제 시</a:t>
            </a:r>
            <a:r>
              <a:rPr lang="en-US" altLang="ko-KR" sz="1600" dirty="0"/>
              <a:t>, </a:t>
            </a:r>
            <a:r>
              <a:rPr lang="ko-KR" altLang="en-US" sz="1600" dirty="0"/>
              <a:t>기기의 지갑 잔액</a:t>
            </a:r>
            <a:r>
              <a:rPr lang="en-US" altLang="ko-KR" sz="1600" dirty="0"/>
              <a:t>, </a:t>
            </a:r>
            <a:r>
              <a:rPr lang="ko-KR" altLang="en-US" sz="1600" dirty="0"/>
              <a:t>거래 이력 및 장치 위치 정보 등 노출 방지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무결성 및 신뢰성 </a:t>
            </a:r>
            <a:r>
              <a:rPr lang="en-US" altLang="ko-KR" sz="1600" dirty="0"/>
              <a:t>: P2P(Peer-to-Peer) </a:t>
            </a:r>
            <a:r>
              <a:rPr lang="ko-KR" altLang="en-US" sz="1600" dirty="0"/>
              <a:t>경제에서 정당한 권한의 유무를 수학적으로 확신 가능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연산 효율성 </a:t>
            </a:r>
            <a:r>
              <a:rPr lang="en-US" altLang="ko-KR" sz="1600" dirty="0"/>
              <a:t>: </a:t>
            </a:r>
            <a:r>
              <a:rPr lang="ko-KR" altLang="en-US" sz="1600" dirty="0"/>
              <a:t>검증자가 복잡한 전체 데이터를 다시 계산할 필요</a:t>
            </a:r>
            <a:r>
              <a:rPr lang="en-US" altLang="ko-KR" sz="1600" dirty="0"/>
              <a:t>X, </a:t>
            </a:r>
            <a:r>
              <a:rPr lang="ko-KR" altLang="en-US" sz="1600" dirty="0"/>
              <a:t>생성된 짧은 증명 값만 확인 → </a:t>
            </a:r>
            <a:r>
              <a:rPr lang="ko-KR" altLang="en-US" sz="1600" dirty="0" err="1"/>
              <a:t>저사양</a:t>
            </a:r>
            <a:r>
              <a:rPr lang="ko-KR" altLang="en-US" sz="1600" dirty="0"/>
              <a:t> 기기 간 빠른 검증 가능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특징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완전성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건전성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영지식성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309C0-F918-2175-EADF-0F6D943A3CBE}"/>
              </a:ext>
            </a:extLst>
          </p:cNvPr>
          <p:cNvSpPr txBox="1"/>
          <p:nvPr/>
        </p:nvSpPr>
        <p:spPr>
          <a:xfrm>
            <a:off x="5290862" y="6303616"/>
            <a:ext cx="1780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영지식</a:t>
            </a:r>
            <a:r>
              <a:rPr lang="ko-KR" altLang="en-US" sz="1400" dirty="0"/>
              <a:t> 증명 설명 예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9205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479E-3F1E-4269-BBEC-809F7C83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19631-9FE7-18A4-2265-200A429D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Background – ZK-SNARK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55D22-4665-59CD-150E-68840265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85E4FF-1B0E-406F-5AF5-429F48BDAD55}"/>
                  </a:ext>
                </a:extLst>
              </p:cNvPr>
              <p:cNvSpPr txBox="1"/>
              <p:nvPr/>
            </p:nvSpPr>
            <p:spPr>
              <a:xfrm>
                <a:off x="1271637" y="1162141"/>
                <a:ext cx="9634488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ZK-SNARK(Zero-Knowledge Succinct Non-Interactive Argument of Knowledge)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특정 정보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예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비밀 키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를 소유하고 있음을 해당 정보를 공개하지 않고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증명자와 </a:t>
                </a:r>
                <a:r>
                  <a:rPr lang="ko-KR" altLang="en-US" sz="1600" dirty="0" err="1"/>
                  <a:t>검증자</a:t>
                </a:r>
                <a:r>
                  <a:rPr lang="ko-KR" altLang="en-US" sz="1600" dirty="0"/>
                  <a:t> 간의 상호 작용 없이 증명할 수 있는 증명 방식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dirty="0"/>
                  <a:t>&lt;</a:t>
                </a:r>
                <a:r>
                  <a:rPr lang="ko-KR" altLang="en-US" sz="1600" dirty="0"/>
                  <a:t>작동 원리</a:t>
                </a:r>
                <a:r>
                  <a:rPr lang="en-US" altLang="ko-KR" sz="1600" dirty="0"/>
                  <a:t>&gt;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Setup : </a:t>
                </a:r>
                <a:r>
                  <a:rPr lang="ko-KR" altLang="en-US" sz="1600" dirty="0"/>
                  <a:t>증명과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검증에 필요한 공통 파라미터 생성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Prove : </a:t>
                </a:r>
                <a:r>
                  <a:rPr lang="ko-KR" altLang="en-US" sz="1600" dirty="0"/>
                  <a:t>증명자가 본인의 데이터와 연산 과정을 섞어 증명 생성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Verify : </a:t>
                </a:r>
                <a:r>
                  <a:rPr lang="ko-KR" altLang="en-US" sz="1600" dirty="0"/>
                  <a:t>검증자가 증명 값만 보고 승인 여부 결정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ZK-SNARK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연산 과정을 산술 회로로 변환하여 처리하는데</a:t>
                </a:r>
                <a:r>
                  <a:rPr lang="en-US" altLang="ko-KR" sz="1600" dirty="0"/>
                  <a:t>, Poseidon</a:t>
                </a:r>
                <a:r>
                  <a:rPr lang="ko-KR" altLang="en-US" sz="1600" dirty="0"/>
                  <a:t>은 필드 연산 기반으로 설계되어 회로 크기가 일반 해시함수</a:t>
                </a:r>
                <a:r>
                  <a:rPr lang="en-US" altLang="ko-KR" sz="1600" dirty="0"/>
                  <a:t>(SHA-256 </a:t>
                </a:r>
                <a:r>
                  <a:rPr lang="ko-KR" altLang="en-US" sz="1600" dirty="0"/>
                  <a:t>등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보다 매우 작음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85E4FF-1B0E-406F-5AF5-429F48BDA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637" y="1162141"/>
                <a:ext cx="9634488" cy="3077766"/>
              </a:xfrm>
              <a:prstGeom prst="rect">
                <a:avLst/>
              </a:prstGeom>
              <a:blipFill>
                <a:blip r:embed="rId3"/>
                <a:stretch>
                  <a:fillRect l="-570" t="-1188" b="-15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8260DEF-615A-9A26-2D29-57EB82C0E8A8}"/>
              </a:ext>
            </a:extLst>
          </p:cNvPr>
          <p:cNvSpPr txBox="1"/>
          <p:nvPr/>
        </p:nvSpPr>
        <p:spPr>
          <a:xfrm>
            <a:off x="2611691" y="6367137"/>
            <a:ext cx="1347330" cy="31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zk</a:t>
            </a:r>
            <a:r>
              <a:rPr lang="en-US" altLang="ko-KR" sz="1400" dirty="0"/>
              <a:t>-snark </a:t>
            </a:r>
            <a:r>
              <a:rPr lang="ko-KR" altLang="en-US" sz="1400" dirty="0"/>
              <a:t>설명</a:t>
            </a:r>
            <a:endParaRPr lang="en-US" altLang="ko-KR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BAA1D8-EDBA-CD50-6262-A48FCB666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704" y="4382645"/>
            <a:ext cx="3411305" cy="194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E8CADD0-AC01-4246-13D5-382727A6D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549445"/>
              </p:ext>
            </p:extLst>
          </p:nvPr>
        </p:nvGraphicFramePr>
        <p:xfrm>
          <a:off x="5486400" y="5046464"/>
          <a:ext cx="6100355" cy="81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37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428206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428206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428206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404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</a:t>
                      </a:r>
                      <a:r>
                        <a:rPr lang="en-US" altLang="ko-KR" sz="1200" dirty="0"/>
                        <a:t>(R1CS)</a:t>
                      </a:r>
                      <a:r>
                        <a:rPr lang="ko-KR" altLang="en-US" sz="1200" dirty="0"/>
                        <a:t> 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단위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개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193,536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4BE20A1-C366-4413-319F-6EEBECEA707F}"/>
              </a:ext>
            </a:extLst>
          </p:cNvPr>
          <p:cNvSpPr txBox="1"/>
          <p:nvPr/>
        </p:nvSpPr>
        <p:spPr>
          <a:xfrm>
            <a:off x="8232980" y="6172980"/>
            <a:ext cx="1081559" cy="31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R1CS</a:t>
            </a:r>
            <a:r>
              <a:rPr lang="ko-KR" altLang="en-US" sz="1400" dirty="0"/>
              <a:t> 비교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88110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F0F08-1071-4C2A-0419-B3837446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15315-1EE5-6B21-FA29-62879106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Background - poseidon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61B76-461D-1BCD-B994-E60B42F1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C1CE5-8073-4029-7E29-8DAF9A55C9C6}"/>
              </a:ext>
            </a:extLst>
          </p:cNvPr>
          <p:cNvSpPr txBox="1"/>
          <p:nvPr/>
        </p:nvSpPr>
        <p:spPr>
          <a:xfrm>
            <a:off x="971190" y="1488350"/>
            <a:ext cx="106155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 Hash Function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ZK-SNARK</a:t>
            </a:r>
            <a:r>
              <a:rPr lang="ko-KR" altLang="en-US" sz="1600" dirty="0"/>
              <a:t>와 같은 산술 회로</a:t>
            </a:r>
            <a:r>
              <a:rPr lang="en-US" altLang="ko-KR" sz="1600" dirty="0"/>
              <a:t>(Arithmetic Circuit) </a:t>
            </a:r>
            <a:r>
              <a:rPr lang="ko-KR" altLang="en-US" sz="1600" dirty="0"/>
              <a:t>내에서 연산 효율성을 극대화하기 위해 설계된 산술적 해시 함수</a:t>
            </a:r>
            <a:r>
              <a:rPr lang="en-US" altLang="ko-KR" sz="1600" dirty="0"/>
              <a:t>(Arithmetic Hash Function)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주로 </a:t>
            </a:r>
            <a:r>
              <a:rPr lang="en-US" altLang="ko-KR" sz="1600" dirty="0"/>
              <a:t>BN254</a:t>
            </a:r>
            <a:r>
              <a:rPr lang="ko-KR" altLang="en-US" sz="1600" dirty="0"/>
              <a:t>나 </a:t>
            </a:r>
            <a:r>
              <a:rPr lang="en-US" altLang="ko-KR" sz="1600" dirty="0"/>
              <a:t>BLS12-381</a:t>
            </a:r>
            <a:r>
              <a:rPr lang="ko-KR" altLang="en-US" sz="1600" dirty="0"/>
              <a:t>과 같은 타원 곡선 소수 필드를 사용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소수 필드</a:t>
            </a:r>
            <a:r>
              <a:rPr lang="en-US" altLang="ko-KR" sz="1600" dirty="0"/>
              <a:t>(Prime Field) </a:t>
            </a:r>
            <a:r>
              <a:rPr lang="ko-KR" altLang="en-US" sz="1600" dirty="0"/>
              <a:t>위에서 직접 곱셈과 덧셈을 수행하여 연산 오버헤드 감소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필드</a:t>
            </a:r>
            <a:r>
              <a:rPr lang="en-US" altLang="ko-KR" sz="1600" dirty="0"/>
              <a:t>(BN254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의 크기가 약 </a:t>
            </a:r>
            <a:r>
              <a:rPr lang="en-US" altLang="ko-KR" sz="1600" dirty="0"/>
              <a:t>254-bit</a:t>
            </a:r>
            <a:r>
              <a:rPr lang="ko-KR" altLang="en-US" sz="1600" dirty="0"/>
              <a:t>로</a:t>
            </a:r>
            <a:r>
              <a:rPr lang="en-US" altLang="ko-KR" sz="1600" dirty="0"/>
              <a:t>, output</a:t>
            </a:r>
            <a:r>
              <a:rPr lang="ko-KR" altLang="en-US" sz="1600" dirty="0"/>
              <a:t>이 </a:t>
            </a:r>
            <a:r>
              <a:rPr lang="en-US" altLang="ko-KR" sz="1600" dirty="0"/>
              <a:t>254-bit </a:t>
            </a:r>
            <a:r>
              <a:rPr lang="ko-KR" altLang="en-US" sz="1600" dirty="0"/>
              <a:t>수준에 </a:t>
            </a:r>
            <a:r>
              <a:rPr lang="ko-KR" altLang="en-US" sz="1600" dirty="0" err="1"/>
              <a:t>머뭄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호환성 문제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이더리움</a:t>
            </a:r>
            <a:r>
              <a:rPr lang="ko-KR" altLang="en-US" sz="1600" dirty="0"/>
              <a:t> 등 주요 블록체인 인프라와 금융망 인프라 모두 </a:t>
            </a:r>
            <a:r>
              <a:rPr lang="en-US" altLang="ko-KR" sz="1600" dirty="0"/>
              <a:t>256-bit </a:t>
            </a:r>
            <a:r>
              <a:rPr lang="ko-KR" altLang="en-US" sz="1600" dirty="0"/>
              <a:t>단위 처리에 최적화</a:t>
            </a:r>
            <a:r>
              <a:rPr lang="en-US" altLang="ko-KR" sz="1600" dirty="0"/>
              <a:t>(256-bit </a:t>
            </a:r>
            <a:r>
              <a:rPr lang="ko-KR" altLang="en-US" sz="1600" dirty="0"/>
              <a:t>출력이 아닌 경우 추가적인 </a:t>
            </a:r>
            <a:r>
              <a:rPr lang="en-US" altLang="ko-KR" sz="1600" dirty="0"/>
              <a:t>data processing </a:t>
            </a:r>
            <a:r>
              <a:rPr lang="ko-KR" altLang="en-US" sz="1600" dirty="0"/>
              <a:t>과정이 필요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</a:t>
            </a:r>
            <a:r>
              <a:rPr lang="ko-KR" altLang="en-US" sz="1600" dirty="0"/>
              <a:t>데이터를 </a:t>
            </a:r>
            <a:r>
              <a:rPr lang="en-US" altLang="ko-KR" sz="1600" dirty="0"/>
              <a:t>256-bit </a:t>
            </a:r>
            <a:r>
              <a:rPr lang="ko-KR" altLang="en-US" sz="1600" dirty="0"/>
              <a:t>규격에 맞추기 위해 남는 공간을 </a:t>
            </a:r>
            <a:r>
              <a:rPr lang="en-US" altLang="ko-KR" sz="1600" dirty="0"/>
              <a:t>0</a:t>
            </a:r>
            <a:r>
              <a:rPr lang="ko-KR" altLang="en-US" sz="1600" dirty="0"/>
              <a:t>으로 채우는 </a:t>
            </a:r>
            <a:r>
              <a:rPr lang="en-US" altLang="ko-KR" sz="1600" dirty="0"/>
              <a:t>Zero-padding</a:t>
            </a:r>
            <a:r>
              <a:rPr lang="ko-KR" altLang="en-US" sz="1600" dirty="0"/>
              <a:t>을 주로 사용</a:t>
            </a:r>
            <a:endParaRPr lang="en-US" altLang="ko-KR" sz="16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8025FA-02F1-D5E7-0146-A58CCB66490F}"/>
              </a:ext>
            </a:extLst>
          </p:cNvPr>
          <p:cNvGrpSpPr/>
          <p:nvPr/>
        </p:nvGrpSpPr>
        <p:grpSpPr>
          <a:xfrm>
            <a:off x="3701635" y="4551937"/>
            <a:ext cx="4459250" cy="1992382"/>
            <a:chOff x="3701635" y="4551937"/>
            <a:chExt cx="4459250" cy="199238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751FC04-14E4-6E4E-5E8A-DF5878323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635" y="4551937"/>
              <a:ext cx="4459250" cy="168460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EE9AA2-62FD-8B8F-9C83-25B135229487}"/>
                </a:ext>
              </a:extLst>
            </p:cNvPr>
            <p:cNvSpPr txBox="1"/>
            <p:nvPr/>
          </p:nvSpPr>
          <p:spPr>
            <a:xfrm>
              <a:off x="4766141" y="6236542"/>
              <a:ext cx="2330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Poseidon</a:t>
              </a:r>
              <a:r>
                <a:rPr lang="ko-KR" altLang="en-US" sz="1400" dirty="0"/>
                <a:t>의 </a:t>
              </a:r>
              <a:r>
                <a:rPr lang="en-US" altLang="ko-KR" sz="1400" dirty="0"/>
                <a:t>Sponge </a:t>
              </a:r>
              <a:r>
                <a:rPr lang="ko-KR" altLang="en-US" sz="1400" dirty="0"/>
                <a:t>구조</a:t>
              </a:r>
              <a:endParaRPr lang="en-US" altLang="ko-K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104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0EF9-736F-D3D5-3195-B0019363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52CDA-BE9E-4DDD-C7EC-E33C25D9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Related Works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67907-1CD6-ED09-0E16-B5D0A753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B3D4-6D3D-AF1B-7EDA-C6BF9041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693E7-F1D2-0933-CDBE-D2083521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Related Works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003569-FD93-EB75-3446-C5C3D204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BE450-B55F-E43B-10EE-DDDF890F4872}"/>
              </a:ext>
            </a:extLst>
          </p:cNvPr>
          <p:cNvSpPr txBox="1"/>
          <p:nvPr/>
        </p:nvSpPr>
        <p:spPr>
          <a:xfrm>
            <a:off x="1271637" y="1632041"/>
            <a:ext cx="1041236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ZK-Friendly Hash Function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Griffin/Neptune </a:t>
            </a:r>
            <a:r>
              <a:rPr lang="ko-KR" altLang="en-US" sz="1600" dirty="0"/>
              <a:t>등 </a:t>
            </a:r>
            <a:r>
              <a:rPr lang="en-US" altLang="ko-KR" sz="1600" dirty="0"/>
              <a:t>Poseidon</a:t>
            </a:r>
            <a:r>
              <a:rPr lang="ko-KR" altLang="en-US" sz="1600" dirty="0"/>
              <a:t>의 후속 연구로 공개되어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더 적은 라운드 수로 보안성 확보 시도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Rescue-Prime </a:t>
            </a:r>
            <a:r>
              <a:rPr lang="ko-KR" altLang="en-US" sz="1600" dirty="0"/>
              <a:t>또한 </a:t>
            </a:r>
            <a:r>
              <a:rPr lang="en-US" altLang="ko-KR" sz="1600" dirty="0"/>
              <a:t>Poseidon</a:t>
            </a:r>
            <a:r>
              <a:rPr lang="ko-KR" altLang="en-US" sz="1600" dirty="0"/>
              <a:t>과 유사하게 산술 회로에 최적화된 해시함수</a:t>
            </a:r>
            <a:r>
              <a:rPr lang="en-US" altLang="ko-KR" sz="1600" dirty="0"/>
              <a:t>. Rescue-Prime</a:t>
            </a:r>
            <a:r>
              <a:rPr lang="ko-KR" altLang="en-US" sz="1600" dirty="0"/>
              <a:t>은 해시함수를 구성하는 연산 중에 지수 연산이 포함되어 있고</a:t>
            </a:r>
            <a:r>
              <a:rPr lang="en-US" altLang="ko-KR" sz="1600" dirty="0"/>
              <a:t>,</a:t>
            </a:r>
            <a:r>
              <a:rPr lang="ko-KR" altLang="en-US" sz="1600" dirty="0"/>
              <a:t> 그 복잡도로 인하여 </a:t>
            </a:r>
            <a:r>
              <a:rPr lang="en-US" altLang="ko-KR" sz="1600" dirty="0"/>
              <a:t>Poseidon </a:t>
            </a:r>
            <a:r>
              <a:rPr lang="ko-KR" altLang="en-US" sz="1600" dirty="0"/>
              <a:t>보다 더 많은 면적 차지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b="1" dirty="0"/>
              <a:t>FPGA/ASIC </a:t>
            </a:r>
            <a:r>
              <a:rPr lang="ko-KR" altLang="en-US" b="1" dirty="0"/>
              <a:t>기반 </a:t>
            </a:r>
            <a:r>
              <a:rPr lang="en-US" altLang="ko-KR" b="1" dirty="0"/>
              <a:t>ZK </a:t>
            </a:r>
            <a:r>
              <a:rPr lang="ko-KR" altLang="en-US" b="1" dirty="0"/>
              <a:t>가속기 연구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MSM/NTT </a:t>
            </a:r>
            <a:r>
              <a:rPr lang="ko-KR" altLang="en-US" sz="1600" dirty="0"/>
              <a:t>가속기 </a:t>
            </a:r>
            <a:r>
              <a:rPr lang="en-US" altLang="ko-KR" sz="1600" dirty="0"/>
              <a:t>: ZKP</a:t>
            </a:r>
            <a:r>
              <a:rPr lang="ko-KR" altLang="en-US" sz="1600" dirty="0"/>
              <a:t>의 핵심 연산인 </a:t>
            </a:r>
            <a:r>
              <a:rPr lang="en-US" altLang="ko-KR" sz="1600" dirty="0"/>
              <a:t>Multi-Scalar Multiplication(MSM)</a:t>
            </a:r>
            <a:r>
              <a:rPr lang="ko-KR" altLang="en-US" sz="1600" dirty="0"/>
              <a:t>과 </a:t>
            </a:r>
            <a:r>
              <a:rPr lang="en-US" altLang="ko-KR" sz="1600" dirty="0"/>
              <a:t>Number Theoretic Transform(NTT)</a:t>
            </a:r>
            <a:r>
              <a:rPr lang="ko-KR" altLang="en-US" sz="1600" dirty="0"/>
              <a:t>을 </a:t>
            </a:r>
            <a:r>
              <a:rPr lang="en-US" altLang="ko-KR" sz="1600" dirty="0"/>
              <a:t>FPGA</a:t>
            </a:r>
            <a:r>
              <a:rPr lang="ko-KR" altLang="en-US" sz="1600" dirty="0"/>
              <a:t>로 구현한 연구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 </a:t>
            </a:r>
            <a:r>
              <a:rPr lang="ko-KR" altLang="en-US" sz="1600" dirty="0"/>
              <a:t>하드웨어 구현</a:t>
            </a:r>
            <a:r>
              <a:rPr lang="en-US" altLang="ko-KR" sz="1600" dirty="0"/>
              <a:t>: </a:t>
            </a:r>
            <a:r>
              <a:rPr lang="ko-KR" altLang="en-US" sz="1600" dirty="0"/>
              <a:t>기존 연구들은 주로 병렬</a:t>
            </a:r>
            <a:r>
              <a:rPr lang="en-US" altLang="ko-KR" sz="1600" dirty="0"/>
              <a:t>(Parallel) </a:t>
            </a:r>
            <a:r>
              <a:rPr lang="ko-KR" altLang="en-US" sz="1600" dirty="0"/>
              <a:t>구조를 채택하여 높은 처리량</a:t>
            </a:r>
            <a:r>
              <a:rPr lang="en-US" altLang="ko-KR" sz="1600" dirty="0"/>
              <a:t>(Throughput)</a:t>
            </a:r>
            <a:r>
              <a:rPr lang="ko-KR" altLang="en-US" sz="1600" dirty="0"/>
              <a:t>을 목표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b="1" dirty="0"/>
              <a:t>작은 소수 필드</a:t>
            </a:r>
            <a:r>
              <a:rPr lang="en-US" altLang="ko-KR" b="1" dirty="0"/>
              <a:t> </a:t>
            </a:r>
            <a:r>
              <a:rPr lang="ko-KR" altLang="en-US" b="1" dirty="0"/>
              <a:t>최적화 연구 </a:t>
            </a:r>
            <a:r>
              <a:rPr lang="en-US" altLang="ko-KR" b="1" dirty="0"/>
              <a:t>(Goldilocks &amp; Plonky)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Plonky2/3 :</a:t>
            </a:r>
            <a:r>
              <a:rPr lang="ko-KR" altLang="en-US" sz="1600" dirty="0"/>
              <a:t> </a:t>
            </a:r>
            <a:r>
              <a:rPr lang="en-US" altLang="ko-KR" sz="1600" dirty="0"/>
              <a:t>64-bit </a:t>
            </a:r>
            <a:r>
              <a:rPr lang="ko-KR" altLang="en-US" sz="1600" dirty="0"/>
              <a:t>필드인 </a:t>
            </a:r>
            <a:r>
              <a:rPr lang="en-US" altLang="ko-KR" sz="1600" dirty="0"/>
              <a:t>Goldilocks</a:t>
            </a:r>
            <a:r>
              <a:rPr lang="ko-KR" altLang="en-US" sz="1600" dirty="0"/>
              <a:t>를 도입하여 재귀적 증명</a:t>
            </a:r>
            <a:r>
              <a:rPr lang="en-US" altLang="ko-KR" sz="1600" dirty="0"/>
              <a:t>(Recursive Proof) </a:t>
            </a:r>
            <a:r>
              <a:rPr lang="ko-KR" altLang="en-US" sz="1600" dirty="0"/>
              <a:t>속도 개선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64-bit </a:t>
            </a:r>
            <a:r>
              <a:rPr lang="ko-KR" altLang="en-US" sz="1600" dirty="0"/>
              <a:t>연산은 현대 </a:t>
            </a:r>
            <a:r>
              <a:rPr lang="en-US" altLang="ko-KR" sz="1600" dirty="0"/>
              <a:t>CPU/GPU/FPGA</a:t>
            </a:r>
            <a:r>
              <a:rPr lang="ko-KR" altLang="en-US" sz="1600" dirty="0"/>
              <a:t>의 기본 연산 단위와 일치하여 구현 용이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83958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5493-2910-DBF1-CD1A-9D5A9626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192C3-A59F-5496-1FC5-30B26CA0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Poseidon Solution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407393-8E5C-B8E4-F2F0-A9D7AB75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5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5E6-22BF-BD72-A1D9-A9BE186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35C-E025-106A-8A79-3A83656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32BC0-F81B-000A-938E-C6F46A69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24DDF-0DEF-9B39-756D-82FD3AA968A8}"/>
              </a:ext>
            </a:extLst>
          </p:cNvPr>
          <p:cNvSpPr txBox="1"/>
          <p:nvPr/>
        </p:nvSpPr>
        <p:spPr>
          <a:xfrm>
            <a:off x="1271637" y="1632041"/>
            <a:ext cx="866484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내부의 연산을 </a:t>
            </a:r>
            <a:r>
              <a:rPr lang="en-US" altLang="ko-KR" sz="1600" dirty="0"/>
              <a:t>serial </a:t>
            </a:r>
            <a:r>
              <a:rPr lang="ko-KR" altLang="en-US" sz="1600" dirty="0"/>
              <a:t>하게 진행</a:t>
            </a:r>
            <a:r>
              <a:rPr lang="en-US" altLang="ko-KR" sz="1600" dirty="0"/>
              <a:t>(Resource-Folding </a:t>
            </a:r>
            <a:r>
              <a:rPr lang="ko-KR" altLang="en-US" sz="1600" dirty="0"/>
              <a:t>전략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state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state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마지막 </a:t>
            </a:r>
            <a:r>
              <a:rPr lang="en-US" altLang="ko-KR" sz="1600" dirty="0"/>
              <a:t>state(s7)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72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추가 방법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회로나 연산 블록을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/4</a:t>
            </a:r>
            <a:r>
              <a:rPr lang="ko-KR" altLang="en-US" sz="1600" dirty="0"/>
              <a:t>개를 만들어 병렬 처리 고려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Round </a:t>
            </a:r>
            <a:r>
              <a:rPr lang="ko-KR" altLang="en-US" sz="1600" dirty="0"/>
              <a:t>상수 처리</a:t>
            </a:r>
            <a:r>
              <a:rPr lang="en-US" altLang="ko-KR" sz="1600" dirty="0"/>
              <a:t>(Grain</a:t>
            </a:r>
            <a:r>
              <a:rPr lang="ko-KR" altLang="en-US" sz="1600" dirty="0"/>
              <a:t> </a:t>
            </a:r>
            <a:r>
              <a:rPr lang="en-US" altLang="ko-KR" sz="1600" dirty="0"/>
              <a:t>LFSR </a:t>
            </a:r>
            <a:r>
              <a:rPr lang="ko-KR" altLang="en-US" sz="1600" dirty="0"/>
              <a:t>기반 </a:t>
            </a:r>
            <a:r>
              <a:rPr lang="en-US" altLang="ko-KR" sz="1600" dirty="0"/>
              <a:t>pre-fetching)</a:t>
            </a:r>
          </a:p>
        </p:txBody>
      </p:sp>
    </p:spTree>
    <p:extLst>
      <p:ext uri="{BB962C8B-B14F-4D97-AF65-F5344CB8AC3E}">
        <p14:creationId xmlns:p14="http://schemas.microsoft.com/office/powerpoint/2010/main" val="459940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6F69-8FDA-B29A-B8F8-569482AD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292FF-490D-BB46-24D6-D9FA7640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A57D2-330F-3A25-85D8-30D33D69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B1D2B106-220B-FCDC-344C-28B9D7BF4D5A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93EF2-C275-589F-1B84-EF5DB41DE6B1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A96356DD-DEDE-83EE-DDC4-3203D2718EE4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C4222-87F1-F1C0-430A-9D1C8A6A88E8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698E4-8FB5-FD2B-7A00-E1ADB4EFDD29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A18437A-8100-20B1-4AF0-4C5B395B3A5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7445209-278F-4257-7F6B-C61CCE30E6E0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B907B19-6267-1AC1-D574-E38C53D0B792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46FC000-8ECC-7A3F-D79A-6B3A7D143EBC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46FC000-8ECC-7A3F-D79A-6B3A7D143E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7AB431D9-90B6-3D8A-5971-2354B880F47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7AB431D9-90B6-3D8A-5971-2354B880F4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787D3CCF-825B-76EF-50BF-F9A60319A92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787D3CCF-825B-76EF-50BF-F9A60319A9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780DC818-3861-3F7A-AB9A-FCB8ED56FAD8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780DC818-3861-3F7A-AB9A-FCB8ED56FA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2DCE4C40-578C-FB94-68AF-C441FB0C94F6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2DCE4C40-578C-FB94-68AF-C441FB0C9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C122248-6EE8-AA11-0E81-B637251A5340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C122248-6EE8-AA11-0E81-B637251A5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EBFD5AE6-4E3B-7A8B-3ACF-EFF3619BCCF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EBFD5AE6-4E3B-7A8B-3ACF-EFF3619BCC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AE495C0-3116-8BF2-9036-6E519923059A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AE495C0-3116-8BF2-9036-6E51992305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17F5C9E-B217-B4BF-B349-F96B9E855A41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46146A40-FF6E-62C0-3AFA-315D6F07C069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46146A40-FF6E-62C0-3AFA-315D6F07C0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B6D793B0-58B9-F3CD-C209-8CBBDEC926F4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B6D793B0-58B9-F3CD-C209-8CBBDEC926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0F54D128-2D72-C8D8-F133-12FBA088F2AD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0F54D128-2D72-C8D8-F133-12FBA088F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A2503A63-1FFF-DD0E-4489-D309D52C634B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A2503A63-1FFF-DD0E-4489-D309D52C63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1DB4F983-A58B-7693-3B47-F0B500F02D18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1DB4F983-A58B-7693-3B47-F0B500F02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9BF739DB-3E1E-578F-E305-6C6044574A10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9BF739DB-3E1E-578F-E305-6C6044574A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CC017F49-2CAA-90B9-FF8E-55536AEE26CE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CC017F49-2CAA-90B9-FF8E-55536AEE2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B62F2AC4-F80B-AFB6-0281-B1FF1CF91578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B62F2AC4-F80B-AFB6-0281-B1FF1CF9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31CAD38A-4008-0326-A0A8-CEC064BE8B22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5D23B04D-509E-0B4D-2CBC-1C2BB2191B63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EFAFF978-83D1-3D74-0EE6-799146B92116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E2696A04-C18C-722D-1021-80B8CA04BE64}"/>
              </a:ext>
            </a:extLst>
          </p:cNvPr>
          <p:cNvGrpSpPr/>
          <p:nvPr/>
        </p:nvGrpSpPr>
        <p:grpSpPr>
          <a:xfrm>
            <a:off x="8869815" y="3277671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AA13B37B-AA8B-8E4F-0A2A-D029F2D112E7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17EE43D0-FE3D-8C99-F4BF-05348C5A7BEE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641FF888-77B0-A868-A101-B46158ACD822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841E8E03-5D3B-68E7-AC0E-3950916BA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0C6B28F2-B24D-49F0-FBD0-D78E4CDDA8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7A79DBBC-7451-B417-B36A-A0D68BAF0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3692B541-5E5B-AAC3-F5A7-8158BA2A1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FCC933CC-DC7F-74FA-B085-9B531B35C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9828F516-BB64-9F1C-CED3-C415B4E78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6878C04E-3B45-68D9-E41F-5BC944052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9974428B-FBFB-CA5D-65E1-2392E628354B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ACA3B627-EFF5-EC1C-6C8D-CFA807CCA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BF2C2F8C-DE5C-2BF8-AEAB-C59CA5BB5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B9909AE1-9657-C85A-3BCD-6466BF2D8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FB1A278A-EFAD-D84E-C66F-C0BAD9AC97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5FDB1915-1587-E515-62B1-B8E44B534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132BC4A1-AB29-1732-732A-4D6C54C56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F4714EF7-42C1-B155-42A1-3704C66D5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52764339-16E8-E841-C710-9A24DCC2764B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DD531CB-0909-CADC-366D-8C4E2EA2B109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6A3BBE-139C-D4E5-7C00-994D4360227E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B420B80-B85E-8E51-E4CA-F638CF5522E0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2198691-2440-3F30-CF2A-2A58D433248E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858656D-F68E-02E3-ED16-9F872CBCCCBB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C516CB6-8532-59EB-842A-516D44D71A0D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0784D56-9E15-DD14-CA25-A778C4471FB3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E5CB862-9458-298B-88A6-8CF14227883A}"/>
              </a:ext>
            </a:extLst>
          </p:cNvPr>
          <p:cNvGrpSpPr/>
          <p:nvPr/>
        </p:nvGrpSpPr>
        <p:grpSpPr>
          <a:xfrm>
            <a:off x="8164131" y="1829347"/>
            <a:ext cx="631058" cy="3257181"/>
            <a:chOff x="2500112" y="1828088"/>
            <a:chExt cx="631058" cy="3257181"/>
          </a:xfrm>
        </p:grpSpPr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F4FA9B94-6F8D-F40F-6C61-840E0AC20B72}"/>
                </a:ext>
              </a:extLst>
            </p:cNvPr>
            <p:cNvCxnSpPr>
              <a:cxnSpLocks/>
            </p:cNvCxnSpPr>
            <p:nvPr/>
          </p:nvCxnSpPr>
          <p:spPr>
            <a:xfrm>
              <a:off x="2500112" y="1828088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AAD4A36C-179E-468D-5B6D-29D7AB3C3FD6}"/>
                </a:ext>
              </a:extLst>
            </p:cNvPr>
            <p:cNvCxnSpPr>
              <a:cxnSpLocks/>
            </p:cNvCxnSpPr>
            <p:nvPr/>
          </p:nvCxnSpPr>
          <p:spPr>
            <a:xfrm>
              <a:off x="2501468" y="2293400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A5250E48-F419-D4FA-D61F-68B8D266C1ED}"/>
                </a:ext>
              </a:extLst>
            </p:cNvPr>
            <p:cNvCxnSpPr>
              <a:cxnSpLocks/>
            </p:cNvCxnSpPr>
            <p:nvPr/>
          </p:nvCxnSpPr>
          <p:spPr>
            <a:xfrm>
              <a:off x="2502824" y="2758712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2ECE4911-8F57-B614-CC76-D1B91FF83D42}"/>
                </a:ext>
              </a:extLst>
            </p:cNvPr>
            <p:cNvCxnSpPr>
              <a:cxnSpLocks/>
            </p:cNvCxnSpPr>
            <p:nvPr/>
          </p:nvCxnSpPr>
          <p:spPr>
            <a:xfrm>
              <a:off x="2504180" y="3224024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8F404B7D-1A6C-7C53-6622-0C73A9F02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48" y="3466865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DD7714D0-3A65-06CA-53A8-D1C69FCA2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607" y="3466865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117F4535-0F69-1C6C-228D-673280ABC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536" y="3466865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0AE051F4-333F-E854-477B-C67A6DA8D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6892" y="3466865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0E679154-3D56-37DE-14E3-0C947DF23350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25EBFC-40FE-B2BA-2ABE-A15B91DB7FAF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CB384DD-8E94-0656-28CB-95D6CCC4D10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6CF1AE8-75D8-B001-3DFF-3FCC848447C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4710EF5-3462-E440-B019-D1F4696012CB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EB3B369-A802-3A4D-B411-506A4A56B978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D42FD75-8244-B1C1-487E-BBAC1A8F552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C7C9C46-973F-B456-E46E-9B488409406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1581D8-CA3F-8F85-C26A-91B70F5F6523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1808DC3-EBBB-8258-1B93-8EF602CC6582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1263FAED-9146-8038-7465-051BC772774A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DC05B9AF-2D25-A0C2-BEAA-49FDD07B457A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C05DFB60-98AE-B9DE-408A-E660842E9522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1970ED7B-277C-8352-B8F7-464B2540451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437DE3E-6413-62A7-7B5F-46363E37E0F7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8FF43DE2-CBFB-1FBD-E21A-9A0EE238AE3D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718AE655-6B82-F7EA-40AD-25B990586DA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BFF2211-C857-5330-F833-0987020A5324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59D84EA-2CBC-392F-9413-BF4E5B360F19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350F180-DA89-EA62-E75C-F84CD6C12581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80DC16B-2516-E771-6A44-53A8B6CDFF54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6E1A7F5-1B1C-7349-683B-C03386D64D7F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7CD0B21-DF49-0F03-C775-16661EE2A701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17D525B-A843-D81B-6B79-E840929BE719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E3577D2-64D7-4DA4-28F1-1237898D165A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B1A7798-B9F1-25C5-5982-0FA58E379E9B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E4856F46-FA84-35C2-6C49-6D7DB9F94F7A}"/>
              </a:ext>
            </a:extLst>
          </p:cNvPr>
          <p:cNvGrpSpPr/>
          <p:nvPr/>
        </p:nvGrpSpPr>
        <p:grpSpPr>
          <a:xfrm>
            <a:off x="9663008" y="1567242"/>
            <a:ext cx="744584" cy="3534451"/>
            <a:chOff x="9755418" y="1579942"/>
            <a:chExt cx="633123" cy="3534451"/>
          </a:xfrm>
        </p:grpSpPr>
        <p:cxnSp>
          <p:nvCxnSpPr>
            <p:cNvPr id="170" name="연결선: 꺾임 169">
              <a:extLst>
                <a:ext uri="{FF2B5EF4-FFF2-40B4-BE49-F238E27FC236}">
                  <a16:creationId xmlns:a16="http://schemas.microsoft.com/office/drawing/2014/main" id="{6E0029E3-67E5-0D9C-6570-1681C6F26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1840451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연결선: 꺾임 170">
              <a:extLst>
                <a:ext uri="{FF2B5EF4-FFF2-40B4-BE49-F238E27FC236}">
                  <a16:creationId xmlns:a16="http://schemas.microsoft.com/office/drawing/2014/main" id="{2C2CCBED-AE35-8539-7026-2014B4882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305763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42E22EF4-37BB-BBB2-2981-C80342570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771075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연결선: 꺾임 172">
              <a:extLst>
                <a:ext uri="{FF2B5EF4-FFF2-40B4-BE49-F238E27FC236}">
                  <a16:creationId xmlns:a16="http://schemas.microsoft.com/office/drawing/2014/main" id="{8EB9D928-7CF9-4728-92EB-724529F3C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3236387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64532C05-39CB-FE21-CD4E-1E59081DE7A1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연결선: 꺾임 174">
              <a:extLst>
                <a:ext uri="{FF2B5EF4-FFF2-40B4-BE49-F238E27FC236}">
                  <a16:creationId xmlns:a16="http://schemas.microsoft.com/office/drawing/2014/main" id="{B303B329-E368-4CA9-53AE-95A2265D5F8F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연결선: 꺾임 175">
              <a:extLst>
                <a:ext uri="{FF2B5EF4-FFF2-40B4-BE49-F238E27FC236}">
                  <a16:creationId xmlns:a16="http://schemas.microsoft.com/office/drawing/2014/main" id="{60A0A83D-9644-9B88-A71A-59D3938C697C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연결선: 꺾임 176">
              <a:extLst>
                <a:ext uri="{FF2B5EF4-FFF2-40B4-BE49-F238E27FC236}">
                  <a16:creationId xmlns:a16="http://schemas.microsoft.com/office/drawing/2014/main" id="{C6DA67FC-68E4-159D-DC0A-33CD2D39BEA3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D26025-72C3-D8E1-8587-0937CA2F4D30}"/>
                </a:ext>
              </a:extLst>
            </p:cNvPr>
            <p:cNvSpPr txBox="1"/>
            <p:nvPr/>
          </p:nvSpPr>
          <p:spPr>
            <a:xfrm>
              <a:off x="10037168" y="15799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B134436-117D-F70C-1A45-9CFA648A2879}"/>
                </a:ext>
              </a:extLst>
            </p:cNvPr>
            <p:cNvSpPr txBox="1"/>
            <p:nvPr/>
          </p:nvSpPr>
          <p:spPr>
            <a:xfrm>
              <a:off x="10037168" y="20452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F4E8F52-3206-9CBF-D267-5E0C0170D04B}"/>
                </a:ext>
              </a:extLst>
            </p:cNvPr>
            <p:cNvSpPr txBox="1"/>
            <p:nvPr/>
          </p:nvSpPr>
          <p:spPr>
            <a:xfrm>
              <a:off x="10037168" y="25106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ADB1FE2-0449-FF16-1F80-A3B6A47B674C}"/>
                </a:ext>
              </a:extLst>
            </p:cNvPr>
            <p:cNvSpPr txBox="1"/>
            <p:nvPr/>
          </p:nvSpPr>
          <p:spPr>
            <a:xfrm>
              <a:off x="10037168" y="29759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52055D0-C3B7-11C6-4512-3A50DE632DFF}"/>
                </a:ext>
              </a:extLst>
            </p:cNvPr>
            <p:cNvSpPr txBox="1"/>
            <p:nvPr/>
          </p:nvSpPr>
          <p:spPr>
            <a:xfrm>
              <a:off x="10037168" y="34413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A9F7931-5C78-1525-ADCC-74C3BD841E95}"/>
                </a:ext>
              </a:extLst>
            </p:cNvPr>
            <p:cNvSpPr txBox="1"/>
            <p:nvPr/>
          </p:nvSpPr>
          <p:spPr>
            <a:xfrm>
              <a:off x="10037168" y="39066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7F9A7A9-E43F-37B1-5D28-90DD79818FF0}"/>
                </a:ext>
              </a:extLst>
            </p:cNvPr>
            <p:cNvSpPr txBox="1"/>
            <p:nvPr/>
          </p:nvSpPr>
          <p:spPr>
            <a:xfrm>
              <a:off x="10037168" y="43720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DFB6282-D764-0689-B387-436B9D53CAF4}"/>
                </a:ext>
              </a:extLst>
            </p:cNvPr>
            <p:cNvSpPr txBox="1"/>
            <p:nvPr/>
          </p:nvSpPr>
          <p:spPr>
            <a:xfrm>
              <a:off x="10037168" y="4837394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DB5F53E7-ED30-743A-470B-654127561E6B}"/>
              </a:ext>
            </a:extLst>
          </p:cNvPr>
          <p:cNvGrpSpPr/>
          <p:nvPr/>
        </p:nvGrpSpPr>
        <p:grpSpPr>
          <a:xfrm>
            <a:off x="8131117" y="1563628"/>
            <a:ext cx="349251" cy="3534451"/>
            <a:chOff x="2468332" y="1563300"/>
            <a:chExt cx="349251" cy="3534451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53EA2A1-0680-E525-4B5B-F2CC450A8044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7CE02C0-C1A1-0A4B-B26F-EDC4AE5B3FED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3809D86-395E-CBAD-7F44-41B363065ED3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BD630608-38C3-EF55-2F30-BCA09C584908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2B5BBF0-31FA-8813-ED19-546EDBDCE1CA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F50667B-920C-04C4-2FCE-98AADA87077C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5B94F25-43A9-9F5A-A83B-DE04749DFDD6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12B60DD-2CC8-C8BF-63C4-31126E021470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F276EA5F-F6A6-AA92-91C1-4F44EC84F03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0F2485B5-1F81-A02D-C652-E0623976F5BE}"/>
              </a:ext>
            </a:extLst>
          </p:cNvPr>
          <p:cNvGrpSpPr/>
          <p:nvPr/>
        </p:nvGrpSpPr>
        <p:grpSpPr>
          <a:xfrm>
            <a:off x="5400797" y="1686708"/>
            <a:ext cx="1423402" cy="3619067"/>
            <a:chOff x="5574292" y="1686708"/>
            <a:chExt cx="1423402" cy="3619067"/>
          </a:xfrm>
        </p:grpSpPr>
        <p:grpSp>
          <p:nvGrpSpPr>
            <p:cNvPr id="476" name="그룹 475">
              <a:extLst>
                <a:ext uri="{FF2B5EF4-FFF2-40B4-BE49-F238E27FC236}">
                  <a16:creationId xmlns:a16="http://schemas.microsoft.com/office/drawing/2014/main" id="{D208FFC6-04E9-8FEB-6A0F-83691E3036D8}"/>
                </a:ext>
              </a:extLst>
            </p:cNvPr>
            <p:cNvGrpSpPr/>
            <p:nvPr/>
          </p:nvGrpSpPr>
          <p:grpSpPr>
            <a:xfrm>
              <a:off x="5574293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484" name="그룹 483">
                <a:extLst>
                  <a:ext uri="{FF2B5EF4-FFF2-40B4-BE49-F238E27FC236}">
                    <a16:creationId xmlns:a16="http://schemas.microsoft.com/office/drawing/2014/main" id="{15539390-BA2D-E9ED-3FC0-4D7A8C5032AA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487" name="직사각형 486">
                  <a:extLst>
                    <a:ext uri="{FF2B5EF4-FFF2-40B4-BE49-F238E27FC236}">
                      <a16:creationId xmlns:a16="http://schemas.microsoft.com/office/drawing/2014/main" id="{241BE05E-03F3-5228-CF97-CFAD6DC0CCD4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5ACB8D11-A3CC-0F36-BFC4-E2BB99F68EE9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85" name="화살표: 오른쪽 484">
                <a:extLst>
                  <a:ext uri="{FF2B5EF4-FFF2-40B4-BE49-F238E27FC236}">
                    <a16:creationId xmlns:a16="http://schemas.microsoft.com/office/drawing/2014/main" id="{CBA38895-8FB0-3195-C7C0-FA7FC6CDD380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화살표: 오른쪽 485">
                <a:extLst>
                  <a:ext uri="{FF2B5EF4-FFF2-40B4-BE49-F238E27FC236}">
                    <a16:creationId xmlns:a16="http://schemas.microsoft.com/office/drawing/2014/main" id="{5A837111-0D3E-AFC2-E106-68092643689A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77" name="화살표: 오른쪽 476">
              <a:extLst>
                <a:ext uri="{FF2B5EF4-FFF2-40B4-BE49-F238E27FC236}">
                  <a16:creationId xmlns:a16="http://schemas.microsoft.com/office/drawing/2014/main" id="{D0B6C8FA-DDC5-2786-5767-37F456A29071}"/>
                </a:ext>
              </a:extLst>
            </p:cNvPr>
            <p:cNvSpPr/>
            <p:nvPr/>
          </p:nvSpPr>
          <p:spPr>
            <a:xfrm>
              <a:off x="5576682" y="447393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" name="화살표: 오른쪽 477">
              <a:extLst>
                <a:ext uri="{FF2B5EF4-FFF2-40B4-BE49-F238E27FC236}">
                  <a16:creationId xmlns:a16="http://schemas.microsoft.com/office/drawing/2014/main" id="{B6ED91B3-E08E-3113-C22D-2CE2AF1E121F}"/>
                </a:ext>
              </a:extLst>
            </p:cNvPr>
            <p:cNvSpPr/>
            <p:nvPr/>
          </p:nvSpPr>
          <p:spPr>
            <a:xfrm>
              <a:off x="5574292" y="400939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" name="화살표: 오른쪽 478">
              <a:extLst>
                <a:ext uri="{FF2B5EF4-FFF2-40B4-BE49-F238E27FC236}">
                  <a16:creationId xmlns:a16="http://schemas.microsoft.com/office/drawing/2014/main" id="{D02B58B6-2F45-28ED-B7BF-33F27E0365CC}"/>
                </a:ext>
              </a:extLst>
            </p:cNvPr>
            <p:cNvSpPr/>
            <p:nvPr/>
          </p:nvSpPr>
          <p:spPr>
            <a:xfrm>
              <a:off x="5574292" y="3544861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" name="화살표: 오른쪽 479">
              <a:extLst>
                <a:ext uri="{FF2B5EF4-FFF2-40B4-BE49-F238E27FC236}">
                  <a16:creationId xmlns:a16="http://schemas.microsoft.com/office/drawing/2014/main" id="{EF8452F8-E654-FD00-65FC-6C2CCB30BDAB}"/>
                </a:ext>
              </a:extLst>
            </p:cNvPr>
            <p:cNvSpPr/>
            <p:nvPr/>
          </p:nvSpPr>
          <p:spPr>
            <a:xfrm>
              <a:off x="5574292" y="3080323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" name="화살표: 오른쪽 480">
              <a:extLst>
                <a:ext uri="{FF2B5EF4-FFF2-40B4-BE49-F238E27FC236}">
                  <a16:creationId xmlns:a16="http://schemas.microsoft.com/office/drawing/2014/main" id="{2339932F-A41E-7782-944F-572E10F97B44}"/>
                </a:ext>
              </a:extLst>
            </p:cNvPr>
            <p:cNvSpPr/>
            <p:nvPr/>
          </p:nvSpPr>
          <p:spPr>
            <a:xfrm>
              <a:off x="5574292" y="2615784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" name="화살표: 오른쪽 481">
              <a:extLst>
                <a:ext uri="{FF2B5EF4-FFF2-40B4-BE49-F238E27FC236}">
                  <a16:creationId xmlns:a16="http://schemas.microsoft.com/office/drawing/2014/main" id="{55F152D5-0A26-A3FD-CDED-D66BFFC5F991}"/>
                </a:ext>
              </a:extLst>
            </p:cNvPr>
            <p:cNvSpPr/>
            <p:nvPr/>
          </p:nvSpPr>
          <p:spPr>
            <a:xfrm>
              <a:off x="5574292" y="1686708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" name="화살표: 오른쪽 482">
              <a:extLst>
                <a:ext uri="{FF2B5EF4-FFF2-40B4-BE49-F238E27FC236}">
                  <a16:creationId xmlns:a16="http://schemas.microsoft.com/office/drawing/2014/main" id="{DC9BB7EA-F0BE-B4B9-5D56-DF39A4775ABB}"/>
                </a:ext>
              </a:extLst>
            </p:cNvPr>
            <p:cNvSpPr/>
            <p:nvPr/>
          </p:nvSpPr>
          <p:spPr>
            <a:xfrm>
              <a:off x="5574292" y="2151246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4CBF27A-8910-1E8F-0C96-ED8FF673A732}"/>
              </a:ext>
            </a:extLst>
          </p:cNvPr>
          <p:cNvSpPr txBox="1"/>
          <p:nvPr/>
        </p:nvSpPr>
        <p:spPr>
          <a:xfrm>
            <a:off x="8766740" y="3758270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</a:t>
            </a:r>
            <a:r>
              <a:rPr lang="en-US" altLang="ko-KR" sz="1100" dirty="0"/>
              <a:t>MDS</a:t>
            </a:r>
            <a:r>
              <a:rPr lang="ko-KR" altLang="en-US" sz="1100" dirty="0"/>
              <a:t>행렬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574439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8EBC-9FE3-80BA-7DD9-A30CCBDA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87E6-67B5-5CD8-03FD-7163D872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23045-C6B0-2E91-1CA1-DF47C269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18EAC65-4257-BC24-EDD8-AAAA7755B1F6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E8FB6-968F-F94C-0342-BFF58E8C4138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6A83ACA1-988B-B634-7878-37F30DA2FC19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A714C-DB54-2A76-6CCC-F25EAE72A51F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DF96A-F65A-3557-C1FA-95768448E18A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A7FD9B-37DA-F545-55E6-53CC05B5DB54}"/>
              </a:ext>
            </a:extLst>
          </p:cNvPr>
          <p:cNvGrpSpPr/>
          <p:nvPr/>
        </p:nvGrpSpPr>
        <p:grpSpPr>
          <a:xfrm>
            <a:off x="5886993" y="3222037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41F1BB8-C84C-869F-52A8-41A0FA6C1D56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2269AD5-F719-A493-A575-AE8238409C2E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D3C4B9B-CDD5-5050-93EE-CB9815C340C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3E35EFB6-FD18-921E-45D2-82C4F4ECC71F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3E35EFB6-FD18-921E-45D2-82C4F4ECC7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0F1D2915-28C6-5E41-00E3-7F88D88E70BB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0F1D2915-28C6-5E41-00E3-7F88D88E70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45BDA78C-8939-6C33-FB55-42E53D93F77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45BDA78C-8939-6C33-FB55-42E53D93F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0284059-25E4-328B-6DA7-7B547AF3119C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0284059-25E4-328B-6DA7-7B547AF311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391D66C-2FAC-EADB-67CD-AA9BA750FAB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391D66C-2FAC-EADB-67CD-AA9BA750FA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7BF6C8BB-1D16-1F2D-B89C-642822C03962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7BF6C8BB-1D16-1F2D-B89C-642822C039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E60FC93-EA8E-45AC-03EF-6900D085EB6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E60FC93-EA8E-45AC-03EF-6900D085EB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B32FC778-1767-C483-6FDE-DA22163FA9DC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B32FC778-1767-C483-6FDE-DA22163FA9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FF6A120-75CF-EDF0-222C-6A1C1D586702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AC086200-9704-D156-4185-2466402FAB5B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AC086200-9704-D156-4185-2466402FAB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96A9896-D145-5CDD-1C0D-556F42BEA349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96A9896-D145-5CDD-1C0D-556F42BEA3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4A2CBEB-8974-D88A-D7B3-08EB8FABD925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4A2CBEB-8974-D88A-D7B3-08EB8FABD9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04C15FF5-47C8-3D84-7CE6-7ACDE640A573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04C15FF5-47C8-3D84-7CE6-7ACDE640A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BDA7EB10-5956-01F9-F922-9835FB09C767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BDA7EB10-5956-01F9-F922-9835FB09C7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EC0EDE-DEC4-ED31-68EE-0A2B51B31FB8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EC0EDE-DEC4-ED31-68EE-0A2B51B31F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C11D480D-FBA8-895F-5EA7-F0BC96147C9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C11D480D-FBA8-895F-5EA7-F0BC96147C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870EA8A-7847-86FD-1B2D-FB05C74B5A9D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870EA8A-7847-86FD-1B2D-FB05C74B5A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56F2775-C386-651D-CCB3-550834E770A9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BDB7FAD-4FA6-51A2-ED3F-638FA1D4B49D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BDB7FAD-4FA6-51A2-ED3F-638FA1D4B4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BBE2A9E-B95D-7B38-1F0F-6DBF2BA43D5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BBE2A9E-B95D-7B38-1F0F-6DBF2BA43D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C334B57F-AEA0-88BB-8106-116810EDAAFA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C334B57F-AEA0-88BB-8106-116810EDA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8E745D-E154-6748-3470-243A3093F78F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8E745D-E154-6748-3470-243A3093F7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C1D89349-8F19-8DF6-4D9E-99438A688756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C1D89349-8F19-8DF6-4D9E-99438A6887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BA13DA34-F434-B341-5C06-75DF0A7BE546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BA13DA34-F434-B341-5C06-75DF0A7BE5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6FB1050-277E-9A9B-870F-1CD33CE5040B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6FB1050-277E-9A9B-870F-1CD33CE504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20771312-64D7-4797-EAAA-2CF956A80BBB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20771312-64D7-4797-EAAA-2CF956A80B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ADE7354-2395-C741-2B99-A133DF96480F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5775ED2A-20BB-4883-2447-F2265025D810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5775ED2A-20BB-4883-2447-F2265025D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07DE1F03-9CD6-0336-73EC-893BFE1FDC00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07DE1F03-9CD6-0336-73EC-893BFE1FD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69694DA-15D7-F4C6-5808-00F32BAB4034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69694DA-15D7-F4C6-5808-00F32BAB4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225BEBE7-1283-36E1-1A5D-A03CD6E62B0A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225BEBE7-1283-36E1-1A5D-A03CD6E62B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FF22CF4D-F1DB-56E5-1B2A-7C7429B05C42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FF22CF4D-F1DB-56E5-1B2A-7C7429B05C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FBF35F7E-7530-A4EB-71B8-F39AE4DDD54D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FBF35F7E-7530-A4EB-71B8-F39AE4DDD5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6E953678-F397-6D40-A2FD-5B6C20BA199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6E953678-F397-6D40-A2FD-5B6C20BA1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733CECD1-E46B-0535-D265-D0DAAC83B40D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733CECD1-E46B-0535-D265-D0DAAC83B4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DBF6DE4B-E0E6-734D-ABA1-F19D667F7E21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44DD461F-C91A-7D5A-6F4F-883B84E0C18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A03FE7E6-F311-BC91-67DF-8BAAF9D13AF7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96529F3A-C220-4051-5D80-9310A55DBE8F}"/>
              </a:ext>
            </a:extLst>
          </p:cNvPr>
          <p:cNvGrpSpPr/>
          <p:nvPr/>
        </p:nvGrpSpPr>
        <p:grpSpPr>
          <a:xfrm>
            <a:off x="8869815" y="3277671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2C86B3E5-752D-1924-FBD0-A00B776EE6D2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3D24AFDF-D3B7-FB1A-8DF0-88EBC7878E6C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4EA58EBB-F8E9-0B2B-6E04-D113D79F0E11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A2FA78B4-69B0-21A6-F523-53556C0BA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8EE3DDA7-377E-A7B2-58FE-6F82F699F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756591FE-914F-6305-7F48-EE19DBFAA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781EF510-C3D7-2463-8B38-36FC6CD6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D3FDCB18-7155-2745-A693-8F4A11406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2C0300A2-E8AA-7B35-206C-339F5026F5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A51B10BA-51DA-66B0-764A-C53994485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5A402882-B15F-B643-43DA-25F465B63539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49601EFF-0960-6438-BE10-938A174E6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AB906C3B-7DEA-4C9D-E07D-85BC448E0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02714FC2-4447-2A83-EEEB-0F43B403D9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5BF31059-041C-AFD2-9D20-D5D3ED1B2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FC4845D3-1FB2-7D7A-01CE-F533F0822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BE404267-5DB2-BEB0-316C-57B971336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3C949B53-991E-1821-10E6-60C850AC1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A51CA9B-3761-3656-F532-755706542232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A5E15D-F252-003E-1DC4-7C8E00D2F43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B38D7-6E87-427B-51D3-72199CCA6A7F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404A334-F8C9-5E26-CB3A-3AFD6D04163D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0972B59-8FF1-E8CA-2CF2-F6EF949A58FB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A8C3E09-59E7-33C8-9C87-917C25300588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192C517-2BBA-5094-1263-ACDFE1230C55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3F55184-72DB-4F18-C1E0-52D56DB8F666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4DC0D9B-B9A2-5A7B-43C3-FFDEDC633381}"/>
              </a:ext>
            </a:extLst>
          </p:cNvPr>
          <p:cNvGrpSpPr/>
          <p:nvPr/>
        </p:nvGrpSpPr>
        <p:grpSpPr>
          <a:xfrm>
            <a:off x="8164131" y="1829347"/>
            <a:ext cx="631058" cy="3257181"/>
            <a:chOff x="2500112" y="1828088"/>
            <a:chExt cx="631058" cy="3257181"/>
          </a:xfrm>
        </p:grpSpPr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C1777D5F-495C-3BCD-C582-395D97D4E506}"/>
                </a:ext>
              </a:extLst>
            </p:cNvPr>
            <p:cNvCxnSpPr>
              <a:cxnSpLocks/>
            </p:cNvCxnSpPr>
            <p:nvPr/>
          </p:nvCxnSpPr>
          <p:spPr>
            <a:xfrm>
              <a:off x="2500112" y="1828088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B4018D0E-2D25-416D-5087-038F987AB4B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468" y="2293400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4EAC215F-B997-7621-3B6F-A702D69596D3}"/>
                </a:ext>
              </a:extLst>
            </p:cNvPr>
            <p:cNvCxnSpPr>
              <a:cxnSpLocks/>
            </p:cNvCxnSpPr>
            <p:nvPr/>
          </p:nvCxnSpPr>
          <p:spPr>
            <a:xfrm>
              <a:off x="2502824" y="2758712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993620D3-7E98-5233-B7E2-732D1F844215}"/>
                </a:ext>
              </a:extLst>
            </p:cNvPr>
            <p:cNvCxnSpPr>
              <a:cxnSpLocks/>
            </p:cNvCxnSpPr>
            <p:nvPr/>
          </p:nvCxnSpPr>
          <p:spPr>
            <a:xfrm>
              <a:off x="2504180" y="3224024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33C4A92C-D324-D519-412B-81D62E8F2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48" y="3466865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2B63C9F7-FF2E-DB2B-0ED2-EB2C02241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607" y="3466865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867D00A5-FAA1-177B-1DA1-0B7587F55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536" y="3466865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7903A30A-660F-69F0-5D50-97BB6B54C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6892" y="3466865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3B33FB89-BC23-C9D1-308F-C9481CCA878D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B9BCE6E-D039-9280-2C13-B56C8D375E9A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0049C10-7EF7-C04D-55B5-2114AAEE6020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C9F129F-7E99-3751-35EF-53C0612FFEDE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60DCEB1-2F60-E6B5-CBB6-0EF25FEAAF95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A6DA0E9-8B3B-1EF5-3003-7CC063271B3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74E7650-C1C7-A285-B2F5-44362D5ADE9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24A80C-FD67-1195-EACC-839DD660F25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CDF548-8CB0-6DDC-EBC4-7B2043CC2B07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5BB4BAA2-FCB1-E1CD-4B6D-22AB889D27D0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CE30990-D660-334D-CE6C-510EBEDABC06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57FA0C60-7F61-A4C3-72BF-F36537FF1E89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74C0C7B3-9470-8287-AECE-A9462E89A19F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9C27BD6B-B72C-1582-3C2E-ACFD48E615BD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0C37CAC0-FB4D-BFF8-B820-01F5613401A5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D7F4918B-8A07-E3A5-1ECC-53CE2BE553C6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5FE92FA3-5C12-7CA4-042C-29AA9305394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8AF7618B-4F13-23F8-004D-BEB01B3ADD68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748CD1C-DBD5-6830-A24F-53350759B8B2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8849956-D04B-7AE9-999D-98BAD7F03ADD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EA3573C-1034-ACB3-171F-B78775B7EACA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EC7D7D0-A4A3-80EE-7673-68D86216E0ED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CB9BE09-46C2-ADAB-3545-48C01BAF83A4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735E957-90BC-0EE6-FE4E-567FC545948A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4482A7F-148A-971E-757D-34D83047E5E9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BC289F5-B9FF-3322-9AB7-35EB07D3C637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6BC1002C-ACED-CAC7-9A20-1F793BE4A7D2}"/>
              </a:ext>
            </a:extLst>
          </p:cNvPr>
          <p:cNvGrpSpPr/>
          <p:nvPr/>
        </p:nvGrpSpPr>
        <p:grpSpPr>
          <a:xfrm>
            <a:off x="9663008" y="1567242"/>
            <a:ext cx="744584" cy="3534451"/>
            <a:chOff x="9755418" y="1579942"/>
            <a:chExt cx="633123" cy="3534451"/>
          </a:xfrm>
        </p:grpSpPr>
        <p:cxnSp>
          <p:nvCxnSpPr>
            <p:cNvPr id="170" name="연결선: 꺾임 169">
              <a:extLst>
                <a:ext uri="{FF2B5EF4-FFF2-40B4-BE49-F238E27FC236}">
                  <a16:creationId xmlns:a16="http://schemas.microsoft.com/office/drawing/2014/main" id="{342947E7-E06F-8E95-D006-187450CAD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1840451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연결선: 꺾임 170">
              <a:extLst>
                <a:ext uri="{FF2B5EF4-FFF2-40B4-BE49-F238E27FC236}">
                  <a16:creationId xmlns:a16="http://schemas.microsoft.com/office/drawing/2014/main" id="{E68B8B24-E8A0-8A85-735E-CF3B5C39D2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305763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49885F0D-2D52-1924-B998-62CD6E96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771075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연결선: 꺾임 172">
              <a:extLst>
                <a:ext uri="{FF2B5EF4-FFF2-40B4-BE49-F238E27FC236}">
                  <a16:creationId xmlns:a16="http://schemas.microsoft.com/office/drawing/2014/main" id="{B28B2CBD-2C0B-F27A-86EC-93B82F1EE7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3236387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B0123557-D754-0E86-383C-9F70EB39DCC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연결선: 꺾임 174">
              <a:extLst>
                <a:ext uri="{FF2B5EF4-FFF2-40B4-BE49-F238E27FC236}">
                  <a16:creationId xmlns:a16="http://schemas.microsoft.com/office/drawing/2014/main" id="{0A3390AE-55D8-7EC5-CA75-00144367A254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연결선: 꺾임 175">
              <a:extLst>
                <a:ext uri="{FF2B5EF4-FFF2-40B4-BE49-F238E27FC236}">
                  <a16:creationId xmlns:a16="http://schemas.microsoft.com/office/drawing/2014/main" id="{4864F707-49BB-4019-2601-47CA7E9A79DD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연결선: 꺾임 176">
              <a:extLst>
                <a:ext uri="{FF2B5EF4-FFF2-40B4-BE49-F238E27FC236}">
                  <a16:creationId xmlns:a16="http://schemas.microsoft.com/office/drawing/2014/main" id="{1E964CFC-CCDC-7573-C129-69D46859C06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95B4BF0-F128-219B-CE2C-61649667CA5D}"/>
                </a:ext>
              </a:extLst>
            </p:cNvPr>
            <p:cNvSpPr txBox="1"/>
            <p:nvPr/>
          </p:nvSpPr>
          <p:spPr>
            <a:xfrm>
              <a:off x="10037168" y="15799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09DC29C-0786-22F2-4CE9-5B34D3622B31}"/>
                </a:ext>
              </a:extLst>
            </p:cNvPr>
            <p:cNvSpPr txBox="1"/>
            <p:nvPr/>
          </p:nvSpPr>
          <p:spPr>
            <a:xfrm>
              <a:off x="10037168" y="20452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0371712E-CFE6-80CD-5ADC-D83243E38A07}"/>
                </a:ext>
              </a:extLst>
            </p:cNvPr>
            <p:cNvSpPr txBox="1"/>
            <p:nvPr/>
          </p:nvSpPr>
          <p:spPr>
            <a:xfrm>
              <a:off x="10037168" y="25106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E6A034A-0577-88B3-E07B-3AA714DCCE10}"/>
                </a:ext>
              </a:extLst>
            </p:cNvPr>
            <p:cNvSpPr txBox="1"/>
            <p:nvPr/>
          </p:nvSpPr>
          <p:spPr>
            <a:xfrm>
              <a:off x="10037168" y="29759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5EC2012-897B-5A6B-D056-AD24E92AF95E}"/>
                </a:ext>
              </a:extLst>
            </p:cNvPr>
            <p:cNvSpPr txBox="1"/>
            <p:nvPr/>
          </p:nvSpPr>
          <p:spPr>
            <a:xfrm>
              <a:off x="10037168" y="34413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A588F494-6E37-0289-2FF9-1ECD0863252A}"/>
                </a:ext>
              </a:extLst>
            </p:cNvPr>
            <p:cNvSpPr txBox="1"/>
            <p:nvPr/>
          </p:nvSpPr>
          <p:spPr>
            <a:xfrm>
              <a:off x="10037168" y="39066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74AD3AB-3C78-FFC4-B8F0-FCBE7D069126}"/>
                </a:ext>
              </a:extLst>
            </p:cNvPr>
            <p:cNvSpPr txBox="1"/>
            <p:nvPr/>
          </p:nvSpPr>
          <p:spPr>
            <a:xfrm>
              <a:off x="10037168" y="43720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09BF180-1186-8E86-6BDD-C6071E42171E}"/>
                </a:ext>
              </a:extLst>
            </p:cNvPr>
            <p:cNvSpPr txBox="1"/>
            <p:nvPr/>
          </p:nvSpPr>
          <p:spPr>
            <a:xfrm>
              <a:off x="10037168" y="4837394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3412574-02B8-2B7A-DDF9-F6BE89C66981}"/>
              </a:ext>
            </a:extLst>
          </p:cNvPr>
          <p:cNvGrpSpPr/>
          <p:nvPr/>
        </p:nvGrpSpPr>
        <p:grpSpPr>
          <a:xfrm>
            <a:off x="8131117" y="1563628"/>
            <a:ext cx="349251" cy="3534451"/>
            <a:chOff x="2468332" y="1563300"/>
            <a:chExt cx="349251" cy="3534451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826F6A5C-B68C-5D58-CFE7-DC9220FC7496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F1647B3-AD58-1FDC-F0B7-2743D6BF7C97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9D06916-2397-3716-8656-2258502BD25D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89E81C7-E054-DCDA-BE21-B62AA6F8F1F5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E8BEB3B-419E-7E43-AF87-0A2ADB3F9BFD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86B91FB-9A74-6917-5504-1A9C1FCA82E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7AF630A-CD53-8412-71C9-CD8747489D60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83F94EDD-2EE8-F8A6-97B0-B0AA93B62A44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39BD4D0C-32CE-E936-FEFB-4C98592FF595}"/>
              </a:ext>
            </a:extLst>
          </p:cNvPr>
          <p:cNvGrpSpPr/>
          <p:nvPr/>
        </p:nvGrpSpPr>
        <p:grpSpPr>
          <a:xfrm>
            <a:off x="5106019" y="1562111"/>
            <a:ext cx="764722" cy="3534451"/>
            <a:chOff x="5106019" y="1562111"/>
            <a:chExt cx="660567" cy="3534451"/>
          </a:xfrm>
        </p:grpSpPr>
        <p:cxnSp>
          <p:nvCxnSpPr>
            <p:cNvPr id="208" name="연결선: 꺾임 207">
              <a:extLst>
                <a:ext uri="{FF2B5EF4-FFF2-40B4-BE49-F238E27FC236}">
                  <a16:creationId xmlns:a16="http://schemas.microsoft.com/office/drawing/2014/main" id="{888E1C90-CDF9-8392-3F26-49ED8C930D35}"/>
                </a:ext>
              </a:extLst>
            </p:cNvPr>
            <p:cNvCxnSpPr>
              <a:cxnSpLocks/>
            </p:cNvCxnSpPr>
            <p:nvPr/>
          </p:nvCxnSpPr>
          <p:spPr>
            <a:xfrm>
              <a:off x="5130765" y="1826899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연결선: 꺾임 208">
              <a:extLst>
                <a:ext uri="{FF2B5EF4-FFF2-40B4-BE49-F238E27FC236}">
                  <a16:creationId xmlns:a16="http://schemas.microsoft.com/office/drawing/2014/main" id="{ABC78187-E48B-8DFB-7348-6BBCF05F56F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121" y="2292211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연결선: 꺾임 209">
              <a:extLst>
                <a:ext uri="{FF2B5EF4-FFF2-40B4-BE49-F238E27FC236}">
                  <a16:creationId xmlns:a16="http://schemas.microsoft.com/office/drawing/2014/main" id="{D95A0587-0197-00CA-AA5B-FDC043DE2106}"/>
                </a:ext>
              </a:extLst>
            </p:cNvPr>
            <p:cNvCxnSpPr>
              <a:cxnSpLocks/>
            </p:cNvCxnSpPr>
            <p:nvPr/>
          </p:nvCxnSpPr>
          <p:spPr>
            <a:xfrm>
              <a:off x="5133477" y="2757523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연결선: 꺾임 210">
              <a:extLst>
                <a:ext uri="{FF2B5EF4-FFF2-40B4-BE49-F238E27FC236}">
                  <a16:creationId xmlns:a16="http://schemas.microsoft.com/office/drawing/2014/main" id="{9B8AB53A-D5C4-1FE1-108D-065C11E44486}"/>
                </a:ext>
              </a:extLst>
            </p:cNvPr>
            <p:cNvCxnSpPr>
              <a:cxnSpLocks/>
            </p:cNvCxnSpPr>
            <p:nvPr/>
          </p:nvCxnSpPr>
          <p:spPr>
            <a:xfrm>
              <a:off x="5134833" y="3222835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연결선: 꺾임 211">
              <a:extLst>
                <a:ext uri="{FF2B5EF4-FFF2-40B4-BE49-F238E27FC236}">
                  <a16:creationId xmlns:a16="http://schemas.microsoft.com/office/drawing/2014/main" id="{28E920C9-022E-A68C-8E5C-956DCC822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8901" y="3465676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연결선: 꺾임 212">
              <a:extLst>
                <a:ext uri="{FF2B5EF4-FFF2-40B4-BE49-F238E27FC236}">
                  <a16:creationId xmlns:a16="http://schemas.microsoft.com/office/drawing/2014/main" id="{B64A52F2-1213-8A93-0CFB-020AC85CB2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0260" y="3465676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연결선: 꺾임 213">
              <a:extLst>
                <a:ext uri="{FF2B5EF4-FFF2-40B4-BE49-F238E27FC236}">
                  <a16:creationId xmlns:a16="http://schemas.microsoft.com/office/drawing/2014/main" id="{5D81E9CC-AFB8-D5A5-5E3F-954DC91CC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189" y="3465676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연결선: 꺾임 214">
              <a:extLst>
                <a:ext uri="{FF2B5EF4-FFF2-40B4-BE49-F238E27FC236}">
                  <a16:creationId xmlns:a16="http://schemas.microsoft.com/office/drawing/2014/main" id="{C337DF22-81D1-0356-9417-828D00326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308" y="3465676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4CE248F7-34B1-39C9-07B4-55C3FFF76159}"/>
                </a:ext>
              </a:extLst>
            </p:cNvPr>
            <p:cNvGrpSpPr/>
            <p:nvPr/>
          </p:nvGrpSpPr>
          <p:grpSpPr>
            <a:xfrm>
              <a:off x="5106019" y="1562111"/>
              <a:ext cx="349251" cy="3534451"/>
              <a:chOff x="2468332" y="1563300"/>
              <a:chExt cx="349251" cy="3534451"/>
            </a:xfrm>
          </p:grpSpPr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9A1D7E89-EF82-C9D3-0286-A12356547547}"/>
                  </a:ext>
                </a:extLst>
              </p:cNvPr>
              <p:cNvSpPr txBox="1"/>
              <p:nvPr/>
            </p:nvSpPr>
            <p:spPr>
              <a:xfrm>
                <a:off x="2468332" y="15633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(0)</a:t>
                </a:r>
                <a:endParaRPr lang="ko-KR" altLang="en-US" sz="1200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4708F3B-7996-A6B9-1818-AADD3D5CEFCB}"/>
                  </a:ext>
                </a:extLst>
              </p:cNvPr>
              <p:cNvSpPr txBox="1"/>
              <p:nvPr/>
            </p:nvSpPr>
            <p:spPr>
              <a:xfrm>
                <a:off x="2468332" y="20286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(1)</a:t>
                </a:r>
                <a:endParaRPr lang="ko-KR" altLang="en-US" sz="1200" dirty="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C3AFB3E-0F2F-DD1F-594C-50981C13F41E}"/>
                  </a:ext>
                </a:extLst>
              </p:cNvPr>
              <p:cNvSpPr txBox="1"/>
              <p:nvPr/>
            </p:nvSpPr>
            <p:spPr>
              <a:xfrm>
                <a:off x="2468332" y="24940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(2)</a:t>
                </a:r>
                <a:endParaRPr lang="ko-KR" altLang="en-US" sz="1200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2CD4B0F-B708-E12D-D97C-C7BD134E9A14}"/>
                  </a:ext>
                </a:extLst>
              </p:cNvPr>
              <p:cNvSpPr txBox="1"/>
              <p:nvPr/>
            </p:nvSpPr>
            <p:spPr>
              <a:xfrm>
                <a:off x="2468332" y="29593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(3)</a:t>
                </a:r>
                <a:endParaRPr lang="ko-KR" altLang="en-US" sz="1200" dirty="0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890C113A-65B6-CF42-864B-DFE1A4C7D3AD}"/>
                  </a:ext>
                </a:extLst>
              </p:cNvPr>
              <p:cNvSpPr txBox="1"/>
              <p:nvPr/>
            </p:nvSpPr>
            <p:spPr>
              <a:xfrm>
                <a:off x="2468332" y="34247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(4)</a:t>
                </a:r>
                <a:endParaRPr lang="ko-KR" altLang="en-US" sz="1200" dirty="0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DEFBD41B-D4FE-0120-27C7-BCE6EC6DCFEF}"/>
                  </a:ext>
                </a:extLst>
              </p:cNvPr>
              <p:cNvSpPr txBox="1"/>
              <p:nvPr/>
            </p:nvSpPr>
            <p:spPr>
              <a:xfrm>
                <a:off x="2468332" y="38900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(5)</a:t>
                </a:r>
                <a:endParaRPr lang="ko-KR" altLang="en-US" sz="1200" dirty="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307E310-01CF-36D1-D2C6-09B9E0673DCD}"/>
                  </a:ext>
                </a:extLst>
              </p:cNvPr>
              <p:cNvSpPr txBox="1"/>
              <p:nvPr/>
            </p:nvSpPr>
            <p:spPr>
              <a:xfrm>
                <a:off x="2468332" y="43554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(6)</a:t>
                </a:r>
                <a:endParaRPr lang="ko-KR" altLang="en-US" sz="1200" dirty="0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9473E2EB-DA11-EC2E-7714-2E42AD9A27C9}"/>
                  </a:ext>
                </a:extLst>
              </p:cNvPr>
              <p:cNvSpPr txBox="1"/>
              <p:nvPr/>
            </p:nvSpPr>
            <p:spPr>
              <a:xfrm>
                <a:off x="2468332" y="4820752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(7)</a:t>
                </a:r>
                <a:endParaRPr lang="ko-KR" altLang="en-US" sz="1200" dirty="0"/>
              </a:p>
            </p:txBody>
          </p:sp>
        </p:grpSp>
      </p:grpSp>
      <p:grpSp>
        <p:nvGrpSpPr>
          <p:cNvPr id="457" name="그룹 456">
            <a:extLst>
              <a:ext uri="{FF2B5EF4-FFF2-40B4-BE49-F238E27FC236}">
                <a16:creationId xmlns:a16="http://schemas.microsoft.com/office/drawing/2014/main" id="{AB8FC014-5F68-88DA-18B7-7B728D1BC7DD}"/>
              </a:ext>
            </a:extLst>
          </p:cNvPr>
          <p:cNvGrpSpPr/>
          <p:nvPr/>
        </p:nvGrpSpPr>
        <p:grpSpPr>
          <a:xfrm>
            <a:off x="6318326" y="1567476"/>
            <a:ext cx="762565" cy="3534451"/>
            <a:chOff x="3423819" y="1563628"/>
            <a:chExt cx="633123" cy="3534451"/>
          </a:xfrm>
        </p:grpSpPr>
        <p:cxnSp>
          <p:nvCxnSpPr>
            <p:cNvPr id="458" name="연결선: 꺾임 457">
              <a:extLst>
                <a:ext uri="{FF2B5EF4-FFF2-40B4-BE49-F238E27FC236}">
                  <a16:creationId xmlns:a16="http://schemas.microsoft.com/office/drawing/2014/main" id="{8AFABF8B-35E9-4EE5-5558-3E88C574B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연결선: 꺾임 458">
              <a:extLst>
                <a:ext uri="{FF2B5EF4-FFF2-40B4-BE49-F238E27FC236}">
                  <a16:creationId xmlns:a16="http://schemas.microsoft.com/office/drawing/2014/main" id="{8012AA22-3143-ED1E-0306-D9BD83D20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연결선: 꺾임 459">
              <a:extLst>
                <a:ext uri="{FF2B5EF4-FFF2-40B4-BE49-F238E27FC236}">
                  <a16:creationId xmlns:a16="http://schemas.microsoft.com/office/drawing/2014/main" id="{4C905329-33C1-AD57-19FF-4FA71C116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연결선: 꺾임 460">
              <a:extLst>
                <a:ext uri="{FF2B5EF4-FFF2-40B4-BE49-F238E27FC236}">
                  <a16:creationId xmlns:a16="http://schemas.microsoft.com/office/drawing/2014/main" id="{3DF13A4C-7D60-7987-F8C4-B03CA3F54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연결선: 꺾임 461">
              <a:extLst>
                <a:ext uri="{FF2B5EF4-FFF2-40B4-BE49-F238E27FC236}">
                  <a16:creationId xmlns:a16="http://schemas.microsoft.com/office/drawing/2014/main" id="{C51A4063-C700-FBF3-400A-D6D1F568FB58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연결선: 꺾임 462">
              <a:extLst>
                <a:ext uri="{FF2B5EF4-FFF2-40B4-BE49-F238E27FC236}">
                  <a16:creationId xmlns:a16="http://schemas.microsoft.com/office/drawing/2014/main" id="{BE428DE0-7949-4C19-EF41-33CC3596499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연결선: 꺾임 463">
              <a:extLst>
                <a:ext uri="{FF2B5EF4-FFF2-40B4-BE49-F238E27FC236}">
                  <a16:creationId xmlns:a16="http://schemas.microsoft.com/office/drawing/2014/main" id="{5392B67C-822E-F63C-7CA6-4E27340CA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연결선: 꺾임 464">
              <a:extLst>
                <a:ext uri="{FF2B5EF4-FFF2-40B4-BE49-F238E27FC236}">
                  <a16:creationId xmlns:a16="http://schemas.microsoft.com/office/drawing/2014/main" id="{D83084E6-1007-D1AA-4FBA-36A57714F4D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E7E384D-F77F-A333-184C-093B37AF3733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CF10348-DFAB-548D-63F5-095C7061E4C6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9F3007C-5A13-05E8-A2F9-2B0B99C5DCF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3C0280BC-EC49-37C4-F01E-8179C586E655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71E5ED11-2799-49CC-8F98-E51F1CDE906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E69EA17E-93AF-C6B8-9109-A669F5AACD7D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B51502DE-98F9-DF99-F021-AB3A508DAD4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844F987E-A4E0-A585-0479-2C7893E63C38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84FFA5A7-8D36-77EE-0C5B-477900E6C0F0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B0277-5D3E-8869-7B87-8F379D66C28C}"/>
              </a:ext>
            </a:extLst>
          </p:cNvPr>
          <p:cNvSpPr txBox="1"/>
          <p:nvPr/>
        </p:nvSpPr>
        <p:spPr>
          <a:xfrm>
            <a:off x="8737815" y="3781802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</a:t>
            </a:r>
            <a:r>
              <a:rPr lang="en-US" altLang="ko-KR" sz="1100" dirty="0"/>
              <a:t>MDS</a:t>
            </a:r>
            <a:r>
              <a:rPr lang="ko-KR" altLang="en-US" sz="1100" dirty="0"/>
              <a:t>행렬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726562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783B-12F3-27D0-7B5E-6E67E495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D8FBC-609F-1F6E-2B86-BA2EC922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solution(Hybrid Pipelining)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5DAEA-2337-008A-8AA1-7EEDC93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032B8498-D86C-DD11-2C44-8B5D1B133B9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8F55C-BC5A-781E-3C1F-FFEC70E757A0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E1F0D6DD-037D-8270-C527-AC2759BA5575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9A7F0-255B-CACD-7B11-7CE27B508025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3E30-A62F-F512-8E8B-02C1761C7066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DFA43D3-0CA1-8EE9-3ED0-662E7EDBA5B2}"/>
              </a:ext>
            </a:extLst>
          </p:cNvPr>
          <p:cNvGrpSpPr/>
          <p:nvPr/>
        </p:nvGrpSpPr>
        <p:grpSpPr>
          <a:xfrm>
            <a:off x="5772693" y="2287721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86FAAC-2BF1-81D7-3008-3A4134A92EE5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A544F22-0B92-02C1-3CAE-335F7719081F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D4EDEC8-1B09-1907-7CAC-62A1FF037EB4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B7C39FFD-9781-9B75-9903-EAC4D6A4D0D1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B7C39FFD-9781-9B75-9903-EAC4D6A4D0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20B5D870-03D5-63FD-F0BB-FCAD2979477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20B5D870-03D5-63FD-F0BB-FCAD297947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B61F4EDE-0C05-8BF8-D5A6-742BFC8E159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B61F4EDE-0C05-8BF8-D5A6-742BFC8E15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3D1EFC03-EF04-EF47-C2B1-245406A14585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3D1EFC03-EF04-EF47-C2B1-245406A145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1FC5ED5-93D2-31C8-715A-16A78AD58DD9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1FC5ED5-93D2-31C8-715A-16A78AD58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666FB770-7BBF-4B27-407B-6403CA37A5CF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666FB770-7BBF-4B27-407B-6403CA37A5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67E063B6-2514-7834-5A4D-85EC520B89C3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67E063B6-2514-7834-5A4D-85EC520B8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68E65653-6E5D-4DC2-E526-568CE7AD8336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68E65653-6E5D-4DC2-E526-568CE7AD8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A2E9E16-8388-FFD7-CBFA-33D63B61E47A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4D67A040-5773-8274-B1D9-FC8BB6BFC2FE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4D67A040-5773-8274-B1D9-FC8BB6BFC2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457E1A-1DFA-6EE0-839B-DC43662F949B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457E1A-1DFA-6EE0-839B-DC43662F94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61F8E6A6-6409-335C-8A19-CA909397693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61F8E6A6-6409-335C-8A19-CA90939769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8354603A-03B3-41F6-0163-015ECEF93347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8354603A-03B3-41F6-0163-015ECEF933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C790D2FC-0E21-89C4-E738-FAE551F77233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C790D2FC-0E21-89C4-E738-FAE551F772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F887B1C7-9389-BC85-B98D-38622A3833F2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F887B1C7-9389-BC85-B98D-38622A3833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48DC90D8-8ED5-ACE0-F5FF-6ED71F54D2D2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48DC90D8-8ED5-ACE0-F5FF-6ED71F54D2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354B8F42-29C0-4FB4-1A58-ABE5B48DEC32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354B8F42-29C0-4FB4-1A58-ABE5B48DEC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7A7F460-9E49-A23A-3222-3D35620481C1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3C2EAB4A-9A53-930C-0B3F-5DE612D69EE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3C2EAB4A-9A53-930C-0B3F-5DE612D69E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70D26B0-9E61-62CC-27BF-BABCD6D5855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70D26B0-9E61-62CC-27BF-BABCD6D585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8357CE5F-7AD5-474D-AEFD-DACF80DCA17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8357CE5F-7AD5-474D-AEFD-DACF80DCA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B622DAA4-9296-694C-462A-D405AB2A7C40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B622DAA4-9296-694C-462A-D405AB2A7C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135A02AF-1AEE-8135-4846-067013263184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135A02AF-1AEE-8135-4846-0670132631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D66F2CB6-4A2C-D378-EF29-7DA3ADFBCDAB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D66F2CB6-4A2C-D378-EF29-7DA3ADFBCD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34E4F5F6-0653-D4A9-6AB0-8295B9BC354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34E4F5F6-0653-D4A9-6AB0-8295B9BC35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94FBABAC-5E0B-EF19-0B9C-71C5B6DB8D4E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94FBABAC-5E0B-EF19-0B9C-71C5B6DB8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AAAAA3B-B73E-6B5B-4979-505883395E48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AD277EE-D25F-A791-C41E-A543B6AD908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AD277EE-D25F-A791-C41E-A543B6AD90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4B0B7A8D-44C5-B86D-80DF-62F3BD7C00D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4B0B7A8D-44C5-B86D-80DF-62F3BD7C00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74450EF2-E281-67BD-FBCC-33D79A851C9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74450EF2-E281-67BD-FBCC-33D79A851C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64F7C753-0AE0-02BB-D5A1-264C82E82894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64F7C753-0AE0-02BB-D5A1-264C82E828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A53FAAAE-39B3-4457-D857-536354B335A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A53FAAAE-39B3-4457-D857-536354B335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5D0DB49A-223B-C869-8B62-9360C9BEB5B4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5D0DB49A-223B-C869-8B62-9360C9BEB5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AFA0F872-6D2E-1A08-2D72-CBEE8BD7DC86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AFA0F872-6D2E-1A08-2D72-CBEE8BD7DC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CCED0555-1247-7351-B454-D864961112E1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CCED0555-1247-7351-B454-D86496111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E378447C-1488-7CA6-459F-4D0A04DDC1BE}"/>
              </a:ext>
            </a:extLst>
          </p:cNvPr>
          <p:cNvSpPr/>
          <p:nvPr/>
        </p:nvSpPr>
        <p:spPr>
          <a:xfrm rot="5400000">
            <a:off x="3118485" y="235280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A5E472FE-BB4D-C350-D2D6-89AC2393BDD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003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C153487E-0E2D-A1FE-A82D-8CF2CEE0634E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0094B66-6627-5ACA-D887-E179381F2543}"/>
              </a:ext>
            </a:extLst>
          </p:cNvPr>
          <p:cNvGrpSpPr/>
          <p:nvPr/>
        </p:nvGrpSpPr>
        <p:grpSpPr>
          <a:xfrm>
            <a:off x="8736465" y="2302097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CDBDD5EC-CC7E-8F9C-5277-139783058C0E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B3DC64FE-DE36-E68C-C7DC-9B0AEE4FDBC9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66F9E5D1-4D7B-E79E-65FA-98435CA5628F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E1B9AE47-CE5C-AAA2-0A0B-A0ACD05C5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B8CB516A-5A5F-BF77-AA3F-6E2C0E94E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5E001725-202B-9954-5B4F-D91F4D81C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17E1ECB4-4B9C-6867-1867-1DBAF7457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D82B1919-E568-E55F-6EEA-EBDE902ED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064A4F14-0E15-33FC-F98A-7A0F5F18ED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A5CC2C68-1CFC-8281-3B4E-39E8E8BEC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131B8FF8-FAF6-6219-55F7-AFBDBAAB2E1D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CED66696-85ED-38A6-581F-79E7969AC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9CB9DB8E-1CC4-7DA3-F88D-89BB142B7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0F1A7534-34CB-1AB0-1521-DCBD35C41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A78296B6-110D-8697-4597-7A1960F918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6094BD42-6A6B-B501-776B-34E26FB045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4A7563D2-AD9A-26A6-024E-E46A23B0AC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54DFBD52-3F9C-A2A7-4E7B-FE73D93E7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FED8CB97-214C-DD5E-80F9-6F8A9E6CA7A8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2DEB1D9-17AE-B624-D217-DF8B64A7072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B7BD871-8FB7-B4B5-48F5-3AED2CF87C09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 flipV="1">
            <a:off x="2502824" y="2499125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77764AD-315D-E3F8-E49E-42AA0ECAC3F8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 flipV="1">
            <a:off x="2504180" y="2499125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86CE98D-5BB3-B088-49E0-4C3EC5CB8291}"/>
              </a:ext>
            </a:extLst>
          </p:cNvPr>
          <p:cNvCxnSpPr>
            <a:cxnSpLocks/>
            <a:stCxn id="80" idx="3"/>
            <a:endCxn id="3" idx="2"/>
          </p:cNvCxnSpPr>
          <p:nvPr/>
        </p:nvCxnSpPr>
        <p:spPr>
          <a:xfrm>
            <a:off x="2508248" y="3689336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8BD630D-B527-011E-DAC0-46569277F646}"/>
              </a:ext>
            </a:extLst>
          </p:cNvPr>
          <p:cNvCxnSpPr>
            <a:cxnSpLocks/>
            <a:stCxn id="79" idx="3"/>
            <a:endCxn id="3" idx="2"/>
          </p:cNvCxnSpPr>
          <p:nvPr/>
        </p:nvCxnSpPr>
        <p:spPr>
          <a:xfrm>
            <a:off x="2509607" y="4154648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838CCCF4-03D1-D4D5-57E8-90DC69961865}"/>
              </a:ext>
            </a:extLst>
          </p:cNvPr>
          <p:cNvCxnSpPr>
            <a:cxnSpLocks/>
            <a:stCxn id="78" idx="3"/>
            <a:endCxn id="3" idx="2"/>
          </p:cNvCxnSpPr>
          <p:nvPr/>
        </p:nvCxnSpPr>
        <p:spPr>
          <a:xfrm flipV="1">
            <a:off x="2505536" y="4238480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6695E271-C91A-0514-1289-E14DF35BF198}"/>
              </a:ext>
            </a:extLst>
          </p:cNvPr>
          <p:cNvCxnSpPr>
            <a:cxnSpLocks/>
            <a:stCxn id="77" idx="3"/>
            <a:endCxn id="3" idx="2"/>
          </p:cNvCxnSpPr>
          <p:nvPr/>
        </p:nvCxnSpPr>
        <p:spPr>
          <a:xfrm flipV="1">
            <a:off x="2506892" y="4238480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1E3642A-BEEF-1C33-03CE-D910A9D5FF7F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185B7-7725-5BD3-893F-072C40365208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822B40B-8F2E-9ECF-5104-96D40EB4A3D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741CA48-2D84-E9A8-EF5F-D67B312D042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F0C0D42-305C-05DE-CC1B-18D375EC32BD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CA93AF8-F4EE-A129-5F2E-E8EB8DE5140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3599061-2648-4A8D-61F4-51F821B5EF7C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F4CFC4-EFD9-2ECD-3736-8656136ED65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020DE3E-D0C8-D423-A3E8-99AD3D234E76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AAE76CCB-9CAB-9ED1-69B6-DA0F59838513}"/>
              </a:ext>
            </a:extLst>
          </p:cNvPr>
          <p:cNvGrpSpPr/>
          <p:nvPr/>
        </p:nvGrpSpPr>
        <p:grpSpPr>
          <a:xfrm>
            <a:off x="3423818" y="1563628"/>
            <a:ext cx="633124" cy="3534451"/>
            <a:chOff x="3423818" y="1563628"/>
            <a:chExt cx="633124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8A9BA7C-21AE-8DAB-8E8E-75BF7CFEC479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9838D0C9-E835-9F86-A9F0-27B85C767794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60A39ACA-C02A-2E8D-0B77-09EE093F9D0A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C139A8F5-BDFE-7135-B50E-E676A595257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8709048-65FD-A267-F790-724D71E5C1CD}"/>
                </a:ext>
              </a:extLst>
            </p:cNvPr>
            <p:cNvCxnSpPr>
              <a:cxnSpLocks/>
              <a:stCxn id="3" idx="0"/>
              <a:endCxn id="89" idx="1"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1AF64CE3-6A58-55D6-404A-64D87AFAE43A}"/>
                </a:ext>
              </a:extLst>
            </p:cNvPr>
            <p:cNvCxnSpPr>
              <a:cxnSpLocks/>
              <a:stCxn id="3" idx="0"/>
              <a:endCxn id="88" idx="1"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ABC8B8F8-4679-66F8-2164-78E411100245}"/>
                </a:ext>
              </a:extLst>
            </p:cNvPr>
            <p:cNvCxnSpPr>
              <a:cxnSpLocks/>
              <a:stCxn id="3" idx="0"/>
              <a:endCxn id="87" idx="1"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DAEFA09-1B3E-E0D6-904A-1ECFBA3C1224}"/>
                </a:ext>
              </a:extLst>
            </p:cNvPr>
            <p:cNvCxnSpPr>
              <a:cxnSpLocks/>
              <a:stCxn id="3" idx="0"/>
              <a:endCxn id="90" idx="1"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28D9B5D-BF73-F67C-489C-2D6E158A9511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3A54B3F-B3F1-9C7D-7D69-839B76F6F9E5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7C4640C-1B4D-0506-50B0-6FA2BCCAB97F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7A4E28F-4C37-ACAB-4A01-BFECA3730854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0D71160-F774-D8DA-4051-5427D2B8DD8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4570B46-0593-5F85-B943-DB4951B79083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61EAE15-6195-4140-89C1-0A52A38178F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19CF1B2-C2C4-C5A2-4181-2B4611A495FF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5DB36BED-4ED5-522D-948F-421FD017FBE1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sp>
        <p:nvSpPr>
          <p:cNvPr id="3" name="사다리꼴 2">
            <a:extLst>
              <a:ext uri="{FF2B5EF4-FFF2-40B4-BE49-F238E27FC236}">
                <a16:creationId xmlns:a16="http://schemas.microsoft.com/office/drawing/2014/main" id="{0702D1DE-2426-6484-3539-3758294F90F2}"/>
              </a:ext>
            </a:extLst>
          </p:cNvPr>
          <p:cNvSpPr/>
          <p:nvPr/>
        </p:nvSpPr>
        <p:spPr>
          <a:xfrm rot="5400000">
            <a:off x="3118484" y="4092155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51B5ECB-4443-89BD-362C-B4D1905BADCF}"/>
              </a:ext>
            </a:extLst>
          </p:cNvPr>
          <p:cNvGrpSpPr/>
          <p:nvPr/>
        </p:nvGrpSpPr>
        <p:grpSpPr>
          <a:xfrm>
            <a:off x="6184900" y="1557168"/>
            <a:ext cx="897182" cy="3534451"/>
            <a:chOff x="3423818" y="1563628"/>
            <a:chExt cx="633124" cy="3534451"/>
          </a:xfrm>
        </p:grpSpPr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7CCA1464-8AB3-CF03-63AD-356411ADC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8D8990B2-E784-6E93-510F-B2971F5E6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A58038C9-06DB-74FD-A354-43B0AADA505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3DEB3CD7-970C-BF6A-C095-4B8BA170786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8C510E4A-9A97-1763-EE0F-696D50C2E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2027C005-709C-740E-9B3D-1BC9E2F94F7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3AFE2A36-F39E-80B3-6361-E3EB346DBA0C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6D92E3B9-A563-2712-DCCD-087EDE727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8C3CC3-8394-A34E-5B19-2E5B9A455D0B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284BEA-C879-FD6C-E5C4-68868258F0DA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838F21-93C3-85A8-D33B-2E78EFEC5B5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45E066-F335-A2C7-9FFE-0B61F6745770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CC0FB0-4574-40E8-D28E-F15BB12354ED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3082BB-91BE-905E-ACE8-5D4EA3435BC1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8FA7F2-EC91-62F1-D484-CCEAF37FB83B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8D2140-5E97-F83B-E8FF-522909D1CE13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1275BFF-C358-4856-D59E-75F3DBB49507}"/>
              </a:ext>
            </a:extLst>
          </p:cNvPr>
          <p:cNvGrpSpPr/>
          <p:nvPr/>
        </p:nvGrpSpPr>
        <p:grpSpPr>
          <a:xfrm>
            <a:off x="5766343" y="4031893"/>
            <a:ext cx="418013" cy="431074"/>
            <a:chOff x="5917473" y="4950823"/>
            <a:chExt cx="418013" cy="431074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77FA9CD-D380-AEB6-2899-9709ACDB20BD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8AE16E9-ADA2-3B9D-895A-65C017261F05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48058421-CC5E-676D-C324-A9DCA6045618}"/>
              </a:ext>
            </a:extLst>
          </p:cNvPr>
          <p:cNvCxnSpPr>
            <a:cxnSpLocks/>
          </p:cNvCxnSpPr>
          <p:nvPr/>
        </p:nvCxnSpPr>
        <p:spPr>
          <a:xfrm>
            <a:off x="5135361" y="1831811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4AA356E8-A7B3-22BA-74B7-BE12BA397A25}"/>
              </a:ext>
            </a:extLst>
          </p:cNvPr>
          <p:cNvCxnSpPr>
            <a:cxnSpLocks/>
          </p:cNvCxnSpPr>
          <p:nvPr/>
        </p:nvCxnSpPr>
        <p:spPr>
          <a:xfrm>
            <a:off x="5136717" y="2297123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BE5C6E1-13CF-F91F-1D8A-8AE3B75FE663}"/>
              </a:ext>
            </a:extLst>
          </p:cNvPr>
          <p:cNvCxnSpPr>
            <a:cxnSpLocks/>
          </p:cNvCxnSpPr>
          <p:nvPr/>
        </p:nvCxnSpPr>
        <p:spPr>
          <a:xfrm flipV="1">
            <a:off x="5138073" y="2502848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88D9B47-30F8-E314-C444-4C4F800145DD}"/>
              </a:ext>
            </a:extLst>
          </p:cNvPr>
          <p:cNvCxnSpPr>
            <a:cxnSpLocks/>
          </p:cNvCxnSpPr>
          <p:nvPr/>
        </p:nvCxnSpPr>
        <p:spPr>
          <a:xfrm flipV="1">
            <a:off x="5139429" y="2502848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2165404B-83E0-5A0A-CA40-B50188966CCF}"/>
              </a:ext>
            </a:extLst>
          </p:cNvPr>
          <p:cNvCxnSpPr>
            <a:cxnSpLocks/>
          </p:cNvCxnSpPr>
          <p:nvPr/>
        </p:nvCxnSpPr>
        <p:spPr>
          <a:xfrm>
            <a:off x="5143497" y="3693059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1D968050-831F-A05B-ABB3-B50F5BBC9BC3}"/>
              </a:ext>
            </a:extLst>
          </p:cNvPr>
          <p:cNvCxnSpPr>
            <a:cxnSpLocks/>
          </p:cNvCxnSpPr>
          <p:nvPr/>
        </p:nvCxnSpPr>
        <p:spPr>
          <a:xfrm>
            <a:off x="5144856" y="4158371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연결선: 꺾임 447">
            <a:extLst>
              <a:ext uri="{FF2B5EF4-FFF2-40B4-BE49-F238E27FC236}">
                <a16:creationId xmlns:a16="http://schemas.microsoft.com/office/drawing/2014/main" id="{01964E48-139C-EA3D-924D-0BF400010A35}"/>
              </a:ext>
            </a:extLst>
          </p:cNvPr>
          <p:cNvCxnSpPr>
            <a:cxnSpLocks/>
          </p:cNvCxnSpPr>
          <p:nvPr/>
        </p:nvCxnSpPr>
        <p:spPr>
          <a:xfrm flipV="1">
            <a:off x="5140785" y="4242203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5C701BAC-2CBC-7731-CE1F-EC6033205D3E}"/>
              </a:ext>
            </a:extLst>
          </p:cNvPr>
          <p:cNvCxnSpPr>
            <a:cxnSpLocks/>
          </p:cNvCxnSpPr>
          <p:nvPr/>
        </p:nvCxnSpPr>
        <p:spPr>
          <a:xfrm flipV="1">
            <a:off x="5142141" y="4242203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0E2DCE15-CDCD-CA46-EFC8-9E2FE5F0D630}"/>
              </a:ext>
            </a:extLst>
          </p:cNvPr>
          <p:cNvGrpSpPr/>
          <p:nvPr/>
        </p:nvGrpSpPr>
        <p:grpSpPr>
          <a:xfrm>
            <a:off x="5103581" y="1567023"/>
            <a:ext cx="349251" cy="3534451"/>
            <a:chOff x="2468332" y="1563300"/>
            <a:chExt cx="349251" cy="3534451"/>
          </a:xfrm>
        </p:grpSpPr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90E05483-3A9D-D709-D2F7-2B751A7B53E0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F7093B7D-39FA-2B89-B6BE-D36D22C2FFA9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344BEA35-E01B-1BDB-0F8C-D07478E68A60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6D972E41-312D-C47D-1D56-FBF49689AEAF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81318F1D-C323-F485-3202-F405F4DF2002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0AE84E2F-2ADA-DE25-F821-7A0230660E84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1D43CB50-503B-C118-8C75-84E2A2B0D7F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A0815E60-66B7-1E0B-315E-07020A424D1C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96" name="그룹 495">
            <a:extLst>
              <a:ext uri="{FF2B5EF4-FFF2-40B4-BE49-F238E27FC236}">
                <a16:creationId xmlns:a16="http://schemas.microsoft.com/office/drawing/2014/main" id="{DDD5573E-F302-485A-689A-743C9FAD376E}"/>
              </a:ext>
            </a:extLst>
          </p:cNvPr>
          <p:cNvGrpSpPr/>
          <p:nvPr/>
        </p:nvGrpSpPr>
        <p:grpSpPr>
          <a:xfrm>
            <a:off x="9512300" y="1557168"/>
            <a:ext cx="897182" cy="3534451"/>
            <a:chOff x="3423818" y="1563628"/>
            <a:chExt cx="633124" cy="3534451"/>
          </a:xfrm>
        </p:grpSpPr>
        <p:cxnSp>
          <p:nvCxnSpPr>
            <p:cNvPr id="497" name="연결선: 꺾임 496">
              <a:extLst>
                <a:ext uri="{FF2B5EF4-FFF2-40B4-BE49-F238E27FC236}">
                  <a16:creationId xmlns:a16="http://schemas.microsoft.com/office/drawing/2014/main" id="{321BAFC8-80E1-D895-23F0-C9343FB85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연결선: 꺾임 497">
              <a:extLst>
                <a:ext uri="{FF2B5EF4-FFF2-40B4-BE49-F238E27FC236}">
                  <a16:creationId xmlns:a16="http://schemas.microsoft.com/office/drawing/2014/main" id="{761A07A8-DF0F-6989-26CA-EEF771B69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연결선: 꺾임 498">
              <a:extLst>
                <a:ext uri="{FF2B5EF4-FFF2-40B4-BE49-F238E27FC236}">
                  <a16:creationId xmlns:a16="http://schemas.microsoft.com/office/drawing/2014/main" id="{184DE119-D12D-71EC-7FCD-57654B92E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연결선: 꺾임 499">
              <a:extLst>
                <a:ext uri="{FF2B5EF4-FFF2-40B4-BE49-F238E27FC236}">
                  <a16:creationId xmlns:a16="http://schemas.microsoft.com/office/drawing/2014/main" id="{4383A507-5A71-27F3-53F2-CE2F01ADB49E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연결선: 꺾임 500">
              <a:extLst>
                <a:ext uri="{FF2B5EF4-FFF2-40B4-BE49-F238E27FC236}">
                  <a16:creationId xmlns:a16="http://schemas.microsoft.com/office/drawing/2014/main" id="{6B31AE0E-20B3-E801-2739-D9FFC7A51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연결선: 꺾임 501">
              <a:extLst>
                <a:ext uri="{FF2B5EF4-FFF2-40B4-BE49-F238E27FC236}">
                  <a16:creationId xmlns:a16="http://schemas.microsoft.com/office/drawing/2014/main" id="{B072A651-65B7-F080-FB89-58F28D92DA8B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연결선: 꺾임 502">
              <a:extLst>
                <a:ext uri="{FF2B5EF4-FFF2-40B4-BE49-F238E27FC236}">
                  <a16:creationId xmlns:a16="http://schemas.microsoft.com/office/drawing/2014/main" id="{503E9013-48E7-5A58-5E44-7D3FC88AAC49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연결선: 꺾임 503">
              <a:extLst>
                <a:ext uri="{FF2B5EF4-FFF2-40B4-BE49-F238E27FC236}">
                  <a16:creationId xmlns:a16="http://schemas.microsoft.com/office/drawing/2014/main" id="{B9931ADB-020F-93C9-2889-B98A00478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5E75B852-55FE-F41F-ED17-A10B2CF56CA9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28AF0F9-E5E3-3364-2A3D-6F330CE3D015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DA6CFEBF-2E46-3CDB-3738-AF8955117F41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35965D3-A902-08E6-3079-445D47A5032E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55AD8DDB-0640-1CAA-8DEA-293E2D17032D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7D5519A9-98AC-F701-DF82-B5FEB3D4495D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BF4DB309-1D25-203A-60EA-34734169D9B9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C76375-F0C9-2C0E-8ACA-F31FFC0B2632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7EBD877-558C-E17A-BBBE-F7F583E70B69}"/>
              </a:ext>
            </a:extLst>
          </p:cNvPr>
          <p:cNvCxnSpPr>
            <a:cxnSpLocks/>
          </p:cNvCxnSpPr>
          <p:nvPr/>
        </p:nvCxnSpPr>
        <p:spPr>
          <a:xfrm>
            <a:off x="8170661" y="1831811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1E879A95-2DD6-6046-E2B2-93EB5ECC5163}"/>
              </a:ext>
            </a:extLst>
          </p:cNvPr>
          <p:cNvCxnSpPr>
            <a:cxnSpLocks/>
          </p:cNvCxnSpPr>
          <p:nvPr/>
        </p:nvCxnSpPr>
        <p:spPr>
          <a:xfrm>
            <a:off x="8172017" y="2297123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865DE90E-FE4F-19AD-A1F3-98B6FD569AD6}"/>
              </a:ext>
            </a:extLst>
          </p:cNvPr>
          <p:cNvCxnSpPr>
            <a:cxnSpLocks/>
          </p:cNvCxnSpPr>
          <p:nvPr/>
        </p:nvCxnSpPr>
        <p:spPr>
          <a:xfrm flipV="1">
            <a:off x="8173373" y="2502848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51D917A0-1C0E-08BA-39D4-B3E99F9F8FCD}"/>
              </a:ext>
            </a:extLst>
          </p:cNvPr>
          <p:cNvCxnSpPr>
            <a:cxnSpLocks/>
          </p:cNvCxnSpPr>
          <p:nvPr/>
        </p:nvCxnSpPr>
        <p:spPr>
          <a:xfrm flipV="1">
            <a:off x="8174729" y="2502848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11B9DD38-0130-0F5C-E64A-60953D5D8F59}"/>
              </a:ext>
            </a:extLst>
          </p:cNvPr>
          <p:cNvCxnSpPr>
            <a:cxnSpLocks/>
          </p:cNvCxnSpPr>
          <p:nvPr/>
        </p:nvCxnSpPr>
        <p:spPr>
          <a:xfrm>
            <a:off x="8178797" y="3693059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1ED055CA-885C-64CA-E274-42E4BB158DAE}"/>
              </a:ext>
            </a:extLst>
          </p:cNvPr>
          <p:cNvCxnSpPr>
            <a:cxnSpLocks/>
          </p:cNvCxnSpPr>
          <p:nvPr/>
        </p:nvCxnSpPr>
        <p:spPr>
          <a:xfrm>
            <a:off x="8180156" y="4158371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E72DA2E7-9C95-B138-9D34-782E6FE80BB8}"/>
              </a:ext>
            </a:extLst>
          </p:cNvPr>
          <p:cNvCxnSpPr>
            <a:cxnSpLocks/>
          </p:cNvCxnSpPr>
          <p:nvPr/>
        </p:nvCxnSpPr>
        <p:spPr>
          <a:xfrm flipV="1">
            <a:off x="8176085" y="4242203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8CE891EC-CDF9-DD31-6C49-4EFDDCC7E9AA}"/>
              </a:ext>
            </a:extLst>
          </p:cNvPr>
          <p:cNvCxnSpPr>
            <a:cxnSpLocks/>
          </p:cNvCxnSpPr>
          <p:nvPr/>
        </p:nvCxnSpPr>
        <p:spPr>
          <a:xfrm flipV="1">
            <a:off x="8177441" y="4242203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DED5980-1BC3-E4D8-159B-3E914E6C0BD2}"/>
              </a:ext>
            </a:extLst>
          </p:cNvPr>
          <p:cNvGrpSpPr/>
          <p:nvPr/>
        </p:nvGrpSpPr>
        <p:grpSpPr>
          <a:xfrm>
            <a:off x="8138881" y="1567023"/>
            <a:ext cx="349251" cy="3534451"/>
            <a:chOff x="2468332" y="1563300"/>
            <a:chExt cx="349251" cy="3534451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6B5DDBA-CC48-E6F3-07CB-C522A23E50AB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DF34C7A-9026-00E4-9462-2D1C5E4AF786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982AF26-53BA-7289-A501-676A1CDDB943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2FA9AB-BC95-CD30-3F68-2E5E74162EC6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E8841FC-09B9-F694-E3FA-63B2D55C425F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B3AC086-5BB8-4B9C-DEEE-EDBF7E4D592A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C415845-7854-E893-1B2D-25BDB7AF0F73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4FD9336-ADE1-DCC1-8BE8-1FD279B06449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472C8FD-B242-2701-769F-C6423FE1B05B}"/>
              </a:ext>
            </a:extLst>
          </p:cNvPr>
          <p:cNvGrpSpPr/>
          <p:nvPr/>
        </p:nvGrpSpPr>
        <p:grpSpPr>
          <a:xfrm>
            <a:off x="8801718" y="4046150"/>
            <a:ext cx="781799" cy="384658"/>
            <a:chOff x="8870910" y="4919718"/>
            <a:chExt cx="781799" cy="384658"/>
          </a:xfrm>
        </p:grpSpPr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444C1ABD-896D-81FD-1BA5-F44058F74360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8CC2BAE-060E-77E8-0955-500B202F6065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139A78A-0ED1-82FB-AF33-70B103DFE3B4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858DC682-F198-E32D-7D0F-62919991C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FB862607-B093-11C5-C3D3-68B9C5A62E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CA2019A2-BD38-A6BE-10E7-0997AD44E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22C403E2-C838-F027-A539-0F1B8F7D2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1BB05EF7-3BEE-49BD-618B-22AEBB2C3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994ADDF2-E0E2-CB05-2ADD-F260000B98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36E8157F-C979-53D0-EEC4-82F23F964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C4D2E201-26EB-964D-3FC3-6650DAD368E9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18E7FF5-5BE6-200B-9CAB-2C0FA93A1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96437286-6F81-2FDA-2737-0D7F9F56E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89D7E07D-4E8C-0A7A-EA11-91C519963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ADC1386A-5B8F-E79B-3AE3-4FF4E9869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EEB634AE-1464-A0C6-93C3-FF5BFD882B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2A39E5C2-A26D-C4CB-80CB-AB36A986A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AF1B5F2-97C3-B124-9176-9E7F0779C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D8AAB5-440B-2186-A396-DFA2CCD0039A}"/>
              </a:ext>
            </a:extLst>
          </p:cNvPr>
          <p:cNvSpPr txBox="1"/>
          <p:nvPr/>
        </p:nvSpPr>
        <p:spPr>
          <a:xfrm>
            <a:off x="8766740" y="4555106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</a:t>
            </a:r>
            <a:r>
              <a:rPr lang="en-US" altLang="ko-KR" sz="1100" dirty="0"/>
              <a:t>MDS</a:t>
            </a:r>
            <a:r>
              <a:rPr lang="ko-KR" altLang="en-US" sz="1100" dirty="0"/>
              <a:t>행렬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754186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2C53-9BD1-E2D5-47A9-831ACADD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6B5F6-F95D-F692-1146-048DF07E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교수님 </a:t>
            </a:r>
            <a:r>
              <a:rPr lang="en-US" altLang="ko-KR" dirty="0">
                <a:solidFill>
                  <a:schemeClr val="bg1"/>
                </a:solidFill>
              </a:rPr>
              <a:t>solution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2DA24-DA21-AD34-C1D6-9E4ABA64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896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B330-43B5-46B8-F3C7-99AF67C2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C7A1-4F5A-0B5F-9B4E-B50A537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교수님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498F2-60D5-2AB7-5427-D4436F94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6D009-3511-9DD2-3633-A1462A54399D}"/>
              </a:ext>
            </a:extLst>
          </p:cNvPr>
          <p:cNvSpPr txBox="1"/>
          <p:nvPr/>
        </p:nvSpPr>
        <p:spPr>
          <a:xfrm>
            <a:off x="1671953" y="5803246"/>
            <a:ext cx="225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</a:t>
            </a:r>
            <a:r>
              <a:rPr lang="ko-KR" altLang="en-US" sz="1200" dirty="0"/>
              <a:t>의 </a:t>
            </a:r>
            <a:r>
              <a:rPr lang="en-US" altLang="ko-KR" sz="1200" dirty="0"/>
              <a:t>sponge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pPr algn="ctr"/>
            <a:r>
              <a:rPr lang="en-US" altLang="ko-KR" sz="1200" dirty="0"/>
              <a:t>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8EF85-1F10-C165-F1D8-5F86BEE0F8DE}"/>
                  </a:ext>
                </a:extLst>
              </p:cNvPr>
              <p:cNvSpPr txBox="1"/>
              <p:nvPr/>
            </p:nvSpPr>
            <p:spPr>
              <a:xfrm>
                <a:off x="728950" y="1133251"/>
                <a:ext cx="921515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기존 </a:t>
                </a:r>
                <a:r>
                  <a:rPr lang="en-US" altLang="ko-KR" b="1" dirty="0"/>
                  <a:t>Poseidon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BN254</a:t>
                </a:r>
                <a:r>
                  <a:rPr lang="ko-KR" altLang="en-US" sz="1600" dirty="0"/>
                  <a:t> 곡선 사용 → </a:t>
                </a:r>
                <a:r>
                  <a:rPr lang="en-US" altLang="ko-KR" sz="1600" dirty="0"/>
                  <a:t>Field </a:t>
                </a:r>
                <a:r>
                  <a:rPr lang="ko-KR" altLang="en-US" sz="1600" dirty="0"/>
                  <a:t>하나 당 </a:t>
                </a:r>
                <a:r>
                  <a:rPr lang="en-US" altLang="ko-KR" sz="1600" dirty="0"/>
                  <a:t>254-bit </a:t>
                </a:r>
                <a:r>
                  <a:rPr lang="ko-KR" altLang="en-US" sz="1600" dirty="0"/>
                  <a:t>수준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기존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해시함수</a:t>
                </a:r>
                <a:r>
                  <a:rPr lang="en-US" altLang="ko-KR" sz="1600" dirty="0"/>
                  <a:t>(SHA3 </a:t>
                </a:r>
                <a:r>
                  <a:rPr lang="ko-KR" altLang="en-US" sz="1600" dirty="0"/>
                  <a:t>등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은 </a:t>
                </a:r>
                <a:r>
                  <a:rPr lang="ko-KR" altLang="en-US" sz="1600" dirty="0" err="1"/>
                  <a:t>해시값은</a:t>
                </a:r>
                <a:r>
                  <a:rPr lang="ko-KR" altLang="en-US" sz="1600" dirty="0"/>
                  <a:t> 정해진 위치에서만 꺼낸다는 규칙 존재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Circol</a:t>
                </a:r>
                <a:r>
                  <a:rPr lang="en-US" altLang="ko-KR" sz="1600" dirty="0"/>
                  <a:t>-lib, Poseidon-</a:t>
                </a:r>
                <a:r>
                  <a:rPr lang="en-US" altLang="ko-KR" sz="1600" dirty="0" err="1"/>
                  <a:t>rs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등 라이브러리에서도 </a:t>
                </a:r>
                <a:r>
                  <a:rPr lang="en-US" altLang="ko-KR" sz="1600" dirty="0"/>
                  <a:t>S0</a:t>
                </a:r>
                <a:r>
                  <a:rPr lang="ko-KR" altLang="en-US" sz="1600" dirty="0"/>
                  <a:t>만 반환하도록 설계됨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Solution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S0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-0bit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S1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 </a:t>
                </a:r>
                <a:r>
                  <a:rPr lang="en-US" altLang="ko-KR" sz="1600" dirty="0"/>
                  <a:t>: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ko-KR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8EF85-1F10-C165-F1D8-5F86BEE0F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50" y="1133251"/>
                <a:ext cx="9215150" cy="2123658"/>
              </a:xfrm>
              <a:prstGeom prst="rect">
                <a:avLst/>
              </a:prstGeom>
              <a:blipFill>
                <a:blip r:embed="rId3"/>
                <a:stretch>
                  <a:fillRect l="-596" t="-1724" b="-28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9734C902-982D-6725-4AC4-31BF7BE123A1}"/>
              </a:ext>
            </a:extLst>
          </p:cNvPr>
          <p:cNvGrpSpPr/>
          <p:nvPr/>
        </p:nvGrpSpPr>
        <p:grpSpPr>
          <a:xfrm>
            <a:off x="428502" y="4166512"/>
            <a:ext cx="4746041" cy="1354121"/>
            <a:chOff x="170552" y="2895376"/>
            <a:chExt cx="4746041" cy="1354121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E5E59FD-7E17-C217-5CFC-791F0564EDB6}"/>
                </a:ext>
              </a:extLst>
            </p:cNvPr>
            <p:cNvGrpSpPr/>
            <p:nvPr/>
          </p:nvGrpSpPr>
          <p:grpSpPr>
            <a:xfrm>
              <a:off x="170552" y="2895376"/>
              <a:ext cx="2375725" cy="1354121"/>
              <a:chOff x="170552" y="2895376"/>
              <a:chExt cx="2375725" cy="1354121"/>
            </a:xfrm>
          </p:grpSpPr>
          <p:sp>
            <p:nvSpPr>
              <p:cNvPr id="7" name="왼쪽 중괄호 6">
                <a:extLst>
                  <a:ext uri="{FF2B5EF4-FFF2-40B4-BE49-F238E27FC236}">
                    <a16:creationId xmlns:a16="http://schemas.microsoft.com/office/drawing/2014/main" id="{359F4CB2-B3B5-BD98-F4FC-A66CB32CC52E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1CA2E6-31A0-2B72-B5E5-D8B0752FC2E8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E3132077-129F-31DF-0C0D-8C6749738F7B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791FA1-4B81-0FC3-D907-6777DD3CADD1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1A13833-9729-4A85-7722-665D09DE9B8F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371ACCA-0FB2-C884-E35F-99F3AD62B028}"/>
                </a:ext>
              </a:extLst>
            </p:cNvPr>
            <p:cNvSpPr/>
            <p:nvPr/>
          </p:nvSpPr>
          <p:spPr>
            <a:xfrm>
              <a:off x="3012140" y="2895376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6CAFB2C-7BAC-0D3B-35E7-0DBA9FC4C198}"/>
                </a:ext>
              </a:extLst>
            </p:cNvPr>
            <p:cNvGrpSpPr/>
            <p:nvPr/>
          </p:nvGrpSpPr>
          <p:grpSpPr>
            <a:xfrm>
              <a:off x="2586203" y="3267635"/>
              <a:ext cx="378079" cy="845898"/>
              <a:chOff x="2586203" y="3267635"/>
              <a:chExt cx="378079" cy="845898"/>
            </a:xfrm>
          </p:grpSpPr>
          <p:sp>
            <p:nvSpPr>
              <p:cNvPr id="16" name="화살표: 오른쪽 15">
                <a:extLst>
                  <a:ext uri="{FF2B5EF4-FFF2-40B4-BE49-F238E27FC236}">
                    <a16:creationId xmlns:a16="http://schemas.microsoft.com/office/drawing/2014/main" id="{8AC86E55-D936-0A1F-B1EF-6A7213305B6D}"/>
                  </a:ext>
                </a:extLst>
              </p:cNvPr>
              <p:cNvSpPr/>
              <p:nvPr/>
            </p:nvSpPr>
            <p:spPr>
              <a:xfrm>
                <a:off x="2586203" y="3267635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화살표: 오른쪽 16">
                <a:extLst>
                  <a:ext uri="{FF2B5EF4-FFF2-40B4-BE49-F238E27FC236}">
                    <a16:creationId xmlns:a16="http://schemas.microsoft.com/office/drawing/2014/main" id="{123FC2C8-879D-13E4-B2CB-4336321AF109}"/>
                  </a:ext>
                </a:extLst>
              </p:cNvPr>
              <p:cNvSpPr/>
              <p:nvPr/>
            </p:nvSpPr>
            <p:spPr>
              <a:xfrm>
                <a:off x="2587764" y="3952168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B3CF7DF-B9B9-5676-CFAA-6F3BF5B05382}"/>
                </a:ext>
              </a:extLst>
            </p:cNvPr>
            <p:cNvGrpSpPr/>
            <p:nvPr/>
          </p:nvGrpSpPr>
          <p:grpSpPr>
            <a:xfrm>
              <a:off x="3817079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8CEAE34-6EDC-49D1-D230-497F1E12B542}"/>
                </a:ext>
              </a:extLst>
            </p:cNvPr>
            <p:cNvGrpSpPr/>
            <p:nvPr/>
          </p:nvGrpSpPr>
          <p:grpSpPr>
            <a:xfrm>
              <a:off x="3364577" y="3267635"/>
              <a:ext cx="378079" cy="845898"/>
              <a:chOff x="2586203" y="3267635"/>
              <a:chExt cx="378079" cy="845898"/>
            </a:xfrm>
          </p:grpSpPr>
          <p:sp>
            <p:nvSpPr>
              <p:cNvPr id="27" name="화살표: 오른쪽 26">
                <a:extLst>
                  <a:ext uri="{FF2B5EF4-FFF2-40B4-BE49-F238E27FC236}">
                    <a16:creationId xmlns:a16="http://schemas.microsoft.com/office/drawing/2014/main" id="{CBA9DB3E-4AB8-B8A5-7DA9-0C912F8C6349}"/>
                  </a:ext>
                </a:extLst>
              </p:cNvPr>
              <p:cNvSpPr/>
              <p:nvPr/>
            </p:nvSpPr>
            <p:spPr>
              <a:xfrm>
                <a:off x="2586203" y="3267635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화살표: 오른쪽 27">
                <a:extLst>
                  <a:ext uri="{FF2B5EF4-FFF2-40B4-BE49-F238E27FC236}">
                    <a16:creationId xmlns:a16="http://schemas.microsoft.com/office/drawing/2014/main" id="{90FB8BE7-4A6A-EC4E-D373-9E709DD8D1AF}"/>
                  </a:ext>
                </a:extLst>
              </p:cNvPr>
              <p:cNvSpPr/>
              <p:nvPr/>
            </p:nvSpPr>
            <p:spPr>
              <a:xfrm>
                <a:off x="2587764" y="3952168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DB284D39-137C-164B-6FE8-BE0A2E5F1FF4}"/>
              </a:ext>
            </a:extLst>
          </p:cNvPr>
          <p:cNvCxnSpPr>
            <a:stCxn id="21" idx="3"/>
          </p:cNvCxnSpPr>
          <p:nvPr/>
        </p:nvCxnSpPr>
        <p:spPr>
          <a:xfrm flipV="1">
            <a:off x="5166407" y="3762104"/>
            <a:ext cx="1404207" cy="614577"/>
          </a:xfrm>
          <a:prstGeom prst="bentConnector3">
            <a:avLst>
              <a:gd name="adj1" fmla="val 662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E6559D-2278-48E9-E87F-8909A4B0F75E}"/>
                  </a:ext>
                </a:extLst>
              </p:cNvPr>
              <p:cNvSpPr txBox="1"/>
              <p:nvPr/>
            </p:nvSpPr>
            <p:spPr>
              <a:xfrm>
                <a:off x="6541017" y="3621450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E6559D-2278-48E9-E87F-8909A4B0F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017" y="3621450"/>
                <a:ext cx="5608423" cy="338554"/>
              </a:xfrm>
              <a:prstGeom prst="rect">
                <a:avLst/>
              </a:prstGeom>
              <a:blipFill>
                <a:blip r:embed="rId10"/>
                <a:stretch>
                  <a:fillRect l="-543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53F549B-BDB4-6FD9-39D9-0A0E7832DC6F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166407" y="4376681"/>
            <a:ext cx="1420082" cy="343850"/>
          </a:xfrm>
          <a:prstGeom prst="bentConnector3">
            <a:avLst>
              <a:gd name="adj1" fmla="val 660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92A64DF4-1283-7151-4DC6-213BB6920FD9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67763" y="4841993"/>
            <a:ext cx="1425506" cy="521572"/>
          </a:xfrm>
          <a:prstGeom prst="bentConnector3">
            <a:avLst>
              <a:gd name="adj1" fmla="val 606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99CF1D8-925A-9630-238C-BDFC8BEAD3FA}"/>
                  </a:ext>
                </a:extLst>
              </p:cNvPr>
              <p:cNvSpPr txBox="1"/>
              <p:nvPr/>
            </p:nvSpPr>
            <p:spPr>
              <a:xfrm>
                <a:off x="6586489" y="455125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99CF1D8-925A-9630-238C-BDFC8BEAD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489" y="4551254"/>
                <a:ext cx="5608423" cy="338554"/>
              </a:xfrm>
              <a:prstGeom prst="rect">
                <a:avLst/>
              </a:prstGeom>
              <a:blipFill>
                <a:blip r:embed="rId11"/>
                <a:stretch>
                  <a:fillRect l="-54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B5028A-DBAA-FE62-BF30-A21EE99077B0}"/>
                  </a:ext>
                </a:extLst>
              </p:cNvPr>
              <p:cNvSpPr txBox="1"/>
              <p:nvPr/>
            </p:nvSpPr>
            <p:spPr>
              <a:xfrm>
                <a:off x="6593269" y="5194288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B5028A-DBAA-FE62-BF30-A21EE9907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5194288"/>
                <a:ext cx="5608423" cy="338554"/>
              </a:xfrm>
              <a:prstGeom prst="rect">
                <a:avLst/>
              </a:prstGeom>
              <a:blipFill>
                <a:blip r:embed="rId12"/>
                <a:stretch>
                  <a:fillRect l="-652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E09ADC71-53C7-F4F5-73D6-0953D5A858C2}"/>
              </a:ext>
            </a:extLst>
          </p:cNvPr>
          <p:cNvSpPr/>
          <p:nvPr/>
        </p:nvSpPr>
        <p:spPr>
          <a:xfrm>
            <a:off x="7897160" y="4564589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DA246819-54FB-23B3-59D4-D909FF524FDD}"/>
              </a:ext>
            </a:extLst>
          </p:cNvPr>
          <p:cNvSpPr/>
          <p:nvPr/>
        </p:nvSpPr>
        <p:spPr>
          <a:xfrm>
            <a:off x="7897160" y="5210395"/>
            <a:ext cx="123865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A0620AF-87FD-CE9A-0929-20FF2060AD18}"/>
                  </a:ext>
                </a:extLst>
              </p:cNvPr>
              <p:cNvSpPr txBox="1"/>
              <p:nvPr/>
            </p:nvSpPr>
            <p:spPr>
              <a:xfrm>
                <a:off x="6593269" y="6211699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A0620AF-87FD-CE9A-0929-20FF2060A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6211699"/>
                <a:ext cx="5608423" cy="338554"/>
              </a:xfrm>
              <a:prstGeom prst="rect">
                <a:avLst/>
              </a:prstGeom>
              <a:blipFill>
                <a:blip r:embed="rId13"/>
                <a:stretch>
                  <a:fillRect l="-652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37A6BA4A-27BE-D365-8730-075790357407}"/>
              </a:ext>
            </a:extLst>
          </p:cNvPr>
          <p:cNvCxnSpPr>
            <a:cxnSpLocks/>
            <a:stCxn id="450" idx="2"/>
          </p:cNvCxnSpPr>
          <p:nvPr/>
        </p:nvCxnSpPr>
        <p:spPr>
          <a:xfrm rot="5400000">
            <a:off x="7491284" y="3995601"/>
            <a:ext cx="147880" cy="19629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연결선: 꺾임 467">
            <a:extLst>
              <a:ext uri="{FF2B5EF4-FFF2-40B4-BE49-F238E27FC236}">
                <a16:creationId xmlns:a16="http://schemas.microsoft.com/office/drawing/2014/main" id="{DEF8712F-C6FC-2DDD-1ABA-E3C0F826C2B6}"/>
              </a:ext>
            </a:extLst>
          </p:cNvPr>
          <p:cNvCxnSpPr>
            <a:cxnSpLocks/>
          </p:cNvCxnSpPr>
          <p:nvPr/>
        </p:nvCxnSpPr>
        <p:spPr>
          <a:xfrm rot="10800000">
            <a:off x="6603642" y="5046473"/>
            <a:ext cx="1492186" cy="1050463"/>
          </a:xfrm>
          <a:prstGeom prst="bentConnector3">
            <a:avLst>
              <a:gd name="adj1" fmla="val 9978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02387DFE-7B20-A08C-A353-5976F63062E3}"/>
              </a:ext>
            </a:extLst>
          </p:cNvPr>
          <p:cNvCxnSpPr>
            <a:cxnSpLocks/>
          </p:cNvCxnSpPr>
          <p:nvPr/>
        </p:nvCxnSpPr>
        <p:spPr>
          <a:xfrm>
            <a:off x="8093502" y="6098526"/>
            <a:ext cx="682198" cy="259411"/>
          </a:xfrm>
          <a:prstGeom prst="bentConnector3">
            <a:avLst>
              <a:gd name="adj1" fmla="val 993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C15DA096-486C-BF34-5A53-3D1AF9111E42}"/>
              </a:ext>
            </a:extLst>
          </p:cNvPr>
          <p:cNvCxnSpPr>
            <a:cxnSpLocks/>
            <a:stCxn id="452" idx="2"/>
          </p:cNvCxnSpPr>
          <p:nvPr/>
        </p:nvCxnSpPr>
        <p:spPr>
          <a:xfrm rot="16200000" flipH="1">
            <a:off x="8692699" y="5372736"/>
            <a:ext cx="327343" cy="67976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0B12E661-03E6-B546-E8DF-55BA2FFA8ED6}"/>
              </a:ext>
            </a:extLst>
          </p:cNvPr>
          <p:cNvCxnSpPr>
            <a:cxnSpLocks/>
          </p:cNvCxnSpPr>
          <p:nvPr/>
        </p:nvCxnSpPr>
        <p:spPr>
          <a:xfrm>
            <a:off x="9040561" y="5878006"/>
            <a:ext cx="671850" cy="380555"/>
          </a:xfrm>
          <a:prstGeom prst="bentConnector3">
            <a:avLst>
              <a:gd name="adj1" fmla="val 10009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08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44EB-110A-36CE-CCC9-D3A40CD1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89DC7-BA8D-3874-4041-79B618DF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Experiment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D210D-03D9-B136-A44B-CA5FAB0E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295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D0C3-3166-87A4-4A77-B87BE351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E0C24-314F-C465-A93A-DDBD6CC5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Experiment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73F15-174C-D360-17BE-11A525CF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90C0E-26E7-8B5E-D30A-828966D0E16E}"/>
              </a:ext>
            </a:extLst>
          </p:cNvPr>
          <p:cNvSpPr txBox="1"/>
          <p:nvPr/>
        </p:nvSpPr>
        <p:spPr>
          <a:xfrm>
            <a:off x="918847" y="1553663"/>
            <a:ext cx="103543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실험 설계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Synopsys Design Compiler (TSMC 28nm </a:t>
            </a:r>
            <a:r>
              <a:rPr lang="ko-KR" altLang="en-US" sz="1600" dirty="0"/>
              <a:t>공정 가상 시뮬레이션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Poseidon-128,</a:t>
            </a:r>
            <a:r>
              <a:rPr lang="ko-KR" altLang="en-US" sz="1600" dirty="0"/>
              <a:t> </a:t>
            </a:r>
            <a:r>
              <a:rPr lang="en-US" altLang="ko-KR" sz="1600" dirty="0"/>
              <a:t>Poseidon Solution, SHA2-256, SHA3-256 </a:t>
            </a:r>
            <a:r>
              <a:rPr lang="ko-KR" altLang="en-US" sz="1600" dirty="0"/>
              <a:t>비교 분석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R1CS, </a:t>
            </a:r>
            <a:r>
              <a:rPr lang="en-US" altLang="ko-KR" sz="1600" dirty="0" err="1"/>
              <a:t>pJ</a:t>
            </a:r>
            <a:r>
              <a:rPr lang="en-US" altLang="ko-KR" sz="1600" dirty="0"/>
              <a:t>/Hash(pico-Joules per Hash), </a:t>
            </a:r>
            <a:r>
              <a:rPr lang="ko-KR" altLang="en-US" sz="1600" dirty="0"/>
              <a:t>파워 사용량</a:t>
            </a:r>
            <a:r>
              <a:rPr lang="en-US" altLang="ko-KR" sz="1600" dirty="0"/>
              <a:t>, FPGA </a:t>
            </a:r>
            <a:r>
              <a:rPr lang="ko-KR" altLang="en-US" sz="1600" dirty="0"/>
              <a:t>자원 사용량 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b="1" dirty="0"/>
              <a:t>실험 결과</a:t>
            </a:r>
            <a:r>
              <a:rPr lang="en-US" altLang="ko-KR" b="1" dirty="0"/>
              <a:t>(</a:t>
            </a:r>
            <a:r>
              <a:rPr lang="ko-KR" altLang="en-US" b="1" dirty="0"/>
              <a:t>예측</a:t>
            </a:r>
            <a:r>
              <a:rPr lang="en-US" altLang="ko-KR" b="1" dirty="0"/>
              <a:t>)</a:t>
            </a:r>
            <a:endParaRPr lang="en-US" altLang="ko-KR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Poseidon-128</a:t>
            </a:r>
            <a:r>
              <a:rPr lang="ko-KR" altLang="en-US" sz="1600" dirty="0"/>
              <a:t>에 비해 </a:t>
            </a:r>
            <a:r>
              <a:rPr lang="en-US" altLang="ko-KR" sz="1600" dirty="0"/>
              <a:t>R1CS</a:t>
            </a:r>
            <a:r>
              <a:rPr lang="ko-KR" altLang="en-US" sz="1600" dirty="0"/>
              <a:t>가 </a:t>
            </a:r>
            <a:r>
              <a:rPr lang="en-US" altLang="ko-KR" sz="1600" dirty="0"/>
              <a:t>20% </a:t>
            </a:r>
            <a:r>
              <a:rPr lang="ko-KR" altLang="en-US" sz="1600" dirty="0"/>
              <a:t>내외로</a:t>
            </a:r>
            <a:r>
              <a:rPr lang="en-US" altLang="ko-KR" sz="1600" dirty="0"/>
              <a:t> </a:t>
            </a:r>
            <a:r>
              <a:rPr lang="ko-KR" altLang="en-US" sz="1600" dirty="0"/>
              <a:t>증가하였지만</a:t>
            </a:r>
            <a:r>
              <a:rPr lang="en-US" altLang="ko-KR" sz="1600" dirty="0"/>
              <a:t>, 256-bit output</a:t>
            </a:r>
            <a:r>
              <a:rPr lang="ko-KR" altLang="en-US" sz="1600" dirty="0"/>
              <a:t>을 별도의 </a:t>
            </a:r>
            <a:r>
              <a:rPr lang="en-US" altLang="ko-KR" sz="1600" dirty="0"/>
              <a:t>processing </a:t>
            </a:r>
            <a:r>
              <a:rPr lang="ko-KR" altLang="en-US" sz="1600" dirty="0"/>
              <a:t>없이 생성 가능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해시 </a:t>
            </a:r>
            <a:r>
              <a:rPr lang="en-US" altLang="ko-KR" sz="1600" dirty="0"/>
              <a:t>1</a:t>
            </a:r>
            <a:r>
              <a:rPr lang="ko-KR" altLang="en-US" sz="1600" dirty="0"/>
              <a:t>회당 사용되는 에너지 약 </a:t>
            </a:r>
            <a:r>
              <a:rPr lang="en-US" altLang="ko-KR" sz="1600" dirty="0"/>
              <a:t>3~40% </a:t>
            </a:r>
            <a:r>
              <a:rPr lang="ko-KR" altLang="en-US" sz="1600" dirty="0"/>
              <a:t>감소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2179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2817-0688-3848-540B-02446A22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FA3A1-09CF-AA57-D049-3FBD7AA7A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79" y="-39756"/>
            <a:ext cx="12304643" cy="6897756"/>
          </a:xfrm>
          <a:solidFill>
            <a:srgbClr val="002C62"/>
          </a:solidFill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Results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7D4961-B4F5-CEC4-950A-FCE8C1F4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2695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7F37-65AA-8972-6EDB-B332DE87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8790A-B5E1-F775-55B7-E47BD20D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B776DF-B9A4-50BD-3AB0-E4F9DD65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A679B-1D49-818C-CD9C-01A66D3975B7}"/>
              </a:ext>
            </a:extLst>
          </p:cNvPr>
          <p:cNvSpPr txBox="1"/>
          <p:nvPr/>
        </p:nvSpPr>
        <p:spPr>
          <a:xfrm>
            <a:off x="1271637" y="1632041"/>
            <a:ext cx="96216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결론</a:t>
            </a:r>
            <a:r>
              <a:rPr lang="en-US" altLang="ko-KR" b="1" dirty="0"/>
              <a:t>(Results)</a:t>
            </a:r>
            <a:r>
              <a:rPr lang="ko-KR" altLang="en-US" b="1" dirty="0"/>
              <a:t> 및 기여하는 바</a:t>
            </a:r>
            <a:r>
              <a:rPr lang="en-US" altLang="ko-KR" b="1" dirty="0"/>
              <a:t>(Contribution) – </a:t>
            </a:r>
            <a:r>
              <a:rPr lang="ko-KR" altLang="en-US" b="1" dirty="0"/>
              <a:t>목표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가전제품이나 </a:t>
            </a:r>
            <a:r>
              <a:rPr lang="en-US" altLang="ko-KR" sz="1600" dirty="0"/>
              <a:t>IoT </a:t>
            </a:r>
            <a:r>
              <a:rPr lang="ko-KR" altLang="en-US" sz="1600" dirty="0"/>
              <a:t>장치에 내장되어 있는 지갑들이 연결되는 미래 산업이 곧 도래할 것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미래 에너지나 컴퓨팅 파워가 제한되는 환경에서의 안전한 거래를 위해서는 </a:t>
            </a:r>
            <a:r>
              <a:rPr lang="ko-KR" altLang="en-US" sz="1600" dirty="0" err="1"/>
              <a:t>영지식</a:t>
            </a:r>
            <a:r>
              <a:rPr lang="ko-KR" altLang="en-US" sz="1600" dirty="0"/>
              <a:t> 증명을 생성하는 과정의 단위 면적을 줄이는 과정이 필요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Solution</a:t>
            </a:r>
            <a:r>
              <a:rPr lang="ko-KR" altLang="en-US" sz="1600" dirty="0"/>
              <a:t>을 통하여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인터페이스에 맞추면서도 기존 설계 대비 단위 면적을 </a:t>
            </a:r>
            <a:r>
              <a:rPr lang="en-US" altLang="ko-KR" sz="1600" dirty="0"/>
              <a:t>3~40% </a:t>
            </a:r>
            <a:r>
              <a:rPr lang="ko-KR" altLang="en-US" sz="1600" dirty="0"/>
              <a:t>감소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6427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18153</TotalTime>
  <Words>2406</Words>
  <Application>Microsoft Office PowerPoint</Application>
  <PresentationFormat>와이드스크린</PresentationFormat>
  <Paragraphs>506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Cambria Math</vt:lpstr>
      <vt:lpstr>Wingdings</vt:lpstr>
      <vt:lpstr>Office 테마</vt:lpstr>
      <vt:lpstr>Poseidon 연구 정리</vt:lpstr>
      <vt:lpstr>목차</vt:lpstr>
      <vt:lpstr>Introduction</vt:lpstr>
      <vt:lpstr>Introduction</vt:lpstr>
      <vt:lpstr>Introduction</vt:lpstr>
      <vt:lpstr>Introduction</vt:lpstr>
      <vt:lpstr>Background</vt:lpstr>
      <vt:lpstr>Background – zkp(zero-knowledgement proof) </vt:lpstr>
      <vt:lpstr>Background – ZK-SNARK</vt:lpstr>
      <vt:lpstr>Background - poseidon </vt:lpstr>
      <vt:lpstr>Related Works</vt:lpstr>
      <vt:lpstr>Related Works</vt:lpstr>
      <vt:lpstr>Poseidon Solution</vt:lpstr>
      <vt:lpstr>Poseidon Solution</vt:lpstr>
      <vt:lpstr>Poseidon의 Solution</vt:lpstr>
      <vt:lpstr>Poseidon의 Solution</vt:lpstr>
      <vt:lpstr>Poseidon solution(Hybrid Pipelining)</vt:lpstr>
      <vt:lpstr>교수님 solution</vt:lpstr>
      <vt:lpstr>교수님 Solution</vt:lpstr>
      <vt:lpstr>Experiment</vt:lpstr>
      <vt:lpstr>Experiment</vt:lpstr>
      <vt:lpstr>Results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1815</cp:revision>
  <dcterms:created xsi:type="dcterms:W3CDTF">2023-03-06T16:32:37Z</dcterms:created>
  <dcterms:modified xsi:type="dcterms:W3CDTF">2026-01-02T18:03:30Z</dcterms:modified>
</cp:coreProperties>
</file>