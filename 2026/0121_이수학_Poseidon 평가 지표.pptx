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5"/>
  </p:notesMasterIdLst>
  <p:sldIdLst>
    <p:sldId id="256" r:id="rId2"/>
    <p:sldId id="301" r:id="rId3"/>
    <p:sldId id="354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002C62"/>
    <a:srgbClr val="DD802B"/>
    <a:srgbClr val="CC99FF"/>
    <a:srgbClr val="F4B183"/>
    <a:srgbClr val="2E75B6"/>
    <a:srgbClr val="336699"/>
    <a:srgbClr val="0066CC"/>
    <a:srgbClr val="FFFFFF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85080" autoAdjust="0"/>
  </p:normalViewPr>
  <p:slideViewPr>
    <p:cSldViewPr snapToGrid="0">
      <p:cViewPr varScale="1">
        <p:scale>
          <a:sx n="73" d="100"/>
          <a:sy n="73" d="100"/>
        </p:scale>
        <p:origin x="102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5D3D0-FE31-077C-59B9-CBDEC597E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FD872C-C0A9-BFB5-65C0-FCBE782B3E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788384-DC60-9316-F200-CC00A31D8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Goldilocks</a:t>
            </a:r>
          </a:p>
          <a:p>
            <a:r>
              <a:rPr lang="en-US" altLang="ko-KR" dirty="0"/>
              <a:t>Partial Round</a:t>
            </a:r>
            <a:r>
              <a:rPr lang="ko-KR" altLang="en-US" dirty="0"/>
              <a:t> 수 </a:t>
            </a:r>
            <a:r>
              <a:rPr lang="en-US" altLang="ko-KR" dirty="0"/>
              <a:t>: 22</a:t>
            </a:r>
          </a:p>
          <a:p>
            <a:r>
              <a:rPr lang="en-US" altLang="ko-KR" dirty="0"/>
              <a:t>Full Round </a:t>
            </a:r>
            <a:r>
              <a:rPr lang="ko-KR" altLang="en-US" dirty="0"/>
              <a:t>수 </a:t>
            </a:r>
            <a:r>
              <a:rPr lang="en-US" altLang="ko-KR" dirty="0"/>
              <a:t>: 8</a:t>
            </a:r>
          </a:p>
          <a:p>
            <a:r>
              <a:rPr lang="en-US" altLang="ko-KR" dirty="0"/>
              <a:t>Partial Round </a:t>
            </a:r>
            <a:r>
              <a:rPr lang="ko-KR" altLang="en-US" dirty="0"/>
              <a:t>당 </a:t>
            </a:r>
            <a:r>
              <a:rPr lang="en-US" altLang="ko-KR" dirty="0"/>
              <a:t>S-box </a:t>
            </a:r>
            <a:r>
              <a:rPr lang="ko-KR" altLang="en-US" dirty="0"/>
              <a:t>수 </a:t>
            </a:r>
            <a:r>
              <a:rPr lang="en-US" altLang="ko-KR" dirty="0"/>
              <a:t>: 1</a:t>
            </a:r>
          </a:p>
          <a:p>
            <a:r>
              <a:rPr lang="en-US" altLang="ko-KR" dirty="0"/>
              <a:t>Full Round </a:t>
            </a:r>
            <a:r>
              <a:rPr lang="ko-KR" altLang="en-US" dirty="0"/>
              <a:t>당 </a:t>
            </a:r>
            <a:r>
              <a:rPr lang="en-US" altLang="ko-KR" dirty="0"/>
              <a:t>S-box </a:t>
            </a:r>
            <a:r>
              <a:rPr lang="ko-KR" altLang="en-US" dirty="0"/>
              <a:t>수 </a:t>
            </a:r>
            <a:r>
              <a:rPr lang="en-US" altLang="ko-KR" dirty="0"/>
              <a:t>: 8</a:t>
            </a:r>
          </a:p>
          <a:p>
            <a:r>
              <a:rPr lang="en-US" altLang="ko-KR" dirty="0"/>
              <a:t>X^7 </a:t>
            </a:r>
            <a:r>
              <a:rPr lang="ko-KR" altLang="en-US" dirty="0"/>
              <a:t>사용 </a:t>
            </a:r>
            <a:r>
              <a:rPr lang="en-US" altLang="ko-KR" dirty="0"/>
              <a:t>=&gt; S-box </a:t>
            </a:r>
            <a:r>
              <a:rPr lang="ko-KR" altLang="en-US" dirty="0"/>
              <a:t>하나당 </a:t>
            </a:r>
            <a:r>
              <a:rPr lang="en-US" altLang="ko-KR" dirty="0"/>
              <a:t>R1CS</a:t>
            </a:r>
            <a:r>
              <a:rPr lang="ko-KR" altLang="en-US" dirty="0"/>
              <a:t> </a:t>
            </a:r>
            <a:r>
              <a:rPr lang="en-US" altLang="ko-KR" dirty="0"/>
              <a:t>4</a:t>
            </a:r>
            <a:r>
              <a:rPr lang="ko-KR" altLang="en-US" dirty="0"/>
              <a:t>개 발생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84D277-44D3-A93F-E5F2-DA5FD35D58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95626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CB839-968D-1B6C-C75B-F36C7FB84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52D54E-0FA0-6A12-BD9D-7EA18038F0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290B92-B682-51A6-ED33-C30C2E085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8E6B37-96EC-BE38-684C-BCFCE482CA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0898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36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Poseidon</a:t>
            </a:r>
            <a:r>
              <a:rPr lang="ko-KR" altLang="en-US" sz="36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평가 지표 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61452" y="1666695"/>
            <a:ext cx="2033004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2026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01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21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45247-679E-DB70-58EF-37D55D27B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E20608-5D4D-7C48-E43D-1732607F7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R1CS</a:t>
            </a:r>
            <a:r>
              <a:rPr lang="ko-KR" altLang="en-US" dirty="0"/>
              <a:t> 제약 조건 수 비교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03663A-587E-CCA0-AC66-6084388DD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77576DE-14CF-9824-F81C-BD091EC39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914873"/>
              </p:ext>
            </p:extLst>
          </p:nvPr>
        </p:nvGraphicFramePr>
        <p:xfrm>
          <a:off x="754936" y="2042918"/>
          <a:ext cx="10046414" cy="36046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0589">
                  <a:extLst>
                    <a:ext uri="{9D8B030D-6E8A-4147-A177-3AD203B41FA5}">
                      <a16:colId xmlns:a16="http://schemas.microsoft.com/office/drawing/2014/main" val="1667041438"/>
                    </a:ext>
                  </a:extLst>
                </a:gridCol>
                <a:gridCol w="1653165">
                  <a:extLst>
                    <a:ext uri="{9D8B030D-6E8A-4147-A177-3AD203B41FA5}">
                      <a16:colId xmlns:a16="http://schemas.microsoft.com/office/drawing/2014/main" val="709653482"/>
                    </a:ext>
                  </a:extLst>
                </a:gridCol>
                <a:gridCol w="1653165">
                  <a:extLst>
                    <a:ext uri="{9D8B030D-6E8A-4147-A177-3AD203B41FA5}">
                      <a16:colId xmlns:a16="http://schemas.microsoft.com/office/drawing/2014/main" val="3379829072"/>
                    </a:ext>
                  </a:extLst>
                </a:gridCol>
                <a:gridCol w="1653165">
                  <a:extLst>
                    <a:ext uri="{9D8B030D-6E8A-4147-A177-3AD203B41FA5}">
                      <a16:colId xmlns:a16="http://schemas.microsoft.com/office/drawing/2014/main" val="3505650385"/>
                    </a:ext>
                  </a:extLst>
                </a:gridCol>
                <a:gridCol w="1653165">
                  <a:extLst>
                    <a:ext uri="{9D8B030D-6E8A-4147-A177-3AD203B41FA5}">
                      <a16:colId xmlns:a16="http://schemas.microsoft.com/office/drawing/2014/main" val="4243623713"/>
                    </a:ext>
                  </a:extLst>
                </a:gridCol>
                <a:gridCol w="1653165">
                  <a:extLst>
                    <a:ext uri="{9D8B030D-6E8A-4147-A177-3AD203B41FA5}">
                      <a16:colId xmlns:a16="http://schemas.microsoft.com/office/drawing/2014/main" val="2388752355"/>
                    </a:ext>
                  </a:extLst>
                </a:gridCol>
              </a:tblGrid>
              <a:tr h="208317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Poseidon-128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Zero-Padding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Squeezing &amp; </a:t>
                      </a:r>
                      <a:br>
                        <a:rPr lang="en-US" altLang="ko-KR" sz="1400" dirty="0"/>
                      </a:br>
                      <a:r>
                        <a:rPr lang="en-US" altLang="ko-KR" sz="1400" dirty="0"/>
                        <a:t>Bit-Slice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Dual Poseidon </a:t>
                      </a:r>
                      <a:r>
                        <a:rPr lang="en-US" altLang="ko-KR" sz="1400" dirty="0" err="1"/>
                        <a:t>Concat</a:t>
                      </a:r>
                      <a:endParaRPr lang="en-US" altLang="ko-K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Multi-Goldilocks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771222"/>
                  </a:ext>
                </a:extLst>
              </a:tr>
              <a:tr h="5144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보안강도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128-bit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128-bit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128-bit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128-bit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128-bit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387062"/>
                  </a:ext>
                </a:extLst>
              </a:tr>
              <a:tr h="5144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 </a:t>
                      </a:r>
                      <a:r>
                        <a:rPr lang="en-US" altLang="ko-KR" sz="1200" dirty="0"/>
                        <a:t>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BN254, BLS381-12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BN254, BLS381-12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BN254, BLS381-12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BN254, BLS381-12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Goldilocks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4605422"/>
                  </a:ext>
                </a:extLst>
              </a:tr>
              <a:tr h="5144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State Width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(Field </a:t>
                      </a:r>
                      <a:r>
                        <a:rPr lang="ko-KR" altLang="en-US" sz="1200" dirty="0"/>
                        <a:t>수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285211"/>
                  </a:ext>
                </a:extLst>
              </a:tr>
              <a:tr h="5144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총 사용 </a:t>
                      </a:r>
                      <a:r>
                        <a:rPr lang="en-US" altLang="ko-KR" sz="1200" dirty="0"/>
                        <a:t>S-box </a:t>
                      </a:r>
                      <a:r>
                        <a:rPr lang="ko-KR" altLang="en-US" sz="1200" dirty="0"/>
                        <a:t>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81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81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162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162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86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8966285"/>
                  </a:ext>
                </a:extLst>
              </a:tr>
              <a:tr h="5144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총 제약 조건 수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(R1CS)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243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243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486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486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344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831280"/>
                  </a:ext>
                </a:extLst>
              </a:tr>
              <a:tr h="5144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선형 연산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3x3 </a:t>
                      </a:r>
                      <a:r>
                        <a:rPr lang="ko-KR" altLang="en-US" sz="1200" dirty="0" err="1"/>
                        <a:t>행렬곱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3x3 </a:t>
                      </a:r>
                      <a:r>
                        <a:rPr lang="ko-KR" altLang="en-US" sz="1200" dirty="0" err="1"/>
                        <a:t>행렬곱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3x3 </a:t>
                      </a:r>
                      <a:r>
                        <a:rPr lang="ko-KR" altLang="en-US" sz="1200" dirty="0" err="1"/>
                        <a:t>행렬곱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3x3 </a:t>
                      </a:r>
                      <a:r>
                        <a:rPr lang="ko-KR" altLang="en-US" sz="1200" dirty="0" err="1"/>
                        <a:t>행렬곱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8x8 </a:t>
                      </a:r>
                      <a:r>
                        <a:rPr lang="ko-KR" altLang="en-US" sz="1200" dirty="0" err="1"/>
                        <a:t>행렬곱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68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7633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38E59-785C-3385-C5F1-73CAA7A9A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CC514A-549D-20B6-943F-73EC32C87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증명 생성 시간</a:t>
            </a:r>
            <a:r>
              <a:rPr lang="en-US" altLang="ko-KR" dirty="0"/>
              <a:t> </a:t>
            </a:r>
            <a:r>
              <a:rPr lang="ko-KR" altLang="en-US" dirty="0"/>
              <a:t>및</a:t>
            </a:r>
            <a:r>
              <a:rPr lang="en-US" altLang="ko-KR" dirty="0"/>
              <a:t> </a:t>
            </a:r>
            <a:r>
              <a:rPr lang="ko-KR" altLang="en-US" dirty="0"/>
              <a:t>검증 시간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AFAFE3-C63D-1CCA-BE6C-A0406D303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D35DA70-4C9C-9596-CF48-1AF80C4E3A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161673"/>
              </p:ext>
            </p:extLst>
          </p:nvPr>
        </p:nvGraphicFramePr>
        <p:xfrm>
          <a:off x="859439" y="2330301"/>
          <a:ext cx="10046414" cy="1546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0589">
                  <a:extLst>
                    <a:ext uri="{9D8B030D-6E8A-4147-A177-3AD203B41FA5}">
                      <a16:colId xmlns:a16="http://schemas.microsoft.com/office/drawing/2014/main" val="1667041438"/>
                    </a:ext>
                  </a:extLst>
                </a:gridCol>
                <a:gridCol w="1653165">
                  <a:extLst>
                    <a:ext uri="{9D8B030D-6E8A-4147-A177-3AD203B41FA5}">
                      <a16:colId xmlns:a16="http://schemas.microsoft.com/office/drawing/2014/main" val="709653482"/>
                    </a:ext>
                  </a:extLst>
                </a:gridCol>
                <a:gridCol w="1653165">
                  <a:extLst>
                    <a:ext uri="{9D8B030D-6E8A-4147-A177-3AD203B41FA5}">
                      <a16:colId xmlns:a16="http://schemas.microsoft.com/office/drawing/2014/main" val="3379829072"/>
                    </a:ext>
                  </a:extLst>
                </a:gridCol>
                <a:gridCol w="1653165">
                  <a:extLst>
                    <a:ext uri="{9D8B030D-6E8A-4147-A177-3AD203B41FA5}">
                      <a16:colId xmlns:a16="http://schemas.microsoft.com/office/drawing/2014/main" val="3505650385"/>
                    </a:ext>
                  </a:extLst>
                </a:gridCol>
                <a:gridCol w="1653165">
                  <a:extLst>
                    <a:ext uri="{9D8B030D-6E8A-4147-A177-3AD203B41FA5}">
                      <a16:colId xmlns:a16="http://schemas.microsoft.com/office/drawing/2014/main" val="4243623713"/>
                    </a:ext>
                  </a:extLst>
                </a:gridCol>
                <a:gridCol w="1653165">
                  <a:extLst>
                    <a:ext uri="{9D8B030D-6E8A-4147-A177-3AD203B41FA5}">
                      <a16:colId xmlns:a16="http://schemas.microsoft.com/office/drawing/2014/main" val="2388752355"/>
                    </a:ext>
                  </a:extLst>
                </a:gridCol>
              </a:tblGrid>
              <a:tr h="208317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Poseidon-128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Zero-Padding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Squeezing &amp; </a:t>
                      </a:r>
                      <a:br>
                        <a:rPr lang="en-US" altLang="ko-KR" sz="1400" dirty="0"/>
                      </a:br>
                      <a:r>
                        <a:rPr lang="en-US" altLang="ko-KR" sz="1400" dirty="0"/>
                        <a:t>Bit-Slice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Dual Poseidon </a:t>
                      </a:r>
                      <a:r>
                        <a:rPr lang="en-US" altLang="ko-KR" sz="1400" dirty="0" err="1"/>
                        <a:t>Concat</a:t>
                      </a:r>
                      <a:endParaRPr lang="en-US" altLang="ko-K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Multi-Goldilocks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771222"/>
                  </a:ext>
                </a:extLst>
              </a:tr>
              <a:tr h="5144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증명 생성 시간</a:t>
                      </a:r>
                      <a:r>
                        <a:rPr lang="en-US" altLang="ko-KR" sz="1200" dirty="0"/>
                        <a:t>(</a:t>
                      </a:r>
                      <a:r>
                        <a:rPr lang="en-US" altLang="ko-KR" sz="1200" dirty="0" err="1"/>
                        <a:t>ms</a:t>
                      </a:r>
                      <a:r>
                        <a:rPr lang="en-US" altLang="ko-KR" sz="120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6.844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11.741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12.268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9.714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21.635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387062"/>
                  </a:ext>
                </a:extLst>
              </a:tr>
              <a:tr h="5144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검증 시간</a:t>
                      </a:r>
                      <a:r>
                        <a:rPr lang="en-US" altLang="ko-KR" sz="1200" dirty="0"/>
                        <a:t>(</a:t>
                      </a:r>
                      <a:r>
                        <a:rPr lang="en-US" altLang="ko-KR" sz="1200" dirty="0" err="1"/>
                        <a:t>ms</a:t>
                      </a:r>
                      <a:r>
                        <a:rPr lang="en-US" altLang="ko-KR" sz="120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1.976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2.315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2.017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2.124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3.481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4605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4876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23059</TotalTime>
  <Words>173</Words>
  <Application>Microsoft Office PowerPoint</Application>
  <PresentationFormat>와이드스크린</PresentationFormat>
  <Paragraphs>77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Poseidon 평가 지표 </vt:lpstr>
      <vt:lpstr>R1CS 제약 조건 수 비교</vt:lpstr>
      <vt:lpstr>증명 생성 시간 및 검증 시간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 수학</cp:lastModifiedBy>
  <cp:revision>2013</cp:revision>
  <dcterms:created xsi:type="dcterms:W3CDTF">2023-03-06T16:32:37Z</dcterms:created>
  <dcterms:modified xsi:type="dcterms:W3CDTF">2026-01-21T11:06:38Z</dcterms:modified>
</cp:coreProperties>
</file>