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7"/>
  </p:notesMasterIdLst>
  <p:sldIdLst>
    <p:sldId id="256" r:id="rId2"/>
    <p:sldId id="350" r:id="rId3"/>
    <p:sldId id="356" r:id="rId4"/>
    <p:sldId id="355" r:id="rId5"/>
    <p:sldId id="352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F386B"/>
    <a:srgbClr val="00CC00"/>
    <a:srgbClr val="DD802B"/>
    <a:srgbClr val="CC99FF"/>
    <a:srgbClr val="F4B183"/>
    <a:srgbClr val="2E75B6"/>
    <a:srgbClr val="336699"/>
    <a:srgbClr val="0066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29" autoAdjust="0"/>
    <p:restoredTop sz="85080" autoAdjust="0"/>
  </p:normalViewPr>
  <p:slideViewPr>
    <p:cSldViewPr snapToGrid="0">
      <p:cViewPr varScale="1">
        <p:scale>
          <a:sx n="84" d="100"/>
          <a:sy n="84" d="100"/>
        </p:scale>
        <p:origin x="120" y="12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3BE40-A326-55BA-1141-C9FCFDBF4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1A7AB7-9D20-53D1-67E3-23AED6129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856D56-B808-CC5E-F297-6607D29D6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75BA22-6A91-E5F3-5F16-39C0D098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320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CE34A-4EDF-FD7B-22CE-F7D5D6C0F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ADC20A-91D0-3546-A9DD-F938A9925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5A0C77-88CA-4ABA-DA96-35453AE64F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990AE2-3428-CE74-0E4C-40EAF7A66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8323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52B66-EE27-1241-662C-512CA050D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425F38-73C3-C24E-53C3-6995AD7CA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748D0C-636C-ECBE-D35E-F8E7BCD3D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8FA45F-1D26-81AC-D34B-9719B9F4E0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2342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CD286-7FD2-84CA-516B-97264E0A9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556E16-84EE-2AEA-FE26-E8838B9F8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98E92F-EBED-F6E5-A311-C818E40BD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7C395E-AE92-AABE-DCBA-1BE5895ED4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588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Poseidon </a:t>
            </a:r>
            <a:r>
              <a:rPr lang="ko-KR" altLang="en-US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실제 사용 사례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1452" y="1666695"/>
            <a:ext cx="2033004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03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18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15FF5-C1AB-5D84-9821-175589501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49E4F7-3C3B-0887-12C5-03552CCBB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/>
              <a:t>영지식</a:t>
            </a:r>
            <a:r>
              <a:rPr lang="ko-KR" altLang="en-US" dirty="0"/>
              <a:t> 증명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B9B268-A77B-B21A-1F6A-9A88BC9B8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A13E47-F395-F57F-303A-606B7CA12BAD}"/>
              </a:ext>
            </a:extLst>
          </p:cNvPr>
          <p:cNvSpPr txBox="1"/>
          <p:nvPr/>
        </p:nvSpPr>
        <p:spPr>
          <a:xfrm>
            <a:off x="390525" y="1579982"/>
            <a:ext cx="1141094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영지식</a:t>
            </a:r>
            <a:r>
              <a:rPr lang="ko-KR" altLang="en-US" sz="1600" b="1" dirty="0"/>
              <a:t> 증명</a:t>
            </a:r>
            <a:r>
              <a:rPr lang="en-US" altLang="ko-KR" sz="1600" b="1" dirty="0"/>
              <a:t>(Zero-Knowledge Proof)</a:t>
            </a:r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 err="1"/>
              <a:t>증명자</a:t>
            </a:r>
            <a:r>
              <a:rPr lang="en-US" altLang="ko-KR" sz="1400" dirty="0"/>
              <a:t>(Prover)</a:t>
            </a:r>
            <a:r>
              <a:rPr lang="ko-KR" altLang="en-US" sz="1400" dirty="0"/>
              <a:t>가 </a:t>
            </a:r>
            <a:r>
              <a:rPr lang="ko-KR" altLang="en-US" sz="1400" dirty="0" err="1"/>
              <a:t>검증자</a:t>
            </a:r>
            <a:r>
              <a:rPr lang="en-US" altLang="ko-KR" sz="1400" dirty="0"/>
              <a:t>(Verifier)</a:t>
            </a:r>
            <a:r>
              <a:rPr lang="ko-KR" altLang="en-US" sz="1400" dirty="0"/>
              <a:t>에게 자신의 정보</a:t>
            </a:r>
            <a:r>
              <a:rPr lang="en-US" altLang="ko-KR" sz="1400" dirty="0"/>
              <a:t>(Witness)</a:t>
            </a:r>
            <a:r>
              <a:rPr lang="ko-KR" altLang="en-US" sz="1400" dirty="0"/>
              <a:t>를 공개하지 않으면서</a:t>
            </a:r>
            <a:r>
              <a:rPr lang="en-US" altLang="ko-KR" sz="1400" dirty="0"/>
              <a:t>, </a:t>
            </a:r>
            <a:r>
              <a:rPr lang="ko-KR" altLang="en-US" sz="1400" dirty="0"/>
              <a:t>정보가 참이라는 사실을 수학적으로 증명하는 </a:t>
            </a:r>
            <a:r>
              <a:rPr lang="ko-KR" altLang="en-US" sz="1400" dirty="0" err="1"/>
              <a:t>매커니즘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증명자가 비밀키를 노출하지 않고</a:t>
            </a:r>
            <a:r>
              <a:rPr lang="en-US" altLang="ko-KR" sz="1400" dirty="0"/>
              <a:t>, </a:t>
            </a:r>
            <a:r>
              <a:rPr lang="ko-KR" altLang="en-US" sz="1400" dirty="0"/>
              <a:t>비밀키를 알고 있음을 증명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 err="1"/>
              <a:t>영지식</a:t>
            </a:r>
            <a:r>
              <a:rPr lang="ko-KR" altLang="en-US" sz="1400" dirty="0"/>
              <a:t> 증명의 진행 단계 </a:t>
            </a:r>
            <a:r>
              <a:rPr lang="en-US" altLang="ko-KR" sz="1400" dirty="0"/>
              <a:t>: setup </a:t>
            </a:r>
            <a:r>
              <a:rPr lang="ko-KR" altLang="en-US" sz="1400" dirty="0"/>
              <a:t>→ 증명 생성 → 검증</a:t>
            </a:r>
            <a:endParaRPr lang="en-US" altLang="ko-KR" sz="14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D097A27-7F64-8802-1685-7E54ACDE9F5A}"/>
              </a:ext>
            </a:extLst>
          </p:cNvPr>
          <p:cNvSpPr/>
          <p:nvPr/>
        </p:nvSpPr>
        <p:spPr>
          <a:xfrm>
            <a:off x="1040130" y="3426640"/>
            <a:ext cx="3474720" cy="2654119"/>
          </a:xfrm>
          <a:prstGeom prst="rect">
            <a:avLst/>
          </a:prstGeom>
          <a:solidFill>
            <a:srgbClr val="002C6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/>
              <a:t>증명자</a:t>
            </a:r>
            <a:r>
              <a:rPr lang="en-US" altLang="ko-KR" sz="1400" b="1" dirty="0"/>
              <a:t>(Prover)</a:t>
            </a:r>
          </a:p>
          <a:p>
            <a:pPr algn="ctr"/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200" dirty="0"/>
              <a:t>비밀키를 가지고 있지만 노출을 원치 않음</a:t>
            </a:r>
            <a:endParaRPr lang="en-US" altLang="ko-KR" sz="1200" dirty="0"/>
          </a:p>
          <a:p>
            <a:pPr marL="285750" indent="-285750">
              <a:buFontTx/>
              <a:buChar char="-"/>
            </a:pPr>
            <a:r>
              <a:rPr lang="ko-KR" altLang="en-US" sz="1200" dirty="0"/>
              <a:t>증명키를 가지고 있음</a:t>
            </a:r>
            <a:endParaRPr lang="en-US" altLang="ko-KR" sz="1200" dirty="0"/>
          </a:p>
          <a:p>
            <a:pPr marL="285750" indent="-285750">
              <a:buFontTx/>
              <a:buChar char="-"/>
            </a:pPr>
            <a:r>
              <a:rPr lang="ko-KR" altLang="en-US" sz="1200" dirty="0"/>
              <a:t>증명을 생성하여 </a:t>
            </a:r>
            <a:r>
              <a:rPr lang="en-US" altLang="ko-KR" sz="1200" dirty="0"/>
              <a:t>Verifier</a:t>
            </a:r>
            <a:r>
              <a:rPr lang="ko-KR" altLang="en-US" sz="1200" dirty="0"/>
              <a:t>에게 전송</a:t>
            </a:r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6DE9DF5-FEA4-2F9D-A88C-9D65CDACCFF1}"/>
              </a:ext>
            </a:extLst>
          </p:cNvPr>
          <p:cNvSpPr/>
          <p:nvPr/>
        </p:nvSpPr>
        <p:spPr>
          <a:xfrm>
            <a:off x="1524000" y="5426608"/>
            <a:ext cx="2506980" cy="5741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증명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1200" b="1" dirty="0">
                <a:solidFill>
                  <a:schemeClr val="tx1"/>
                </a:solidFill>
              </a:rPr>
              <a:t>증명키 기반으로 증명 생성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1D5CC23-BFDC-D000-A752-0CB625D7B43A}"/>
              </a:ext>
            </a:extLst>
          </p:cNvPr>
          <p:cNvSpPr/>
          <p:nvPr/>
        </p:nvSpPr>
        <p:spPr>
          <a:xfrm>
            <a:off x="6964680" y="3426639"/>
            <a:ext cx="3848100" cy="2654119"/>
          </a:xfrm>
          <a:prstGeom prst="rect">
            <a:avLst/>
          </a:prstGeom>
          <a:solidFill>
            <a:srgbClr val="002C6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/>
              <a:t>검증자</a:t>
            </a:r>
            <a:r>
              <a:rPr lang="en-US" altLang="ko-KR" sz="1400" b="1" dirty="0"/>
              <a:t>(Verifier)</a:t>
            </a:r>
          </a:p>
          <a:p>
            <a:pPr algn="ctr"/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200" dirty="0"/>
              <a:t>증명을 받고 검증키를 통해 증명의 유효성 검증</a:t>
            </a:r>
            <a:endParaRPr lang="en-US" altLang="ko-KR" sz="1200" dirty="0"/>
          </a:p>
          <a:p>
            <a:pPr marL="285750" indent="-285750">
              <a:buFontTx/>
              <a:buChar char="-"/>
            </a:pPr>
            <a:r>
              <a:rPr lang="ko-KR" altLang="en-US" sz="1200" dirty="0"/>
              <a:t>비밀키 값은 모름</a:t>
            </a:r>
            <a:endParaRPr lang="en-US" altLang="ko-KR" sz="1200" dirty="0"/>
          </a:p>
          <a:p>
            <a:pPr marL="285750" indent="-285750">
              <a:buFontTx/>
              <a:buChar char="-"/>
            </a:pPr>
            <a:r>
              <a:rPr lang="ko-KR" altLang="en-US" sz="1200" dirty="0"/>
              <a:t>검증키를 가지고 있음</a:t>
            </a:r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7D6F0AA2-D130-CDE5-539B-D141020C9CB4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4514850" y="4753699"/>
            <a:ext cx="2449830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31222D9-F3DE-BD90-07C5-6E13548042C2}"/>
              </a:ext>
            </a:extLst>
          </p:cNvPr>
          <p:cNvSpPr txBox="1"/>
          <p:nvPr/>
        </p:nvSpPr>
        <p:spPr>
          <a:xfrm>
            <a:off x="4949190" y="4322813"/>
            <a:ext cx="1531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증명 및 </a:t>
            </a:r>
            <a:r>
              <a:rPr lang="ko-KR" altLang="en-US" sz="1200" dirty="0" err="1"/>
              <a:t>공개값</a:t>
            </a:r>
            <a:r>
              <a:rPr lang="ko-KR" altLang="en-US" sz="1200" dirty="0"/>
              <a:t> 전송</a:t>
            </a:r>
            <a:endParaRPr lang="en-US" altLang="ko-KR" sz="1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ACA621-F51A-9C65-B6B2-D2AA631048F1}"/>
              </a:ext>
            </a:extLst>
          </p:cNvPr>
          <p:cNvSpPr txBox="1"/>
          <p:nvPr/>
        </p:nvSpPr>
        <p:spPr>
          <a:xfrm>
            <a:off x="1013460" y="6142313"/>
            <a:ext cx="70027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*</a:t>
            </a:r>
            <a:r>
              <a:rPr lang="ko-KR" altLang="en-US" sz="1200" dirty="0" err="1"/>
              <a:t>증명키란</a:t>
            </a:r>
            <a:r>
              <a:rPr lang="en-US" altLang="ko-KR" sz="1200" dirty="0"/>
              <a:t>? R1CS </a:t>
            </a:r>
            <a:r>
              <a:rPr lang="ko-KR" altLang="en-US" sz="1200" dirty="0"/>
              <a:t>수식을 기반으로 제작된 것으로 증명자가 증거를 만들 때 사용하는 데이터</a:t>
            </a:r>
            <a:r>
              <a:rPr lang="en-US" altLang="ko-KR" sz="1200" dirty="0"/>
              <a:t>(</a:t>
            </a:r>
            <a:r>
              <a:rPr lang="ko-KR" altLang="en-US" sz="1200" dirty="0"/>
              <a:t>크기 큼</a:t>
            </a:r>
            <a:r>
              <a:rPr lang="en-US" altLang="ko-KR" sz="1200" dirty="0"/>
              <a:t>)</a:t>
            </a:r>
          </a:p>
          <a:p>
            <a:endParaRPr lang="en-US" altLang="ko-KR" sz="1200" dirty="0"/>
          </a:p>
          <a:p>
            <a:r>
              <a:rPr lang="en-US" altLang="ko-KR" sz="1200" dirty="0"/>
              <a:t>*</a:t>
            </a:r>
            <a:r>
              <a:rPr lang="ko-KR" altLang="en-US" sz="1200" dirty="0" err="1"/>
              <a:t>검증키란</a:t>
            </a:r>
            <a:r>
              <a:rPr lang="en-US" altLang="ko-KR" sz="1200" dirty="0"/>
              <a:t>? </a:t>
            </a:r>
            <a:r>
              <a:rPr lang="ko-KR" altLang="en-US" sz="1200" dirty="0"/>
              <a:t>검증자가 증거가 맞는지 확인할 때 사용하는 데이터</a:t>
            </a:r>
            <a:r>
              <a:rPr lang="en-US" altLang="ko-KR" sz="1200" dirty="0"/>
              <a:t>(</a:t>
            </a:r>
            <a:r>
              <a:rPr lang="ko-KR" altLang="en-US" sz="1200" dirty="0"/>
              <a:t>크기가 작음</a:t>
            </a:r>
            <a:r>
              <a:rPr lang="en-US" altLang="ko-KR" sz="1200" dirty="0"/>
              <a:t>)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C318A4D-0780-4073-AD7D-E2C31291AA95}"/>
              </a:ext>
            </a:extLst>
          </p:cNvPr>
          <p:cNvSpPr/>
          <p:nvPr/>
        </p:nvSpPr>
        <p:spPr>
          <a:xfrm>
            <a:off x="1524000" y="4599812"/>
            <a:ext cx="2506980" cy="7810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>
                <a:solidFill>
                  <a:schemeClr val="tx1"/>
                </a:solidFill>
              </a:rPr>
              <a:t>공개값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endParaRPr lang="en-US" altLang="ko-KR" sz="1200" b="1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1200" b="1" dirty="0">
                <a:solidFill>
                  <a:schemeClr val="tx1"/>
                </a:solidFill>
              </a:rPr>
              <a:t>해시 결과값</a:t>
            </a:r>
            <a:r>
              <a:rPr lang="en-US" altLang="ko-KR" sz="1200" b="1" dirty="0">
                <a:solidFill>
                  <a:schemeClr val="tx1"/>
                </a:solidFill>
              </a:rPr>
              <a:t>, Merkle Tree Root </a:t>
            </a:r>
            <a:r>
              <a:rPr lang="ko-KR" altLang="en-US" sz="1200" b="1" dirty="0">
                <a:solidFill>
                  <a:schemeClr val="tx1"/>
                </a:solidFill>
              </a:rPr>
              <a:t>값 등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4C9E7AB6-89FC-A5BA-480C-A79000123476}"/>
              </a:ext>
            </a:extLst>
          </p:cNvPr>
          <p:cNvCxnSpPr>
            <a:cxnSpLocks/>
          </p:cNvCxnSpPr>
          <p:nvPr/>
        </p:nvCxnSpPr>
        <p:spPr>
          <a:xfrm>
            <a:off x="3120390" y="4753698"/>
            <a:ext cx="1828800" cy="4681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9AC0736-696A-43C5-8944-68944D027C4E}"/>
              </a:ext>
            </a:extLst>
          </p:cNvPr>
          <p:cNvSpPr txBox="1"/>
          <p:nvPr/>
        </p:nvSpPr>
        <p:spPr>
          <a:xfrm>
            <a:off x="4949190" y="5118831"/>
            <a:ext cx="2118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</a:rPr>
              <a:t>Uint256 </a:t>
            </a:r>
            <a:r>
              <a:rPr lang="ko-KR" altLang="en-US" sz="1400" b="1" dirty="0">
                <a:solidFill>
                  <a:srgbClr val="FF0000"/>
                </a:solidFill>
              </a:rPr>
              <a:t>형태로 전송</a:t>
            </a:r>
            <a:endParaRPr lang="en-US" altLang="ko-KR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871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9FC0B-26F1-0C03-F542-399F91C17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F007F9-F4DD-DD09-B7CB-220634FA3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/>
              <a:t>영지식</a:t>
            </a:r>
            <a:r>
              <a:rPr lang="ko-KR" altLang="en-US" dirty="0"/>
              <a:t> 증명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2846A7-4199-3C49-42B3-E5CF2BF68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2A8FAB-4A1B-7345-37B7-F2CBC7AF4CE7}"/>
              </a:ext>
            </a:extLst>
          </p:cNvPr>
          <p:cNvSpPr txBox="1"/>
          <p:nvPr/>
        </p:nvSpPr>
        <p:spPr>
          <a:xfrm>
            <a:off x="390525" y="1579982"/>
            <a:ext cx="1141094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증명 생성 방식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참고용</a:t>
            </a:r>
            <a:r>
              <a:rPr lang="en-US" altLang="ko-KR" sz="1600" b="1" dirty="0"/>
              <a:t>)</a:t>
            </a:r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R1CS</a:t>
            </a:r>
            <a:r>
              <a:rPr lang="ko-KR" altLang="en-US" sz="1400" dirty="0"/>
              <a:t> 수식에 실제 값을 넣어서 </a:t>
            </a:r>
            <a:r>
              <a:rPr lang="en-US" altLang="ko-KR" sz="1400" dirty="0"/>
              <a:t>Poseidon </a:t>
            </a:r>
            <a:r>
              <a:rPr lang="ko-KR" altLang="en-US" sz="1400" dirty="0"/>
              <a:t>연산 과정에서 생기는 모든 </a:t>
            </a:r>
            <a:r>
              <a:rPr lang="ko-KR" altLang="en-US" sz="1400" dirty="0" err="1"/>
              <a:t>중간값들을</a:t>
            </a:r>
            <a:r>
              <a:rPr lang="ko-KR" altLang="en-US" sz="1400" dirty="0"/>
              <a:t> 계산해서 표로 만듦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r>
              <a:rPr lang="en-US" altLang="ko-KR" sz="1400" dirty="0"/>
              <a:t>2. </a:t>
            </a:r>
            <a:r>
              <a:rPr lang="ko-KR" altLang="en-US" sz="1400" dirty="0"/>
              <a:t>여러 </a:t>
            </a:r>
            <a:r>
              <a:rPr lang="en-US" altLang="ko-KR" sz="1400" dirty="0"/>
              <a:t>R1CS </a:t>
            </a:r>
            <a:r>
              <a:rPr lang="ko-KR" altLang="en-US" sz="1400" dirty="0"/>
              <a:t>수식을 하나의 다항식으로 통합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3. </a:t>
            </a:r>
            <a:r>
              <a:rPr lang="ko-KR" altLang="en-US" sz="1400" dirty="0"/>
              <a:t>다항식의 계수와 증명키에 들어있는 값</a:t>
            </a:r>
            <a:r>
              <a:rPr lang="en-US" altLang="ko-KR" sz="1400" dirty="0"/>
              <a:t>(</a:t>
            </a:r>
            <a:r>
              <a:rPr lang="ko-KR" altLang="en-US" sz="1400" dirty="0"/>
              <a:t>타원곡선 점</a:t>
            </a:r>
            <a:r>
              <a:rPr lang="en-US" altLang="ko-KR" sz="1400" dirty="0"/>
              <a:t>)</a:t>
            </a:r>
            <a:r>
              <a:rPr lang="ko-KR" altLang="en-US" sz="1400" dirty="0"/>
              <a:t>들을 하나씩 곱하고 더함 </a:t>
            </a:r>
            <a:r>
              <a:rPr lang="en-US" altLang="ko-KR" sz="1400" dirty="0"/>
              <a:t>(MSM, Multi-Scalar Multiplication) – </a:t>
            </a:r>
            <a:r>
              <a:rPr lang="ko-KR" altLang="en-US" sz="1400" dirty="0"/>
              <a:t>증명의 </a:t>
            </a:r>
            <a:r>
              <a:rPr lang="en-US" altLang="ko-KR" sz="1400" dirty="0"/>
              <a:t>80~90% </a:t>
            </a:r>
            <a:r>
              <a:rPr lang="ko-KR" altLang="en-US" sz="1400" dirty="0"/>
              <a:t>차지</a:t>
            </a:r>
            <a:endParaRPr lang="en-US" altLang="ko-KR" sz="1400" dirty="0"/>
          </a:p>
          <a:p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655459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49FC8-B42A-E35B-F130-5778705CE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FA73BC-D4C0-79D8-FACA-EBF7C0217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/>
              <a:t>영지식</a:t>
            </a:r>
            <a:r>
              <a:rPr lang="ko-KR" altLang="en-US" dirty="0"/>
              <a:t> 증명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F1D15A-1160-59CE-3091-4191E34A7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80FF684-6CFE-1456-AB65-D4416DF9EEA3}"/>
              </a:ext>
            </a:extLst>
          </p:cNvPr>
          <p:cNvSpPr/>
          <p:nvPr/>
        </p:nvSpPr>
        <p:spPr>
          <a:xfrm>
            <a:off x="3074670" y="1665290"/>
            <a:ext cx="1394460" cy="457200"/>
          </a:xfrm>
          <a:prstGeom prst="rect">
            <a:avLst/>
          </a:prstGeom>
          <a:solidFill>
            <a:srgbClr val="002C6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Root(254-bit)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80DECA15-FB56-6110-AAA9-6A0F4ACAD680}"/>
                  </a:ext>
                </a:extLst>
              </p:cNvPr>
              <p:cNvSpPr/>
              <p:nvPr/>
            </p:nvSpPr>
            <p:spPr>
              <a:xfrm>
                <a:off x="742950" y="2805595"/>
                <a:ext cx="2480756" cy="457200"/>
              </a:xfrm>
              <a:prstGeom prst="rect">
                <a:avLst/>
              </a:prstGeom>
              <a:solidFill>
                <a:srgbClr val="002C6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ko-KR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𝑝𝑜𝑠𝑒𝑖𝑑𝑜𝑛</m:t>
                      </m:r>
                      <m:r>
                        <a:rPr lang="en-US" altLang="ko-KR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80DECA15-FB56-6110-AAA9-6A0F4ACAD6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50" y="2805595"/>
                <a:ext cx="2480756" cy="457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C6D64CD9-2985-FC6C-7D70-040551CC1C76}"/>
                  </a:ext>
                </a:extLst>
              </p:cNvPr>
              <p:cNvSpPr/>
              <p:nvPr/>
            </p:nvSpPr>
            <p:spPr>
              <a:xfrm>
                <a:off x="4469130" y="2811762"/>
                <a:ext cx="2697480" cy="457200"/>
              </a:xfrm>
              <a:prstGeom prst="rect">
                <a:avLst/>
              </a:prstGeom>
              <a:solidFill>
                <a:srgbClr val="002C6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ko-K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𝑝𝑜𝑠𝑒𝑖𝑑𝑜𝑛</m:t>
                      </m:r>
                      <m:r>
                        <a:rPr lang="en-US" altLang="ko-KR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ko-KR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C6D64CD9-2985-FC6C-7D70-040551CC1C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130" y="2811762"/>
                <a:ext cx="269748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7FB8730E-9AE5-3574-3506-CF8931B4998A}"/>
                  </a:ext>
                </a:extLst>
              </p:cNvPr>
              <p:cNvSpPr/>
              <p:nvPr/>
            </p:nvSpPr>
            <p:spPr>
              <a:xfrm>
                <a:off x="170552" y="3995425"/>
                <a:ext cx="1681108" cy="457200"/>
              </a:xfrm>
              <a:prstGeom prst="rect">
                <a:avLst/>
              </a:prstGeom>
              <a:solidFill>
                <a:srgbClr val="002C6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𝑝𝑜𝑠𝑒𝑖𝑑𝑜𝑛</m:t>
                      </m:r>
                      <m:r>
                        <a:rPr lang="en-US" altLang="ko-K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7FB8730E-9AE5-3574-3506-CF8931B499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52" y="3995425"/>
                <a:ext cx="1681108" cy="457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7A18D8D-2E6E-6CD1-5C12-FAAE23E32C51}"/>
              </a:ext>
            </a:extLst>
          </p:cNvPr>
          <p:cNvSpPr txBox="1"/>
          <p:nvPr/>
        </p:nvSpPr>
        <p:spPr>
          <a:xfrm>
            <a:off x="7612380" y="1773406"/>
            <a:ext cx="4334868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2-to-1 Merkle Tree </a:t>
            </a:r>
            <a:r>
              <a:rPr lang="ko-KR" altLang="en-US" sz="1600" b="1" dirty="0"/>
              <a:t>예시</a:t>
            </a:r>
            <a:endParaRPr lang="en-US" altLang="ko-KR" sz="1600" b="1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많은 비밀정보를 하나의 </a:t>
            </a:r>
            <a:r>
              <a:rPr lang="en-US" altLang="ko-KR" sz="1400" dirty="0"/>
              <a:t>Root </a:t>
            </a:r>
            <a:r>
              <a:rPr lang="ko-KR" altLang="en-US" sz="1400" dirty="0"/>
              <a:t>값으로 압축하여 데이터 무결성 보장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각 </a:t>
            </a:r>
            <a:r>
              <a:rPr lang="en-US" altLang="ko-KR" sz="1400" dirty="0"/>
              <a:t>leaf node</a:t>
            </a:r>
            <a:r>
              <a:rPr lang="ko-KR" altLang="en-US" sz="1400" dirty="0"/>
              <a:t>는 </a:t>
            </a:r>
            <a:r>
              <a:rPr lang="en-US" altLang="ko-KR" sz="1400" dirty="0"/>
              <a:t>Poseidon </a:t>
            </a:r>
            <a:r>
              <a:rPr lang="ko-KR" altLang="en-US" sz="1400" dirty="0"/>
              <a:t>해시를 거쳐 </a:t>
            </a:r>
            <a:r>
              <a:rPr lang="en-US" altLang="ko-KR" sz="1400" dirty="0"/>
              <a:t>254-bit </a:t>
            </a:r>
            <a:r>
              <a:rPr lang="ko-KR" altLang="en-US" sz="1400" dirty="0"/>
              <a:t>크기의 공개 가능한 값으로 변환</a:t>
            </a:r>
            <a:r>
              <a:rPr lang="en-US" altLang="ko-KR" sz="1400" dirty="0"/>
              <a:t>(</a:t>
            </a:r>
            <a:r>
              <a:rPr lang="ko-KR" altLang="en-US" sz="1400" dirty="0"/>
              <a:t>비밀 정보는 노출</a:t>
            </a:r>
            <a:r>
              <a:rPr lang="en-US" altLang="ko-KR" sz="1400" dirty="0"/>
              <a:t>X)</a:t>
            </a:r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특정 거래 내역</a:t>
            </a:r>
            <a:r>
              <a:rPr lang="en-US" altLang="ko-KR" sz="1400" dirty="0"/>
              <a:t>(</a:t>
            </a:r>
            <a:r>
              <a:rPr lang="ko-KR" altLang="en-US" sz="1400" dirty="0"/>
              <a:t>비밀정보</a:t>
            </a:r>
            <a:r>
              <a:rPr lang="en-US" altLang="ko-KR" sz="1400" dirty="0"/>
              <a:t>)</a:t>
            </a:r>
            <a:r>
              <a:rPr lang="ko-KR" altLang="en-US" sz="1400" dirty="0"/>
              <a:t>가 전체 트리에 포함되어 있음을 빠르게 증명 가능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Root </a:t>
            </a:r>
            <a:r>
              <a:rPr lang="ko-KR" altLang="en-US" sz="1400" dirty="0"/>
              <a:t>값도 </a:t>
            </a:r>
            <a:r>
              <a:rPr lang="ko-KR" altLang="en-US" sz="1400" dirty="0" err="1"/>
              <a:t>공개값으로</a:t>
            </a:r>
            <a:r>
              <a:rPr lang="ko-KR" altLang="en-US" sz="1400" dirty="0"/>
              <a:t> </a:t>
            </a:r>
            <a:r>
              <a:rPr lang="en-US" altLang="ko-KR" sz="1400" dirty="0"/>
              <a:t>uint256</a:t>
            </a:r>
            <a:r>
              <a:rPr lang="ko-KR" altLang="en-US" sz="1400" dirty="0"/>
              <a:t>의 형태로 전송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26AD38A3-E365-A49E-10FD-6B62DAE553F0}"/>
                  </a:ext>
                </a:extLst>
              </p:cNvPr>
              <p:cNvSpPr/>
              <p:nvPr/>
            </p:nvSpPr>
            <p:spPr>
              <a:xfrm>
                <a:off x="2090792" y="3995425"/>
                <a:ext cx="1681108" cy="457200"/>
              </a:xfrm>
              <a:prstGeom prst="rect">
                <a:avLst/>
              </a:prstGeom>
              <a:solidFill>
                <a:srgbClr val="002C6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𝑝𝑜𝑠𝑒𝑖𝑑𝑜𝑛</m:t>
                      </m:r>
                      <m:r>
                        <a:rPr lang="en-US" altLang="ko-K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26AD38A3-E365-A49E-10FD-6B62DAE55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792" y="3995425"/>
                <a:ext cx="1681108" cy="457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68010CD9-FE58-AFC3-6D2C-D7966144710D}"/>
                  </a:ext>
                </a:extLst>
              </p:cNvPr>
              <p:cNvSpPr/>
              <p:nvPr/>
            </p:nvSpPr>
            <p:spPr>
              <a:xfrm>
                <a:off x="4011032" y="3995425"/>
                <a:ext cx="1681108" cy="457200"/>
              </a:xfrm>
              <a:prstGeom prst="rect">
                <a:avLst/>
              </a:prstGeom>
              <a:solidFill>
                <a:srgbClr val="002C6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𝑝𝑜𝑠𝑒𝑖𝑑𝑜𝑛</m:t>
                      </m:r>
                      <m:r>
                        <a:rPr lang="en-US" altLang="ko-K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68010CD9-FE58-AFC3-6D2C-D796614471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1032" y="3995425"/>
                <a:ext cx="1681108" cy="457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3D956B03-714B-ED36-D903-0E2C8ACA61AE}"/>
                  </a:ext>
                </a:extLst>
              </p:cNvPr>
              <p:cNvSpPr/>
              <p:nvPr/>
            </p:nvSpPr>
            <p:spPr>
              <a:xfrm>
                <a:off x="5931272" y="3995425"/>
                <a:ext cx="1681108" cy="457200"/>
              </a:xfrm>
              <a:prstGeom prst="rect">
                <a:avLst/>
              </a:prstGeom>
              <a:solidFill>
                <a:srgbClr val="002C6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𝑝𝑜𝑠𝑒𝑖𝑑𝑜𝑛</m:t>
                      </m:r>
                      <m:r>
                        <a:rPr lang="en-US" altLang="ko-K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3D956B03-714B-ED36-D903-0E2C8ACA61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1272" y="3995425"/>
                <a:ext cx="1681108" cy="457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E6B1238A-E64E-195F-6DEC-51AEA683DC4B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1614042" y="4346342"/>
            <a:ext cx="1771650" cy="6309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44F5073-A4B9-2A98-08CE-0BF66F7084B8}"/>
              </a:ext>
            </a:extLst>
          </p:cNvPr>
          <p:cNvSpPr txBox="1"/>
          <p:nvPr/>
        </p:nvSpPr>
        <p:spPr>
          <a:xfrm>
            <a:off x="2351278" y="4977312"/>
            <a:ext cx="20688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비밀값</a:t>
            </a:r>
            <a:r>
              <a:rPr lang="en-US" altLang="ko-KR" sz="1200" dirty="0"/>
              <a:t>(</a:t>
            </a:r>
            <a:r>
              <a:rPr lang="ko-KR" altLang="en-US" sz="1200" dirty="0"/>
              <a:t>공개되면 안되는 값</a:t>
            </a:r>
            <a:r>
              <a:rPr lang="en-US" altLang="ko-KR" sz="1200" dirty="0"/>
              <a:t>)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21C5AF6F-E73A-9994-3F8B-589624D94B5A}"/>
              </a:ext>
            </a:extLst>
          </p:cNvPr>
          <p:cNvCxnSpPr>
            <a:cxnSpLocks/>
            <a:stCxn id="24" idx="0"/>
          </p:cNvCxnSpPr>
          <p:nvPr/>
        </p:nvCxnSpPr>
        <p:spPr>
          <a:xfrm flipH="1" flipV="1">
            <a:off x="437653" y="4346342"/>
            <a:ext cx="783712" cy="6309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66B9406-F2D5-76D4-9D02-1A8E636AAA42}"/>
              </a:ext>
            </a:extLst>
          </p:cNvPr>
          <p:cNvSpPr txBox="1"/>
          <p:nvPr/>
        </p:nvSpPr>
        <p:spPr>
          <a:xfrm>
            <a:off x="91451" y="4977312"/>
            <a:ext cx="2259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해싱</a:t>
            </a:r>
            <a:r>
              <a:rPr lang="ko-KR" altLang="en-US" sz="1200" dirty="0"/>
              <a:t> 결과값</a:t>
            </a:r>
            <a:r>
              <a:rPr lang="en-US" altLang="ko-KR" sz="1200" dirty="0"/>
              <a:t>(</a:t>
            </a:r>
            <a:r>
              <a:rPr lang="ko-KR" altLang="en-US" sz="1200" dirty="0"/>
              <a:t>공개 가능한 값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254-bit </a:t>
            </a:r>
            <a:r>
              <a:rPr lang="ko-KR" altLang="en-US" sz="1200" dirty="0"/>
              <a:t>크기</a:t>
            </a:r>
            <a:endParaRPr lang="en-US" altLang="ko-KR" sz="1200" dirty="0"/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86A5AB96-09E7-427D-D270-F472718B0285}"/>
              </a:ext>
            </a:extLst>
          </p:cNvPr>
          <p:cNvCxnSpPr>
            <a:cxnSpLocks/>
            <a:stCxn id="12" idx="0"/>
            <a:endCxn id="7" idx="2"/>
          </p:cNvCxnSpPr>
          <p:nvPr/>
        </p:nvCxnSpPr>
        <p:spPr>
          <a:xfrm rot="5400000" flipH="1" flipV="1">
            <a:off x="1130902" y="3142999"/>
            <a:ext cx="732630" cy="97222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362BFCF9-A125-A3DA-2BFF-3D98A97DFDF4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>
          <a:xfrm rot="16200000" flipV="1">
            <a:off x="2091022" y="3155101"/>
            <a:ext cx="732630" cy="94801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8814C48-1C8B-26DF-1D18-83F8EA6EFF0B}"/>
                  </a:ext>
                </a:extLst>
              </p:cNvPr>
              <p:cNvSpPr txBox="1"/>
              <p:nvPr/>
            </p:nvSpPr>
            <p:spPr>
              <a:xfrm>
                <a:off x="1291533" y="3332238"/>
                <a:ext cx="2744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8814C48-1C8B-26DF-1D18-83F8EA6EF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1533" y="3332238"/>
                <a:ext cx="274434" cy="276999"/>
              </a:xfrm>
              <a:prstGeom prst="rect">
                <a:avLst/>
              </a:prstGeom>
              <a:blipFill>
                <a:blip r:embed="rId7"/>
                <a:stretch>
                  <a:fillRect t="-2222" r="-35556" b="-1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34507D5-3296-8A03-AEC1-29B126296CC0}"/>
                  </a:ext>
                </a:extLst>
              </p:cNvPr>
              <p:cNvSpPr txBox="1"/>
              <p:nvPr/>
            </p:nvSpPr>
            <p:spPr>
              <a:xfrm>
                <a:off x="2305276" y="3332238"/>
                <a:ext cx="2744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34507D5-3296-8A03-AEC1-29B126296C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5276" y="3332238"/>
                <a:ext cx="274434" cy="276999"/>
              </a:xfrm>
              <a:prstGeom prst="rect">
                <a:avLst/>
              </a:prstGeom>
              <a:blipFill>
                <a:blip r:embed="rId8"/>
                <a:stretch>
                  <a:fillRect t="-2222" r="-40000" b="-1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3B8F69F3-81B2-D93D-B857-B0488261ADDE}"/>
              </a:ext>
            </a:extLst>
          </p:cNvPr>
          <p:cNvCxnSpPr>
            <a:cxnSpLocks/>
            <a:stCxn id="10" idx="0"/>
            <a:endCxn id="8" idx="2"/>
          </p:cNvCxnSpPr>
          <p:nvPr/>
        </p:nvCxnSpPr>
        <p:spPr>
          <a:xfrm rot="16200000" flipV="1">
            <a:off x="5931617" y="3155216"/>
            <a:ext cx="726463" cy="9539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78F52273-1C84-3531-311B-B45908E34AF8}"/>
              </a:ext>
            </a:extLst>
          </p:cNvPr>
          <p:cNvCxnSpPr>
            <a:cxnSpLocks/>
            <a:stCxn id="9" idx="0"/>
            <a:endCxn id="8" idx="2"/>
          </p:cNvCxnSpPr>
          <p:nvPr/>
        </p:nvCxnSpPr>
        <p:spPr>
          <a:xfrm rot="5400000" flipH="1" flipV="1">
            <a:off x="4971497" y="3149052"/>
            <a:ext cx="726463" cy="9662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9CF7DDA-0FBA-AF53-8A2C-7B2BE8DC53C1}"/>
                  </a:ext>
                </a:extLst>
              </p:cNvPr>
              <p:cNvSpPr txBox="1"/>
              <p:nvPr/>
            </p:nvSpPr>
            <p:spPr>
              <a:xfrm>
                <a:off x="5080131" y="3332239"/>
                <a:ext cx="2744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9CF7DDA-0FBA-AF53-8A2C-7B2BE8DC5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131" y="3332239"/>
                <a:ext cx="274434" cy="276999"/>
              </a:xfrm>
              <a:prstGeom prst="rect">
                <a:avLst/>
              </a:prstGeom>
              <a:blipFill>
                <a:blip r:embed="rId9"/>
                <a:stretch>
                  <a:fillRect t="-2222" r="-40000" b="-1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1C254E3-7351-97A7-258C-533C4AA2B178}"/>
                  </a:ext>
                </a:extLst>
              </p:cNvPr>
              <p:cNvSpPr txBox="1"/>
              <p:nvPr/>
            </p:nvSpPr>
            <p:spPr>
              <a:xfrm>
                <a:off x="6093874" y="3332239"/>
                <a:ext cx="2744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1C254E3-7351-97A7-258C-533C4AA2B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3874" y="3332239"/>
                <a:ext cx="274434" cy="276999"/>
              </a:xfrm>
              <a:prstGeom prst="rect">
                <a:avLst/>
              </a:prstGeom>
              <a:blipFill>
                <a:blip r:embed="rId10"/>
                <a:stretch>
                  <a:fillRect t="-2222" r="-37778" b="-1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FD0A3402-0A61-6DD3-58C5-41B0CD163252}"/>
              </a:ext>
            </a:extLst>
          </p:cNvPr>
          <p:cNvCxnSpPr>
            <a:cxnSpLocks/>
            <a:stCxn id="8" idx="0"/>
            <a:endCxn id="3" idx="2"/>
          </p:cNvCxnSpPr>
          <p:nvPr/>
        </p:nvCxnSpPr>
        <p:spPr>
          <a:xfrm rot="16200000" flipV="1">
            <a:off x="4450249" y="1444141"/>
            <a:ext cx="689272" cy="204597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87F2CCF4-C755-3CDF-6793-9922F89D3E8F}"/>
              </a:ext>
            </a:extLst>
          </p:cNvPr>
          <p:cNvCxnSpPr>
            <a:cxnSpLocks/>
            <a:stCxn id="7" idx="0"/>
            <a:endCxn id="3" idx="2"/>
          </p:cNvCxnSpPr>
          <p:nvPr/>
        </p:nvCxnSpPr>
        <p:spPr>
          <a:xfrm rot="5400000" flipH="1" flipV="1">
            <a:off x="2536062" y="1569757"/>
            <a:ext cx="683105" cy="178857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6B94506E-E33B-5B19-BD85-8FDEE65DF54F}"/>
              </a:ext>
            </a:extLst>
          </p:cNvPr>
          <p:cNvCxnSpPr>
            <a:cxnSpLocks/>
          </p:cNvCxnSpPr>
          <p:nvPr/>
        </p:nvCxnSpPr>
        <p:spPr>
          <a:xfrm flipV="1">
            <a:off x="3590756" y="765795"/>
            <a:ext cx="1298096" cy="10120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66E7E581-0D05-3559-0995-72E425CCDF3E}"/>
              </a:ext>
            </a:extLst>
          </p:cNvPr>
          <p:cNvSpPr txBox="1"/>
          <p:nvPr/>
        </p:nvSpPr>
        <p:spPr>
          <a:xfrm>
            <a:off x="4817745" y="617207"/>
            <a:ext cx="2118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</a:rPr>
              <a:t>uint256 </a:t>
            </a:r>
            <a:r>
              <a:rPr lang="ko-KR" altLang="en-US" sz="1400" b="1" dirty="0">
                <a:solidFill>
                  <a:srgbClr val="FF0000"/>
                </a:solidFill>
              </a:rPr>
              <a:t>형태로 전송</a:t>
            </a:r>
            <a:endParaRPr lang="en-US" altLang="ko-KR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9240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DE869-C62B-39FB-8C7F-CDAEE1CA3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BDA374-8FF9-D6A3-55D7-294FA78DB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 </a:t>
            </a:r>
            <a:r>
              <a:rPr lang="ko-KR" altLang="en-US" dirty="0"/>
              <a:t>결과값 사용 사례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FAA28B-4D02-4D5C-52F5-30CC5F455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EE8C9E-D729-E81F-E0D1-7C0790AD78FF}"/>
              </a:ext>
            </a:extLst>
          </p:cNvPr>
          <p:cNvSpPr txBox="1"/>
          <p:nvPr/>
        </p:nvSpPr>
        <p:spPr>
          <a:xfrm>
            <a:off x="845823" y="1578651"/>
            <a:ext cx="772517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/>
              <a:t>Rollup</a:t>
            </a:r>
            <a:r>
              <a:rPr lang="ko-KR" altLang="en-US" sz="1400" dirty="0"/>
              <a:t>의 </a:t>
            </a:r>
            <a:r>
              <a:rPr lang="en-US" altLang="ko-KR" sz="1400" dirty="0"/>
              <a:t>State Root</a:t>
            </a:r>
          </a:p>
          <a:p>
            <a:pPr lvl="1"/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ko-KR" altLang="en-US" sz="1400" dirty="0"/>
              <a:t>잔액 정보를 </a:t>
            </a:r>
            <a:r>
              <a:rPr lang="en-US" altLang="ko-KR" sz="1400" dirty="0"/>
              <a:t>Poseidon</a:t>
            </a:r>
            <a:r>
              <a:rPr lang="ko-KR" altLang="en-US" sz="1400" dirty="0"/>
              <a:t>으로 </a:t>
            </a:r>
            <a:r>
              <a:rPr lang="ko-KR" altLang="en-US" sz="1400" dirty="0" err="1"/>
              <a:t>해싱하고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머클</a:t>
            </a:r>
            <a:r>
              <a:rPr lang="ko-KR" altLang="en-US" sz="1400" dirty="0"/>
              <a:t> 트리를 생성</a:t>
            </a:r>
            <a:r>
              <a:rPr lang="en-US" altLang="ko-KR" sz="1400" dirty="0"/>
              <a:t> </a:t>
            </a:r>
            <a:r>
              <a:rPr lang="ko-KR" altLang="en-US" sz="1400" dirty="0"/>
              <a:t>및 </a:t>
            </a:r>
            <a:r>
              <a:rPr lang="ko-KR" altLang="en-US" sz="1400" dirty="0" err="1"/>
              <a:t>루트값</a:t>
            </a:r>
            <a:r>
              <a:rPr lang="ko-KR" altLang="en-US" sz="1400" dirty="0"/>
              <a:t> 도출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en-US" altLang="ko-KR" sz="1400" dirty="0"/>
              <a:t>Root </a:t>
            </a:r>
            <a:r>
              <a:rPr lang="ko-KR" altLang="en-US" sz="1400" dirty="0"/>
              <a:t>값은 </a:t>
            </a:r>
            <a:r>
              <a:rPr lang="ko-KR" altLang="en-US" sz="1400" dirty="0" err="1"/>
              <a:t>이더리움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메인넷의</a:t>
            </a:r>
            <a:r>
              <a:rPr lang="ko-KR" altLang="en-US" sz="1400" dirty="0"/>
              <a:t> 스마트 </a:t>
            </a:r>
            <a:r>
              <a:rPr lang="ko-KR" altLang="en-US" sz="1400" dirty="0" err="1"/>
              <a:t>컨트랙트</a:t>
            </a:r>
            <a:r>
              <a:rPr lang="en-US" altLang="ko-KR" sz="1400" dirty="0"/>
              <a:t>(32-byte </a:t>
            </a:r>
            <a:r>
              <a:rPr lang="ko-KR" altLang="en-US" sz="1400" dirty="0"/>
              <a:t>체계</a:t>
            </a:r>
            <a:r>
              <a:rPr lang="en-US" altLang="ko-KR" sz="1400" dirty="0"/>
              <a:t>)</a:t>
            </a:r>
            <a:r>
              <a:rPr lang="ko-KR" altLang="en-US" sz="1400" dirty="0"/>
              <a:t>에 저장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ko-KR" altLang="en-US" sz="1400" dirty="0"/>
              <a:t>규격이 안 맞을 경우 </a:t>
            </a:r>
            <a:r>
              <a:rPr lang="en-US" altLang="ko-KR" sz="1400" dirty="0"/>
              <a:t>gas fee </a:t>
            </a:r>
            <a:r>
              <a:rPr lang="ko-KR" altLang="en-US" sz="1400" dirty="0"/>
              <a:t>낭비</a:t>
            </a:r>
            <a:r>
              <a:rPr lang="en-US" altLang="ko-KR" sz="1400" dirty="0"/>
              <a:t>, </a:t>
            </a:r>
            <a:r>
              <a:rPr lang="ko-KR" altLang="en-US" sz="1400" dirty="0"/>
              <a:t>호환성 문제 발생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endParaRPr lang="en-US" altLang="ko-KR" sz="1400" dirty="0"/>
          </a:p>
          <a:p>
            <a:r>
              <a:rPr lang="en-US" altLang="ko-KR" sz="1400" dirty="0"/>
              <a:t>2.   </a:t>
            </a:r>
            <a:r>
              <a:rPr lang="ko-KR" altLang="en-US" sz="1400" dirty="0"/>
              <a:t>익명 송금의 </a:t>
            </a:r>
            <a:r>
              <a:rPr lang="en-US" altLang="ko-KR" sz="1400" dirty="0"/>
              <a:t>Nullifier</a:t>
            </a:r>
          </a:p>
          <a:p>
            <a:pPr lvl="1"/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ko-KR" altLang="en-US" sz="1400" dirty="0"/>
              <a:t>비밀키와 주문번호 정보를 입력으로 포세이돈 </a:t>
            </a:r>
            <a:r>
              <a:rPr lang="ko-KR" altLang="en-US" sz="1400" dirty="0" err="1"/>
              <a:t>해싱</a:t>
            </a:r>
            <a:r>
              <a:rPr lang="ko-KR" altLang="en-US" sz="1400" dirty="0"/>
              <a:t> 및 </a:t>
            </a:r>
            <a:r>
              <a:rPr lang="en-US" altLang="ko-KR" sz="1400" dirty="0"/>
              <a:t>Nullifier </a:t>
            </a:r>
            <a:r>
              <a:rPr lang="ko-KR" altLang="en-US" sz="1400" dirty="0"/>
              <a:t>생성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ko-KR" altLang="en-US" sz="1400" dirty="0"/>
              <a:t>데이터베이스 등 외부 시스템에 </a:t>
            </a:r>
            <a:r>
              <a:rPr lang="en-US" altLang="ko-KR" sz="1400" dirty="0"/>
              <a:t>256-bit </a:t>
            </a:r>
            <a:r>
              <a:rPr lang="ko-KR" altLang="en-US" sz="1400" dirty="0"/>
              <a:t>체계로 인덱싱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504491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47269</TotalTime>
  <Words>406</Words>
  <Application>Microsoft Office PowerPoint</Application>
  <PresentationFormat>와이드스크린</PresentationFormat>
  <Paragraphs>97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Cambria Math</vt:lpstr>
      <vt:lpstr>Office 테마</vt:lpstr>
      <vt:lpstr>Poseidon 실제 사용 사례</vt:lpstr>
      <vt:lpstr>영지식 증명</vt:lpstr>
      <vt:lpstr>영지식 증명</vt:lpstr>
      <vt:lpstr>영지식 증명</vt:lpstr>
      <vt:lpstr>Poseidon 결과값 사용 사례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2309</cp:revision>
  <dcterms:created xsi:type="dcterms:W3CDTF">2023-03-06T16:32:37Z</dcterms:created>
  <dcterms:modified xsi:type="dcterms:W3CDTF">2026-03-20T10:05:03Z</dcterms:modified>
</cp:coreProperties>
</file>