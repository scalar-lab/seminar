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353" r:id="rId3"/>
    <p:sldId id="354" r:id="rId4"/>
    <p:sldId id="357" r:id="rId5"/>
    <p:sldId id="355" r:id="rId6"/>
    <p:sldId id="356" r:id="rId7"/>
    <p:sldId id="35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2C62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>
        <p:scale>
          <a:sx n="66" d="100"/>
          <a:sy n="66" d="100"/>
        </p:scale>
        <p:origin x="1296" y="2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*Poseidon</a:t>
            </a:r>
            <a:r>
              <a:rPr lang="ko-KR" altLang="en-US" dirty="0"/>
              <a:t>에서는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libsnark</a:t>
            </a:r>
            <a:r>
              <a:rPr lang="en-US" altLang="ko-KR" dirty="0"/>
              <a:t>(C++ 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  <a:r>
              <a:rPr lang="ko-KR" altLang="en-US" dirty="0"/>
              <a:t>환경에서 회로를 구성하여 제약 조건 수를 </a:t>
            </a:r>
            <a:r>
              <a:rPr lang="ko-KR" altLang="en-US" dirty="0" err="1"/>
              <a:t>카운팅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B839-968D-1B6C-C75B-F36C7FB8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52D54E-0FA0-6A12-BD9D-7EA18038F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90B92-B682-51A6-ED33-C30C2E085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E6B37-96EC-BE38-684C-BCFCE482C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898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04FB-967D-C496-60E9-F8700EA1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754A0F-59F6-459D-5F40-0262061C1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C4596F-A672-A95D-6AAD-1172F6FE4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SNARK</a:t>
            </a:r>
            <a:r>
              <a:rPr lang="ko-KR" altLang="en-US" dirty="0"/>
              <a:t>는 수백 바이트 크기 수준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E4799C-3DC0-DA6A-79E2-203F96415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62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D891-8925-824F-BEC9-F9FAE485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94E13B-0E92-3B7F-B412-D55FF43FD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31FB8-6D8C-5AE3-70D4-65E77F79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77FDD-9341-9A31-097C-039808E4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231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240C-593A-3177-2327-13895E98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107CEB-D039-7BF8-9795-E4874DC27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345F01-DDF3-AA5E-7D4B-7D20A4066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01D06-B2BB-0728-DEE9-6F6936C7B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46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4F0E-06E2-2E2B-630E-BC83F7AA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9ECC8F-DBBA-21D2-D150-13E2248D8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8C5B-832B-2A66-7522-CF15417D4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9EE9F-A93A-9A2E-5BF6-2990325BB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16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평가 지표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556EC7-7124-098A-B1B1-2DEAC078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86" y="3740150"/>
            <a:ext cx="3487928" cy="2222798"/>
          </a:xfrm>
          <a:prstGeom prst="rect">
            <a:avLst/>
          </a:prstGeom>
        </p:spPr>
      </p:pic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180B7-F32E-73FE-B296-487CF1CE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759" y="3429000"/>
            <a:ext cx="3050028" cy="2741805"/>
          </a:xfrm>
          <a:prstGeom prst="rect">
            <a:avLst/>
          </a:prstGeom>
        </p:spPr>
      </p:pic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5D00B-0272-DD48-33C6-B069734AD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453" y="3740150"/>
            <a:ext cx="1616559" cy="2308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830979-DB19-359F-73D2-CA61B7715E8C}"/>
              </a:ext>
            </a:extLst>
          </p:cNvPr>
          <p:cNvSpPr txBox="1"/>
          <p:nvPr/>
        </p:nvSpPr>
        <p:spPr>
          <a:xfrm>
            <a:off x="1309453" y="614362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C710A-9B19-6058-B8C7-865BAD017813}"/>
              </a:ext>
            </a:extLst>
          </p:cNvPr>
          <p:cNvSpPr txBox="1"/>
          <p:nvPr/>
        </p:nvSpPr>
        <p:spPr>
          <a:xfrm>
            <a:off x="4567003" y="6110287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3D24A-2401-9E63-7EA8-13A4DD800DFD}"/>
              </a:ext>
            </a:extLst>
          </p:cNvPr>
          <p:cNvSpPr txBox="1"/>
          <p:nvPr/>
        </p:nvSpPr>
        <p:spPr>
          <a:xfrm>
            <a:off x="8719903" y="627687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48DFB-FAD8-5ADE-4AA0-66D7148B6810}"/>
                  </a:ext>
                </a:extLst>
              </p:cNvPr>
              <p:cNvSpPr txBox="1"/>
              <p:nvPr/>
            </p:nvSpPr>
            <p:spPr>
              <a:xfrm>
                <a:off x="899605" y="1181743"/>
                <a:ext cx="1076379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Poseidon: A New Hash Function for Zero-Knowledge Proof Systems (USENIX Security 2021)</a:t>
                </a:r>
                <a:r>
                  <a:rPr lang="ko-KR" altLang="en-US" b="1" dirty="0"/>
                  <a:t> 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사용한 측정 지표 </a:t>
                </a:r>
                <a:r>
                  <a:rPr lang="en-US" altLang="ko-KR" sz="1400" dirty="0"/>
                  <a:t>: R1CS Constraints, Permutation 1</a:t>
                </a:r>
                <a:r>
                  <a:rPr lang="ko-KR" altLang="en-US" sz="1400" dirty="0"/>
                  <a:t>번 실행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 err="1"/>
                  <a:t>영지식</a:t>
                </a:r>
                <a:r>
                  <a:rPr lang="ko-KR" altLang="en-US" sz="1400" dirty="0"/>
                  <a:t> 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측정 </a:t>
                </a:r>
                <a:r>
                  <a:rPr lang="en-US" altLang="ko-KR" sz="1400" dirty="0"/>
                  <a:t>: </a:t>
                </a:r>
                <a:r>
                  <a:rPr lang="ko-KR" altLang="en-US" sz="1400" dirty="0"/>
                  <a:t>분석 혹은 </a:t>
                </a:r>
                <a:r>
                  <a:rPr lang="en-US" altLang="ko-KR" sz="1400" dirty="0" err="1"/>
                  <a:t>Circom</a:t>
                </a:r>
                <a:r>
                  <a:rPr lang="en-US" altLang="ko-KR" sz="1400" dirty="0"/>
                  <a:t>(R1CS </a:t>
                </a:r>
                <a:r>
                  <a:rPr lang="ko-KR" altLang="en-US" sz="1400" dirty="0"/>
                  <a:t>기반</a:t>
                </a:r>
                <a:r>
                  <a:rPr lang="en-US" altLang="ko-KR" sz="1400" dirty="0"/>
                  <a:t>) ZK</a:t>
                </a:r>
                <a:r>
                  <a:rPr lang="ko-KR" altLang="en-US" sz="1400" dirty="0"/>
                  <a:t> 프레임워크 사용하여 해시함수 코딩 후 분석 도구를 통해 추출 가능</a:t>
                </a:r>
                <a:endParaRPr lang="en-US" altLang="ko-KR" sz="1400" dirty="0"/>
              </a:p>
              <a:p>
                <a:pPr lvl="1"/>
                <a:r>
                  <a:rPr lang="en-US" altLang="ko-KR" sz="1400" dirty="0"/>
                  <a:t>*R1CS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형태로 나타낼 수 있는 수식</a:t>
                </a:r>
                <a:r>
                  <a:rPr lang="en-US" altLang="ko-KR" sz="1400" dirty="0"/>
                  <a:t>. </a:t>
                </a:r>
                <a:r>
                  <a:rPr lang="ko-KR" altLang="en-US" sz="1400" dirty="0"/>
                  <a:t>영지식증명 회로 상에서의 비용</a:t>
                </a:r>
                <a:endParaRPr lang="en-US" altLang="ko-KR" sz="1400" dirty="0"/>
              </a:p>
              <a:p>
                <a:pPr lvl="1"/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Permutation 1</a:t>
                </a:r>
                <a:r>
                  <a:rPr lang="ko-KR" altLang="en-US" sz="1400" dirty="0"/>
                  <a:t>번 실행 시간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평균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: Rust </a:t>
                </a:r>
                <a:r>
                  <a:rPr lang="ko-KR" altLang="en-US" sz="1400" dirty="0"/>
                  <a:t>기반의 </a:t>
                </a:r>
                <a:r>
                  <a:rPr lang="en-US" altLang="ko-KR" sz="1400" dirty="0"/>
                  <a:t>ZK </a:t>
                </a:r>
                <a:r>
                  <a:rPr lang="ko-KR" altLang="en-US" sz="1400" dirty="0"/>
                  <a:t>프레임워크 상에서 해시 함수 구현 후 시간 측정 라이브러리 사용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 </a:t>
                </a:r>
                <a:r>
                  <a:rPr lang="en-US" altLang="ko-KR" sz="1400" dirty="0"/>
                  <a:t>: Rust </a:t>
                </a:r>
                <a:r>
                  <a:rPr lang="ko-KR" altLang="en-US" sz="1400" dirty="0"/>
                  <a:t>기반의 </a:t>
                </a:r>
                <a:r>
                  <a:rPr lang="en-US" altLang="ko-KR" sz="1400" dirty="0"/>
                  <a:t>ZK </a:t>
                </a:r>
                <a:r>
                  <a:rPr lang="ko-KR" altLang="en-US" sz="1400" dirty="0"/>
                  <a:t>프레임워크 상에서 해시 함수 구현 후 시간 측정 라이브러리 사용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48DFB-FAD8-5ADE-4AA0-66D7148B6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05" y="1181743"/>
                <a:ext cx="10763796" cy="2308324"/>
              </a:xfrm>
              <a:prstGeom prst="rect">
                <a:avLst/>
              </a:prstGeom>
              <a:blipFill>
                <a:blip r:embed="rId6"/>
                <a:stretch>
                  <a:fillRect l="-510" t="-1583" b="-1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79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8E59-785C-3385-C5F1-73CAA7A9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C514A-549D-20B6-943F-73EC32C8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증명 환경에 따른 </a:t>
            </a:r>
            <a:r>
              <a:rPr lang="en-US" altLang="ko-KR" dirty="0"/>
              <a:t>Poseidon-128</a:t>
            </a:r>
            <a:r>
              <a:rPr lang="ko-KR" altLang="en-US" dirty="0"/>
              <a:t>의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FAFE3-C63D-1CCA-BE6C-A0406D30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D1925-0024-D8C9-AE37-46ED2D50FE89}"/>
              </a:ext>
            </a:extLst>
          </p:cNvPr>
          <p:cNvSpPr txBox="1"/>
          <p:nvPr/>
        </p:nvSpPr>
        <p:spPr>
          <a:xfrm>
            <a:off x="899605" y="1181743"/>
            <a:ext cx="1076379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증명 환경에 따른 </a:t>
            </a:r>
            <a:r>
              <a:rPr lang="en-US" altLang="ko-KR" b="1" dirty="0"/>
              <a:t>Poseidon-128</a:t>
            </a:r>
            <a:r>
              <a:rPr lang="ko-KR" altLang="en-US" b="1" dirty="0"/>
              <a:t>의 비용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사용한 환경에 따라서 </a:t>
            </a:r>
            <a:r>
              <a:rPr lang="en-US" altLang="ko-KR" sz="1400" dirty="0"/>
              <a:t>Poseidon-128</a:t>
            </a:r>
            <a:r>
              <a:rPr lang="ko-KR" altLang="en-US" sz="1400" dirty="0"/>
              <a:t>의 비용을 다르게 정의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Groth16(SNARK </a:t>
            </a:r>
            <a:r>
              <a:rPr lang="ko-KR" altLang="en-US" sz="1400" dirty="0"/>
              <a:t>시스템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 : Pinocchio </a:t>
            </a:r>
            <a:r>
              <a:rPr lang="ko-KR" altLang="en-US" sz="1400" dirty="0"/>
              <a:t>증명 시스템의 최적화 버전</a:t>
            </a:r>
            <a:r>
              <a:rPr lang="en-US" altLang="ko-KR" sz="1400" dirty="0"/>
              <a:t>. </a:t>
            </a:r>
            <a:r>
              <a:rPr lang="ko-KR" altLang="en-US" sz="1400" dirty="0"/>
              <a:t>현재 가장 작은 증명 크기를 가진 가장 빠른 </a:t>
            </a:r>
            <a:r>
              <a:rPr lang="en-US" altLang="ko-KR" sz="1400" dirty="0"/>
              <a:t>SNARK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S-box </a:t>
            </a:r>
            <a:r>
              <a:rPr lang="ko-KR" altLang="en-US" sz="1400" dirty="0"/>
              <a:t>연산에 필요한 제약 조건 수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선형 제약 조건은 복잡도에 거의 영향을 미치지 않음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세팅 </a:t>
            </a:r>
            <a:r>
              <a:rPr lang="en-US" altLang="ko-KR" sz="1400" dirty="0"/>
              <a:t>: Intel Core i7-8700 CPU, 32 GiB RAM, C++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libsnark</a:t>
            </a:r>
            <a:r>
              <a:rPr lang="en-US" altLang="ko-KR" sz="1400" dirty="0"/>
              <a:t> library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 startAt="2"/>
            </a:pPr>
            <a:r>
              <a:rPr lang="en-US" altLang="ko-KR" sz="1400" dirty="0"/>
              <a:t>Bulletproofs</a:t>
            </a:r>
          </a:p>
          <a:p>
            <a:pPr marL="342900" indent="-342900">
              <a:buAutoNum type="arabicPeriod" startAt="2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영지식증명 시스템의 한 종류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달리 증명 생성을 위한 사전 공개 파라미터 생성 과정 필요 없음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프로그램의 </a:t>
            </a:r>
            <a:r>
              <a:rPr lang="ko-KR" altLang="en-US" sz="1400" dirty="0" err="1"/>
              <a:t>크키겡</a:t>
            </a:r>
            <a:r>
              <a:rPr lang="ko-KR" altLang="en-US" sz="1400" dirty="0"/>
              <a:t> 따라 증명의 크기가 로크 함수 형태로 증가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59487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72FC-15A1-D5A8-B0B3-E99AB869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63F6A-7679-CA52-77BE-F8977E1F0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증명 환경에 따른 </a:t>
            </a:r>
            <a:r>
              <a:rPr lang="en-US" altLang="ko-KR" dirty="0"/>
              <a:t>Poseidon-128</a:t>
            </a:r>
            <a:r>
              <a:rPr lang="ko-KR" altLang="en-US" dirty="0"/>
              <a:t>의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5D7CA-1F7B-66C6-58C0-DB7CAE8B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5A4A1-BAEB-BBDE-9449-C35F0587D6F7}"/>
              </a:ext>
            </a:extLst>
          </p:cNvPr>
          <p:cNvSpPr txBox="1"/>
          <p:nvPr/>
        </p:nvSpPr>
        <p:spPr>
          <a:xfrm>
            <a:off x="899605" y="1181743"/>
            <a:ext cx="107637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증명 환경에 따른 </a:t>
            </a:r>
            <a:r>
              <a:rPr lang="en-US" altLang="ko-KR" b="1" dirty="0"/>
              <a:t>Poseidon-128</a:t>
            </a:r>
            <a:r>
              <a:rPr lang="ko-KR" altLang="en-US" b="1" dirty="0"/>
              <a:t>의 비용</a:t>
            </a:r>
            <a:endParaRPr lang="en-US" altLang="ko-KR" b="1" dirty="0"/>
          </a:p>
          <a:p>
            <a:pPr marL="342900" indent="-342900">
              <a:buAutoNum type="arabicPeriod" startAt="2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PLONK </a:t>
            </a:r>
            <a:r>
              <a:rPr lang="ko-KR" altLang="en-US" sz="1400" dirty="0"/>
              <a:t>시스템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Universal</a:t>
            </a:r>
            <a:r>
              <a:rPr lang="ko-KR" altLang="en-US" sz="1400" dirty="0"/>
              <a:t> </a:t>
            </a:r>
            <a:r>
              <a:rPr lang="en-US" altLang="ko-KR" sz="1400" dirty="0"/>
              <a:t>trusted setup</a:t>
            </a:r>
            <a:r>
              <a:rPr lang="ko-KR" altLang="en-US" sz="1400" dirty="0"/>
              <a:t>을 사용하는 새롭고 대중적인 </a:t>
            </a:r>
            <a:r>
              <a:rPr lang="en-US" altLang="ko-KR" sz="1400" dirty="0"/>
              <a:t>SNARK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R1CS </a:t>
            </a:r>
            <a:r>
              <a:rPr lang="ko-KR" altLang="en-US" sz="1400" dirty="0"/>
              <a:t>제약 조건 시스템에서 작동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Redshift</a:t>
            </a:r>
          </a:p>
          <a:p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STARK</a:t>
            </a:r>
            <a:r>
              <a:rPr lang="ko-KR" altLang="en-US" sz="1400" dirty="0"/>
              <a:t>에서 영감을 받은 증명 시스템</a:t>
            </a:r>
            <a:r>
              <a:rPr lang="en-US" altLang="ko-KR" sz="1400" dirty="0"/>
              <a:t>(STARK +</a:t>
            </a:r>
            <a:r>
              <a:rPr lang="ko-KR" altLang="en-US" sz="1400" dirty="0"/>
              <a:t> </a:t>
            </a:r>
            <a:r>
              <a:rPr lang="en-US" altLang="ko-KR" sz="1400" dirty="0"/>
              <a:t>PLONK)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임의의 제약 조건 집합에서 작동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신뢰 설정</a:t>
            </a:r>
            <a:r>
              <a:rPr lang="en-US" altLang="ko-KR" sz="1400" dirty="0"/>
              <a:t>(Trusted Setup)</a:t>
            </a:r>
            <a:r>
              <a:rPr lang="ko-KR" altLang="en-US" sz="1400" dirty="0"/>
              <a:t>이 리드</a:t>
            </a:r>
            <a:r>
              <a:rPr lang="en-US" altLang="ko-KR" sz="1400" dirty="0"/>
              <a:t>-</a:t>
            </a:r>
            <a:r>
              <a:rPr lang="ko-KR" altLang="en-US" sz="1400" dirty="0"/>
              <a:t>솔로몬</a:t>
            </a:r>
            <a:r>
              <a:rPr lang="en-US" altLang="ko-KR" sz="1400" dirty="0"/>
              <a:t>(Reed-Solomon) </a:t>
            </a:r>
            <a:r>
              <a:rPr lang="ko-KR" altLang="en-US" sz="1400" dirty="0"/>
              <a:t>기반의 신뢰가 필요 없는 </a:t>
            </a:r>
            <a:r>
              <a:rPr lang="ko-KR" altLang="en-US" sz="1400" dirty="0" err="1"/>
              <a:t>커밋으로</a:t>
            </a:r>
            <a:r>
              <a:rPr lang="ko-KR" altLang="en-US" sz="1400" dirty="0"/>
              <a:t> 대체된 </a:t>
            </a:r>
            <a:r>
              <a:rPr lang="en-US" altLang="ko-KR" sz="1400" dirty="0"/>
              <a:t>PLONK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PLONK</a:t>
            </a:r>
            <a:r>
              <a:rPr lang="ko-KR" altLang="en-US" sz="1400" dirty="0"/>
              <a:t>에서 사용하는 것과 동일한 최적화 기법들 사용 가능</a:t>
            </a:r>
            <a:r>
              <a:rPr lang="en-US" altLang="ko-KR" sz="1400" dirty="0"/>
              <a:t>, </a:t>
            </a:r>
            <a:r>
              <a:rPr lang="ko-KR" altLang="en-US" sz="1400" dirty="0"/>
              <a:t>증명 크기가 </a:t>
            </a:r>
            <a:r>
              <a:rPr lang="en-US" altLang="ko-KR" sz="1400" dirty="0"/>
              <a:t>STARK</a:t>
            </a:r>
            <a:r>
              <a:rPr lang="ko-KR" altLang="en-US" sz="1400" dirty="0"/>
              <a:t>와 비슷한 수준의 크기</a:t>
            </a:r>
            <a:r>
              <a:rPr lang="en-US" altLang="ko-KR" sz="1400" dirty="0"/>
              <a:t>(12KB)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Redshift </a:t>
            </a:r>
            <a:r>
              <a:rPr lang="ko-KR" altLang="en-US" sz="1400" dirty="0"/>
              <a:t>라이브러리가 공식적으로 사용가능한 것이 없어 실질적인 성능 측정이 불가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20307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CED7-6B70-D140-0D9F-F5B5FE7A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FC9CD-801F-2A24-52F8-49FB98AA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Groth16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691F68-3824-238D-D65D-C4E70CA0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6A1905-262A-FC9F-EA93-598A4105D4AE}"/>
                  </a:ext>
                </a:extLst>
              </p:cNvPr>
              <p:cNvSpPr txBox="1"/>
              <p:nvPr/>
            </p:nvSpPr>
            <p:spPr>
              <a:xfrm>
                <a:off x="899605" y="1181743"/>
                <a:ext cx="10763796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Groth16 base</a:t>
                </a:r>
                <a:r>
                  <a:rPr lang="ko-KR" altLang="en-US" b="1" dirty="0"/>
                  <a:t> </a:t>
                </a:r>
                <a:r>
                  <a:rPr lang="en-US" altLang="ko-KR" b="1" dirty="0"/>
                  <a:t>Poseidon-128 </a:t>
                </a:r>
                <a:r>
                  <a:rPr lang="ko-KR" altLang="en-US" b="1" dirty="0"/>
                  <a:t>비용 측정 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측정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lvl="1"/>
                <a:r>
                  <a:rPr lang="en-US" altLang="ko-KR" sz="1400" dirty="0"/>
                  <a:t>*R1CS(Rank-1 Constraints System)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형태로 나타낼 수 있는 수식</a:t>
                </a:r>
                <a:r>
                  <a:rPr lang="en-US" altLang="ko-KR" sz="1400" dirty="0"/>
                  <a:t>. </a:t>
                </a:r>
                <a:r>
                  <a:rPr lang="ko-KR" altLang="en-US" sz="1400" dirty="0"/>
                  <a:t>영지식증명 회로 상에서의 비용</a:t>
                </a:r>
                <a:endParaRPr lang="en-US" altLang="ko-KR" sz="1400" dirty="0"/>
              </a:p>
              <a:p>
                <a:pPr lvl="1"/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세팅 환경 </a:t>
                </a:r>
                <a:r>
                  <a:rPr lang="en-US" altLang="ko-KR" sz="1400" dirty="0"/>
                  <a:t>: Intel Core i7-8700 CPU, 32 GiB RAM, Rust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 err="1"/>
                  <a:t>libsnark</a:t>
                </a:r>
                <a:r>
                  <a:rPr lang="en-US" altLang="ko-KR" sz="1400" dirty="0"/>
                  <a:t> library </a:t>
                </a:r>
                <a:r>
                  <a:rPr lang="ko-KR" altLang="en-US" sz="1400" dirty="0"/>
                  <a:t>사용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t = 3, BN254 </a:t>
                </a:r>
                <a:r>
                  <a:rPr lang="ko-KR" altLang="en-US" sz="1400" dirty="0"/>
                  <a:t>사용</a:t>
                </a: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입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출력 변수 할당 및 입력 처리하는 시스템 오버헤드 포함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 측정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C++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 err="1"/>
                  <a:t>libsnark</a:t>
                </a:r>
                <a:r>
                  <a:rPr lang="ko-KR" altLang="en-US" sz="1400" dirty="0"/>
                  <a:t> 라이브러리를 통하여 측정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6A1905-262A-FC9F-EA93-598A4105D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05" y="1181743"/>
                <a:ext cx="10763796" cy="3600986"/>
              </a:xfrm>
              <a:prstGeom prst="rect">
                <a:avLst/>
              </a:prstGeom>
              <a:blipFill>
                <a:blip r:embed="rId3"/>
                <a:stretch>
                  <a:fillRect l="-510" t="-1015" b="-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89C90D-5D65-3ACF-B297-23A2F8FEA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940" y="3429000"/>
            <a:ext cx="3781830" cy="2410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02BCCE-7CB3-F9CB-7122-B892C6E7F725}"/>
              </a:ext>
            </a:extLst>
          </p:cNvPr>
          <p:cNvSpPr txBox="1"/>
          <p:nvPr/>
        </p:nvSpPr>
        <p:spPr>
          <a:xfrm>
            <a:off x="8457290" y="5962748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Groth16 </a:t>
            </a:r>
            <a:r>
              <a:rPr lang="ko-KR" altLang="en-US" sz="1200" dirty="0"/>
              <a:t>측정 지표</a:t>
            </a:r>
          </a:p>
        </p:txBody>
      </p:sp>
    </p:spTree>
    <p:extLst>
      <p:ext uri="{BB962C8B-B14F-4D97-AF65-F5344CB8AC3E}">
        <p14:creationId xmlns:p14="http://schemas.microsoft.com/office/powerpoint/2010/main" val="227004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91B5-A5E0-E508-D7C8-470B4ADC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89E32-68ED-32CE-74F5-042EE5C7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Bulletproofs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61E4B8-DA07-6B59-47B0-9AE84811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BD545-7844-7537-FF9F-8071192F18B3}"/>
              </a:ext>
            </a:extLst>
          </p:cNvPr>
          <p:cNvSpPr txBox="1"/>
          <p:nvPr/>
        </p:nvSpPr>
        <p:spPr>
          <a:xfrm>
            <a:off x="899605" y="1181743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Bulletproofs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머클</a:t>
            </a:r>
            <a:r>
              <a:rPr lang="ko-KR" altLang="en-US" sz="1400" dirty="0"/>
              <a:t> 트리 증명자를 </a:t>
            </a:r>
            <a:r>
              <a:rPr lang="en-US" altLang="ko-KR" sz="1400" dirty="0"/>
              <a:t>bulletproofs</a:t>
            </a:r>
            <a:r>
              <a:rPr lang="ko-KR" altLang="en-US" sz="1400" dirty="0"/>
              <a:t>에서 구현하고 성능 측정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lvl="1"/>
            <a:r>
              <a:rPr lang="en-US" altLang="ko-KR" sz="1400" dirty="0"/>
              <a:t>* </a:t>
            </a:r>
            <a:r>
              <a:rPr lang="ko-KR" altLang="en-US" sz="1400" dirty="0" err="1"/>
              <a:t>머클</a:t>
            </a:r>
            <a:r>
              <a:rPr lang="ko-KR" altLang="en-US" sz="1400" dirty="0"/>
              <a:t> 트리 </a:t>
            </a:r>
            <a:r>
              <a:rPr lang="ko-KR" altLang="en-US" sz="1400" dirty="0" err="1"/>
              <a:t>증명자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특정 데이터</a:t>
            </a:r>
            <a:r>
              <a:rPr lang="en-US" altLang="ko-KR" sz="1400" dirty="0"/>
              <a:t>(Leaf)</a:t>
            </a:r>
            <a:r>
              <a:rPr lang="ko-KR" altLang="en-US" sz="1400" dirty="0"/>
              <a:t>가 거대한 데이터 집합</a:t>
            </a:r>
            <a:r>
              <a:rPr lang="en-US" altLang="ko-KR" sz="1400" dirty="0"/>
              <a:t>(Merkle Tree)</a:t>
            </a:r>
            <a:r>
              <a:rPr lang="ko-KR" altLang="en-US" sz="1400" dirty="0"/>
              <a:t>의 일부임을 전체 데이터를 보여주지 않고도 증명하는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 회로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동일한 제약 조건 시스템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사용하는 소수 필드 종류</a:t>
            </a:r>
            <a:r>
              <a:rPr lang="en-US" altLang="ko-KR" sz="1400" dirty="0"/>
              <a:t> : BN254, BLS12-381, Ristretto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</a:t>
            </a:r>
            <a:r>
              <a:rPr lang="ko-KR" altLang="en-US" sz="1400" dirty="0"/>
              <a:t>의 </a:t>
            </a:r>
            <a:r>
              <a:rPr lang="en-US" altLang="ko-KR" sz="1400" dirty="0"/>
              <a:t>dalek </a:t>
            </a:r>
            <a:r>
              <a:rPr lang="ko-KR" altLang="en-US" sz="1400" dirty="0"/>
              <a:t>라이브러리</a:t>
            </a:r>
            <a:r>
              <a:rPr lang="en-US" altLang="ko-KR" sz="1400" dirty="0"/>
              <a:t> </a:t>
            </a:r>
            <a:r>
              <a:rPr lang="ko-KR" altLang="en-US" sz="1400" dirty="0"/>
              <a:t>활용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E9BB86-B19C-3471-4CFA-3EC5A0CC4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482" y="3043644"/>
            <a:ext cx="3514524" cy="32101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1050E1D-B78D-2410-4D31-798F1144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827" y="4610043"/>
            <a:ext cx="2320426" cy="164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F23EDA-3AE7-0A33-9B55-466CA71606B6}"/>
              </a:ext>
            </a:extLst>
          </p:cNvPr>
          <p:cNvSpPr txBox="1"/>
          <p:nvPr/>
        </p:nvSpPr>
        <p:spPr>
          <a:xfrm>
            <a:off x="3082833" y="6313890"/>
            <a:ext cx="1367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머클</a:t>
            </a:r>
            <a:r>
              <a:rPr lang="ko-KR" altLang="en-US" sz="1200" dirty="0"/>
              <a:t> 트리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0ADCB-CAA3-580E-6541-4DE327774D4F}"/>
              </a:ext>
            </a:extLst>
          </p:cNvPr>
          <p:cNvSpPr txBox="1"/>
          <p:nvPr/>
        </p:nvSpPr>
        <p:spPr>
          <a:xfrm>
            <a:off x="8457290" y="6305337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Bulletproofs </a:t>
            </a:r>
            <a:r>
              <a:rPr lang="ko-KR" altLang="en-US" sz="1200" dirty="0"/>
              <a:t>측정 지표</a:t>
            </a:r>
          </a:p>
        </p:txBody>
      </p:sp>
    </p:spTree>
    <p:extLst>
      <p:ext uri="{BB962C8B-B14F-4D97-AF65-F5344CB8AC3E}">
        <p14:creationId xmlns:p14="http://schemas.microsoft.com/office/powerpoint/2010/main" val="911864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6F50-709D-4CB6-9E78-AE820258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8DB8D-137E-2489-F847-8881FD9C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PLONK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9A201-3DA9-4BD8-36A3-C3AA349F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8A1D0-FC33-3EEA-2022-8A2CAC1E6573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PLONK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i5-7300HQ CPU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 </a:t>
            </a:r>
            <a:r>
              <a:rPr lang="ko-KR" altLang="en-US" sz="1400" dirty="0"/>
              <a:t>기반의 구현체 사용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</a:t>
            </a:r>
            <a:r>
              <a:rPr lang="ko-KR" altLang="en-US" sz="1400" dirty="0"/>
              <a:t>과 동일한 제약 조건 시스템</a:t>
            </a:r>
            <a:endParaRPr lang="en-US" altLang="ko-K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057C9-165F-152F-A63B-629A2102D829}"/>
              </a:ext>
            </a:extLst>
          </p:cNvPr>
          <p:cNvSpPr txBox="1"/>
          <p:nvPr/>
        </p:nvSpPr>
        <p:spPr>
          <a:xfrm>
            <a:off x="8455999" y="4369837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PLONK </a:t>
            </a:r>
            <a:r>
              <a:rPr lang="ko-KR" altLang="en-US" sz="1200" dirty="0"/>
              <a:t>측정 지표</a:t>
            </a: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BEF5EB-8988-139D-07AA-30858CB42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58" y="2573117"/>
            <a:ext cx="349616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33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21526</TotalTime>
  <Words>585</Words>
  <Application>Microsoft Office PowerPoint</Application>
  <PresentationFormat>와이드스크린</PresentationFormat>
  <Paragraphs>120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Cambria Math</vt:lpstr>
      <vt:lpstr>Office 테마</vt:lpstr>
      <vt:lpstr>Poseidon 평가 지표 </vt:lpstr>
      <vt:lpstr>비교 분석</vt:lpstr>
      <vt:lpstr>증명 환경에 따른 Poseidon-128의 비용</vt:lpstr>
      <vt:lpstr>증명 환경에 따른 Poseidon-128의 비용</vt:lpstr>
      <vt:lpstr>Groth16 base Poseidon-128 비용 측정</vt:lpstr>
      <vt:lpstr>Bulletproofs base Poseidon-128 비용 측정</vt:lpstr>
      <vt:lpstr>PLONK base Poseidon-128 비용 측정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2064</cp:revision>
  <dcterms:created xsi:type="dcterms:W3CDTF">2023-03-06T16:32:37Z</dcterms:created>
  <dcterms:modified xsi:type="dcterms:W3CDTF">2026-01-26T02:24:02Z</dcterms:modified>
</cp:coreProperties>
</file>