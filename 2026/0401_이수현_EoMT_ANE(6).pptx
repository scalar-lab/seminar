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83" r:id="rId4"/>
    <p:sldId id="288" r:id="rId5"/>
    <p:sldId id="285" r:id="rId6"/>
    <p:sldId id="287" r:id="rId7"/>
    <p:sldId id="28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2C62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5" autoAdjust="0"/>
    <p:restoredTop sz="83754" autoAdjust="0"/>
  </p:normalViewPr>
  <p:slideViewPr>
    <p:cSldViewPr snapToGrid="0">
      <p:cViewPr varScale="1">
        <p:scale>
          <a:sx n="158" d="100"/>
          <a:sy n="158" d="100"/>
        </p:scale>
        <p:origin x="131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C1F0-F292-4285-A95F-A15DE7C1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C59FB0-B0C5-D787-DC4E-1F0A56A5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C69EA-D81C-D4E4-C6A7-2F25A8BC5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18B6E-E98E-11DB-78AE-6AB4F563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74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AA04-8709-DBB2-7920-B5D4ED90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2ED9AD-0C94-0356-ABDD-CFCC82BF5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0C71B9-4ACB-1D6E-5ADF-D167AF9B4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E76571-63A3-9D5F-CA2A-5A51620DD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240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AA04-8709-DBB2-7920-B5D4ED90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2ED9AD-0C94-0356-ABDD-CFCC82BF5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0C71B9-4ACB-1D6E-5ADF-D167AF9B4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E76571-63A3-9D5F-CA2A-5A51620DD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240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8939-E811-BAA3-D8E1-C6AF074D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F6CB4A-C803-8756-F7D9-CBA3D7A2C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D35A58-FF9C-B813-5072-67FD837AD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9DD421-993F-D04A-3C9A-CE7B8CA0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49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4-4781-B11F-1C35-D6B2365D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358E46-5F20-87FA-FBAE-615971920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2EFF28-2E4C-500F-1020-7AF754691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B2A519-F73C-94DB-0D55-B2E989F68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99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2026. 4. 1.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Apple Neural Engine (6)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002C62"/>
                </a:solidFill>
              </a:rPr>
              <a:t>  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4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898782" y="1550792"/>
            <a:ext cx="9666514" cy="35957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~6월)</a:t>
            </a:r>
            <a:endParaRPr lang="ko-KR" altLang="en-US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dirty="0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dirty="0"/>
              <a:t>ANE</a:t>
            </a:r>
            <a:r>
              <a:rPr lang="ko-KR" dirty="0"/>
              <a:t>(Apple </a:t>
            </a:r>
            <a:r>
              <a:rPr lang="ko-KR" dirty="0" err="1"/>
              <a:t>Neural</a:t>
            </a:r>
            <a:r>
              <a:rPr lang="ko-KR" dirty="0"/>
              <a:t> </a:t>
            </a:r>
            <a:r>
              <a:rPr lang="ko-KR" dirty="0" err="1"/>
              <a:t>Engine</a:t>
            </a:r>
            <a:r>
              <a:rPr lang="ko-KR" dirty="0"/>
              <a:t>)</a:t>
            </a:r>
            <a:r>
              <a:rPr lang="ko-KR" altLang="en-US" dirty="0"/>
              <a:t> </a:t>
            </a:r>
            <a:r>
              <a:rPr lang="ko-KR" altLang="en-US" dirty="0" err="1"/>
              <a:t>friendly</a:t>
            </a:r>
            <a:r>
              <a:rPr lang="ko-KR" altLang="en-US" dirty="0"/>
              <a:t> </a:t>
            </a:r>
            <a:r>
              <a:rPr lang="ko-KR" altLang="en-US" dirty="0" err="1"/>
              <a:t>transformer</a:t>
            </a:r>
            <a:endParaRPr lang="en-US" altLang="ko-KR" dirty="0" err="1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ANE transformer</a:t>
            </a:r>
            <a:r>
              <a:rPr lang="ko-KR" altLang="en-US" dirty="0"/>
              <a:t>의 원리</a:t>
            </a:r>
            <a:r>
              <a:rPr lang="en-US" altLang="ko-KR" dirty="0"/>
              <a:t> – p1, p2, p3</a:t>
            </a:r>
            <a:r>
              <a:rPr lang="ko-KR" altLang="en-US" dirty="0"/>
              <a:t>의 </a:t>
            </a:r>
            <a:r>
              <a:rPr lang="en-US" altLang="ko-KR" dirty="0"/>
              <a:t>8</a:t>
            </a:r>
            <a:r>
              <a:rPr lang="ko-KR" altLang="en-US" dirty="0"/>
              <a:t>가지 조합 </a:t>
            </a:r>
            <a:r>
              <a:rPr lang="ko-KR" altLang="en-US" dirty="0" err="1"/>
              <a:t>재비교</a:t>
            </a:r>
            <a:r>
              <a:rPr lang="ko-KR" altLang="en-US" dirty="0"/>
              <a:t> 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‘ALL (CPU and ANE)’ vs ‘CPU and GPU’</a:t>
            </a:r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358-86C2-C65C-130A-37B42C5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A901E-0722-66D4-1063-4C1A9721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원리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921F-E2D1-2908-5D59-30C686B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F446F-E08D-B3A3-A1DC-CE08A8A549E3}"/>
              </a:ext>
            </a:extLst>
          </p:cNvPr>
          <p:cNvSpPr txBox="1"/>
          <p:nvPr/>
        </p:nvSpPr>
        <p:spPr>
          <a:xfrm>
            <a:off x="1083543" y="1268760"/>
            <a:ext cx="7464210" cy="5771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Picking the Right Data format </a:t>
            </a:r>
            <a:endParaRPr lang="en-US" altLang="ko-KR" sz="1200" dirty="0">
              <a:solidFill>
                <a:srgbClr val="474747"/>
              </a:solidFill>
              <a:highlight>
                <a:srgbClr val="FFFFFF"/>
              </a:highlight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/>
              <a:t>Linear</a:t>
            </a:r>
            <a:r>
              <a:rPr lang="ko-KR" altLang="en-US" sz="1400" dirty="0"/>
              <a:t> 레이어를 모두 </a:t>
            </a:r>
            <a:r>
              <a:rPr lang="en-US" altLang="ko-KR" sz="1600" dirty="0"/>
              <a:t>Conv2d</a:t>
            </a:r>
            <a:r>
              <a:rPr lang="ko-KR" altLang="en-US" sz="1400" dirty="0"/>
              <a:t> 레이어로 교체</a:t>
            </a:r>
            <a:endParaRPr lang="en-US" altLang="ko-KR" sz="14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(B, S, C) → (B, C, 1, S) 	</a:t>
            </a:r>
            <a:endParaRPr lang="en-US" altLang="ko-KR" sz="1400" b="1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/>
              </a:rPr>
              <a:t>2. Chunking Large Intermediate Tensors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Multi Head Attention</a:t>
            </a:r>
            <a:r>
              <a:rPr lang="ko-KR" altLang="en-US" sz="1400" dirty="0">
                <a:cs typeface="Arial"/>
              </a:rPr>
              <a:t>에서 </a:t>
            </a:r>
            <a:r>
              <a:rPr lang="en-US" sz="1400" dirty="0">
                <a:cs typeface="Arial"/>
              </a:rPr>
              <a:t>query, key, value</a:t>
            </a:r>
            <a:r>
              <a:rPr lang="en-US" altLang="ko-KR" sz="1400" dirty="0">
                <a:cs typeface="Arial"/>
              </a:rPr>
              <a:t> </a:t>
            </a:r>
            <a:r>
              <a:rPr lang="ko-KR" altLang="en-US" sz="1400" b="1" dirty="0" err="1">
                <a:cs typeface="Arial"/>
              </a:rPr>
              <a:t>텐서를</a:t>
            </a:r>
            <a:r>
              <a:rPr lang="ko-KR" altLang="en-US" sz="1400" b="1" dirty="0">
                <a:cs typeface="Arial"/>
              </a:rPr>
              <a:t> </a:t>
            </a:r>
            <a:r>
              <a:rPr lang="en-US" sz="1400" b="1" dirty="0">
                <a:cs typeface="Arial"/>
              </a:rPr>
              <a:t>head</a:t>
            </a:r>
            <a:r>
              <a:rPr lang="ko-KR" altLang="en-US" sz="1400" b="1" dirty="0">
                <a:cs typeface="Arial"/>
              </a:rPr>
              <a:t> 단위로 분리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ko-KR" b="1" dirty="0">
                <a:cs typeface="Arial"/>
              </a:rPr>
              <a:t>3. </a:t>
            </a:r>
            <a:r>
              <a:rPr lang="ko-KR" b="1" dirty="0" err="1">
                <a:cs typeface="Arial"/>
              </a:rPr>
              <a:t>Minimizing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Memory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Copies</a:t>
            </a:r>
            <a:endParaRPr lang="ko-KR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Reshape</a:t>
            </a:r>
            <a:r>
              <a:rPr lang="ko-KR" altLang="en-US" sz="1400" dirty="0">
                <a:cs typeface="Arial"/>
              </a:rPr>
              <a:t>과</a:t>
            </a:r>
            <a:r>
              <a:rPr lang="en-US" sz="1400" dirty="0">
                <a:cs typeface="Arial"/>
              </a:rPr>
              <a:t> transpose </a:t>
            </a:r>
            <a:r>
              <a:rPr lang="ko-KR" altLang="en-US" sz="1400" dirty="0">
                <a:cs typeface="Arial"/>
              </a:rPr>
              <a:t>연산</a:t>
            </a:r>
            <a:r>
              <a:rPr lang="en-US" sz="1400" dirty="0">
                <a:cs typeface="Arial"/>
              </a:rPr>
              <a:t> </a:t>
            </a:r>
            <a:r>
              <a:rPr lang="ko-KR" altLang="en-US" sz="1400" dirty="0">
                <a:cs typeface="Arial"/>
              </a:rPr>
              <a:t>최소화</a:t>
            </a:r>
            <a:r>
              <a:rPr lang="en-US" sz="1400" dirty="0">
                <a:cs typeface="Arial"/>
              </a:rPr>
              <a:t> - </a:t>
            </a:r>
            <a:r>
              <a:rPr lang="en-US" sz="1400" b="1" dirty="0" err="1">
                <a:cs typeface="Arial"/>
              </a:rPr>
              <a:t>einsum</a:t>
            </a:r>
            <a:r>
              <a:rPr lang="en-US" sz="1400" b="1" dirty="0">
                <a:cs typeface="Arial"/>
              </a:rPr>
              <a:t> </a:t>
            </a:r>
            <a:r>
              <a:rPr lang="ko-KR" sz="1400" b="1" dirty="0">
                <a:cs typeface="Arial"/>
              </a:rPr>
              <a:t>공식</a:t>
            </a:r>
            <a:r>
              <a:rPr lang="ko-KR" sz="1400" dirty="0">
                <a:cs typeface="Arial"/>
              </a:rPr>
              <a:t> 활용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sz="1400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cs typeface="Arial"/>
              </a:rPr>
              <a:t>4.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Handling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Bandwidth-Boundness</a:t>
            </a:r>
            <a:endParaRPr lang="ko-KR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ko-KR" altLang="en-US" sz="1200" dirty="0">
                <a:cs typeface="Arial"/>
              </a:rPr>
              <a:t>배치 크기 증가</a:t>
            </a:r>
            <a:r>
              <a:rPr lang="en-US" sz="1200" dirty="0">
                <a:cs typeface="Arial"/>
              </a:rPr>
              <a:t> </a:t>
            </a:r>
            <a:r>
              <a:rPr lang="en-US" altLang="ko-KR" sz="1200" dirty="0">
                <a:cs typeface="Arial"/>
              </a:rPr>
              <a:t>or </a:t>
            </a:r>
            <a:r>
              <a:rPr lang="ko-KR" altLang="en-US" sz="1200" dirty="0">
                <a:cs typeface="Arial"/>
              </a:rPr>
              <a:t>파라미터 </a:t>
            </a:r>
            <a:r>
              <a:rPr lang="ko-KR" altLang="en-US" sz="1200" dirty="0" err="1">
                <a:cs typeface="Arial"/>
              </a:rPr>
              <a:t>텐서</a:t>
            </a:r>
            <a:r>
              <a:rPr lang="ko-KR" altLang="en-US" sz="1200" dirty="0">
                <a:cs typeface="Arial"/>
              </a:rPr>
              <a:t> 크기 감소</a:t>
            </a:r>
            <a:endParaRPr lang="en-US" sz="12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343DF-F19A-4250-F9F6-BE52CDB35130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3792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8B523-9858-F43D-4DF6-DC3F3892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4EA1E-572C-4719-E33F-18D77646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r>
              <a:rPr lang="ko-KR" altLang="en-US" dirty="0"/>
              <a:t> </a:t>
            </a:r>
            <a:r>
              <a:rPr lang="en-US" altLang="ko-KR" sz="3100" dirty="0"/>
              <a:t>-</a:t>
            </a:r>
            <a:r>
              <a:rPr lang="ko-KR" altLang="en-US" sz="3100" dirty="0"/>
              <a:t> </a:t>
            </a:r>
            <a:r>
              <a:rPr lang="en-US" altLang="ko-KR" sz="2700" dirty="0"/>
              <a:t>3</a:t>
            </a:r>
            <a:r>
              <a:rPr lang="ko-KR" altLang="en-US" sz="2700" dirty="0"/>
              <a:t>월 </a:t>
            </a:r>
            <a:r>
              <a:rPr lang="en-US" altLang="ko-KR" sz="2700" dirty="0"/>
              <a:t>18</a:t>
            </a:r>
            <a:r>
              <a:rPr lang="ko-KR" altLang="en-US" sz="2700" dirty="0"/>
              <a:t>일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A816EF-5F22-9841-A354-CDFC829B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5641F-1DF3-55A6-CF36-D6C67691180E}"/>
              </a:ext>
            </a:extLst>
          </p:cNvPr>
          <p:cNvSpPr txBox="1"/>
          <p:nvPr/>
        </p:nvSpPr>
        <p:spPr>
          <a:xfrm>
            <a:off x="1627829" y="863604"/>
            <a:ext cx="4860626" cy="7853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Performance Report – (median)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>
                <a:cs typeface="Arial"/>
              </a:rPr>
              <a:t>P1: linear -&gt; conv2d, P2: ​split head, P3: </a:t>
            </a:r>
            <a:r>
              <a:rPr lang="en-US" altLang="ko-KR" sz="1600" dirty="0" err="1">
                <a:cs typeface="Arial"/>
              </a:rPr>
              <a:t>einsum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B0F22F1-AEB4-5F3F-7BDE-8721BF1D3BC8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1648947"/>
          <a:ext cx="8423938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991">
                  <a:extLst>
                    <a:ext uri="{9D8B030D-6E8A-4147-A177-3AD203B41FA5}">
                      <a16:colId xmlns:a16="http://schemas.microsoft.com/office/drawing/2014/main" val="2428669688"/>
                    </a:ext>
                  </a:extLst>
                </a:gridCol>
                <a:gridCol w="1563987">
                  <a:extLst>
                    <a:ext uri="{9D8B030D-6E8A-4147-A177-3AD203B41FA5}">
                      <a16:colId xmlns:a16="http://schemas.microsoft.com/office/drawing/2014/main" val="3490613576"/>
                    </a:ext>
                  </a:extLst>
                </a:gridCol>
                <a:gridCol w="1403990">
                  <a:extLst>
                    <a:ext uri="{9D8B030D-6E8A-4147-A177-3AD203B41FA5}">
                      <a16:colId xmlns:a16="http://schemas.microsoft.com/office/drawing/2014/main" val="2798766547"/>
                    </a:ext>
                  </a:extLst>
                </a:gridCol>
                <a:gridCol w="1403990">
                  <a:extLst>
                    <a:ext uri="{9D8B030D-6E8A-4147-A177-3AD203B41FA5}">
                      <a16:colId xmlns:a16="http://schemas.microsoft.com/office/drawing/2014/main" val="520335530"/>
                    </a:ext>
                  </a:extLst>
                </a:gridCol>
                <a:gridCol w="1403990">
                  <a:extLst>
                    <a:ext uri="{9D8B030D-6E8A-4147-A177-3AD203B41FA5}">
                      <a16:colId xmlns:a16="http://schemas.microsoft.com/office/drawing/2014/main" val="2549239283"/>
                    </a:ext>
                  </a:extLst>
                </a:gridCol>
                <a:gridCol w="1403990">
                  <a:extLst>
                    <a:ext uri="{9D8B030D-6E8A-4147-A177-3AD203B41FA5}">
                      <a16:colId xmlns:a16="http://schemas.microsoft.com/office/drawing/2014/main" val="3897733600"/>
                    </a:ext>
                  </a:extLst>
                </a:gridCol>
              </a:tblGrid>
              <a:tr h="38150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err="1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200" b="1" i="0" u="none" strike="noStrike" noProof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Compute</a:t>
                      </a:r>
                      <a:r>
                        <a:rPr lang="ko-KR" sz="1200" b="1" i="0" u="none" strike="noStrik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ko-KR" sz="1200" b="1" i="0" u="none" strike="noStrike" noProof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Unit</a:t>
                      </a:r>
                      <a:endParaRPr lang="ko-KR" sz="1800" err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Compute Unit Mapping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Prediction</a:t>
                      </a:r>
                      <a:br>
                        <a:rPr lang="en-US" altLang="ko-KR" sz="12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Compilation</a:t>
                      </a:r>
                      <a:br>
                        <a:rPr lang="en-US" altLang="ko-KR" sz="12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165678"/>
                  </a:ext>
                </a:extLst>
              </a:tr>
              <a:tr h="480640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Baseline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(FP16)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CPU and ANE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CPU: 2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ANE: 330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62.49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22.14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65.44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067852"/>
                  </a:ext>
                </a:extLst>
              </a:tr>
              <a:tr h="480640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CPU and GPU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CPU: 2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GPU: 334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45.75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23.33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64.49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279177"/>
                  </a:ext>
                </a:extLst>
              </a:tr>
              <a:tr h="480640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P1 &amp; P2 &amp; P3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CPU and 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CPU: 3</a:t>
                      </a:r>
                      <a:br>
                        <a:rPr lang="en-US" sz="16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ANE: 691</a:t>
                      </a:r>
                      <a:endParaRPr lang="ko-KR" altLang="en-US" sz="1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50.56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30.39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95.35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66278"/>
                  </a:ext>
                </a:extLst>
              </a:tr>
              <a:tr h="480640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 and GPU</a:t>
                      </a:r>
                      <a:endParaRPr lang="ko-KR" alt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CPU: 2</a:t>
                      </a:r>
                      <a:br>
                        <a:rPr lang="en-US" sz="16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GPU: 692</a:t>
                      </a:r>
                      <a:endParaRPr lang="ko-KR" altLang="en-US" sz="1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81.44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35.27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97.56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3627"/>
                  </a:ext>
                </a:extLst>
              </a:tr>
              <a:tr h="579120">
                <a:tc row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P1 &amp; P2 &amp; P3 (</a:t>
                      </a:r>
                      <a:r>
                        <a:rPr lang="ko-KR" altLang="en-US" sz="1600" dirty="0"/>
                        <a:t>수정</a:t>
                      </a:r>
                      <a:r>
                        <a:rPr lang="en-US" altLang="ko-KR" sz="1600" dirty="0"/>
                        <a:t>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CPU and 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CPU: 3</a:t>
                      </a:r>
                      <a:br>
                        <a:rPr lang="en-US" sz="16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ANE: 566</a:t>
                      </a:r>
                      <a:endParaRPr lang="ko-KR" altLang="en-US" sz="1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49.82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28.04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90.77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192989"/>
                  </a:ext>
                </a:extLst>
              </a:tr>
              <a:tr h="579120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 and GPU</a:t>
                      </a:r>
                      <a:endParaRPr lang="ko-KR" alt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CPU: 2</a:t>
                      </a:r>
                      <a:br>
                        <a:rPr lang="en-US" sz="16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GPU: 567</a:t>
                      </a:r>
                      <a:endParaRPr lang="ko-KR" altLang="en-US" sz="1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83.15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36.73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92.64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330309"/>
                  </a:ext>
                </a:extLst>
              </a:tr>
              <a:tr h="579120">
                <a:tc v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All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600" b="0" dirty="0"/>
                        <a:t>CPU: 3</a:t>
                      </a:r>
                      <a:br>
                        <a:rPr lang="en-US" altLang="ko-KR" sz="1600" b="0" dirty="0"/>
                      </a:br>
                      <a:r>
                        <a:rPr lang="en-US" altLang="ko-KR" sz="1600" b="0" dirty="0"/>
                        <a:t>ANE: 566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49.87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27.99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91.49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285275"/>
                  </a:ext>
                </a:extLst>
              </a:tr>
              <a:tr h="579120">
                <a:tc v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CPU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600" dirty="0"/>
                        <a:t>CPU: 569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127.38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25.38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102.77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68921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B2967B51-9186-6A63-D7D4-93BB456A2079}"/>
              </a:ext>
            </a:extLst>
          </p:cNvPr>
          <p:cNvSpPr/>
          <p:nvPr/>
        </p:nvSpPr>
        <p:spPr>
          <a:xfrm>
            <a:off x="5996420" y="2081349"/>
            <a:ext cx="1362323" cy="116694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00206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BEF0D7-B358-7B5B-53F2-F4020850356B}"/>
              </a:ext>
            </a:extLst>
          </p:cNvPr>
          <p:cNvSpPr/>
          <p:nvPr/>
        </p:nvSpPr>
        <p:spPr>
          <a:xfrm>
            <a:off x="5964569" y="4397165"/>
            <a:ext cx="1394174" cy="11669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618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8B523-9858-F43D-4DF6-DC3F3892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4EA1E-572C-4719-E33F-18D77646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r>
              <a:rPr lang="ko-KR" altLang="en-US" dirty="0"/>
              <a:t> </a:t>
            </a:r>
            <a:r>
              <a:rPr lang="en-US" altLang="ko-KR" sz="3100" dirty="0"/>
              <a:t>-</a:t>
            </a:r>
            <a:r>
              <a:rPr lang="ko-KR" altLang="en-US" sz="3100" dirty="0"/>
              <a:t> </a:t>
            </a:r>
            <a:r>
              <a:rPr lang="en-US" altLang="ko-KR" sz="2700" dirty="0"/>
              <a:t>3</a:t>
            </a:r>
            <a:r>
              <a:rPr lang="ko-KR" altLang="en-US" sz="2700" dirty="0"/>
              <a:t>월 </a:t>
            </a:r>
            <a:r>
              <a:rPr lang="en-US" altLang="ko-KR" sz="2700" dirty="0"/>
              <a:t>25</a:t>
            </a:r>
            <a:r>
              <a:rPr lang="ko-KR" altLang="en-US" sz="2700" dirty="0"/>
              <a:t>일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A816EF-5F22-9841-A354-CDFC829B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B0F22F1-AEB4-5F3F-7BDE-8721BF1D3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81920"/>
              </p:ext>
            </p:extLst>
          </p:nvPr>
        </p:nvGraphicFramePr>
        <p:xfrm>
          <a:off x="3265713" y="1102793"/>
          <a:ext cx="6161578" cy="5407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346">
                  <a:extLst>
                    <a:ext uri="{9D8B030D-6E8A-4147-A177-3AD203B41FA5}">
                      <a16:colId xmlns:a16="http://schemas.microsoft.com/office/drawing/2014/main" val="2428669688"/>
                    </a:ext>
                  </a:extLst>
                </a:gridCol>
                <a:gridCol w="1261058">
                  <a:extLst>
                    <a:ext uri="{9D8B030D-6E8A-4147-A177-3AD203B41FA5}">
                      <a16:colId xmlns:a16="http://schemas.microsoft.com/office/drawing/2014/main" val="2798766547"/>
                    </a:ext>
                  </a:extLst>
                </a:gridCol>
                <a:gridCol w="1261058">
                  <a:extLst>
                    <a:ext uri="{9D8B030D-6E8A-4147-A177-3AD203B41FA5}">
                      <a16:colId xmlns:a16="http://schemas.microsoft.com/office/drawing/2014/main" val="520335530"/>
                    </a:ext>
                  </a:extLst>
                </a:gridCol>
                <a:gridCol w="1261058">
                  <a:extLst>
                    <a:ext uri="{9D8B030D-6E8A-4147-A177-3AD203B41FA5}">
                      <a16:colId xmlns:a16="http://schemas.microsoft.com/office/drawing/2014/main" val="2549239283"/>
                    </a:ext>
                  </a:extLst>
                </a:gridCol>
                <a:gridCol w="1261058">
                  <a:extLst>
                    <a:ext uri="{9D8B030D-6E8A-4147-A177-3AD203B41FA5}">
                      <a16:colId xmlns:a16="http://schemas.microsoft.com/office/drawing/2014/main" val="3897733600"/>
                    </a:ext>
                  </a:extLst>
                </a:gridCol>
              </a:tblGrid>
              <a:tr h="32351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74656" marR="74656" marT="37328" marB="3732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Compute Unit Mapping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Prediction</a:t>
                      </a:r>
                      <a:br>
                        <a:rPr lang="en-US" altLang="ko-KR" sz="8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8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Compilation</a:t>
                      </a:r>
                      <a:br>
                        <a:rPr lang="en-US" altLang="ko-KR" sz="8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8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165678"/>
                  </a:ext>
                </a:extLst>
              </a:tr>
              <a:tr h="211820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Baseline</a:t>
                      </a:r>
                    </a:p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(none)</a:t>
                      </a:r>
                    </a:p>
                  </a:txBody>
                  <a:tcPr marL="91443" marR="91443" marT="45721" marB="45721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CPU: 6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ANE: 330</a:t>
                      </a:r>
                      <a:endParaRPr lang="ko-KR" altLang="en-US" sz="1100" dirty="0"/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115.04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48.16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179.50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067852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103.66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41.10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171.47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406165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62.30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22.46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60.49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696182"/>
                  </a:ext>
                </a:extLst>
              </a:tr>
              <a:tr h="211820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P1</a:t>
                      </a:r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CPU: 2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ANE:362</a:t>
                      </a:r>
                      <a:endParaRPr lang="ko-KR" altLang="en-US" sz="1100" dirty="0"/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133.37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55.06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222.66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279177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61.96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26.75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74.58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699275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106.87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54.38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135.81</a:t>
                      </a:r>
                      <a:endParaRPr lang="ko-KR" altLang="en-US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192603"/>
                  </a:ext>
                </a:extLst>
              </a:tr>
              <a:tr h="211820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P2</a:t>
                      </a:r>
                    </a:p>
                  </a:txBody>
                  <a:tcPr marL="91443" marR="91443" marT="45721" marB="45721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b="0" i="0" u="none" strike="noStrike" noProof="0" dirty="0">
                          <a:latin typeface="Arial"/>
                          <a:cs typeface="Arial"/>
                        </a:rPr>
                        <a:t>CPU: 20</a:t>
                      </a:r>
                      <a:br>
                        <a:rPr lang="en-US" sz="11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100" b="0" i="0" u="none" strike="noStrike" noProof="0" dirty="0">
                          <a:latin typeface="Arial"/>
                          <a:cs typeface="Arial"/>
                        </a:rPr>
                        <a:t>ANE: 772</a:t>
                      </a:r>
                      <a:endParaRPr lang="ko-KR" altLang="en-US" sz="1300" dirty="0"/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71.90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30.42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94.62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66278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85.61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35.14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90.63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794205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93.27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40.16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120.31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038067"/>
                  </a:ext>
                </a:extLst>
              </a:tr>
              <a:tr h="211820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P3</a:t>
                      </a:r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CPU: 6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ANE:330</a:t>
                      </a:r>
                      <a:endParaRPr lang="ko-KR" altLang="en-US" sz="1100" dirty="0"/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86.26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/>
                        <a:t>41.13</a:t>
                      </a:r>
                      <a:endParaRPr lang="en-US" altLang="ko-KR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/>
                        <a:t>77.32</a:t>
                      </a:r>
                      <a:endParaRPr lang="en-US" altLang="ko-KR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3627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86.30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/>
                        <a:t>39.82</a:t>
                      </a:r>
                      <a:endParaRPr lang="en-US" altLang="ko-KR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/>
                        <a:t>170.39</a:t>
                      </a:r>
                      <a:endParaRPr lang="en-US" altLang="ko-KR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818997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60.80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22.38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/>
                        <a:t>62.47</a:t>
                      </a:r>
                      <a:endParaRPr lang="en-US" altLang="ko-KR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744533"/>
                  </a:ext>
                </a:extLst>
              </a:tr>
              <a:tr h="211820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P1 &amp; P2</a:t>
                      </a:r>
                    </a:p>
                  </a:txBody>
                  <a:tcPr marL="91443" marR="91443" marT="45721" marB="45721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b="0" i="0" u="none" strike="noStrike" noProof="0" dirty="0">
                          <a:latin typeface="Arial"/>
                          <a:cs typeface="Arial"/>
                        </a:rPr>
                        <a:t>CPU: 3</a:t>
                      </a:r>
                      <a:br>
                        <a:rPr lang="en-US" sz="11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100" b="0" i="0" u="none" strike="noStrike" noProof="0" dirty="0">
                          <a:latin typeface="Arial"/>
                          <a:cs typeface="Arial"/>
                        </a:rPr>
                        <a:t>ANE: 914</a:t>
                      </a:r>
                      <a:endParaRPr lang="ko-KR" altLang="en-US" sz="1300" dirty="0"/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111.91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/>
                        <a:t>68.30</a:t>
                      </a:r>
                      <a:endParaRPr lang="en-US" altLang="ko-KR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/>
                        <a:t>184.82</a:t>
                      </a:r>
                      <a:endParaRPr lang="en-US" altLang="ko-KR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192989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103.04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/>
                        <a:t>67.04</a:t>
                      </a:r>
                      <a:endParaRPr lang="en-US" altLang="ko-KR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/>
                        <a:t>154.55</a:t>
                      </a:r>
                      <a:endParaRPr lang="en-US" altLang="ko-KR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590221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103.07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/>
                        <a:t>71.28</a:t>
                      </a:r>
                      <a:endParaRPr lang="en-US" altLang="ko-KR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/>
                        <a:t>122.66</a:t>
                      </a:r>
                      <a:endParaRPr lang="en-US" altLang="ko-KR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111969"/>
                  </a:ext>
                </a:extLst>
              </a:tr>
              <a:tr h="211820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P1 &amp; P3</a:t>
                      </a:r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CPU: 3 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ANE: 410</a:t>
                      </a:r>
                      <a:endParaRPr lang="ko-KR" altLang="en-US" sz="1100" dirty="0"/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80.39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/>
                        <a:t>50.25</a:t>
                      </a:r>
                      <a:endParaRPr lang="en-US" altLang="ko-KR" sz="900" dirty="0"/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234.87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330309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114.15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49.22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234.58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484254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90.96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48.29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228.71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37970"/>
                  </a:ext>
                </a:extLst>
              </a:tr>
              <a:tr h="211820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P2 &amp; P3</a:t>
                      </a:r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dirty="0"/>
                        <a:t>CPU: 3</a:t>
                      </a:r>
                      <a:br>
                        <a:rPr lang="en-US" altLang="ko-KR" sz="1100" b="0" dirty="0"/>
                      </a:br>
                      <a:r>
                        <a:rPr lang="en-US" altLang="ko-KR" sz="1100" b="0" dirty="0"/>
                        <a:t>ANE: 786</a:t>
                      </a:r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101.52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61.25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143.95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285275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101.43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60.56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100.43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246690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93.40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59.78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136.36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250152"/>
                  </a:ext>
                </a:extLst>
              </a:tr>
              <a:tr h="211820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P1 &amp; P2 &amp; P3</a:t>
                      </a:r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CPU: 3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ANE: 566</a:t>
                      </a:r>
                      <a:endParaRPr lang="ko-KR" altLang="en-US" sz="1100" dirty="0"/>
                    </a:p>
                  </a:txBody>
                  <a:tcPr marL="91443" marR="9144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91.48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72.21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220.56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689219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91.24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54.39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227.19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547664"/>
                  </a:ext>
                </a:extLst>
              </a:tr>
              <a:tr h="211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79.81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54.13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dirty="0"/>
                        <a:t>117.79</a:t>
                      </a:r>
                    </a:p>
                  </a:txBody>
                  <a:tcPr marL="74656" marR="74656" marT="37328" marB="37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299587"/>
                  </a:ext>
                </a:extLst>
              </a:tr>
            </a:tbl>
          </a:graphicData>
        </a:graphic>
      </p:graphicFrame>
      <p:sp>
        <p:nvSpPr>
          <p:cNvPr id="8" name="곱하기 7">
            <a:extLst>
              <a:ext uri="{FF2B5EF4-FFF2-40B4-BE49-F238E27FC236}">
                <a16:creationId xmlns:a16="http://schemas.microsoft.com/office/drawing/2014/main" id="{B9DFDEDB-464C-F996-4474-62073A54E7FD}"/>
              </a:ext>
            </a:extLst>
          </p:cNvPr>
          <p:cNvSpPr/>
          <p:nvPr/>
        </p:nvSpPr>
        <p:spPr>
          <a:xfrm>
            <a:off x="5632629" y="644434"/>
            <a:ext cx="3794661" cy="6426926"/>
          </a:xfrm>
          <a:prstGeom prst="mathMultiply">
            <a:avLst>
              <a:gd name="adj1" fmla="val 468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272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D2EA7-98EF-332A-9095-B4723442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E2AC3-0806-62A3-D8E5-C25659FD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r>
              <a:rPr lang="ko-KR" altLang="en-US" dirty="0"/>
              <a:t> 원칙 적용 </a:t>
            </a:r>
            <a:r>
              <a:rPr lang="en-US" altLang="ko-KR" dirty="0"/>
              <a:t>-</a:t>
            </a:r>
            <a:r>
              <a:rPr lang="ko-KR" altLang="en-US" dirty="0"/>
              <a:t> 전체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29668-C915-5326-463D-B49F8490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06610A-9381-9D3B-5EE2-BA496E8139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61"/>
          <a:stretch>
            <a:fillRect/>
          </a:stretch>
        </p:blipFill>
        <p:spPr>
          <a:xfrm>
            <a:off x="2573383" y="731375"/>
            <a:ext cx="6741157" cy="575720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01A0514-3DC6-7AD9-3FE1-043B484806E5}"/>
              </a:ext>
            </a:extLst>
          </p:cNvPr>
          <p:cNvSpPr/>
          <p:nvPr/>
        </p:nvSpPr>
        <p:spPr>
          <a:xfrm>
            <a:off x="6313714" y="5586694"/>
            <a:ext cx="670560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661826-0258-053B-379D-4B613A30C0B9}"/>
              </a:ext>
            </a:extLst>
          </p:cNvPr>
          <p:cNvSpPr/>
          <p:nvPr/>
        </p:nvSpPr>
        <p:spPr>
          <a:xfrm>
            <a:off x="6313714" y="1480603"/>
            <a:ext cx="670560" cy="6096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381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26781-4380-477C-B8CB-3BC542E1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48D3F-6A63-D91C-C203-6BD9F93E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r>
              <a:rPr lang="ko-KR" altLang="en-US" dirty="0"/>
              <a:t> 원칙 적용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Prediction Time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84D9B4-61A3-E4D3-BEF4-0297842D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F9B2E9-BC32-6D0F-D403-F4887889D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070" y="959829"/>
            <a:ext cx="7772400" cy="46202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6A34B7-4C09-3EB9-3993-67123A103108}"/>
              </a:ext>
            </a:extLst>
          </p:cNvPr>
          <p:cNvSpPr txBox="1"/>
          <p:nvPr/>
        </p:nvSpPr>
        <p:spPr>
          <a:xfrm>
            <a:off x="2295070" y="5987018"/>
            <a:ext cx="638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p1p2p3</a:t>
            </a:r>
            <a:r>
              <a:rPr kumimoji="1" lang="ko-KR" altLang="en-US" dirty="0"/>
              <a:t>을</a:t>
            </a:r>
            <a:r>
              <a:rPr kumimoji="1" lang="en-US" altLang="ko-KR" dirty="0"/>
              <a:t> </a:t>
            </a:r>
            <a:r>
              <a:rPr kumimoji="1" lang="ko-KR" altLang="en-US" dirty="0"/>
              <a:t>적용했을 때</a:t>
            </a:r>
            <a:r>
              <a:rPr kumimoji="1" lang="en-US" altLang="ko-KR" dirty="0"/>
              <a:t> CPU and ANE</a:t>
            </a:r>
            <a:r>
              <a:rPr kumimoji="1" lang="ko-KR" altLang="en-US" dirty="0"/>
              <a:t> 추론 시간이 더 단축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B84ECB-918E-0361-E940-4B3231D8DBF4}"/>
              </a:ext>
            </a:extLst>
          </p:cNvPr>
          <p:cNvSpPr/>
          <p:nvPr/>
        </p:nvSpPr>
        <p:spPr>
          <a:xfrm>
            <a:off x="7532914" y="1358537"/>
            <a:ext cx="670560" cy="41017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9F288B-2FC8-B385-537B-509EF7F56243}"/>
              </a:ext>
            </a:extLst>
          </p:cNvPr>
          <p:cNvSpPr/>
          <p:nvPr/>
        </p:nvSpPr>
        <p:spPr>
          <a:xfrm>
            <a:off x="2747554" y="3222170"/>
            <a:ext cx="670560" cy="223810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6748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7679</TotalTime>
  <Words>548</Words>
  <Application>Microsoft Macintosh PowerPoint</Application>
  <PresentationFormat>와이드스크린</PresentationFormat>
  <Paragraphs>195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Arial,Sans-Serif</vt:lpstr>
      <vt:lpstr>Arial</vt:lpstr>
      <vt:lpstr>Office 테마</vt:lpstr>
      <vt:lpstr>EoMT Apple Neural Engine (6)</vt:lpstr>
      <vt:lpstr>목표 및 진행사항</vt:lpstr>
      <vt:lpstr>ANE transformers – 원리 </vt:lpstr>
      <vt:lpstr>EoMT ANE - 3월 18일</vt:lpstr>
      <vt:lpstr>EoMT ANE - 3월 25일</vt:lpstr>
      <vt:lpstr>EoMT ANE 원칙 적용 - 전체</vt:lpstr>
      <vt:lpstr>EoMT ANE 원칙 적용 - Prediction Time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이수현</cp:lastModifiedBy>
  <cp:revision>1795</cp:revision>
  <dcterms:created xsi:type="dcterms:W3CDTF">2023-03-06T16:32:37Z</dcterms:created>
  <dcterms:modified xsi:type="dcterms:W3CDTF">2026-03-31T15:28:01Z</dcterms:modified>
</cp:coreProperties>
</file>