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7"/>
  </p:notesMasterIdLst>
  <p:sldIdLst>
    <p:sldId id="256" r:id="rId2"/>
    <p:sldId id="270" r:id="rId3"/>
    <p:sldId id="283" r:id="rId4"/>
    <p:sldId id="285" r:id="rId5"/>
    <p:sldId id="29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66CC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16" autoAdjust="0"/>
    <p:restoredTop sz="83718" autoAdjust="0"/>
  </p:normalViewPr>
  <p:slideViewPr>
    <p:cSldViewPr snapToGrid="0">
      <p:cViewPr>
        <p:scale>
          <a:sx n="75" d="100"/>
          <a:sy n="75" d="100"/>
        </p:scale>
        <p:origin x="22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572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7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C1F0-F292-4285-A95F-A15DE7C1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C59FB0-B0C5-D787-DC4E-1F0A56A5C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4C69EA-D81C-D4E4-C6A7-2F25A8BC5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18B6E-E98E-11DB-78AE-6AB4F5634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744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8AA04-8709-DBB2-7920-B5D4ED90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2ED9AD-0C94-0356-ABDD-CFCC82BF5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0C71B9-4ACB-1D6E-5ADF-D167AF9B4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E76571-63A3-9D5F-CA2A-5A51620DD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240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B7A12-B46E-28E4-55AF-4890CCEB5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5D3393-12C9-E812-777E-5BEC92329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393A55-FD62-2B31-BBDF-22C382B2A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B10105-BB9F-B543-82C0-82B9389D3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180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Suhyeon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2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EoMT</a:t>
            </a:r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Apple Neural Engine (3)</a:t>
            </a:r>
            <a:endParaRPr lang="ko-KR" altLang="en-US" sz="32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71364" y="1666695"/>
            <a:ext cx="2023092" cy="4279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solidFill>
                  <a:srgbClr val="002C62"/>
                </a:solidFill>
              </a:rPr>
              <a:t>  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3</a:t>
            </a:r>
            <a:r>
              <a:rPr lang="ko-KR" altLang="en-US" b="1" dirty="0">
                <a:solidFill>
                  <a:srgbClr val="002C62"/>
                </a:solidFill>
              </a:rPr>
              <a:t>월 11일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1D89-421D-20CC-6D5F-47FC8C6A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40BEB-8E46-868C-99E7-95D8BC5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2E4903-A5AB-F7E3-2412-5136BFF4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DA4B2-EC6E-F008-6710-245906C12FE5}"/>
              </a:ext>
            </a:extLst>
          </p:cNvPr>
          <p:cNvSpPr txBox="1"/>
          <p:nvPr/>
        </p:nvSpPr>
        <p:spPr>
          <a:xfrm>
            <a:off x="898782" y="1550792"/>
            <a:ext cx="9666514" cy="40113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altLang="ko-KR" sz="1600" dirty="0"/>
          </a:p>
          <a:p>
            <a:r>
              <a:rPr lang="ko-KR" altLang="en-US" sz="2000" b="1" dirty="0"/>
              <a:t>목표 </a:t>
            </a:r>
            <a:r>
              <a:rPr lang="en-US" altLang="ko-KR" sz="2000" b="1" dirty="0"/>
              <a:t>(</a:t>
            </a:r>
            <a:r>
              <a:rPr lang="en-US" altLang="ko-KR" b="1" dirty="0"/>
              <a:t>~6월)</a:t>
            </a:r>
            <a:endParaRPr lang="ko-KR" altLang="en-US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iOS </a:t>
            </a:r>
            <a:r>
              <a:rPr lang="ko-KR" altLang="en-US" dirty="0"/>
              <a:t>환경에서 </a:t>
            </a:r>
            <a:r>
              <a:rPr lang="en-US" altLang="ko-KR" dirty="0"/>
              <a:t>panoptic segmentation</a:t>
            </a:r>
            <a:r>
              <a:rPr lang="ko-KR" altLang="en-US" dirty="0"/>
              <a:t>이 가능한 </a:t>
            </a:r>
            <a:r>
              <a:rPr lang="en-US" altLang="ko-KR" err="1"/>
              <a:t>EoMT</a:t>
            </a:r>
            <a:r>
              <a:rPr lang="en-US" altLang="ko-KR" dirty="0"/>
              <a:t> </a:t>
            </a:r>
            <a:r>
              <a:rPr lang="ko-KR" altLang="en-US" dirty="0"/>
              <a:t>모델 최적화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dirty="0"/>
              <a:t>ANE</a:t>
            </a:r>
            <a:r>
              <a:rPr lang="ko-KR" dirty="0"/>
              <a:t>(Apple </a:t>
            </a:r>
            <a:r>
              <a:rPr lang="ko-KR" dirty="0" err="1"/>
              <a:t>Neural</a:t>
            </a:r>
            <a:r>
              <a:rPr lang="ko-KR" dirty="0"/>
              <a:t> </a:t>
            </a:r>
            <a:r>
              <a:rPr lang="ko-KR" dirty="0" err="1"/>
              <a:t>Engine</a:t>
            </a:r>
            <a:r>
              <a:rPr lang="ko-KR" dirty="0"/>
              <a:t>)</a:t>
            </a:r>
            <a:r>
              <a:rPr lang="ko-KR" altLang="en-US" dirty="0"/>
              <a:t> </a:t>
            </a:r>
            <a:r>
              <a:rPr lang="ko-KR" altLang="en-US" dirty="0" err="1"/>
              <a:t>friendly</a:t>
            </a:r>
            <a:r>
              <a:rPr lang="ko-KR" altLang="en-US" dirty="0"/>
              <a:t> </a:t>
            </a:r>
            <a:r>
              <a:rPr lang="ko-KR" altLang="en-US" dirty="0" err="1"/>
              <a:t>transformer</a:t>
            </a:r>
            <a:endParaRPr lang="en-US" altLang="ko-KR" dirty="0" err="1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/>
              <a:t>Panoptic segmentation:</a:t>
            </a:r>
            <a:r>
              <a:rPr lang="ko-KR" altLang="en-US" sz="1400" dirty="0"/>
              <a:t> 어떤 사물인지</a:t>
            </a:r>
            <a:r>
              <a:rPr lang="en-US" altLang="ko-KR" sz="1400" dirty="0"/>
              <a:t>, </a:t>
            </a:r>
            <a:r>
              <a:rPr lang="ko-KR" altLang="en-US" sz="1400" dirty="0"/>
              <a:t>개별 객체인지를 동시에 구분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000" b="1" dirty="0"/>
              <a:t>진행사항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ANE transformer </a:t>
            </a:r>
            <a:r>
              <a:rPr lang="en-US" altLang="ko-KR" dirty="0" err="1"/>
              <a:t>원리</a:t>
            </a:r>
            <a:r>
              <a:rPr lang="en-US" altLang="ko-KR" dirty="0"/>
              <a:t> </a:t>
            </a:r>
            <a:r>
              <a:rPr lang="en-US" altLang="ko-KR" dirty="0" err="1"/>
              <a:t>적용</a:t>
            </a:r>
            <a:r>
              <a:rPr lang="en-US" altLang="ko-KR" dirty="0"/>
              <a:t> 후 performance report </a:t>
            </a:r>
            <a:r>
              <a:rPr lang="en-US" altLang="ko-KR" dirty="0" err="1"/>
              <a:t>비교</a:t>
            </a:r>
            <a:endParaRPr lang="en-US" altLang="ko-KR" dirty="0" err="1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cs typeface="Arial"/>
              </a:rPr>
              <a:t>마스크</a:t>
            </a:r>
            <a:r>
              <a:rPr lang="en-US" altLang="ko-KR" dirty="0">
                <a:cs typeface="Arial"/>
              </a:rPr>
              <a:t> Shift </a:t>
            </a:r>
            <a:r>
              <a:rPr lang="en-US" altLang="ko-KR" dirty="0" err="1">
                <a:cs typeface="Arial"/>
              </a:rPr>
              <a:t>원인</a:t>
            </a:r>
            <a:r>
              <a:rPr lang="en-US" altLang="ko-KR" dirty="0">
                <a:cs typeface="Arial"/>
              </a:rPr>
              <a:t> </a:t>
            </a:r>
            <a:r>
              <a:rPr lang="en-US" altLang="ko-KR" dirty="0" err="1">
                <a:cs typeface="Arial"/>
              </a:rPr>
              <a:t>분석</a:t>
            </a:r>
            <a:r>
              <a:rPr lang="en-US" altLang="ko-KR" dirty="0">
                <a:cs typeface="Arial"/>
              </a:rPr>
              <a:t> - register token </a:t>
            </a:r>
            <a:r>
              <a:rPr lang="en-US" altLang="ko-KR" dirty="0" err="1">
                <a:cs typeface="Arial"/>
              </a:rPr>
              <a:t>concat</a:t>
            </a:r>
            <a:r>
              <a:rPr lang="en-US" altLang="ko-KR" dirty="0">
                <a:cs typeface="Arial"/>
              </a:rPr>
              <a:t> </a:t>
            </a:r>
            <a:r>
              <a:rPr lang="en-US" altLang="ko-KR" dirty="0" err="1">
                <a:cs typeface="Arial"/>
              </a:rPr>
              <a:t>순서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7367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A358-86C2-C65C-130A-37B42C55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A901E-0722-66D4-1063-4C1A9721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ANE transformers – </a:t>
            </a:r>
            <a:r>
              <a:rPr lang="ko-KR" altLang="en-US" dirty="0"/>
              <a:t>원리 </a:t>
            </a:r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A921F-E2D1-2908-5D59-30C686B3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F446F-E08D-B3A3-A1DC-CE08A8A549E3}"/>
              </a:ext>
            </a:extLst>
          </p:cNvPr>
          <p:cNvSpPr txBox="1"/>
          <p:nvPr/>
        </p:nvSpPr>
        <p:spPr>
          <a:xfrm>
            <a:off x="1083543" y="1268760"/>
            <a:ext cx="7464210" cy="5771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1. Picking the Right Data format </a:t>
            </a:r>
            <a:endParaRPr lang="en-US" altLang="ko-KR" sz="1200" dirty="0">
              <a:solidFill>
                <a:srgbClr val="474747"/>
              </a:solidFill>
              <a:highlight>
                <a:srgbClr val="FFFFFF"/>
              </a:highlight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600" dirty="0"/>
              <a:t>Linear</a:t>
            </a:r>
            <a:r>
              <a:rPr lang="ko-KR" altLang="en-US" sz="1400" dirty="0"/>
              <a:t> 레이어를 모두 </a:t>
            </a:r>
            <a:r>
              <a:rPr lang="en-US" altLang="ko-KR" sz="1600" dirty="0"/>
              <a:t>Conv2d</a:t>
            </a:r>
            <a:r>
              <a:rPr lang="ko-KR" altLang="en-US" sz="1400" dirty="0"/>
              <a:t> 레이어로 교체</a:t>
            </a:r>
            <a:endParaRPr lang="en-US" altLang="ko-KR" sz="1400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(B, S, C) → (B, C, 1, S) 	</a:t>
            </a:r>
            <a:endParaRPr lang="en-US" altLang="ko-KR" sz="1400" b="1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cs typeface="Arial"/>
              </a:rPr>
              <a:t>2. Chunking Large Intermediate Tensors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Multi Head Attention</a:t>
            </a:r>
            <a:r>
              <a:rPr lang="ko-KR" altLang="en-US" sz="1400" dirty="0">
                <a:cs typeface="Arial"/>
              </a:rPr>
              <a:t>에서 </a:t>
            </a:r>
            <a:r>
              <a:rPr lang="en-US" sz="1400" dirty="0">
                <a:cs typeface="Arial"/>
              </a:rPr>
              <a:t>query, key, value</a:t>
            </a:r>
            <a:r>
              <a:rPr lang="en-US" altLang="ko-KR" sz="1400" dirty="0">
                <a:cs typeface="Arial"/>
              </a:rPr>
              <a:t> </a:t>
            </a:r>
            <a:r>
              <a:rPr lang="ko-KR" altLang="en-US" sz="1400" b="1" dirty="0" err="1">
                <a:cs typeface="Arial"/>
              </a:rPr>
              <a:t>텐서를</a:t>
            </a:r>
            <a:r>
              <a:rPr lang="ko-KR" altLang="en-US" sz="1400" b="1" dirty="0">
                <a:cs typeface="Arial"/>
              </a:rPr>
              <a:t> </a:t>
            </a:r>
            <a:r>
              <a:rPr lang="en-US" sz="1400" b="1" dirty="0">
                <a:cs typeface="Arial"/>
              </a:rPr>
              <a:t>head</a:t>
            </a:r>
            <a:r>
              <a:rPr lang="ko-KR" altLang="en-US" sz="1400" b="1" dirty="0">
                <a:cs typeface="Arial"/>
              </a:rPr>
              <a:t> 단위로 분리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altLang="en-US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ko-KR" b="1" dirty="0">
                <a:cs typeface="Arial"/>
              </a:rPr>
              <a:t>3. </a:t>
            </a:r>
            <a:r>
              <a:rPr lang="ko-KR" b="1" dirty="0" err="1">
                <a:cs typeface="Arial"/>
              </a:rPr>
              <a:t>Minimizing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Memory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Copies</a:t>
            </a:r>
            <a:endParaRPr lang="ko-KR" b="1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Reshape</a:t>
            </a:r>
            <a:r>
              <a:rPr lang="ko-KR" altLang="en-US" sz="1400" dirty="0">
                <a:cs typeface="Arial"/>
              </a:rPr>
              <a:t>과</a:t>
            </a:r>
            <a:r>
              <a:rPr lang="en-US" sz="1400" dirty="0">
                <a:cs typeface="Arial"/>
              </a:rPr>
              <a:t> transpose </a:t>
            </a:r>
            <a:r>
              <a:rPr lang="ko-KR" altLang="en-US" sz="1400" dirty="0">
                <a:cs typeface="Arial"/>
              </a:rPr>
              <a:t>연산</a:t>
            </a:r>
            <a:r>
              <a:rPr lang="en-US" sz="1400" dirty="0">
                <a:cs typeface="Arial"/>
              </a:rPr>
              <a:t> </a:t>
            </a:r>
            <a:r>
              <a:rPr lang="ko-KR" altLang="en-US" sz="1400" dirty="0">
                <a:cs typeface="Arial"/>
              </a:rPr>
              <a:t>최소화</a:t>
            </a:r>
            <a:r>
              <a:rPr lang="en-US" sz="1400" dirty="0">
                <a:cs typeface="Arial"/>
              </a:rPr>
              <a:t> - </a:t>
            </a:r>
            <a:r>
              <a:rPr lang="en-US" sz="1400" b="1" dirty="0" err="1">
                <a:cs typeface="Arial"/>
              </a:rPr>
              <a:t>einsum</a:t>
            </a:r>
            <a:r>
              <a:rPr lang="en-US" sz="1400" b="1" dirty="0">
                <a:cs typeface="Arial"/>
              </a:rPr>
              <a:t> </a:t>
            </a:r>
            <a:r>
              <a:rPr lang="ko-KR" sz="1400" b="1" dirty="0">
                <a:cs typeface="Arial"/>
              </a:rPr>
              <a:t>공식</a:t>
            </a:r>
            <a:r>
              <a:rPr lang="ko-KR" sz="1400" dirty="0">
                <a:cs typeface="Arial"/>
              </a:rPr>
              <a:t> 활용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sz="1400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cs typeface="Arial"/>
              </a:rPr>
              <a:t>4.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Handling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Bandwidth-Boundness</a:t>
            </a:r>
            <a:endParaRPr lang="ko-KR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ko-KR" altLang="en-US" sz="1200" dirty="0">
                <a:cs typeface="Arial"/>
              </a:rPr>
              <a:t>배치 크기 증가</a:t>
            </a:r>
            <a:r>
              <a:rPr lang="en-US" sz="1200" dirty="0">
                <a:cs typeface="Arial"/>
              </a:rPr>
              <a:t> </a:t>
            </a:r>
            <a:r>
              <a:rPr lang="en-US" altLang="ko-KR" sz="1200" dirty="0">
                <a:cs typeface="Arial"/>
              </a:rPr>
              <a:t>or </a:t>
            </a:r>
            <a:r>
              <a:rPr lang="ko-KR" altLang="en-US" sz="1200" dirty="0">
                <a:cs typeface="Arial"/>
              </a:rPr>
              <a:t>파라미터 </a:t>
            </a:r>
            <a:r>
              <a:rPr lang="ko-KR" altLang="en-US" sz="1200" dirty="0" err="1">
                <a:cs typeface="Arial"/>
              </a:rPr>
              <a:t>텐서</a:t>
            </a:r>
            <a:r>
              <a:rPr lang="ko-KR" altLang="en-US" sz="1200" dirty="0">
                <a:cs typeface="Arial"/>
              </a:rPr>
              <a:t> 크기 감소</a:t>
            </a:r>
            <a:endParaRPr lang="en-US" sz="12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343DF-F19A-4250-F9F6-BE52CDB35130}"/>
              </a:ext>
            </a:extLst>
          </p:cNvPr>
          <p:cNvSpPr txBox="1"/>
          <p:nvPr/>
        </p:nvSpPr>
        <p:spPr>
          <a:xfrm>
            <a:off x="1083543" y="6400297"/>
            <a:ext cx="70532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Apple ML Research, "Deploying Transformers on the ANE", 2022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3792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8B523-9858-F43D-4DF6-DC3F3892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4EA1E-572C-4719-E33F-18D77646D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EoMT</a:t>
            </a:r>
            <a:r>
              <a:rPr lang="en-US" altLang="ko-KR" dirty="0"/>
              <a:t> ANE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A816EF-5F22-9841-A354-CDFC829B5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45641F-1DF3-55A6-CF36-D6C67691180E}"/>
              </a:ext>
            </a:extLst>
          </p:cNvPr>
          <p:cNvSpPr txBox="1"/>
          <p:nvPr/>
        </p:nvSpPr>
        <p:spPr>
          <a:xfrm>
            <a:off x="1627829" y="1323189"/>
            <a:ext cx="4860626" cy="7853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Performance Report – (median)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600" dirty="0">
                <a:cs typeface="Arial"/>
              </a:rPr>
              <a:t>P1: linear -&gt; conv2d, P2: ​split head, P3: </a:t>
            </a:r>
            <a:r>
              <a:rPr lang="en-US" altLang="ko-KR" sz="1600" dirty="0" err="1">
                <a:cs typeface="Arial"/>
              </a:rPr>
              <a:t>einsum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B0F22F1-AEB4-5F3F-7BDE-8721BF1D3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417527"/>
              </p:ext>
            </p:extLst>
          </p:nvPr>
        </p:nvGraphicFramePr>
        <p:xfrm>
          <a:off x="1624650" y="2309159"/>
          <a:ext cx="9110687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406">
                  <a:extLst>
                    <a:ext uri="{9D8B030D-6E8A-4147-A177-3AD203B41FA5}">
                      <a16:colId xmlns:a16="http://schemas.microsoft.com/office/drawing/2014/main" val="2428669688"/>
                    </a:ext>
                  </a:extLst>
                </a:gridCol>
                <a:gridCol w="1691489">
                  <a:extLst>
                    <a:ext uri="{9D8B030D-6E8A-4147-A177-3AD203B41FA5}">
                      <a16:colId xmlns:a16="http://schemas.microsoft.com/office/drawing/2014/main" val="3490613576"/>
                    </a:ext>
                  </a:extLst>
                </a:gridCol>
                <a:gridCol w="1518448">
                  <a:extLst>
                    <a:ext uri="{9D8B030D-6E8A-4147-A177-3AD203B41FA5}">
                      <a16:colId xmlns:a16="http://schemas.microsoft.com/office/drawing/2014/main" val="2798766547"/>
                    </a:ext>
                  </a:extLst>
                </a:gridCol>
                <a:gridCol w="1518448">
                  <a:extLst>
                    <a:ext uri="{9D8B030D-6E8A-4147-A177-3AD203B41FA5}">
                      <a16:colId xmlns:a16="http://schemas.microsoft.com/office/drawing/2014/main" val="520335530"/>
                    </a:ext>
                  </a:extLst>
                </a:gridCol>
                <a:gridCol w="1518448">
                  <a:extLst>
                    <a:ext uri="{9D8B030D-6E8A-4147-A177-3AD203B41FA5}">
                      <a16:colId xmlns:a16="http://schemas.microsoft.com/office/drawing/2014/main" val="2549239283"/>
                    </a:ext>
                  </a:extLst>
                </a:gridCol>
                <a:gridCol w="1518448">
                  <a:extLst>
                    <a:ext uri="{9D8B030D-6E8A-4147-A177-3AD203B41FA5}">
                      <a16:colId xmlns:a16="http://schemas.microsoft.com/office/drawing/2014/main" val="3897733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err="1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200" b="1" i="0" u="none" strike="noStrike" noProof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Compute</a:t>
                      </a:r>
                      <a:r>
                        <a:rPr lang="ko-KR" sz="1200" b="1" i="0" u="none" strike="noStrik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ko-KR" sz="1200" b="1" i="0" u="none" strike="noStrike" noProof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Unit</a:t>
                      </a:r>
                      <a:endParaRPr lang="ko-KR" err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Compute Unit Mapping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Prediction</a:t>
                      </a:r>
                      <a:br>
                        <a:rPr lang="en-US" altLang="ko-KR" sz="120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Load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Compilation</a:t>
                      </a:r>
                      <a:br>
                        <a:rPr lang="en-US" altLang="ko-KR" sz="120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16567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Baseline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(FP16)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CPU and ANE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CPU:2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ANE: 330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62.49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22.14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65.44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06785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CPU and GPU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CPU:2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GPU: 334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45.75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23.33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64.49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279177"/>
                  </a:ext>
                </a:extLst>
              </a:tr>
              <a:tr h="370839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P1</a:t>
                      </a: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CPU and 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CPU:4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/>
                        <a:t>ANE: 500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83.27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53.65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109.75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66278"/>
                  </a:ext>
                </a:extLst>
              </a:tr>
              <a:tr h="370838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CPU and GPU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CPU:2</a:t>
                      </a:r>
                      <a:br>
                        <a:rPr lang="en-US" sz="1600" b="0" i="0" u="none" strike="noStrike" noProof="0" dirty="0">
                          <a:latin typeface="Arial"/>
                          <a:cs typeface="Arial"/>
                        </a:rPr>
                      </a:b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GPU: 502</a:t>
                      </a: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143.35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59.10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123.51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43627"/>
                  </a:ext>
                </a:extLst>
              </a:tr>
              <a:tr h="370838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P1 &amp; P2 &amp; P3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CPU and 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CPU:3</a:t>
                      </a:r>
                      <a:br>
                        <a:rPr lang="en-US" sz="1600" b="0" i="0" u="none" strike="noStrike" noProof="0" dirty="0">
                          <a:latin typeface="Arial"/>
                          <a:cs typeface="Arial"/>
                        </a:rPr>
                      </a:b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ANE: 691</a:t>
                      </a: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50.56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30.39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95.35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192989"/>
                  </a:ext>
                </a:extLst>
              </a:tr>
              <a:tr h="370838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CPU and GPU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CPU:2</a:t>
                      </a:r>
                      <a:br>
                        <a:rPr lang="en-US" sz="1600" b="0" i="0" u="none" strike="noStrike" noProof="0" dirty="0">
                          <a:latin typeface="Arial"/>
                          <a:cs typeface="Arial"/>
                        </a:rPr>
                      </a:br>
                      <a:r>
                        <a:rPr lang="en-US" sz="1600" b="0" i="0" u="none" strike="noStrike" noProof="0" dirty="0">
                          <a:latin typeface="Arial"/>
                          <a:cs typeface="Arial"/>
                        </a:rPr>
                        <a:t>GPU: 692</a:t>
                      </a:r>
                      <a:endParaRPr lang="ko-KR" alt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81.44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35.27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600" dirty="0"/>
                        <a:t>97.56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330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728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AACDC-02B1-E855-F986-E29247B0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7D9449-9D19-E2A9-D5FD-354248E4F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EoMT</a:t>
            </a:r>
            <a:r>
              <a:rPr lang="en-US" altLang="ko-KR" dirty="0"/>
              <a:t> ANE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49F3EE-F697-83CE-D594-070D7DCF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E38B0C-2DD8-12A5-E386-42031AC8E23B}"/>
              </a:ext>
            </a:extLst>
          </p:cNvPr>
          <p:cNvSpPr txBox="1"/>
          <p:nvPr/>
        </p:nvSpPr>
        <p:spPr>
          <a:xfrm>
            <a:off x="1083543" y="1268760"/>
            <a:ext cx="10318850" cy="189333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문제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FP32</a:t>
            </a:r>
            <a:r>
              <a:rPr lang="ko-KR" altLang="en-US" sz="1600" dirty="0"/>
              <a:t> 모델에서는 정상적인 </a:t>
            </a:r>
            <a:r>
              <a:rPr lang="en-US" altLang="ko-KR" sz="1600" dirty="0"/>
              <a:t>Mask </a:t>
            </a:r>
            <a:r>
              <a:rPr lang="ko-KR" altLang="en-US" sz="1600" dirty="0"/>
              <a:t>위치에 놓이는데 </a:t>
            </a:r>
            <a:r>
              <a:rPr lang="en-US" altLang="ko-KR" sz="1600" dirty="0"/>
              <a:t>FP16</a:t>
            </a:r>
            <a:r>
              <a:rPr lang="ko-KR" altLang="en-US" sz="1600" dirty="0"/>
              <a:t>에서는 </a:t>
            </a:r>
            <a:r>
              <a:rPr lang="en-US" altLang="ko-KR" sz="1600" dirty="0"/>
              <a:t>shift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cs typeface="Arial"/>
              </a:rPr>
              <a:t>해결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cs typeface="Arial"/>
              </a:rPr>
              <a:t>embeddings에서의</a:t>
            </a:r>
            <a:r>
              <a:rPr lang="ko-KR" altLang="en-US" sz="1600" dirty="0">
                <a:cs typeface="Arial"/>
              </a:rPr>
              <a:t> </a:t>
            </a:r>
            <a:r>
              <a:rPr lang="ko-KR" altLang="en-US" sz="1600" dirty="0" err="1">
                <a:cs typeface="Arial"/>
              </a:rPr>
              <a:t>concat</a:t>
            </a:r>
            <a:r>
              <a:rPr lang="ko-KR" altLang="en-US" sz="1600" dirty="0">
                <a:cs typeface="Arial"/>
              </a:rPr>
              <a:t> 순서 변경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cs typeface="Arial"/>
              </a:rPr>
              <a:t> </a:t>
            </a:r>
            <a:r>
              <a:rPr lang="ko-KR" altLang="en-US" sz="1600" dirty="0" err="1">
                <a:cs typeface="Arial"/>
              </a:rPr>
              <a:t>cls_token</a:t>
            </a:r>
            <a:r>
              <a:rPr lang="ko-KR" altLang="en-US" sz="1600" dirty="0">
                <a:cs typeface="Arial"/>
              </a:rPr>
              <a:t>(1) + </a:t>
            </a:r>
            <a:r>
              <a:rPr lang="ko-KR" altLang="en-US" sz="1600" dirty="0" err="1">
                <a:cs typeface="Arial"/>
              </a:rPr>
              <a:t>register_token</a:t>
            </a:r>
            <a:r>
              <a:rPr lang="ko-KR" altLang="en-US" sz="1600" dirty="0">
                <a:cs typeface="Arial"/>
              </a:rPr>
              <a:t>(5) + </a:t>
            </a:r>
            <a:r>
              <a:rPr lang="ko-KR" altLang="en-US" sz="1600" dirty="0" err="1">
                <a:cs typeface="Arial"/>
              </a:rPr>
              <a:t>patch</a:t>
            </a:r>
            <a:r>
              <a:rPr lang="ko-KR" altLang="en-US" sz="1600" dirty="0">
                <a:cs typeface="Arial"/>
              </a:rPr>
              <a:t>(1600) -&gt; </a:t>
            </a:r>
            <a:r>
              <a:rPr lang="ko-KR" sz="1600" dirty="0" err="1">
                <a:cs typeface="Arial"/>
              </a:rPr>
              <a:t>cls_token</a:t>
            </a:r>
            <a:r>
              <a:rPr lang="ko-KR" sz="1600" dirty="0">
                <a:cs typeface="Arial"/>
              </a:rPr>
              <a:t>(1) + </a:t>
            </a:r>
            <a:r>
              <a:rPr lang="ko-KR" sz="1600" dirty="0" err="1">
                <a:cs typeface="Arial"/>
              </a:rPr>
              <a:t>patch</a:t>
            </a:r>
            <a:r>
              <a:rPr lang="ko-KR" sz="1600" dirty="0">
                <a:cs typeface="Arial"/>
              </a:rPr>
              <a:t>(1600) </a:t>
            </a:r>
            <a:r>
              <a:rPr lang="en-US" altLang="ko-KR" sz="1600" dirty="0">
                <a:cs typeface="Arial"/>
              </a:rPr>
              <a:t>+ </a:t>
            </a:r>
            <a:r>
              <a:rPr lang="en-US" altLang="ko-KR" sz="1600" dirty="0" err="1">
                <a:cs typeface="Arial"/>
              </a:rPr>
              <a:t>register_token</a:t>
            </a:r>
            <a:r>
              <a:rPr lang="en-US" altLang="ko-KR" sz="1600" dirty="0">
                <a:cs typeface="Arial"/>
              </a:rPr>
              <a:t>(5)</a:t>
            </a:r>
            <a:endParaRPr lang="ko-KR" sz="1600" dirty="0">
              <a:cs typeface="Arial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A4C7D6B-CC22-0792-FDE3-2BAF28F51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787363"/>
              </p:ext>
            </p:extLst>
          </p:nvPr>
        </p:nvGraphicFramePr>
        <p:xfrm>
          <a:off x="3102428" y="3614057"/>
          <a:ext cx="6154956" cy="273843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52625">
                  <a:extLst>
                    <a:ext uri="{9D8B030D-6E8A-4147-A177-3AD203B41FA5}">
                      <a16:colId xmlns:a16="http://schemas.microsoft.com/office/drawing/2014/main" val="1059188567"/>
                    </a:ext>
                  </a:extLst>
                </a:gridCol>
                <a:gridCol w="1400777">
                  <a:extLst>
                    <a:ext uri="{9D8B030D-6E8A-4147-A177-3AD203B41FA5}">
                      <a16:colId xmlns:a16="http://schemas.microsoft.com/office/drawing/2014/main" val="4205353929"/>
                    </a:ext>
                  </a:extLst>
                </a:gridCol>
                <a:gridCol w="1400777">
                  <a:extLst>
                    <a:ext uri="{9D8B030D-6E8A-4147-A177-3AD203B41FA5}">
                      <a16:colId xmlns:a16="http://schemas.microsoft.com/office/drawing/2014/main" val="3097251778"/>
                    </a:ext>
                  </a:extLst>
                </a:gridCol>
                <a:gridCol w="1400777">
                  <a:extLst>
                    <a:ext uri="{9D8B030D-6E8A-4147-A177-3AD203B41FA5}">
                      <a16:colId xmlns:a16="http://schemas.microsoft.com/office/drawing/2014/main" val="2638372366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Model​</a:t>
                      </a: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PQ (%)</a:t>
                      </a: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125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SQ (%)</a:t>
                      </a:r>
                      <a:endParaRPr lang="ko-KR" altLang="en-US" dirty="0"/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125"/>
                        </a:lnSpc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effectLst/>
                        </a:rPr>
                        <a:t>RQ (%)</a:t>
                      </a:r>
                    </a:p>
                  </a:txBody>
                  <a:tcPr marL="73152" marR="73152" marT="36576" marB="36576" anchor="ctr">
                    <a:lnL w="10154">
                      <a:solidFill>
                        <a:srgbClr val="000000"/>
                      </a:solidFill>
                    </a:lnL>
                    <a:lnR w="10154">
                      <a:solidFill>
                        <a:srgbClr val="000000"/>
                      </a:solidFill>
                    </a:lnR>
                    <a:lnT w="10154">
                      <a:solidFill>
                        <a:srgbClr val="000000"/>
                      </a:solidFill>
                    </a:lnT>
                    <a:lnB w="10154">
                      <a:solidFill>
                        <a:srgbClr val="000000"/>
                      </a:solidFill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27481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Arial"/>
                        </a:rPr>
                        <a:t>수정한 FP16</a:t>
                      </a:r>
                      <a:br>
                        <a:rPr lang="en-US" altLang="ko-KR" sz="1600" dirty="0">
                          <a:effectLst/>
                          <a:latin typeface="Arial"/>
                        </a:rPr>
                      </a:br>
                      <a:r>
                        <a:rPr lang="ko-KR" altLang="en-US" sz="1600" dirty="0">
                          <a:effectLst/>
                          <a:latin typeface="Arial"/>
                        </a:rPr>
                        <a:t> CPU and ANE</a:t>
                      </a:r>
                      <a:endParaRPr lang="ko-KR" altLang="en-US" sz="1600" dirty="0" err="1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42.14</a:t>
                      </a:r>
                      <a:endParaRPr lang="en-US" altLang="ko-KR" dirty="0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81.24</a:t>
                      </a:r>
                      <a:endParaRPr lang="en-US" altLang="ko-KR" dirty="0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51.48</a:t>
                      </a:r>
                    </a:p>
                  </a:txBody>
                  <a:tcPr marL="73152" marR="73152" marT="36576" marB="36576" anchor="ctr">
                    <a:lnL w="10154">
                      <a:solidFill>
                        <a:srgbClr val="000000"/>
                      </a:solidFill>
                    </a:lnL>
                    <a:lnR w="10154">
                      <a:solidFill>
                        <a:srgbClr val="000000"/>
                      </a:solidFill>
                    </a:lnR>
                    <a:lnT w="10154">
                      <a:solidFill>
                        <a:srgbClr val="000000"/>
                      </a:solidFill>
                    </a:lnT>
                    <a:lnB w="10154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08878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FP16</a:t>
                      </a:r>
                      <a:br>
                        <a:rPr lang="en-US" sz="1600" dirty="0">
                          <a:effectLst/>
                          <a:latin typeface="Arial"/>
                        </a:rPr>
                      </a:br>
                      <a:r>
                        <a:rPr lang="en-US" sz="1600" dirty="0">
                          <a:effectLst/>
                          <a:latin typeface="Arial"/>
                        </a:rPr>
                        <a:t>CPU and ANE</a:t>
                      </a:r>
                      <a:endParaRPr lang="en-US" sz="1600" dirty="0" err="1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14.31</a:t>
                      </a:r>
                      <a:endParaRPr lang="en-US" altLang="ko-KR" dirty="0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44.72</a:t>
                      </a:r>
                      <a:endParaRPr lang="en-US" altLang="ko-KR" dirty="0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22.34</a:t>
                      </a:r>
                    </a:p>
                  </a:txBody>
                  <a:tcPr marL="73152" marR="73152" marT="36576" marB="36576" anchor="ctr">
                    <a:lnL w="10154">
                      <a:solidFill>
                        <a:srgbClr val="000000"/>
                      </a:solidFill>
                    </a:lnL>
                    <a:lnR w="10154">
                      <a:solidFill>
                        <a:srgbClr val="000000"/>
                      </a:solidFill>
                    </a:lnR>
                    <a:lnT w="10154">
                      <a:solidFill>
                        <a:srgbClr val="000000"/>
                      </a:solidFill>
                    </a:lnT>
                    <a:lnB w="10154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48993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FP16​</a:t>
                      </a:r>
                      <a:br>
                        <a:rPr lang="en-US" sz="1600" dirty="0">
                          <a:effectLst/>
                          <a:latin typeface="Arial"/>
                        </a:rPr>
                      </a:br>
                      <a:r>
                        <a:rPr lang="en-US" sz="1600" dirty="0">
                          <a:effectLst/>
                          <a:latin typeface="Arial"/>
                        </a:rPr>
                        <a:t>CPU and GPU</a:t>
                      </a:r>
                      <a:endParaRPr lang="en-US" sz="1600" dirty="0" err="1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44.74</a:t>
                      </a:r>
                      <a:endParaRPr lang="en-US" dirty="0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84.15</a:t>
                      </a:r>
                      <a:endParaRPr lang="ko-KR" altLang="en-US" dirty="0"/>
                    </a:p>
                  </a:txBody>
                  <a:tcPr marL="73152" marR="73152" marT="36576" marB="36576" anchor="ctr">
                    <a:lnL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52.92</a:t>
                      </a:r>
                    </a:p>
                  </a:txBody>
                  <a:tcPr marL="73152" marR="73152" marT="36576" marB="36576" anchor="ctr">
                    <a:lnL w="10154">
                      <a:solidFill>
                        <a:srgbClr val="000000"/>
                      </a:solidFill>
                    </a:lnL>
                    <a:lnR w="10154">
                      <a:solidFill>
                        <a:srgbClr val="000000"/>
                      </a:solidFill>
                    </a:lnR>
                    <a:lnT w="10154">
                      <a:solidFill>
                        <a:srgbClr val="000000"/>
                      </a:solidFill>
                    </a:lnT>
                    <a:lnB w="1015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06623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FP32</a:t>
                      </a:r>
                      <a:br>
                        <a:rPr lang="en-US" sz="1600" dirty="0">
                          <a:effectLst/>
                          <a:latin typeface="Arial"/>
                        </a:rPr>
                      </a:br>
                      <a:r>
                        <a:rPr lang="en-US" sz="1600" dirty="0">
                          <a:effectLst/>
                          <a:latin typeface="Arial"/>
                        </a:rPr>
                        <a:t>CPU and GPU</a:t>
                      </a:r>
                      <a:endParaRPr lang="en-US" sz="1600" dirty="0" err="1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>
                      <a:solidFill>
                        <a:srgbClr val="000000"/>
                      </a:solidFill>
                    </a:lnL>
                    <a:lnR w="10154">
                      <a:solidFill>
                        <a:srgbClr val="000000"/>
                      </a:solidFill>
                    </a:lnR>
                    <a:lnT w="10154">
                      <a:solidFill>
                        <a:srgbClr val="000000"/>
                      </a:solidFill>
                    </a:lnT>
                    <a:lnB w="1015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44.74</a:t>
                      </a:r>
                    </a:p>
                  </a:txBody>
                  <a:tcPr marL="73152" marR="73152" marT="36576" marB="36576" anchor="ctr">
                    <a:lnL w="10154">
                      <a:solidFill>
                        <a:srgbClr val="000000"/>
                      </a:solidFill>
                    </a:lnL>
                    <a:lnR w="10154">
                      <a:solidFill>
                        <a:srgbClr val="000000"/>
                      </a:solidFill>
                    </a:lnR>
                    <a:lnT w="10154">
                      <a:solidFill>
                        <a:srgbClr val="000000"/>
                      </a:solidFill>
                    </a:lnT>
                    <a:lnB w="1015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600">
                          <a:effectLst/>
                          <a:latin typeface="Arial"/>
                        </a:rPr>
                        <a:t>84.14</a:t>
                      </a:r>
                      <a:endParaRPr lang="en-US" sz="1600" dirty="0">
                        <a:effectLst/>
                        <a:latin typeface="Arial"/>
                      </a:endParaRPr>
                    </a:p>
                  </a:txBody>
                  <a:tcPr marL="73152" marR="73152" marT="36576" marB="36576" anchor="ctr">
                    <a:lnL w="10154">
                      <a:solidFill>
                        <a:srgbClr val="000000"/>
                      </a:solidFill>
                    </a:lnL>
                    <a:lnR w="10154">
                      <a:solidFill>
                        <a:srgbClr val="000000"/>
                      </a:solidFill>
                    </a:lnR>
                    <a:lnT w="10154">
                      <a:solidFill>
                        <a:srgbClr val="000000"/>
                      </a:solidFill>
                    </a:lnT>
                    <a:lnB w="1015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Arial"/>
                        </a:rPr>
                        <a:t>52.92</a:t>
                      </a:r>
                    </a:p>
                  </a:txBody>
                  <a:tcPr marL="73152" marR="73152" marT="36576" marB="36576" anchor="ctr">
                    <a:lnL w="10154">
                      <a:solidFill>
                        <a:srgbClr val="000000"/>
                      </a:solidFill>
                    </a:lnL>
                    <a:lnR w="10154">
                      <a:solidFill>
                        <a:srgbClr val="000000"/>
                      </a:solidFill>
                    </a:lnR>
                    <a:lnT w="10154">
                      <a:solidFill>
                        <a:srgbClr val="000000"/>
                      </a:solidFill>
                    </a:lnT>
                    <a:lnB w="10154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552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162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5941</TotalTime>
  <Words>406</Words>
  <Application>Microsoft Office PowerPoint</Application>
  <PresentationFormat>와이드스크린</PresentationFormat>
  <Paragraphs>108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Arial,Sans-Serif</vt:lpstr>
      <vt:lpstr>맑은 고딕</vt:lpstr>
      <vt:lpstr>Arial</vt:lpstr>
      <vt:lpstr>Office 테마</vt:lpstr>
      <vt:lpstr>EoMT Apple Neural Engine (3)</vt:lpstr>
      <vt:lpstr>목표 및 진행사항</vt:lpstr>
      <vt:lpstr>ANE transformers – 원리 4</vt:lpstr>
      <vt:lpstr>EoMT ANE</vt:lpstr>
      <vt:lpstr>EoMT ANE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Suhyeon</cp:lastModifiedBy>
  <cp:revision>1767</cp:revision>
  <dcterms:created xsi:type="dcterms:W3CDTF">2023-03-06T16:32:37Z</dcterms:created>
  <dcterms:modified xsi:type="dcterms:W3CDTF">2026-03-11T11:02:38Z</dcterms:modified>
</cp:coreProperties>
</file>